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306" r:id="rId6"/>
    <p:sldId id="279" r:id="rId7"/>
    <p:sldId id="280" r:id="rId8"/>
    <p:sldId id="281" r:id="rId9"/>
    <p:sldId id="282" r:id="rId10"/>
    <p:sldId id="283" r:id="rId11"/>
    <p:sldId id="284" r:id="rId12"/>
    <p:sldId id="277" r:id="rId13"/>
    <p:sldId id="313" r:id="rId14"/>
    <p:sldId id="285" r:id="rId15"/>
    <p:sldId id="286" r:id="rId16"/>
    <p:sldId id="314" r:id="rId17"/>
    <p:sldId id="295" r:id="rId18"/>
    <p:sldId id="287" r:id="rId19"/>
    <p:sldId id="307" r:id="rId20"/>
    <p:sldId id="289" r:id="rId21"/>
    <p:sldId id="288" r:id="rId22"/>
    <p:sldId id="311" r:id="rId23"/>
    <p:sldId id="290" r:id="rId24"/>
    <p:sldId id="291" r:id="rId25"/>
    <p:sldId id="276" r:id="rId26"/>
    <p:sldId id="309" r:id="rId27"/>
    <p:sldId id="292" r:id="rId28"/>
    <p:sldId id="293" r:id="rId29"/>
    <p:sldId id="294" r:id="rId30"/>
    <p:sldId id="296" r:id="rId31"/>
    <p:sldId id="297" r:id="rId32"/>
    <p:sldId id="298" r:id="rId33"/>
    <p:sldId id="275" r:id="rId34"/>
    <p:sldId id="299" r:id="rId35"/>
    <p:sldId id="300" r:id="rId36"/>
    <p:sldId id="302" r:id="rId37"/>
    <p:sldId id="305" r:id="rId38"/>
    <p:sldId id="308" r:id="rId39"/>
    <p:sldId id="274" r:id="rId40"/>
    <p:sldId id="31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9" autoAdjust="0"/>
    <p:restoredTop sz="94660"/>
  </p:normalViewPr>
  <p:slideViewPr>
    <p:cSldViewPr snapToGrid="0">
      <p:cViewPr>
        <p:scale>
          <a:sx n="75" d="100"/>
          <a:sy n="75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5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2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9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0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5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4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8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0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3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1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06200-2CB0-4CAB-9DD3-A096DF510BF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6F98B-961A-4235-9502-57DDC7F3A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05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juice-shop/?utm_source=chatgpt.com" TargetMode="External"/><Relationship Id="rId2" Type="http://schemas.openxmlformats.org/officeDocument/2006/relationships/hyperlink" Target="https://www.hackthissite.org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ryhackme.com/room/attacktivedirectory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juice-shop/" TargetMode="External"/><Relationship Id="rId2" Type="http://schemas.openxmlformats.org/officeDocument/2006/relationships/hyperlink" Target="https://www.hackthissite.or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www-project-juice-shop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attacktivedirectory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tryhackme.com/room/attacktivedirector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:-  Umar Niaz </a:t>
            </a:r>
          </a:p>
          <a:p>
            <a:r>
              <a:rPr lang="en-US" dirty="0"/>
              <a:t>Red Team Trainer at </a:t>
            </a:r>
            <a:r>
              <a:rPr lang="en-US" dirty="0" err="1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78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17" y="2471016"/>
            <a:ext cx="12022183" cy="1325563"/>
          </a:xfrm>
        </p:spPr>
        <p:txBody>
          <a:bodyPr>
            <a:normAutofit/>
          </a:bodyPr>
          <a:lstStyle/>
          <a:p>
            <a:r>
              <a:rPr lang="en-US" b="1" dirty="0"/>
              <a:t>Week 12: The Capstone Project (Full Attack Chain)</a:t>
            </a:r>
            <a:r>
              <a:rPr lang="en-US" b="1" dirty="0">
                <a:solidFill>
                  <a:srgbClr val="FF0000"/>
                </a:solidFill>
              </a:rPr>
              <a:t>💀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997234"/>
            <a:ext cx="12192000" cy="2009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  <a:r>
              <a:rPr lang="en-US" dirty="0"/>
              <a:t> To execute a complete, end-to-end simulated cyber attack on a complex corporate network, starting from external reconnaissance and ending with full Domain Dominance and a professional Boardroom-ready report.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12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0061"/>
            <a:ext cx="10515600" cy="1325563"/>
          </a:xfrm>
        </p:spPr>
        <p:txBody>
          <a:bodyPr/>
          <a:lstStyle/>
          <a:p>
            <a:r>
              <a:rPr lang="en-US" b="1" dirty="0"/>
              <a:t>Task 01: The Scoping &amp; Planning Phase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lvl="0" indent="0" fontAlgn="base">
              <a:buNone/>
            </a:pPr>
            <a:r>
              <a:rPr lang="en-US" sz="2400" b="1" dirty="0"/>
              <a:t>Description:</a:t>
            </a:r>
            <a:r>
              <a:rPr lang="en-US" sz="2400" dirty="0"/>
              <a:t> Before the attack, you must define the "Rules of Engagement" (</a:t>
            </a:r>
            <a:r>
              <a:rPr lang="en-US" sz="2400" dirty="0" err="1"/>
              <a:t>RoE</a:t>
            </a:r>
            <a:r>
              <a:rPr lang="en-US" sz="2400" dirty="0"/>
              <a:t>). </a:t>
            </a:r>
          </a:p>
          <a:p>
            <a:pPr marL="0" lvl="0" indent="0" fontAlgn="base">
              <a:buNone/>
            </a:pPr>
            <a:r>
              <a:rPr lang="en-US" sz="2400" b="1" dirty="0"/>
              <a:t>Technical Requirements: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○ Create a </a:t>
            </a:r>
            <a:r>
              <a:rPr lang="en-US" sz="2400" b="1" dirty="0"/>
              <a:t>Pre-Engagement Document</a:t>
            </a:r>
            <a:r>
              <a:rPr lang="en-US" sz="2400" dirty="0"/>
              <a:t> that outlines the scope, target IP ranges, and the "Flags" (Objectives) to be captured. </a:t>
            </a:r>
          </a:p>
          <a:p>
            <a:pPr marL="0" indent="0">
              <a:buNone/>
            </a:pPr>
            <a:r>
              <a:rPr lang="en-US" sz="2400" dirty="0"/>
              <a:t>○ Define the "</a:t>
            </a:r>
            <a:r>
              <a:rPr lang="en-US" sz="2400" b="1" dirty="0"/>
              <a:t>Success Criteria</a:t>
            </a:r>
            <a:r>
              <a:rPr lang="en-US" sz="2400" dirty="0"/>
              <a:t>" (e.g., "Gaining access to the HR Database"). </a:t>
            </a:r>
          </a:p>
          <a:p>
            <a:pPr marL="0" lvl="0" indent="0" fontAlgn="base">
              <a:buNone/>
            </a:pPr>
            <a:r>
              <a:rPr lang="en-US" sz="2400" b="1" dirty="0"/>
              <a:t>Learning Goal:</a:t>
            </a:r>
            <a:r>
              <a:rPr lang="en-US" sz="2400" dirty="0"/>
              <a:t> Learn that professional hacking is about planning and legal boundaries, not just clicking buttons.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7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2400" b="1" dirty="0"/>
              <a:t>Targets / Environments</a:t>
            </a:r>
            <a:endParaRPr lang="en-US" sz="2400" dirty="0"/>
          </a:p>
          <a:p>
            <a:pPr lvl="1">
              <a:lnSpc>
                <a:spcPct val="70000"/>
              </a:lnSpc>
            </a:pPr>
            <a:r>
              <a:rPr lang="en-US" u="sng" dirty="0">
                <a:hlinkClick r:id="rId2"/>
              </a:rPr>
              <a:t>Hack This Site</a:t>
            </a:r>
            <a:r>
              <a:rPr lang="en-US" dirty="0"/>
              <a:t> </a:t>
            </a:r>
          </a:p>
          <a:p>
            <a:pPr lvl="1">
              <a:lnSpc>
                <a:spcPct val="70000"/>
              </a:lnSpc>
            </a:pPr>
            <a:r>
              <a:rPr lang="en-US" dirty="0" err="1"/>
              <a:t>Metasploitable</a:t>
            </a:r>
            <a:r>
              <a:rPr lang="en-US" dirty="0"/>
              <a:t> 2 </a:t>
            </a:r>
          </a:p>
          <a:p>
            <a:pPr lvl="1">
              <a:lnSpc>
                <a:spcPct val="70000"/>
              </a:lnSpc>
            </a:pPr>
            <a:r>
              <a:rPr lang="en-US" dirty="0"/>
              <a:t>Windows 7</a:t>
            </a:r>
          </a:p>
          <a:p>
            <a:pPr lvl="1">
              <a:lnSpc>
                <a:spcPct val="70000"/>
              </a:lnSpc>
            </a:pPr>
            <a:r>
              <a:rPr lang="en-US" u="sng" dirty="0">
                <a:hlinkClick r:id="rId3"/>
              </a:rPr>
              <a:t>OWASP Juice Shop</a:t>
            </a:r>
            <a:r>
              <a:rPr lang="en-US" dirty="0"/>
              <a:t> </a:t>
            </a:r>
          </a:p>
          <a:p>
            <a:pPr lvl="1">
              <a:lnSpc>
                <a:spcPct val="70000"/>
              </a:lnSpc>
            </a:pPr>
            <a:r>
              <a:rPr lang="en-US" u="sng" dirty="0" err="1">
                <a:hlinkClick r:id="rId4"/>
              </a:rPr>
              <a:t>TryHackMe</a:t>
            </a:r>
            <a:r>
              <a:rPr lang="en-US" u="sng" dirty="0">
                <a:hlinkClick r:id="rId4"/>
              </a:rPr>
              <a:t> </a:t>
            </a:r>
            <a:r>
              <a:rPr lang="en-US" u="sng" dirty="0" err="1">
                <a:hlinkClick r:id="rId4"/>
              </a:rPr>
              <a:t>Attacktive</a:t>
            </a:r>
            <a:r>
              <a:rPr lang="en-US" u="sng" dirty="0">
                <a:hlinkClick r:id="rId4"/>
              </a:rPr>
              <a:t> Directory</a:t>
            </a:r>
            <a:r>
              <a:rPr lang="en-US" dirty="0"/>
              <a:t> 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Before beginning any offensive operation, define the scope, objectives, and Rules of Engagement (</a:t>
            </a:r>
            <a:r>
              <a:rPr lang="en-US" sz="2400" dirty="0" err="1"/>
              <a:t>RoE</a:t>
            </a:r>
            <a:r>
              <a:rPr lang="en-US" sz="2400" dirty="0"/>
              <a:t>) for the assessment.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The purpose of this phase is to simulate how professional Red Team engagements are planned before any technical activity begins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400" b="1" dirty="0"/>
              <a:t>Your Deliverable</a:t>
            </a:r>
            <a:endParaRPr lang="en-US" sz="24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400" dirty="0"/>
              <a:t>Create a </a:t>
            </a:r>
            <a:r>
              <a:rPr lang="en-US" sz="2400" b="1" dirty="0"/>
              <a:t>Pre-Engagement Document</a:t>
            </a:r>
            <a:r>
              <a:rPr lang="en-US" sz="2400" dirty="0"/>
              <a:t> containing the following sections.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400" b="1" dirty="0"/>
              <a:t>1. Engagement Overview</a:t>
            </a:r>
            <a:endParaRPr lang="en-US" sz="24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400" dirty="0"/>
              <a:t>Provide a short summary of: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400" dirty="0"/>
              <a:t>What environment is being tested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400" dirty="0"/>
              <a:t>The purpose of the engagement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400" dirty="0"/>
              <a:t>The type of assessment being performed </a:t>
            </a:r>
          </a:p>
        </p:txBody>
      </p:sp>
    </p:spTree>
    <p:extLst>
      <p:ext uri="{BB962C8B-B14F-4D97-AF65-F5344CB8AC3E}">
        <p14:creationId xmlns:p14="http://schemas.microsoft.com/office/powerpoint/2010/main" val="267801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lnSpc>
                <a:spcPct val="70000"/>
              </a:lnSpc>
              <a:buNone/>
            </a:pPr>
            <a:r>
              <a:rPr lang="en-US" b="1" dirty="0"/>
              <a:t>Example</a:t>
            </a: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This engagement simulates a Red Team assessment against a corporate Active Directory environment. The objective is to identify weaknesses in the organization’s external exposure, internal segmentation, and privilege management  </a:t>
            </a:r>
          </a:p>
          <a:p>
            <a:pPr marL="0" indent="0">
              <a:lnSpc>
                <a:spcPct val="80000"/>
              </a:lnSpc>
              <a:buNone/>
            </a:pPr>
            <a:endParaRPr lang="en-US" b="1" dirty="0"/>
          </a:p>
          <a:p>
            <a:pPr marL="0" indent="0">
              <a:lnSpc>
                <a:spcPct val="50000"/>
              </a:lnSpc>
              <a:buNone/>
            </a:pPr>
            <a:r>
              <a:rPr lang="en-US" b="1" dirty="0"/>
              <a:t>2. Scope Definition</a:t>
            </a:r>
            <a:endParaRPr lang="en-US" dirty="0"/>
          </a:p>
          <a:p>
            <a:pPr marL="0" indent="0">
              <a:lnSpc>
                <a:spcPct val="50000"/>
              </a:lnSpc>
              <a:buNone/>
            </a:pPr>
            <a:r>
              <a:rPr lang="en-US" dirty="0"/>
              <a:t>Define the systems and networks that are authorized for testing.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b="1" dirty="0"/>
              <a:t>Include:</a:t>
            </a:r>
            <a:endParaRPr lang="en-US" dirty="0"/>
          </a:p>
          <a:p>
            <a:pPr marL="0" lvl="0" indent="0">
              <a:lnSpc>
                <a:spcPct val="50000"/>
              </a:lnSpc>
              <a:buNone/>
            </a:pPr>
            <a:r>
              <a:rPr lang="en-US" dirty="0"/>
              <a:t>Target hostnames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dirty="0"/>
              <a:t>IP ranges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dirty="0"/>
              <a:t>Server roles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dirty="0"/>
              <a:t>Network segments </a:t>
            </a:r>
          </a:p>
          <a:p>
            <a:pPr marL="0" lvl="0" indent="0">
              <a:lnSpc>
                <a:spcPct val="50000"/>
              </a:lnSpc>
              <a:buNone/>
            </a:pPr>
            <a:endParaRPr lang="en-US" dirty="0"/>
          </a:p>
          <a:p>
            <a:pPr marL="0" lvl="0" indent="0">
              <a:lnSpc>
                <a:spcPct val="50000"/>
              </a:lnSpc>
              <a:buNone/>
            </a:pPr>
            <a:r>
              <a:rPr lang="en-US" dirty="0"/>
              <a:t>They must be your home labs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94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Example Scope Table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000" b="1" dirty="0"/>
              <a:t>3. In-Scope Networks</a:t>
            </a:r>
            <a:endParaRPr lang="en-US" sz="20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/>
              <a:t>List all authorized network ranges.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000" b="1" dirty="0"/>
              <a:t>Example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lnSpc>
                <a:spcPct val="60000"/>
              </a:lnSpc>
              <a:buNone/>
            </a:pPr>
            <a:endParaRPr lang="en-US" sz="2000" b="1" dirty="0"/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4. Out-of-Scope Assets</a:t>
            </a:r>
            <a:endParaRPr lang="en-US" sz="20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/>
              <a:t>Clearly define prohibited targets and actions.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000" b="1" dirty="0"/>
              <a:t>Examples</a:t>
            </a:r>
            <a:endParaRPr lang="en-US" sz="2000" dirty="0"/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Hypervisor host machine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Personal devices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Instructor systems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Internet-facing third-party services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Denial-of-Service attacks </a:t>
            </a:r>
          </a:p>
          <a:p>
            <a:pPr marL="0" lvl="0" indent="0">
              <a:lnSpc>
                <a:spcPct val="50000"/>
              </a:lnSpc>
              <a:buNone/>
            </a:pPr>
            <a:r>
              <a:rPr lang="en-US" sz="2000" dirty="0"/>
              <a:t>Destructive malware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79149"/>
              </p:ext>
            </p:extLst>
          </p:nvPr>
        </p:nvGraphicFramePr>
        <p:xfrm>
          <a:off x="0" y="297711"/>
          <a:ext cx="11423797" cy="1192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49">
                  <a:extLst>
                    <a:ext uri="{9D8B030D-6E8A-4147-A177-3AD203B41FA5}">
                      <a16:colId xmlns:a16="http://schemas.microsoft.com/office/drawing/2014/main" val="3933108062"/>
                    </a:ext>
                  </a:extLst>
                </a:gridCol>
                <a:gridCol w="3807933">
                  <a:extLst>
                    <a:ext uri="{9D8B030D-6E8A-4147-A177-3AD203B41FA5}">
                      <a16:colId xmlns:a16="http://schemas.microsoft.com/office/drawing/2014/main" val="2068199109"/>
                    </a:ext>
                  </a:extLst>
                </a:gridCol>
                <a:gridCol w="6035215">
                  <a:extLst>
                    <a:ext uri="{9D8B030D-6E8A-4147-A177-3AD203B41FA5}">
                      <a16:colId xmlns:a16="http://schemas.microsoft.com/office/drawing/2014/main" val="2224759698"/>
                    </a:ext>
                  </a:extLst>
                </a:gridCol>
              </a:tblGrid>
              <a:tr h="2764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Hostname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Role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IP Address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9222953"/>
                  </a:ext>
                </a:extLst>
              </a:tr>
              <a:tr h="2548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Public Web Server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10.10.10.20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9554697"/>
                  </a:ext>
                </a:extLst>
              </a:tr>
              <a:tr h="2544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FILE01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File Server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10.10.20.15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2043095"/>
                  </a:ext>
                </a:extLst>
              </a:tr>
              <a:tr h="2227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DC01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Domain Controller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10.10.30.10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65982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703585"/>
              </p:ext>
            </p:extLst>
          </p:nvPr>
        </p:nvGraphicFramePr>
        <p:xfrm>
          <a:off x="0" y="2452792"/>
          <a:ext cx="8991600" cy="1358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86474291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3136041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5096908"/>
                  </a:ext>
                </a:extLst>
              </a:tr>
              <a:tr h="1871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10.10.10.0/24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DMZ Network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8225027"/>
                  </a:ext>
                </a:extLst>
              </a:tr>
              <a:tr h="2833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10.10.20.0/24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Internal User Network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7969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10.10.30.0/24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Active Directory Network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421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3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04692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40000"/>
              </a:lnSpc>
              <a:buNone/>
            </a:pPr>
            <a:r>
              <a:rPr lang="en-US" sz="2200" b="1" dirty="0"/>
              <a:t>5. Rules of Engagement (</a:t>
            </a:r>
            <a:r>
              <a:rPr lang="en-US" sz="2200" b="1" dirty="0" err="1"/>
              <a:t>RoE</a:t>
            </a:r>
            <a:r>
              <a:rPr lang="en-US" sz="2200" b="1" dirty="0"/>
              <a:t>)</a:t>
            </a:r>
            <a:endParaRPr lang="en-US" sz="2200" dirty="0"/>
          </a:p>
          <a:p>
            <a:pPr marL="0" indent="0">
              <a:lnSpc>
                <a:spcPct val="40000"/>
              </a:lnSpc>
              <a:buNone/>
            </a:pPr>
            <a:r>
              <a:rPr lang="en-US" sz="2200" dirty="0"/>
              <a:t>Define what you are allowed and not allowed to do during the engagement.</a:t>
            </a:r>
          </a:p>
          <a:p>
            <a:pPr marL="0" indent="0">
              <a:lnSpc>
                <a:spcPct val="40000"/>
              </a:lnSpc>
              <a:buNone/>
            </a:pPr>
            <a:r>
              <a:rPr lang="en-US" sz="2200" b="1" dirty="0"/>
              <a:t>Allowed Activities</a:t>
            </a:r>
            <a:endParaRPr lang="en-US" sz="2200" dirty="0"/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Enumeration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Web testing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Password attacks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Privilege escalation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Lateral movement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Active Directory enumeration </a:t>
            </a:r>
          </a:p>
          <a:p>
            <a:pPr marL="0" lvl="0" indent="0">
              <a:lnSpc>
                <a:spcPct val="40000"/>
              </a:lnSpc>
              <a:buNone/>
            </a:pPr>
            <a:endParaRPr lang="en-US" sz="2200" dirty="0"/>
          </a:p>
          <a:p>
            <a:pPr marL="0" indent="0">
              <a:lnSpc>
                <a:spcPct val="40000"/>
              </a:lnSpc>
              <a:buNone/>
            </a:pPr>
            <a:r>
              <a:rPr lang="en-US" sz="2200" b="1" dirty="0"/>
              <a:t>Prohibited Activities</a:t>
            </a:r>
            <a:endParaRPr lang="en-US" sz="2200" dirty="0"/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Data destruction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Ransomware simulation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 err="1"/>
              <a:t>DoS</a:t>
            </a:r>
            <a:r>
              <a:rPr lang="en-US" sz="2200" dirty="0"/>
              <a:t> attacks </a:t>
            </a:r>
          </a:p>
          <a:p>
            <a:pPr marL="0" lvl="0" indent="0">
              <a:lnSpc>
                <a:spcPct val="40000"/>
              </a:lnSpc>
              <a:buNone/>
            </a:pPr>
            <a:r>
              <a:rPr lang="en-US" sz="2200" dirty="0"/>
              <a:t>Persistent access after completion </a:t>
            </a:r>
          </a:p>
          <a:p>
            <a:pPr marL="0" indent="0">
              <a:lnSpc>
                <a:spcPct val="40000"/>
              </a:lnSpc>
              <a:buNone/>
            </a:pPr>
            <a:r>
              <a:rPr lang="en-US" sz="2200" dirty="0"/>
              <a:t> </a:t>
            </a:r>
          </a:p>
          <a:p>
            <a:pPr marL="0" indent="0">
              <a:lnSpc>
                <a:spcPct val="40000"/>
              </a:lnSpc>
              <a:buNone/>
            </a:pPr>
            <a:r>
              <a:rPr lang="en-US" sz="2200" b="1" dirty="0"/>
              <a:t>6. Engagement Objectives (“Flags”)</a:t>
            </a:r>
            <a:endParaRPr lang="en-US" sz="2200" dirty="0"/>
          </a:p>
          <a:p>
            <a:pPr marL="0" indent="0">
              <a:lnSpc>
                <a:spcPct val="40000"/>
              </a:lnSpc>
              <a:buNone/>
            </a:pPr>
            <a:r>
              <a:rPr lang="en-US" sz="2200" dirty="0"/>
              <a:t>Define the goals you must achieve.</a:t>
            </a:r>
          </a:p>
          <a:p>
            <a:pPr marL="0" indent="0">
              <a:lnSpc>
                <a:spcPct val="40000"/>
              </a:lnSpc>
              <a:buNone/>
            </a:pPr>
            <a:r>
              <a:rPr lang="en-US" sz="2200" b="1" dirty="0"/>
              <a:t>Example Flags</a:t>
            </a:r>
            <a:endParaRPr lang="en-US" sz="2200" dirty="0"/>
          </a:p>
          <a:p>
            <a:pPr marL="0" indent="0">
              <a:lnSpc>
                <a:spcPct val="60000"/>
              </a:lnSpc>
              <a:buNone/>
            </a:pPr>
            <a:endParaRPr lang="en-US" sz="22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51401"/>
              </p:ext>
            </p:extLst>
          </p:nvPr>
        </p:nvGraphicFramePr>
        <p:xfrm>
          <a:off x="2425148" y="4883658"/>
          <a:ext cx="8229600" cy="1974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430">
                  <a:extLst>
                    <a:ext uri="{9D8B030D-6E8A-4147-A177-3AD203B41FA5}">
                      <a16:colId xmlns:a16="http://schemas.microsoft.com/office/drawing/2014/main" val="3224787134"/>
                    </a:ext>
                  </a:extLst>
                </a:gridCol>
                <a:gridCol w="5887170">
                  <a:extLst>
                    <a:ext uri="{9D8B030D-6E8A-4147-A177-3AD203B41FA5}">
                      <a16:colId xmlns:a16="http://schemas.microsoft.com/office/drawing/2014/main" val="1217196602"/>
                    </a:ext>
                  </a:extLst>
                </a:gridCol>
              </a:tblGrid>
              <a:tr h="2816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 ID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Objective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656936"/>
                  </a:ext>
                </a:extLst>
              </a:tr>
              <a:tr h="2816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FLAG-01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Identify exposed services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1933234"/>
                  </a:ext>
                </a:extLst>
              </a:tr>
              <a:tr h="2816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FLAG-02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Gain initial access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316188"/>
                  </a:ext>
                </a:extLst>
              </a:tr>
              <a:tr h="2816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FLAG-03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Obtain local administrator privileges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7554064"/>
                  </a:ext>
                </a:extLst>
              </a:tr>
              <a:tr h="2816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FLAG-04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Access sensitive file share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3566871"/>
                  </a:ext>
                </a:extLst>
              </a:tr>
              <a:tr h="2816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FLAG-05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Achieve Domain Administrator access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52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4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7. Success Criteria</a:t>
            </a:r>
            <a:endParaRPr lang="en-US" sz="2000" dirty="0"/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Define what counts as a successful engagement.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Example</a:t>
            </a:r>
            <a:endParaRPr lang="en-US" sz="2000" dirty="0"/>
          </a:p>
          <a:p>
            <a:pPr>
              <a:lnSpc>
                <a:spcPct val="60000"/>
              </a:lnSpc>
            </a:pPr>
            <a:r>
              <a:rPr lang="en-US" sz="2000" dirty="0"/>
              <a:t>You have successfully completed the assessment if you can: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Obtain an initial foothold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Escalate privileges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Move laterally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Enumerate Active Directory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Reach Domain Administrator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Properly document all findings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8. Evidence Collection Requirements</a:t>
            </a:r>
            <a:endParaRPr lang="en-US" sz="2000" dirty="0"/>
          </a:p>
          <a:p>
            <a:pPr>
              <a:lnSpc>
                <a:spcPct val="60000"/>
              </a:lnSpc>
            </a:pPr>
            <a:r>
              <a:rPr lang="en-US" sz="2000" dirty="0"/>
              <a:t>You must collect: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Screenshots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Commands executed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Credentials discovered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Attack timeline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MITRE ATT&amp;CK mappings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CVSS severity ratings </a:t>
            </a:r>
          </a:p>
        </p:txBody>
      </p:sp>
    </p:spTree>
    <p:extLst>
      <p:ext uri="{BB962C8B-B14F-4D97-AF65-F5344CB8AC3E}">
        <p14:creationId xmlns:p14="http://schemas.microsoft.com/office/powerpoint/2010/main" val="91391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sz="2400" b="1" dirty="0"/>
              <a:t>9. Cleanup Requirements</a:t>
            </a:r>
            <a:endParaRPr lang="en-US" sz="2400" dirty="0"/>
          </a:p>
          <a:p>
            <a:pPr marL="0" indent="0">
              <a:lnSpc>
                <a:spcPct val="60000"/>
              </a:lnSpc>
              <a:buNone/>
            </a:pPr>
            <a:r>
              <a:rPr lang="en-US" sz="2400" dirty="0"/>
              <a:t>You must: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Remove persistence mechanisms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Delete created accounts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Remove uploaded payloads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Restore modified settings </a:t>
            </a:r>
          </a:p>
          <a:p>
            <a:pPr marL="0" indent="0">
              <a:lnSpc>
                <a:spcPct val="60000"/>
              </a:lnSpc>
              <a:buNone/>
            </a:pPr>
            <a:endParaRPr lang="en-US" sz="2400" b="1" dirty="0"/>
          </a:p>
          <a:p>
            <a:pPr marL="0" indent="0">
              <a:lnSpc>
                <a:spcPct val="60000"/>
              </a:lnSpc>
              <a:buNone/>
            </a:pPr>
            <a:r>
              <a:rPr lang="en-US" sz="2400" b="1" dirty="0"/>
              <a:t>What You Should Evaluate</a:t>
            </a:r>
            <a:endParaRPr lang="en-US" sz="2400" dirty="0"/>
          </a:p>
          <a:p>
            <a:pPr lvl="0">
              <a:lnSpc>
                <a:spcPct val="60000"/>
              </a:lnSpc>
            </a:pPr>
            <a:r>
              <a:rPr lang="en-US" sz="2400" dirty="0"/>
              <a:t>Clarity of scope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Understanding of engagement boundaries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Proper objective definition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Professional structure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Realistic attack planning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400" b="1" dirty="0"/>
              <a:t>Common Mistakes</a:t>
            </a:r>
            <a:endParaRPr lang="en-US" sz="2400" dirty="0"/>
          </a:p>
          <a:p>
            <a:pPr lvl="0">
              <a:lnSpc>
                <a:spcPct val="60000"/>
              </a:lnSpc>
            </a:pPr>
            <a:r>
              <a:rPr lang="en-US" sz="2400" dirty="0"/>
              <a:t>Undefined scope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Missing success criteria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Overly broad objectives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No cleanup planning </a:t>
            </a:r>
          </a:p>
          <a:p>
            <a:pPr lvl="0">
              <a:lnSpc>
                <a:spcPct val="60000"/>
              </a:lnSpc>
            </a:pPr>
            <a:r>
              <a:rPr lang="en-US" sz="2400" dirty="0"/>
              <a:t>Weak documentation structure</a:t>
            </a:r>
          </a:p>
          <a:p>
            <a:pPr marL="0" indent="0">
              <a:lnSpc>
                <a:spcPct val="6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427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Define the Success Criteria</a:t>
            </a:r>
            <a:endParaRPr lang="en-US" sz="2000" dirty="0"/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Success Criteria define what conditions must be achieved for the engagement to be considered successful.</a:t>
            </a:r>
          </a:p>
          <a:p>
            <a:pPr>
              <a:lnSpc>
                <a:spcPct val="60000"/>
              </a:lnSpc>
            </a:pPr>
            <a:r>
              <a:rPr lang="en-US" sz="2000" dirty="0"/>
              <a:t>These criteria should be: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measurable,  realistic, and aligned with the objectives of the assessment.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You  should clearly define what constitutes: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successful reconnaissance,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successful compromise,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privilege escalation,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lateral movement, </a:t>
            </a:r>
          </a:p>
          <a:p>
            <a:pPr lvl="0">
              <a:lnSpc>
                <a:spcPct val="60000"/>
              </a:lnSpc>
            </a:pPr>
            <a:r>
              <a:rPr lang="en-US" sz="2000" dirty="0"/>
              <a:t>and domain-level access.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b="1" dirty="0"/>
              <a:t>Example Success Criteria</a:t>
            </a:r>
            <a:endParaRPr lang="en-US" sz="20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48565"/>
              </p:ext>
            </p:extLst>
          </p:nvPr>
        </p:nvGraphicFramePr>
        <p:xfrm>
          <a:off x="0" y="3429000"/>
          <a:ext cx="12192000" cy="3786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121">
                  <a:extLst>
                    <a:ext uri="{9D8B030D-6E8A-4147-A177-3AD203B41FA5}">
                      <a16:colId xmlns:a16="http://schemas.microsoft.com/office/drawing/2014/main" val="2939320994"/>
                    </a:ext>
                  </a:extLst>
                </a:gridCol>
                <a:gridCol w="7693879">
                  <a:extLst>
                    <a:ext uri="{9D8B030D-6E8A-4147-A177-3AD203B41FA5}">
                      <a16:colId xmlns:a16="http://schemas.microsoft.com/office/drawing/2014/main" val="2884132933"/>
                    </a:ext>
                  </a:extLst>
                </a:gridCol>
              </a:tblGrid>
              <a:tr h="993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Success Condition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015072"/>
                  </a:ext>
                </a:extLst>
              </a:tr>
              <a:tr h="2271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Reconnaissance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Identify externally exposed services and active hosts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494840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Initial Access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Obtain a foothold on at least one target system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7988578"/>
                  </a:ext>
                </a:extLst>
              </a:tr>
              <a:tr h="1644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Privilege Escalation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Gain local administrator privileges on a compromised host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8438901"/>
                  </a:ext>
                </a:extLst>
              </a:tr>
              <a:tr h="1756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 Access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Obtain valid user or administrative credentials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0486862"/>
                  </a:ext>
                </a:extLst>
              </a:tr>
              <a:tr h="805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Lateral Movement                    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Access a second internal system from the compromised host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728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Active Directory Enumeration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Identify domain users, groups, shares, and trust relationships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442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Data Access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Access restricted resources such as HR or Finance shares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3897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 Dominance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Obtain Domain Administrator privileges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7450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Demonstrate a controlled persistence mechanism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173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Cleanup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Successfully remove artifacts and restore the environment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22242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901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5000" dirty="0"/>
              <a:t>                                         Task 2 </a:t>
            </a:r>
          </a:p>
        </p:txBody>
      </p:sp>
    </p:spTree>
    <p:extLst>
      <p:ext uri="{BB962C8B-B14F-4D97-AF65-F5344CB8AC3E}">
        <p14:creationId xmlns:p14="http://schemas.microsoft.com/office/powerpoint/2010/main" val="2651910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57" y="46037"/>
            <a:ext cx="10515600" cy="1086077"/>
          </a:xfrm>
        </p:spPr>
        <p:txBody>
          <a:bodyPr/>
          <a:lstStyle/>
          <a:p>
            <a:r>
              <a:rPr lang="en-US" b="1" dirty="0"/>
              <a:t>Task 02: Execution of the "Cyber Kill Chain"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660571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b="1" dirty="0"/>
              <a:t>Description:</a:t>
            </a:r>
            <a:r>
              <a:rPr lang="en-US" dirty="0"/>
              <a:t> Perform a continuous attack from the outside in. </a:t>
            </a:r>
          </a:p>
          <a:p>
            <a:pPr marL="0" lvl="0" indent="0" fontAlgn="base">
              <a:buNone/>
            </a:pPr>
            <a:r>
              <a:rPr lang="en-US" b="1" dirty="0"/>
              <a:t>Technical Requirements: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1:</a:t>
            </a:r>
            <a:r>
              <a:rPr lang="en-US" dirty="0"/>
              <a:t> External Recon &amp; Phishing (Week 1, 11).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2:</a:t>
            </a:r>
            <a:r>
              <a:rPr lang="en-US" dirty="0"/>
              <a:t> Initial Access via Web Exploit or Credential Theft (Week 3, 4).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3:</a:t>
            </a:r>
            <a:r>
              <a:rPr lang="en-US" dirty="0"/>
              <a:t> Bypassing EDR/AV on the target host (Week 9).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4:</a:t>
            </a:r>
            <a:r>
              <a:rPr lang="en-US" dirty="0"/>
              <a:t> Privilege Escalation &amp; Persistence (Week 5).</a:t>
            </a:r>
            <a:r>
              <a:rPr lang="en-US" b="1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5:</a:t>
            </a:r>
            <a:r>
              <a:rPr lang="en-US" dirty="0"/>
              <a:t> Pivoting and Lateral Movement to the AD Environment (Week 6, 7).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Step 6:</a:t>
            </a:r>
            <a:r>
              <a:rPr lang="en-US" dirty="0"/>
              <a:t> Reaching Domain Admin status (Week 8). </a:t>
            </a:r>
          </a:p>
          <a:p>
            <a:pPr marL="0" lvl="0" indent="0" fontAlgn="base">
              <a:buNone/>
            </a:pPr>
            <a:r>
              <a:rPr lang="en-US" b="1" dirty="0"/>
              <a:t>Learning Goal:</a:t>
            </a:r>
            <a:r>
              <a:rPr lang="en-US" dirty="0"/>
              <a:t> Prove that you can connect all the "Individual Skills" into one powerful, unstoppable attack flow.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180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lvl="0" indent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Task 02 — Execution of the “Cyber Kill Chain”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Description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Perform a continuous attack from the outside in by combining reconnaissance, exploitation, privilege escalation, lateral movement, and Active Directory attacks into a single operational workflow.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The objective is to simulate how a real-world attacker progresses through a corporate environment from initial discovery to full domain compromise.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Step 1 — External Reconnaissance &amp; Phishing</a:t>
            </a:r>
          </a:p>
          <a:p>
            <a:pPr>
              <a:lnSpc>
                <a:spcPct val="60000"/>
              </a:lnSpc>
            </a:pPr>
            <a:r>
              <a:rPr lang="en-US" b="1" dirty="0"/>
              <a:t>Targets</a:t>
            </a:r>
            <a:endParaRPr lang="en-US" dirty="0"/>
          </a:p>
          <a:p>
            <a:pPr lvl="0">
              <a:lnSpc>
                <a:spcPct val="60000"/>
              </a:lnSpc>
            </a:pPr>
            <a:r>
              <a:rPr lang="en-US" u="sng" dirty="0">
                <a:hlinkClick r:id="rId2"/>
              </a:rPr>
              <a:t>Hack This Site</a:t>
            </a:r>
            <a:r>
              <a:rPr lang="en-US" dirty="0"/>
              <a:t> </a:t>
            </a:r>
          </a:p>
          <a:p>
            <a:pPr lvl="0">
              <a:lnSpc>
                <a:spcPct val="60000"/>
              </a:lnSpc>
            </a:pPr>
            <a:r>
              <a:rPr lang="en-US" u="sng" dirty="0">
                <a:hlinkClick r:id="rId3"/>
              </a:rPr>
              <a:t>OWASP Juice Shop</a:t>
            </a:r>
            <a:r>
              <a:rPr lang="en-US" dirty="0"/>
              <a:t> </a:t>
            </a:r>
          </a:p>
          <a:p>
            <a:pPr lvl="0">
              <a:lnSpc>
                <a:spcPct val="60000"/>
              </a:lnSpc>
            </a:pPr>
            <a:r>
              <a:rPr lang="en-US" dirty="0"/>
              <a:t>Windows 7 </a:t>
            </a:r>
          </a:p>
          <a:p>
            <a:pPr lvl="0">
              <a:lnSpc>
                <a:spcPct val="60000"/>
              </a:lnSpc>
            </a:pPr>
            <a:r>
              <a:rPr lang="en-US" dirty="0"/>
              <a:t>Local </a:t>
            </a:r>
            <a:r>
              <a:rPr lang="en-US" dirty="0" err="1"/>
              <a:t>GoPhish</a:t>
            </a:r>
            <a:r>
              <a:rPr lang="en-US" dirty="0"/>
              <a:t> Environment </a:t>
            </a:r>
          </a:p>
          <a:p>
            <a:pPr lvl="0">
              <a:lnSpc>
                <a:spcPct val="60000"/>
              </a:lnSpc>
            </a:pPr>
            <a:r>
              <a:rPr lang="en-US" dirty="0"/>
              <a:t>Local Sliver/Havoc C2 Environment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4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0" y="68761"/>
            <a:ext cx="12192000" cy="689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(Week 1, Week 11)</a:t>
            </a: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Objective:-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exposed assets, map the attack surface, and obtain an initial foothold through phishing or exposed services.</a:t>
            </a: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Areas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should: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passive reconnaissance,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enumerate subdomains and external assets,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live hosts and exposed services,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fingerprint technologies and frameworks,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for leaked credentials,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exposed login portals,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simulate phishing-based initial access.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 Indicators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should be able to: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exposed external assets,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the external attack surface,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potential entry points,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obtain valid credentials or an initial foothold.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87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Step 2 — Initial Access via Web Exploit or Credential Theft </a:t>
            </a:r>
            <a:r>
              <a:rPr lang="en-US" altLang="en-US" sz="2200" i="1" dirty="0">
                <a:latin typeface="Arial" panose="020B0604020202020204" pitchFamily="34" charset="0"/>
              </a:rPr>
              <a:t>(Week 3, Week 4)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200" b="1" dirty="0"/>
              <a:t>Targets</a:t>
            </a:r>
            <a:endParaRPr lang="en-US" sz="2200" dirty="0"/>
          </a:p>
          <a:p>
            <a:pPr lvl="0">
              <a:lnSpc>
                <a:spcPct val="70000"/>
              </a:lnSpc>
            </a:pPr>
            <a:r>
              <a:rPr lang="en-US" sz="2200" dirty="0" err="1"/>
              <a:t>Metasploitable</a:t>
            </a:r>
            <a:r>
              <a:rPr lang="en-US" sz="2200" dirty="0"/>
              <a:t> 2 </a:t>
            </a:r>
          </a:p>
          <a:p>
            <a:pPr lvl="0">
              <a:lnSpc>
                <a:spcPct val="70000"/>
              </a:lnSpc>
            </a:pPr>
            <a:r>
              <a:rPr lang="en-US" sz="2200" dirty="0"/>
              <a:t>Windows 7 Vulnerable VM </a:t>
            </a:r>
          </a:p>
          <a:p>
            <a:pPr lvl="0">
              <a:lnSpc>
                <a:spcPct val="70000"/>
              </a:lnSpc>
            </a:pPr>
            <a:r>
              <a:rPr lang="en-US" sz="2200" dirty="0"/>
              <a:t>Windows 10 </a:t>
            </a:r>
          </a:p>
          <a:p>
            <a:pPr lvl="0">
              <a:lnSpc>
                <a:spcPct val="70000"/>
              </a:lnSpc>
            </a:pPr>
            <a:r>
              <a:rPr lang="en-US" sz="2200" u="sng" dirty="0">
                <a:hlinkClick r:id="rId2"/>
              </a:rPr>
              <a:t>OWASP Juice Shop</a:t>
            </a:r>
            <a:r>
              <a:rPr lang="en-US" sz="2200" dirty="0"/>
              <a:t> </a:t>
            </a:r>
          </a:p>
          <a:p>
            <a:pPr marL="0" lvl="0" indent="0">
              <a:lnSpc>
                <a:spcPct val="70000"/>
              </a:lnSpc>
              <a:buNone/>
            </a:pPr>
            <a:endParaRPr lang="en-US" sz="2200" dirty="0"/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Objective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Exploit vulnerable services or stolen credentials to gain unauthorized access to a target system.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perform web application enumeration,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identify vulnerable parameters and directories,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map services to known CVEs,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exploit common OWASP vulnerabilities,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perform credential attacks,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establish an interactive session on the target.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2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You should be able to: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achieve remote code execution,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establish a shell or session,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authenticate using compromised credentials,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confirm access to the target environment.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Step 3 — Bypassing EDR/AV on the Target Host </a:t>
            </a:r>
            <a:r>
              <a:rPr lang="en-US" altLang="en-US" sz="2200" i="1" dirty="0">
                <a:latin typeface="Arial" panose="020B0604020202020204" pitchFamily="34" charset="0"/>
              </a:rPr>
              <a:t>(Week 9)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b="1" dirty="0"/>
              <a:t>Targets</a:t>
            </a:r>
            <a:endParaRPr lang="en-US" sz="2200" dirty="0"/>
          </a:p>
          <a:p>
            <a:pPr lvl="0"/>
            <a:r>
              <a:rPr lang="en-US" sz="2200" dirty="0"/>
              <a:t>Windows 10 VM + Defender (Recommended)</a:t>
            </a:r>
          </a:p>
          <a:p>
            <a:pPr lvl="0"/>
            <a:r>
              <a:rPr lang="en-US" sz="2200" dirty="0"/>
              <a:t>Windows 7 Vulnerable VM 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3637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Objective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Evade antivirus and endpoint monitoring solutions to maintain operational access without detection.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obfuscate payloads,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bypass AMSI protections,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use LOLBAS techniques,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execute payloads in memory,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reduce detection through stealth techniques.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You should be able to: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execute payloads without immediate detection,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maintain stable access,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bypass defensive controls,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avoid obvious security alerts.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5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Step 4 — Privilege Escalation &amp; Persistence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i="1" dirty="0">
                <a:latin typeface="Arial" panose="020B0604020202020204" pitchFamily="34" charset="0"/>
              </a:rPr>
              <a:t>(Week 5)</a:t>
            </a:r>
          </a:p>
          <a:p>
            <a:r>
              <a:rPr lang="en-US" sz="2200" b="1" dirty="0"/>
              <a:t>Targets</a:t>
            </a:r>
            <a:endParaRPr lang="en-US" sz="2200" dirty="0"/>
          </a:p>
          <a:p>
            <a:pPr lvl="0"/>
            <a:r>
              <a:rPr lang="en-US" sz="2200" dirty="0" err="1"/>
              <a:t>Metasploitable</a:t>
            </a:r>
            <a:r>
              <a:rPr lang="en-US" sz="2200" dirty="0"/>
              <a:t> 2 </a:t>
            </a:r>
          </a:p>
          <a:p>
            <a:pPr lvl="0"/>
            <a:r>
              <a:rPr lang="en-US" sz="2200" dirty="0"/>
              <a:t>Windows 7 Vulnerable VM </a:t>
            </a:r>
          </a:p>
          <a:p>
            <a:pPr lvl="0"/>
            <a:r>
              <a:rPr lang="en-US" sz="2200" dirty="0"/>
              <a:t>Windows  10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Objective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Escalate privileges on the compromised system and establish persistent access.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enumerate privilege escalation paths,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identify weak permissions and misconfigurations,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escalate to administrative privileges,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harvest credentials and sensitive files,</a:t>
            </a:r>
          </a:p>
          <a:p>
            <a:pPr marL="0" lvl="0" indent="0" eaLnBrk="0" fontAlgn="base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establish persistence mechanisms.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866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should be able to: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obtain administrative or SYSTEM privileges,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maintain access after reboot,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access restricted resources,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and demonstrate persistence successfully.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Step 5 — Pivoting &amp; Lateral Movement to the AD Environment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i="1" dirty="0">
                <a:latin typeface="Arial" panose="020B0604020202020204" pitchFamily="34" charset="0"/>
              </a:rPr>
              <a:t>(Week 6, Week 7)</a:t>
            </a:r>
          </a:p>
          <a:p>
            <a:pPr>
              <a:lnSpc>
                <a:spcPct val="60000"/>
              </a:lnSpc>
            </a:pPr>
            <a:r>
              <a:rPr lang="en-US" sz="2400" b="1" dirty="0"/>
              <a:t>Targets</a:t>
            </a:r>
            <a:endParaRPr lang="en-US" sz="2400" dirty="0"/>
          </a:p>
          <a:p>
            <a:pPr>
              <a:lnSpc>
                <a:spcPct val="60000"/>
              </a:lnSpc>
            </a:pPr>
            <a:r>
              <a:rPr lang="en-US" sz="2400" u="sng" dirty="0" err="1">
                <a:hlinkClick r:id="rId2"/>
              </a:rPr>
              <a:t>TryHackMe</a:t>
            </a:r>
            <a:r>
              <a:rPr lang="en-US" sz="2400" u="sng" dirty="0">
                <a:hlinkClick r:id="rId2"/>
              </a:rPr>
              <a:t> </a:t>
            </a:r>
            <a:r>
              <a:rPr lang="en-US" sz="2400" u="sng" dirty="0" err="1">
                <a:hlinkClick r:id="rId2"/>
              </a:rPr>
              <a:t>Attacktive</a:t>
            </a:r>
            <a:r>
              <a:rPr lang="en-US" sz="2400" u="sng" dirty="0">
                <a:hlinkClick r:id="rId2"/>
              </a:rPr>
              <a:t> Directory</a:t>
            </a:r>
            <a:r>
              <a:rPr lang="en-US" sz="2400" dirty="0"/>
              <a:t> </a:t>
            </a:r>
          </a:p>
          <a:p>
            <a:pPr>
              <a:lnSpc>
                <a:spcPct val="60000"/>
              </a:lnSpc>
            </a:pPr>
            <a:r>
              <a:rPr lang="en-US" sz="2400" dirty="0"/>
              <a:t>·  Windows 7 Vulnerable VM </a:t>
            </a:r>
          </a:p>
          <a:p>
            <a:pPr>
              <a:lnSpc>
                <a:spcPct val="60000"/>
              </a:lnSpc>
            </a:pPr>
            <a:r>
              <a:rPr lang="en-US" sz="2400" dirty="0"/>
              <a:t>      ·  </a:t>
            </a:r>
            <a:r>
              <a:rPr lang="en-US" sz="2400" dirty="0" err="1"/>
              <a:t>Metasploitable</a:t>
            </a:r>
            <a:r>
              <a:rPr lang="en-US" sz="2400" dirty="0"/>
              <a:t>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 windows 10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8574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Objective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Move through the internal network and access additional systems inside the Active Directory environment.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perform internal network discovery,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establish tunnels and SOCKS proxies,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dump and reuse credentials,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move laterally using remote services,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enumerate Active Directory,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and identify high-value targets.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should be able to: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access additional internal systems,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pivot through compromised hosts,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reuse harvested credentials,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and map the Active Directory environment successfully.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1858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Step 6 — Reaching Domain Admin Status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(Week 8)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/>
              <a:t>Targets</a:t>
            </a:r>
            <a:endParaRPr lang="en-US" sz="2000" dirty="0"/>
          </a:p>
          <a:p>
            <a:pPr lvl="0"/>
            <a:r>
              <a:rPr lang="en-US" sz="2000" u="sng" dirty="0" err="1">
                <a:hlinkClick r:id="rId2"/>
              </a:rPr>
              <a:t>Attacktive</a:t>
            </a:r>
            <a:r>
              <a:rPr lang="en-US" sz="2000" u="sng" dirty="0">
                <a:hlinkClick r:id="rId2"/>
              </a:rPr>
              <a:t> Directory Room</a:t>
            </a:r>
            <a:endParaRPr lang="en-US" sz="2000" u="sng" dirty="0"/>
          </a:p>
          <a:p>
            <a:pPr lvl="0"/>
            <a:r>
              <a:rPr lang="en-US" sz="2000" u="sng" dirty="0"/>
              <a:t>Or </a:t>
            </a:r>
            <a:endParaRPr lang="en-US" sz="2000" dirty="0"/>
          </a:p>
          <a:p>
            <a:pPr lvl="0"/>
            <a:r>
              <a:rPr lang="en-US" sz="2000" dirty="0"/>
              <a:t>Windows 7 server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Objective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Compromise the Active Directory environment and obtain domain-level administrative control.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perform Kerberos-based attacks,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abuse weak ACLs and permissions,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perform </a:t>
            </a:r>
            <a:r>
              <a:rPr lang="en-US" altLang="en-US" sz="2000" dirty="0" err="1">
                <a:latin typeface="Arial" panose="020B0604020202020204" pitchFamily="34" charset="0"/>
              </a:rPr>
              <a:t>DCSync</a:t>
            </a:r>
            <a:r>
              <a:rPr lang="en-US" altLang="en-US" sz="2000" dirty="0">
                <a:latin typeface="Arial" panose="020B0604020202020204" pitchFamily="34" charset="0"/>
              </a:rPr>
              <a:t> operations,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extract domain credential material,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and establish domain-level persistence.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107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should be able to: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obtain Domain Administrator privileges,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compromise high-value accounts,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extract domain hashes,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and demonstrate full domain compromise.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Operational Expectations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You should: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maintain organized notes,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track credentials securely,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collect screenshots throughout the engagement,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document all attack paths,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and record all persistence mechanisms used during the operation.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1033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Learning Goal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Demonstrate the ability to combine reconnaissance, exploitation, evasion, privilege escalation, lateral movement, and Active Directory attacks into a complete end-to-end enterprise attack workflow.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029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r>
              <a:rPr lang="en-US" sz="5000" dirty="0"/>
              <a:t>                                   Task 3</a:t>
            </a:r>
          </a:p>
        </p:txBody>
      </p:sp>
    </p:spTree>
    <p:extLst>
      <p:ext uri="{BB962C8B-B14F-4D97-AF65-F5344CB8AC3E}">
        <p14:creationId xmlns:p14="http://schemas.microsoft.com/office/powerpoint/2010/main" val="4113530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Task 03: Post-Engagement Cleanup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36171"/>
            <a:ext cx="12213770" cy="5921829"/>
          </a:xfrm>
        </p:spPr>
        <p:txBody>
          <a:bodyPr/>
          <a:lstStyle/>
          <a:p>
            <a:pPr marL="0" lvl="0" indent="0" fontAlgn="base">
              <a:buNone/>
            </a:pPr>
            <a:r>
              <a:rPr lang="en-US" b="1" dirty="0"/>
              <a:t>Description:</a:t>
            </a:r>
            <a:r>
              <a:rPr lang="en-US" dirty="0"/>
              <a:t> A professional Red Teamer never leaves a mess behind. </a:t>
            </a:r>
          </a:p>
          <a:p>
            <a:pPr marL="0" lvl="0" indent="0" fontAlgn="base">
              <a:buNone/>
            </a:pPr>
            <a:r>
              <a:rPr lang="en-US" b="1" dirty="0"/>
              <a:t>Technical Requirements: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○ Identify every "Backdoor" or "Persistence Mechanism" you created during the week. </a:t>
            </a:r>
          </a:p>
          <a:p>
            <a:pPr marL="0" indent="0">
              <a:buNone/>
            </a:pPr>
            <a:r>
              <a:rPr lang="en-US" dirty="0"/>
              <a:t>○ Document the process of </a:t>
            </a:r>
            <a:r>
              <a:rPr lang="en-US" b="1" dirty="0"/>
              <a:t>reverting changes</a:t>
            </a:r>
            <a:r>
              <a:rPr lang="en-US" dirty="0"/>
              <a:t> (e.g., deleting temporary users, removing </a:t>
            </a:r>
            <a:r>
              <a:rPr lang="en-US" dirty="0" err="1"/>
              <a:t>cron</a:t>
            </a:r>
            <a:r>
              <a:rPr lang="en-US" dirty="0"/>
              <a:t> jobs, or cleaning up logs). </a:t>
            </a:r>
          </a:p>
          <a:p>
            <a:pPr marL="0" indent="0">
              <a:buNone/>
            </a:pPr>
            <a:r>
              <a:rPr lang="en-US" dirty="0"/>
              <a:t>○ Verify that the target system is back to its original state. </a:t>
            </a:r>
          </a:p>
          <a:p>
            <a:pPr marL="0" lvl="0" indent="0" fontAlgn="base">
              <a:buNone/>
            </a:pPr>
            <a:r>
              <a:rPr lang="en-US" b="1" dirty="0"/>
              <a:t>Learning Goal:</a:t>
            </a:r>
            <a:r>
              <a:rPr lang="en-US" dirty="0"/>
              <a:t> Ethics and Professionalism. Leaving shells behind is a massive security risk for the client.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18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/>
              <a:t>Task 03 — Post-Engagement Cleanup</a:t>
            </a: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PART 1 Identify every "Backdoor" or "Persistence Mechanism" you created during the week.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Post-Engagement Cleanup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Description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A professional Red Teamer never leaves unauthorized access, malicious artifacts, or modified </a:t>
            </a:r>
            <a:r>
              <a:rPr lang="en-US" dirty="0" err="1"/>
              <a:t>configurationsbehind</a:t>
            </a:r>
            <a:r>
              <a:rPr lang="en-US" dirty="0"/>
              <a:t> after completing an engagement.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dirty="0"/>
              <a:t>The purpose of this phase is to ensure that all persistence mechanisms, payloads, accounts, and operational artifacts created during the assessment are properly identified and removed.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823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300" b="1" dirty="0"/>
              <a:t>Technical Requirement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300" b="1" dirty="0"/>
              <a:t>Identify Every Persistence Mechanism and Backdoor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300" dirty="0"/>
              <a:t>We should:</a:t>
            </a:r>
          </a:p>
          <a:p>
            <a:pPr>
              <a:lnSpc>
                <a:spcPct val="80000"/>
              </a:lnSpc>
            </a:pPr>
            <a:r>
              <a:rPr lang="en-US" sz="2300" dirty="0"/>
              <a:t>identify every persistence mechanism created during the engagement, </a:t>
            </a:r>
          </a:p>
          <a:p>
            <a:pPr>
              <a:lnSpc>
                <a:spcPct val="80000"/>
              </a:lnSpc>
            </a:pPr>
            <a:r>
              <a:rPr lang="en-US" sz="2300" dirty="0"/>
              <a:t>document all backdoors and implants deployed, </a:t>
            </a:r>
          </a:p>
          <a:p>
            <a:pPr>
              <a:lnSpc>
                <a:spcPct val="80000"/>
              </a:lnSpc>
            </a:pPr>
            <a:r>
              <a:rPr lang="en-US" sz="2300" dirty="0"/>
              <a:t>review all modified system configurations, </a:t>
            </a:r>
          </a:p>
          <a:p>
            <a:pPr>
              <a:lnSpc>
                <a:spcPct val="80000"/>
              </a:lnSpc>
            </a:pPr>
            <a:r>
              <a:rPr lang="en-US" sz="2300" dirty="0"/>
              <a:t>identify created users, scheduled tasks, registry modifications, services, or startup entries, </a:t>
            </a:r>
          </a:p>
          <a:p>
            <a:pPr>
              <a:lnSpc>
                <a:spcPct val="80000"/>
              </a:lnSpc>
            </a:pPr>
            <a:r>
              <a:rPr lang="en-US" sz="2300" dirty="0"/>
              <a:t>and verify that no unauthorized access methods remain active within the environment. </a:t>
            </a:r>
          </a:p>
        </p:txBody>
      </p:sp>
    </p:spTree>
    <p:extLst>
      <p:ext uri="{BB962C8B-B14F-4D97-AF65-F5344CB8AC3E}">
        <p14:creationId xmlns:p14="http://schemas.microsoft.com/office/powerpoint/2010/main" val="1662339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b="1" dirty="0"/>
              <a:t>Success Indicators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You should be able to:</a:t>
            </a:r>
          </a:p>
          <a:p>
            <a:pPr>
              <a:lnSpc>
                <a:spcPct val="60000"/>
              </a:lnSpc>
            </a:pPr>
            <a:r>
              <a:rPr lang="en-US" dirty="0"/>
              <a:t>identify all persistence mechanisms used during the engagement, </a:t>
            </a:r>
          </a:p>
          <a:p>
            <a:pPr>
              <a:lnSpc>
                <a:spcPct val="60000"/>
              </a:lnSpc>
            </a:pPr>
            <a:r>
              <a:rPr lang="en-US" dirty="0"/>
              <a:t>document every system modification performed, </a:t>
            </a:r>
          </a:p>
          <a:p>
            <a:pPr>
              <a:lnSpc>
                <a:spcPct val="60000"/>
              </a:lnSpc>
            </a:pPr>
            <a:r>
              <a:rPr lang="en-US" dirty="0"/>
              <a:t>confirm that all backdoors have been removed, </a:t>
            </a:r>
          </a:p>
          <a:p>
            <a:pPr>
              <a:lnSpc>
                <a:spcPct val="60000"/>
              </a:lnSpc>
            </a:pPr>
            <a:r>
              <a:rPr lang="en-US" dirty="0"/>
              <a:t>and verify that the environment has been restored to its original state.</a:t>
            </a:r>
          </a:p>
          <a:p>
            <a:pPr marL="0" indent="0">
              <a:buNone/>
            </a:pPr>
            <a:r>
              <a:rPr lang="en-US" b="1" dirty="0"/>
              <a:t>Part 2 Document the Process of Reverting Changes</a:t>
            </a:r>
          </a:p>
          <a:p>
            <a:r>
              <a:rPr lang="en-US" dirty="0"/>
              <a:t>document every modification made during the engagement, </a:t>
            </a:r>
          </a:p>
          <a:p>
            <a:r>
              <a:rPr lang="en-US" dirty="0"/>
              <a:t>record the steps required to restore affected systems, </a:t>
            </a:r>
          </a:p>
          <a:p>
            <a:r>
              <a:rPr lang="en-US" dirty="0"/>
              <a:t>identify all temporary users, services, scripts, and scheduled tasks created during the operation, </a:t>
            </a:r>
          </a:p>
          <a:p>
            <a:r>
              <a:rPr lang="en-US" dirty="0"/>
              <a:t>and verify that all operational artifacts have been removed successfully. </a:t>
            </a:r>
          </a:p>
          <a:p>
            <a:pPr marL="0" indent="0">
              <a:lnSpc>
                <a:spcPct val="60000"/>
              </a:lnSpc>
              <a:buNone/>
            </a:pPr>
            <a:endParaRPr lang="en-US" dirty="0"/>
          </a:p>
          <a:p>
            <a:pPr>
              <a:lnSpc>
                <a:spcPct val="60000"/>
              </a:lnSpc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45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Focus Areas</a:t>
            </a:r>
          </a:p>
          <a:p>
            <a:pPr marL="0" indent="0">
              <a:buNone/>
            </a:pPr>
            <a:r>
              <a:rPr lang="en-US" dirty="0"/>
              <a:t>Document:</a:t>
            </a:r>
          </a:p>
          <a:p>
            <a:r>
              <a:rPr lang="en-US" dirty="0"/>
              <a:t>deletion of temporary accounts, </a:t>
            </a:r>
          </a:p>
          <a:p>
            <a:r>
              <a:rPr lang="en-US" dirty="0"/>
              <a:t>removal of </a:t>
            </a:r>
            <a:r>
              <a:rPr lang="en-US" dirty="0" err="1"/>
              <a:t>cron</a:t>
            </a:r>
            <a:r>
              <a:rPr lang="en-US" dirty="0"/>
              <a:t> jobs and scheduled tasks, </a:t>
            </a:r>
          </a:p>
          <a:p>
            <a:r>
              <a:rPr lang="en-US" dirty="0"/>
              <a:t>cleanup of registry modifications, </a:t>
            </a:r>
          </a:p>
          <a:p>
            <a:r>
              <a:rPr lang="en-US" dirty="0"/>
              <a:t>removal of uploaded payloads and tools, </a:t>
            </a:r>
          </a:p>
          <a:p>
            <a:r>
              <a:rPr lang="en-US" dirty="0"/>
              <a:t>deletion of persistence scripts, </a:t>
            </a:r>
          </a:p>
          <a:p>
            <a:r>
              <a:rPr lang="en-US" dirty="0"/>
              <a:t>restoration of modified permissions, </a:t>
            </a:r>
          </a:p>
          <a:p>
            <a:r>
              <a:rPr lang="en-US" dirty="0"/>
              <a:t>and cleanup of generated logs or temporary files where applicable. </a:t>
            </a:r>
          </a:p>
          <a:p>
            <a:pPr marL="0" indent="0">
              <a:buNone/>
            </a:pPr>
            <a:r>
              <a:rPr lang="en-US" b="1" dirty="0"/>
              <a:t>Success Indicators</a:t>
            </a:r>
          </a:p>
          <a:p>
            <a:pPr marL="0" indent="0">
              <a:buNone/>
            </a:pPr>
            <a:r>
              <a:rPr lang="en-US" dirty="0"/>
              <a:t>You should be able to:</a:t>
            </a:r>
          </a:p>
          <a:p>
            <a:r>
              <a:rPr lang="en-US" dirty="0"/>
              <a:t>demonstrate that all changes have been reverted, </a:t>
            </a:r>
          </a:p>
          <a:p>
            <a:r>
              <a:rPr lang="en-US" dirty="0"/>
              <a:t>verify that persistence mechanisms no longer exist, </a:t>
            </a:r>
          </a:p>
          <a:p>
            <a:r>
              <a:rPr lang="en-US" dirty="0"/>
              <a:t>confirm that unauthorized accounts and services have been removed, </a:t>
            </a:r>
          </a:p>
          <a:p>
            <a:r>
              <a:rPr lang="en-US" dirty="0"/>
              <a:t>and restore the environment to a stable and operational state.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24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/>
              <a:t>Part 3 </a:t>
            </a:r>
            <a:r>
              <a:rPr lang="en-US" altLang="en-US" sz="2000" b="1" dirty="0">
                <a:latin typeface="Arial" panose="020B0604020202020204" pitchFamily="34" charset="0"/>
              </a:rPr>
              <a:t>Verify That the Target System Is Back to Its Original State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Verify: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all persistence mechanisms have been removed,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unauthorized accounts and services no longer exist,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uploaded payloads and tools have been deleted,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scheduled tasks, </a:t>
            </a:r>
            <a:r>
              <a:rPr lang="en-US" altLang="en-US" sz="2000" dirty="0" err="1">
                <a:latin typeface="Arial" panose="020B0604020202020204" pitchFamily="34" charset="0"/>
              </a:rPr>
              <a:t>cron</a:t>
            </a:r>
            <a:r>
              <a:rPr lang="en-US" altLang="en-US" sz="2000" dirty="0">
                <a:latin typeface="Arial" panose="020B0604020202020204" pitchFamily="34" charset="0"/>
              </a:rPr>
              <a:t> jobs, and startup entries have been cleaned,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modified permissions and configurations have been restored,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and normal system functionality has been fully restored.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Focus Areas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Review: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user accounts and group memberships,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registry modifications,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running services and processes,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persistence locations,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network accessibility,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and overall system stability after cleanup.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Success Indicators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Confirm that: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no unauthorized access methods remain active,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systems operate normally after reboot,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30438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all operational artifacts have been removed,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and the environment has been successfully restored to its original state.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67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r>
              <a:rPr lang="en-US" sz="5000" dirty="0"/>
              <a:t>                                   Task 4</a:t>
            </a:r>
          </a:p>
        </p:txBody>
      </p:sp>
    </p:spTree>
    <p:extLst>
      <p:ext uri="{BB962C8B-B14F-4D97-AF65-F5344CB8AC3E}">
        <p14:creationId xmlns:p14="http://schemas.microsoft.com/office/powerpoint/2010/main" val="1737667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Task 04: The "Boardroom" Final Report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25562"/>
            <a:ext cx="12039600" cy="5532437"/>
          </a:xfrm>
        </p:spPr>
        <p:txBody>
          <a:bodyPr/>
          <a:lstStyle/>
          <a:p>
            <a:pPr marL="0" lvl="0" indent="0" fontAlgn="base">
              <a:buNone/>
            </a:pPr>
            <a:r>
              <a:rPr lang="en-US" b="1" dirty="0"/>
              <a:t>Description:</a:t>
            </a:r>
            <a:r>
              <a:rPr lang="en-US" dirty="0"/>
              <a:t> Create the final document that proves your value to the organization. </a:t>
            </a:r>
          </a:p>
          <a:p>
            <a:pPr marL="0" lvl="0" indent="0" fontAlgn="base">
              <a:buNone/>
            </a:pPr>
            <a:r>
              <a:rPr lang="en-US" b="1" dirty="0"/>
              <a:t>Technical Requirements: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Executive Summary:</a:t>
            </a:r>
            <a:r>
              <a:rPr lang="en-US" dirty="0"/>
              <a:t> A high-level view for CEOs (Non-technical).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Technical Breakdown:</a:t>
            </a:r>
            <a:r>
              <a:rPr lang="en-US" dirty="0"/>
              <a:t> Step-by-step documentation with screenshots for IT Admins. </a:t>
            </a:r>
          </a:p>
          <a:p>
            <a:pPr marL="0" indent="0">
              <a:buNone/>
            </a:pPr>
            <a:r>
              <a:rPr lang="en-US" dirty="0"/>
              <a:t>○ </a:t>
            </a:r>
            <a:r>
              <a:rPr lang="en-US" b="1" dirty="0"/>
              <a:t>Risk Rating:</a:t>
            </a:r>
            <a:r>
              <a:rPr lang="en-US" dirty="0"/>
              <a:t> Categorize findings using </a:t>
            </a:r>
            <a:r>
              <a:rPr lang="en-US" b="1" dirty="0"/>
              <a:t>CVSS</a:t>
            </a:r>
            <a:r>
              <a:rPr lang="en-US" dirty="0"/>
              <a:t> and </a:t>
            </a:r>
            <a:r>
              <a:rPr lang="en-US" b="1" dirty="0"/>
              <a:t>MITRE ATT&amp;CK</a:t>
            </a:r>
            <a:r>
              <a:rPr lang="en-US" dirty="0"/>
              <a:t> mapping.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8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Part 1  Executive Summary: A high-level view for CEOs (Non-technical). </a:t>
            </a:r>
          </a:p>
          <a:p>
            <a:pPr marL="0" indent="0">
              <a:buNone/>
            </a:pPr>
            <a:r>
              <a:rPr lang="en-US" b="1" dirty="0"/>
              <a:t>Executive Summary</a:t>
            </a:r>
          </a:p>
          <a:p>
            <a:pPr marL="0" indent="0">
              <a:buNone/>
            </a:pPr>
            <a:r>
              <a:rPr lang="en-US" dirty="0"/>
              <a:t>Create a high-level summary of the engagement intended for non-technical stakeholders such as executives, management teams, or decision-makers.</a:t>
            </a:r>
          </a:p>
          <a:p>
            <a:pPr marL="0" indent="0">
              <a:buNone/>
            </a:pPr>
            <a:r>
              <a:rPr lang="en-US" dirty="0"/>
              <a:t>The Executive Summary should focus on:</a:t>
            </a:r>
          </a:p>
          <a:p>
            <a:r>
              <a:rPr lang="en-US" dirty="0"/>
              <a:t>business impact, </a:t>
            </a:r>
          </a:p>
          <a:p>
            <a:r>
              <a:rPr lang="en-US" dirty="0"/>
              <a:t>organizational risk, </a:t>
            </a:r>
          </a:p>
          <a:p>
            <a:r>
              <a:rPr lang="en-US" dirty="0"/>
              <a:t>overall attack outcome, </a:t>
            </a:r>
          </a:p>
          <a:p>
            <a:r>
              <a:rPr lang="en-US" dirty="0"/>
              <a:t>and strategic security concerns rather than technical exploitation details. </a:t>
            </a:r>
          </a:p>
          <a:p>
            <a:pPr marL="0" indent="0">
              <a:buNone/>
            </a:pPr>
            <a:r>
              <a:rPr lang="en-US" b="1" dirty="0"/>
              <a:t>Include</a:t>
            </a:r>
          </a:p>
          <a:p>
            <a:r>
              <a:rPr lang="en-US" dirty="0"/>
              <a:t>Overview of the engagement scope </a:t>
            </a:r>
          </a:p>
          <a:p>
            <a:r>
              <a:rPr lang="en-US" dirty="0"/>
              <a:t>Summary of attack progression </a:t>
            </a:r>
          </a:p>
          <a:p>
            <a:r>
              <a:rPr lang="en-US" dirty="0"/>
              <a:t>Critical findings identified during the assessment </a:t>
            </a:r>
          </a:p>
          <a:p>
            <a:r>
              <a:rPr lang="en-US" dirty="0"/>
              <a:t>Potential business impact of a successful compromise </a:t>
            </a:r>
          </a:p>
          <a:p>
            <a:r>
              <a:rPr lang="en-US" dirty="0"/>
              <a:t>Overall risk posture of the environment </a:t>
            </a:r>
          </a:p>
          <a:p>
            <a:r>
              <a:rPr lang="en-US" dirty="0"/>
              <a:t>High-level remediation priorities </a:t>
            </a:r>
          </a:p>
        </p:txBody>
      </p:sp>
    </p:spTree>
    <p:extLst>
      <p:ext uri="{BB962C8B-B14F-4D97-AF65-F5344CB8AC3E}">
        <p14:creationId xmlns:p14="http://schemas.microsoft.com/office/powerpoint/2010/main" val="1260461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Focus Areas</a:t>
            </a:r>
          </a:p>
          <a:p>
            <a:pPr marL="0" indent="0">
              <a:buNone/>
            </a:pPr>
            <a:r>
              <a:rPr lang="en-US" dirty="0"/>
              <a:t>Summarize:</a:t>
            </a:r>
          </a:p>
          <a:p>
            <a:r>
              <a:rPr lang="en-US" dirty="0"/>
              <a:t>how the initial compromise occurred, </a:t>
            </a:r>
          </a:p>
          <a:p>
            <a:r>
              <a:rPr lang="en-US" dirty="0"/>
              <a:t>how internal movement was achieved, </a:t>
            </a:r>
          </a:p>
          <a:p>
            <a:r>
              <a:rPr lang="en-US" dirty="0"/>
              <a:t>what sensitive systems or data were accessed, </a:t>
            </a:r>
          </a:p>
          <a:p>
            <a:r>
              <a:rPr lang="en-US" dirty="0"/>
              <a:t>and the overall impact of full domain compromise. </a:t>
            </a:r>
          </a:p>
          <a:p>
            <a:pPr marL="0" indent="0">
              <a:buNone/>
            </a:pPr>
            <a:r>
              <a:rPr lang="en-US" dirty="0"/>
              <a:t>Avoid:</a:t>
            </a:r>
          </a:p>
          <a:p>
            <a:r>
              <a:rPr lang="en-US" dirty="0"/>
              <a:t>excessive technical terminology, </a:t>
            </a:r>
          </a:p>
          <a:p>
            <a:r>
              <a:rPr lang="en-US" dirty="0"/>
              <a:t>command outputs, </a:t>
            </a:r>
          </a:p>
          <a:p>
            <a:r>
              <a:rPr lang="en-US" dirty="0"/>
              <a:t>exploit code, </a:t>
            </a:r>
          </a:p>
          <a:p>
            <a:r>
              <a:rPr lang="en-US" dirty="0"/>
              <a:t>or low-level implementation details. </a:t>
            </a:r>
          </a:p>
          <a:p>
            <a:pPr marL="0" indent="0">
              <a:buNone/>
            </a:pPr>
            <a:r>
              <a:rPr lang="en-US" b="1" dirty="0"/>
              <a:t>Success Indicators</a:t>
            </a:r>
          </a:p>
          <a:p>
            <a:pPr marL="0" indent="0">
              <a:buNone/>
            </a:pPr>
            <a:r>
              <a:rPr lang="en-US" dirty="0"/>
              <a:t>The Executive Summary should:</a:t>
            </a:r>
          </a:p>
          <a:p>
            <a:r>
              <a:rPr lang="en-US" dirty="0"/>
              <a:t>be understandable by non-technical stakeholders, </a:t>
            </a:r>
          </a:p>
          <a:p>
            <a:r>
              <a:rPr lang="en-US" dirty="0"/>
              <a:t>clearly communicate organizational risk, </a:t>
            </a:r>
          </a:p>
          <a:p>
            <a:r>
              <a:rPr lang="en-US" dirty="0"/>
              <a:t>explain the business impact of the findings, </a:t>
            </a:r>
          </a:p>
          <a:p>
            <a:r>
              <a:rPr lang="en-US" dirty="0"/>
              <a:t>and provide concise strategic recommendations for remediation.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22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Part 2 Technical Breakdown: Step-by-step documentation with screenshots for IT Admins. </a:t>
            </a:r>
          </a:p>
          <a:p>
            <a:pPr marL="0" indent="0">
              <a:buNone/>
            </a:pPr>
            <a:r>
              <a:rPr lang="en-US" b="1" dirty="0"/>
              <a:t>Technical Breakdown</a:t>
            </a:r>
          </a:p>
          <a:p>
            <a:r>
              <a:rPr lang="en-US" dirty="0"/>
              <a:t>Create a detailed technical report documenting the complete attack chain performed during the engagement.</a:t>
            </a:r>
          </a:p>
          <a:p>
            <a:r>
              <a:rPr lang="en-US" dirty="0"/>
              <a:t>The Technical Breakdown should provide a step-by-step explanation of:</a:t>
            </a:r>
          </a:p>
          <a:p>
            <a:r>
              <a:rPr lang="en-US" dirty="0"/>
              <a:t>reconnaissance, </a:t>
            </a:r>
          </a:p>
          <a:p>
            <a:r>
              <a:rPr lang="en-US" dirty="0"/>
              <a:t>exploitation, </a:t>
            </a:r>
          </a:p>
          <a:p>
            <a:r>
              <a:rPr lang="en-US" dirty="0"/>
              <a:t>privilege escalation, </a:t>
            </a:r>
          </a:p>
          <a:p>
            <a:r>
              <a:rPr lang="en-US" dirty="0"/>
              <a:t>lateral movement, </a:t>
            </a:r>
          </a:p>
          <a:p>
            <a:r>
              <a:rPr lang="en-US" dirty="0"/>
              <a:t>Active Directory attacks, </a:t>
            </a:r>
          </a:p>
          <a:p>
            <a:r>
              <a:rPr lang="en-US" dirty="0"/>
              <a:t>persistence, </a:t>
            </a:r>
          </a:p>
          <a:p>
            <a:r>
              <a:rPr lang="en-US" dirty="0"/>
              <a:t>and cleanup activities. </a:t>
            </a:r>
          </a:p>
          <a:p>
            <a:pPr marL="0" indent="0">
              <a:buNone/>
            </a:pPr>
            <a:r>
              <a:rPr lang="en-US" b="1" dirty="0"/>
              <a:t>Include</a:t>
            </a:r>
          </a:p>
          <a:p>
            <a:r>
              <a:rPr lang="en-US" dirty="0"/>
              <a:t>Reconnaissance findings </a:t>
            </a:r>
          </a:p>
          <a:p>
            <a:r>
              <a:rPr lang="en-US" dirty="0"/>
              <a:t>Enumeration results </a:t>
            </a:r>
          </a:p>
          <a:p>
            <a:r>
              <a:rPr lang="en-US" dirty="0"/>
              <a:t>Exploitation steps </a:t>
            </a:r>
          </a:p>
          <a:p>
            <a:r>
              <a:rPr lang="en-US" dirty="0"/>
              <a:t>Commands and tools used </a:t>
            </a:r>
          </a:p>
          <a:p>
            <a:r>
              <a:rPr lang="en-US" dirty="0"/>
              <a:t>Privilege escalation paths </a:t>
            </a:r>
          </a:p>
          <a:p>
            <a:r>
              <a:rPr lang="en-US" dirty="0"/>
              <a:t>Lateral movement techniques </a:t>
            </a:r>
          </a:p>
          <a:p>
            <a:r>
              <a:rPr lang="en-US" dirty="0"/>
              <a:t>Active Directory attack paths </a:t>
            </a:r>
          </a:p>
          <a:p>
            <a:r>
              <a:rPr lang="en-US" dirty="0"/>
              <a:t>Persistence mechanisms </a:t>
            </a:r>
          </a:p>
          <a:p>
            <a:r>
              <a:rPr lang="en-US" dirty="0"/>
              <a:t>Cleanup procedures </a:t>
            </a:r>
          </a:p>
          <a:p>
            <a:r>
              <a:rPr lang="en-US" dirty="0"/>
              <a:t>Screenshots and collected evidence </a:t>
            </a:r>
          </a:p>
        </p:txBody>
      </p:sp>
    </p:spTree>
    <p:extLst>
      <p:ext uri="{BB962C8B-B14F-4D97-AF65-F5344CB8AC3E}">
        <p14:creationId xmlns:p14="http://schemas.microsoft.com/office/powerpoint/2010/main" val="1854903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Part 3 </a:t>
            </a:r>
            <a:r>
              <a:rPr lang="en-US" b="1" dirty="0"/>
              <a:t>Risk Rating:</a:t>
            </a:r>
            <a:r>
              <a:rPr lang="en-US" dirty="0"/>
              <a:t> Categorize findings using </a:t>
            </a:r>
            <a:r>
              <a:rPr lang="en-US" b="1" dirty="0"/>
              <a:t>CVSS</a:t>
            </a:r>
            <a:r>
              <a:rPr lang="en-US" dirty="0"/>
              <a:t> and </a:t>
            </a:r>
            <a:r>
              <a:rPr lang="en-US" b="1" dirty="0"/>
              <a:t>MITRE ATT&amp;CK</a:t>
            </a:r>
            <a:r>
              <a:rPr lang="en-US" dirty="0"/>
              <a:t> mapping. </a:t>
            </a:r>
            <a:endParaRPr lang="en-US" sz="2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Risk Rating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Categorize and prioritize all identified findings based 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severity,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exploitability,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impact,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overall organizational risk.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Use: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CVSS scoring,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and MITRE ATT&amp;CK mapping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Arial" panose="020B0604020202020204" pitchFamily="34" charset="0"/>
              </a:rPr>
              <a:t>to classify offensive activity performed during the engagement.</a:t>
            </a: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Arial" panose="020B0604020202020204" pitchFamily="34" charset="0"/>
              </a:rPr>
              <a:t>Include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Vulnerability or finding name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Affected target or service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CVSS severity score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Risk level (Low, Medium, High, Critical)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MITRE ATT&amp;CK technique ID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Attack description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Business impact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Arial" panose="020B0604020202020204" pitchFamily="34" charset="0"/>
              </a:rPr>
              <a:t>Recommended remediation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42152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Focus Areas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Map findings to relevant ATT&amp;CK tactics such as: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Initial Access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Execution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Persistence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Privilege Escalation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Defense Evasion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Credential Access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Discovery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Lateral Movement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Collection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Assess: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exploitation difficulty,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privilege level obtained,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lateral movement capability,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persistence impact, </a:t>
            </a:r>
          </a:p>
          <a:p>
            <a:pPr>
              <a:lnSpc>
                <a:spcPct val="70000"/>
              </a:lnSpc>
            </a:pPr>
            <a:r>
              <a:rPr lang="en-US" sz="2000" dirty="0"/>
              <a:t>and potential business damage. </a:t>
            </a:r>
          </a:p>
        </p:txBody>
      </p:sp>
    </p:spTree>
    <p:extLst>
      <p:ext uri="{BB962C8B-B14F-4D97-AF65-F5344CB8AC3E}">
        <p14:creationId xmlns:p14="http://schemas.microsoft.com/office/powerpoint/2010/main" val="122305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Success Indicators</a:t>
            </a:r>
          </a:p>
          <a:p>
            <a:r>
              <a:rPr lang="en-US" dirty="0"/>
              <a:t>Verify:</a:t>
            </a:r>
          </a:p>
          <a:p>
            <a:r>
              <a:rPr lang="en-US" dirty="0"/>
              <a:t>findings are prioritized correctly, </a:t>
            </a:r>
          </a:p>
          <a:p>
            <a:r>
              <a:rPr lang="en-US" dirty="0"/>
              <a:t>CVSS ratings accurately reflect risk, </a:t>
            </a:r>
          </a:p>
          <a:p>
            <a:r>
              <a:rPr lang="en-US" dirty="0"/>
              <a:t>MITRE ATT&amp;CK techniques are mapped properly, </a:t>
            </a:r>
          </a:p>
          <a:p>
            <a:r>
              <a:rPr lang="en-US" dirty="0"/>
              <a:t>and remediation recommendations align with the identified impact.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00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91153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</TotalTime>
  <Words>2769</Words>
  <Application>Microsoft Office PowerPoint</Application>
  <PresentationFormat>Widescreen</PresentationFormat>
  <Paragraphs>549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Office Theme</vt:lpstr>
      <vt:lpstr>Week 12</vt:lpstr>
      <vt:lpstr>Week 12: The Capstone Project (Full Attack Chain)💀</vt:lpstr>
      <vt:lpstr>Task 01: The Scoping &amp; Planning Phase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02: Execution of the "Cyber Kill Chain"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03: Post-Engagement Cleanup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04: The "Boardroom" Final Report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</dc:title>
  <dc:creator>Gh0stRift</dc:creator>
  <cp:lastModifiedBy>Gh0stRift</cp:lastModifiedBy>
  <cp:revision>35</cp:revision>
  <dcterms:created xsi:type="dcterms:W3CDTF">2026-05-14T07:47:42Z</dcterms:created>
  <dcterms:modified xsi:type="dcterms:W3CDTF">2026-09-06T03:25:46Z</dcterms:modified>
</cp:coreProperties>
</file>