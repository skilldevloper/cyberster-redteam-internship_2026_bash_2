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9" r:id="rId1"/>
  </p:sldMasterIdLst>
  <p:notesMasterIdLst>
    <p:notesMasterId r:id="rId45"/>
  </p:notesMasterIdLst>
  <p:sldIdLst>
    <p:sldId id="308" r:id="rId2"/>
    <p:sldId id="278" r:id="rId3"/>
    <p:sldId id="282" r:id="rId4"/>
    <p:sldId id="256" r:id="rId5"/>
    <p:sldId id="257" r:id="rId6"/>
    <p:sldId id="281" r:id="rId7"/>
    <p:sldId id="294" r:id="rId8"/>
    <p:sldId id="260" r:id="rId9"/>
    <p:sldId id="295" r:id="rId10"/>
    <p:sldId id="261" r:id="rId11"/>
    <p:sldId id="296" r:id="rId12"/>
    <p:sldId id="262" r:id="rId13"/>
    <p:sldId id="297" r:id="rId14"/>
    <p:sldId id="263" r:id="rId15"/>
    <p:sldId id="264" r:id="rId16"/>
    <p:sldId id="290" r:id="rId17"/>
    <p:sldId id="265" r:id="rId18"/>
    <p:sldId id="304" r:id="rId19"/>
    <p:sldId id="298" r:id="rId20"/>
    <p:sldId id="302" r:id="rId21"/>
    <p:sldId id="291" r:id="rId22"/>
    <p:sldId id="299" r:id="rId23"/>
    <p:sldId id="300" r:id="rId24"/>
    <p:sldId id="301" r:id="rId25"/>
    <p:sldId id="292" r:id="rId26"/>
    <p:sldId id="305" r:id="rId27"/>
    <p:sldId id="306" r:id="rId28"/>
    <p:sldId id="268" r:id="rId29"/>
    <p:sldId id="307" r:id="rId30"/>
    <p:sldId id="269" r:id="rId31"/>
    <p:sldId id="271" r:id="rId32"/>
    <p:sldId id="273" r:id="rId33"/>
    <p:sldId id="272" r:id="rId34"/>
    <p:sldId id="274" r:id="rId35"/>
    <p:sldId id="275" r:id="rId36"/>
    <p:sldId id="276" r:id="rId37"/>
    <p:sldId id="277" r:id="rId38"/>
    <p:sldId id="293" r:id="rId39"/>
    <p:sldId id="284" r:id="rId40"/>
    <p:sldId id="286" r:id="rId41"/>
    <p:sldId id="288" r:id="rId42"/>
    <p:sldId id="289" r:id="rId43"/>
    <p:sldId id="285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C432"/>
    <a:srgbClr val="E36BDA"/>
    <a:srgbClr val="BA1BCB"/>
    <a:srgbClr val="66E875"/>
    <a:srgbClr val="3360DD"/>
    <a:srgbClr val="B7E412"/>
    <a:srgbClr val="77CEF5"/>
    <a:srgbClr val="3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56" autoAdjust="0"/>
    <p:restoredTop sz="90842" autoAdjust="0"/>
  </p:normalViewPr>
  <p:slideViewPr>
    <p:cSldViewPr snapToGrid="0">
      <p:cViewPr>
        <p:scale>
          <a:sx n="100" d="100"/>
          <a:sy n="100" d="100"/>
        </p:scale>
        <p:origin x="72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15203-19BF-4187-91A9-C14AB0E007D1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75A43-2BAD-47E4-AC28-C2BB9D20D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3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75A43-2BAD-47E4-AC28-C2BB9D20D8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675A43-2BAD-47E4-AC28-C2BB9D20D8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7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91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1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54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99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0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3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8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41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9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64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43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333" y="350226"/>
            <a:ext cx="6531221" cy="61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70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4" y="685800"/>
            <a:ext cx="9817845" cy="3167743"/>
          </a:xfrm>
        </p:spPr>
        <p:txBody>
          <a:bodyPr/>
          <a:lstStyle/>
          <a:p>
            <a:r>
              <a:rPr lang="en-US" dirty="0" smtClean="0"/>
              <a:t>WEEK 2 Prepared by Umar Niaz</a:t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Red Team </a:t>
            </a:r>
            <a:r>
              <a:rPr lang="en-US" dirty="0" smtClean="0">
                <a:solidFill>
                  <a:srgbClr val="BA1BCB"/>
                </a:solidFill>
              </a:rPr>
              <a:t>Trainer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at </a:t>
            </a:r>
            <a:r>
              <a:rPr lang="en-US" b="1" dirty="0" smtClean="0">
                <a:solidFill>
                  <a:schemeClr val="accent5"/>
                </a:solidFill>
              </a:rPr>
              <a:t>Cyberster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05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854" y="453760"/>
            <a:ext cx="11252946" cy="44230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Week 02: Network Enumeration &amp; Service Vulnerability Discovery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Task 01 </a:t>
            </a:r>
          </a:p>
        </p:txBody>
      </p:sp>
    </p:spTree>
    <p:extLst>
      <p:ext uri="{BB962C8B-B14F-4D97-AF65-F5344CB8AC3E}">
        <p14:creationId xmlns:p14="http://schemas.microsoft.com/office/powerpoint/2010/main" val="135504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4" y="1032387"/>
            <a:ext cx="9843245" cy="5012813"/>
          </a:xfrm>
        </p:spPr>
        <p:txBody>
          <a:bodyPr>
            <a:noAutofit/>
          </a:bodyPr>
          <a:lstStyle/>
          <a:p>
            <a:r>
              <a:rPr lang="en-US" sz="4500" b="1" dirty="0" smtClean="0">
                <a:solidFill>
                  <a:srgbClr val="00B0F0"/>
                </a:solidFill>
              </a:rPr>
              <a:t>Objective:</a:t>
            </a:r>
            <a:r>
              <a:rPr lang="en-US" sz="45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 smtClean="0">
                <a:solidFill>
                  <a:schemeClr val="accent4"/>
                </a:solidFill>
              </a:rPr>
              <a:t>To transition from broad reconnaissance to targeted network scanning, identifying open ports, and fingerprinting services while avoiding basic security triggers</a:t>
            </a:r>
            <a:endParaRPr lang="en-US" sz="40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52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71" y="0"/>
            <a:ext cx="8560542" cy="870788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B050"/>
                </a:solidFill>
              </a:rPr>
              <a:t>Task 01: Advanced Network Scanning with Nmap 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27024"/>
            <a:ext cx="12192000" cy="6230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●Description</a:t>
            </a:r>
            <a:r>
              <a:rPr lang="en-US" dirty="0"/>
              <a:t>: Move beyond basic ping sweeps to conduct deep-dive port scanning. </a:t>
            </a:r>
          </a:p>
          <a:p>
            <a:pPr marL="0" indent="0">
              <a:buNone/>
            </a:pPr>
            <a:r>
              <a:rPr lang="en-US" dirty="0" smtClean="0"/>
              <a:t>●Technical </a:t>
            </a:r>
            <a:r>
              <a:rPr lang="en-US" dirty="0"/>
              <a:t>Requirements: </a:t>
            </a:r>
          </a:p>
          <a:p>
            <a:pPr marL="0" indent="0">
              <a:buNone/>
            </a:pPr>
            <a:r>
              <a:rPr lang="en-US" dirty="0" smtClean="0"/>
              <a:t>○ Perform </a:t>
            </a:r>
            <a:r>
              <a:rPr lang="en-US" dirty="0"/>
              <a:t>TCP Connect scans (-sT) and SYN Stealth scans (-</a:t>
            </a:r>
            <a:r>
              <a:rPr lang="en-US" dirty="0" err="1"/>
              <a:t>sS</a:t>
            </a:r>
            <a:r>
              <a:rPr lang="en-US" dirty="0"/>
              <a:t>) and compare the results in terms of speed and visibility. </a:t>
            </a:r>
          </a:p>
          <a:p>
            <a:pPr marL="0" indent="0">
              <a:buNone/>
            </a:pPr>
            <a:r>
              <a:rPr lang="en-US" dirty="0"/>
              <a:t>○ Conduct UDP Scanning (-sU) on the top 100 most common UDP ports (DNS, SNMP, DHCP). </a:t>
            </a:r>
          </a:p>
          <a:p>
            <a:pPr marL="0" indent="0">
              <a:buNone/>
            </a:pPr>
            <a:r>
              <a:rPr lang="en-US" dirty="0"/>
              <a:t>○ Use Timing Templates (-T0 to -T5) to understand how scan speed affects reliability and detection. </a:t>
            </a:r>
          </a:p>
          <a:p>
            <a:pPr marL="0" indent="0">
              <a:buNone/>
            </a:pPr>
            <a:r>
              <a:rPr lang="en-US" dirty="0" smtClean="0"/>
              <a:t>●Learning </a:t>
            </a:r>
            <a:r>
              <a:rPr lang="en-US" dirty="0"/>
              <a:t>Goal: Understand the mechanics of the TCP 3-way handshake and why Stealth scans are preferred in professional Red Teaming.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4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100"/>
            <a:ext cx="12192000" cy="66929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accent4"/>
                </a:solidFill>
              </a:rPr>
              <a:t>Task 1 Part 1:- </a:t>
            </a:r>
            <a:r>
              <a:rPr lang="en-US" sz="3200" b="1" dirty="0" smtClean="0">
                <a:solidFill>
                  <a:srgbClr val="00B050"/>
                </a:solidFill>
              </a:rPr>
              <a:t>Perform </a:t>
            </a:r>
            <a:r>
              <a:rPr lang="en-US" sz="3200" b="1" dirty="0">
                <a:solidFill>
                  <a:srgbClr val="00B050"/>
                </a:solidFill>
              </a:rPr>
              <a:t>TCP Connect scans (-sT) and SYN Stealth scans (-</a:t>
            </a:r>
            <a:r>
              <a:rPr lang="en-US" sz="3200" b="1" dirty="0" err="1">
                <a:solidFill>
                  <a:srgbClr val="00B050"/>
                </a:solidFill>
              </a:rPr>
              <a:t>sS</a:t>
            </a:r>
            <a:r>
              <a:rPr lang="en-US" sz="3200" b="1" dirty="0">
                <a:solidFill>
                  <a:srgbClr val="00B050"/>
                </a:solidFill>
              </a:rPr>
              <a:t>) </a:t>
            </a:r>
            <a:r>
              <a:rPr lang="en-US" sz="3200" b="1" dirty="0" smtClean="0">
                <a:solidFill>
                  <a:srgbClr val="00B050"/>
                </a:solidFill>
              </a:rPr>
              <a:t>and compare </a:t>
            </a:r>
            <a:r>
              <a:rPr lang="en-US" sz="3200" b="1" dirty="0">
                <a:solidFill>
                  <a:srgbClr val="00B050"/>
                </a:solidFill>
              </a:rPr>
              <a:t>the results in terms of speed and visibility. </a:t>
            </a:r>
            <a:endParaRPr lang="en-US" sz="32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700" b="1" dirty="0" smtClean="0">
                <a:solidFill>
                  <a:srgbClr val="00B0F0"/>
                </a:solidFill>
              </a:rPr>
              <a:t>3-Way </a:t>
            </a:r>
            <a:r>
              <a:rPr lang="en-US" sz="2700" b="1" dirty="0">
                <a:solidFill>
                  <a:srgbClr val="00B0F0"/>
                </a:solidFill>
              </a:rPr>
              <a:t>Handshake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Client → SYN</a:t>
            </a:r>
            <a:br>
              <a:rPr lang="en-US" sz="2700" b="1" dirty="0">
                <a:solidFill>
                  <a:srgbClr val="7030A0"/>
                </a:solidFill>
              </a:rPr>
            </a:br>
            <a:r>
              <a:rPr lang="en-US" sz="2700" b="1" dirty="0">
                <a:solidFill>
                  <a:srgbClr val="7030A0"/>
                </a:solidFill>
              </a:rPr>
              <a:t>Client </a:t>
            </a:r>
            <a:r>
              <a:rPr lang="en-US" sz="2700" b="1" dirty="0" smtClean="0">
                <a:solidFill>
                  <a:srgbClr val="7030A0"/>
                </a:solidFill>
              </a:rPr>
              <a:t>asks (requests) </a:t>
            </a:r>
            <a:r>
              <a:rPr lang="en-US" sz="2700" b="1" dirty="0">
                <a:solidFill>
                  <a:srgbClr val="7030A0"/>
                </a:solidFill>
              </a:rPr>
              <a:t>to </a:t>
            </a:r>
            <a:r>
              <a:rPr lang="en-US" sz="2700" b="1" dirty="0" smtClean="0">
                <a:solidFill>
                  <a:srgbClr val="7030A0"/>
                </a:solidFill>
              </a:rPr>
              <a:t>a server to open </a:t>
            </a:r>
            <a:r>
              <a:rPr lang="en-US" sz="2700" b="1" dirty="0">
                <a:solidFill>
                  <a:srgbClr val="7030A0"/>
                </a:solidFill>
              </a:rPr>
              <a:t>a </a:t>
            </a:r>
            <a:r>
              <a:rPr lang="en-US" sz="2700" b="1" dirty="0" smtClean="0">
                <a:solidFill>
                  <a:srgbClr val="7030A0"/>
                </a:solidFill>
              </a:rPr>
              <a:t> </a:t>
            </a:r>
            <a:r>
              <a:rPr lang="en-US" sz="2700" b="1" dirty="0">
                <a:solidFill>
                  <a:srgbClr val="7030A0"/>
                </a:solidFill>
              </a:rPr>
              <a:t>(synchronization).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Server → SYN-ACK</a:t>
            </a:r>
            <a:br>
              <a:rPr lang="en-US" sz="2700" b="1" dirty="0">
                <a:solidFill>
                  <a:srgbClr val="7030A0"/>
                </a:solidFill>
              </a:rPr>
            </a:br>
            <a:r>
              <a:rPr lang="en-US" sz="2700" b="1" dirty="0">
                <a:solidFill>
                  <a:srgbClr val="7030A0"/>
                </a:solidFill>
              </a:rPr>
              <a:t>Server acknowledges and offers to synchronize.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Client → ACK Client confirms. Connection established </a:t>
            </a:r>
            <a:r>
              <a:rPr lang="en-US" sz="2700" b="1" dirty="0" smtClean="0">
                <a:solidFill>
                  <a:srgbClr val="7030A0"/>
                </a:solidFill>
              </a:rPr>
              <a:t>— data </a:t>
            </a:r>
            <a:r>
              <a:rPr lang="en-US" sz="2700" b="1" dirty="0">
                <a:solidFill>
                  <a:srgbClr val="7030A0"/>
                </a:solidFill>
              </a:rPr>
              <a:t>may flow.</a:t>
            </a:r>
          </a:p>
          <a:p>
            <a:pPr marL="0" indent="0">
              <a:buNone/>
            </a:pPr>
            <a:r>
              <a:rPr lang="en-US" sz="2700" b="1" dirty="0">
                <a:solidFill>
                  <a:srgbClr val="00B0F0"/>
                </a:solidFill>
              </a:rPr>
              <a:t>Why it matters for Nmap: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-sT (TCP Connect) Completes the full 3-way handshake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A full connection is established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More likely to be logged by the target </a:t>
            </a:r>
            <a:r>
              <a:rPr lang="en-US" sz="2700" b="1" dirty="0" smtClean="0">
                <a:solidFill>
                  <a:srgbClr val="7030A0"/>
                </a:solidFill>
              </a:rPr>
              <a:t>system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SYN Stealth Scan (-</a:t>
            </a:r>
            <a:r>
              <a:rPr lang="en-US" sz="2700" b="1" dirty="0" err="1">
                <a:solidFill>
                  <a:srgbClr val="7030A0"/>
                </a:solidFill>
              </a:rPr>
              <a:t>sS</a:t>
            </a:r>
            <a:r>
              <a:rPr lang="en-US" sz="27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Sends SYN and receives SYN-ACK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Instead of completing the handshake, it sends RST</a:t>
            </a:r>
          </a:p>
          <a:p>
            <a:r>
              <a:rPr lang="en-US" sz="2700" b="1" dirty="0">
                <a:solidFill>
                  <a:srgbClr val="7030A0"/>
                </a:solidFill>
              </a:rPr>
              <a:t>Connection remains </a:t>
            </a:r>
            <a:r>
              <a:rPr lang="en-US" sz="2700" b="1" dirty="0" smtClean="0">
                <a:solidFill>
                  <a:srgbClr val="7030A0"/>
                </a:solidFill>
              </a:rPr>
              <a:t>half-open</a:t>
            </a:r>
          </a:p>
        </p:txBody>
      </p:sp>
    </p:spTree>
    <p:extLst>
      <p:ext uri="{BB962C8B-B14F-4D97-AF65-F5344CB8AC3E}">
        <p14:creationId xmlns:p14="http://schemas.microsoft.com/office/powerpoint/2010/main" val="141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446048"/>
            <a:ext cx="6019800" cy="6133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Target :- </a:t>
            </a:r>
            <a:r>
              <a:rPr lang="en-US" b="1" dirty="0" err="1">
                <a:solidFill>
                  <a:srgbClr val="00B050"/>
                </a:solidFill>
              </a:rPr>
              <a:t>Metasploitable</a:t>
            </a:r>
            <a:r>
              <a:rPr lang="en-US" b="1" dirty="0">
                <a:solidFill>
                  <a:srgbClr val="00B050"/>
                </a:solidFill>
              </a:rPr>
              <a:t> 2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</a:rPr>
              <a:t>nmap</a:t>
            </a:r>
            <a:r>
              <a:rPr lang="en-US" b="1" dirty="0">
                <a:solidFill>
                  <a:srgbClr val="00B050"/>
                </a:solidFill>
              </a:rPr>
              <a:t> -</a:t>
            </a:r>
            <a:r>
              <a:rPr lang="en-US" b="1" dirty="0" err="1">
                <a:solidFill>
                  <a:srgbClr val="00B050"/>
                </a:solidFill>
              </a:rPr>
              <a:t>sT</a:t>
            </a:r>
            <a:r>
              <a:rPr lang="en-US" b="1" dirty="0">
                <a:solidFill>
                  <a:srgbClr val="00B050"/>
                </a:solidFill>
              </a:rPr>
              <a:t> -p 1-1000 -</a:t>
            </a:r>
            <a:r>
              <a:rPr lang="en-US" b="1" dirty="0" err="1">
                <a:solidFill>
                  <a:srgbClr val="00B050"/>
                </a:solidFill>
              </a:rPr>
              <a:t>oN</a:t>
            </a:r>
            <a:r>
              <a:rPr lang="en-US" b="1" dirty="0">
                <a:solidFill>
                  <a:srgbClr val="00B050"/>
                </a:solidFill>
              </a:rPr>
              <a:t> results_sT.txt &lt;target&gt; 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What to record</a:t>
            </a:r>
          </a:p>
          <a:p>
            <a:r>
              <a:rPr lang="en-US" b="1" dirty="0">
                <a:solidFill>
                  <a:srgbClr val="7030A0"/>
                </a:solidFill>
              </a:rPr>
              <a:t>Open ports and services reported</a:t>
            </a:r>
          </a:p>
          <a:p>
            <a:r>
              <a:rPr lang="en-US" b="1" dirty="0">
                <a:solidFill>
                  <a:srgbClr val="7030A0"/>
                </a:solidFill>
              </a:rPr>
              <a:t>Scan duration (from </a:t>
            </a:r>
            <a:r>
              <a:rPr lang="en-US" b="1" dirty="0" err="1">
                <a:solidFill>
                  <a:srgbClr val="7030A0"/>
                </a:solidFill>
              </a:rPr>
              <a:t>nmap</a:t>
            </a:r>
            <a:r>
              <a:rPr lang="en-US" b="1" dirty="0">
                <a:solidFill>
                  <a:srgbClr val="7030A0"/>
                </a:solidFill>
              </a:rPr>
              <a:t> summary)</a:t>
            </a:r>
          </a:p>
          <a:p>
            <a:r>
              <a:rPr lang="en-US" b="1" dirty="0">
                <a:solidFill>
                  <a:srgbClr val="7030A0"/>
                </a:solidFill>
              </a:rPr>
              <a:t>Any differences in service names compared to later scans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accent1"/>
                </a:solidFill>
              </a:rPr>
              <a:t>What to expect</a:t>
            </a:r>
          </a:p>
          <a:p>
            <a:r>
              <a:rPr lang="en-US" b="1" dirty="0">
                <a:solidFill>
                  <a:srgbClr val="7030A0"/>
                </a:solidFill>
              </a:rPr>
              <a:t>Nmap will show ports as open/closed/filtered.</a:t>
            </a:r>
          </a:p>
          <a:p>
            <a:r>
              <a:rPr lang="en-US" b="1" dirty="0">
                <a:solidFill>
                  <a:srgbClr val="7030A0"/>
                </a:solidFill>
              </a:rPr>
              <a:t>This scan completes full TCP sessions; target logs will often show connections.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0937" y="646771"/>
            <a:ext cx="5532863" cy="553019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3481"/>
          <a:stretch/>
        </p:blipFill>
        <p:spPr>
          <a:xfrm>
            <a:off x="5887086" y="1260087"/>
            <a:ext cx="6304914" cy="45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7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066"/>
            <a:ext cx="10553700" cy="58250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2) SYN Stealth scan (-</a:t>
            </a:r>
            <a:r>
              <a:rPr lang="en-US" sz="2400" b="1" dirty="0" err="1">
                <a:solidFill>
                  <a:schemeClr val="accent1"/>
                </a:solidFill>
              </a:rPr>
              <a:t>sS</a:t>
            </a:r>
            <a:r>
              <a:rPr lang="en-US" sz="2400" b="1" dirty="0" smtClean="0">
                <a:solidFill>
                  <a:schemeClr val="accent1"/>
                </a:solidFill>
              </a:rPr>
              <a:t>)</a:t>
            </a:r>
            <a:endParaRPr lang="en-US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sudo nmap -</a:t>
            </a:r>
            <a:r>
              <a:rPr lang="en-US" sz="2400" dirty="0" err="1">
                <a:solidFill>
                  <a:srgbClr val="00B050"/>
                </a:solidFill>
              </a:rPr>
              <a:t>sS</a:t>
            </a:r>
            <a:r>
              <a:rPr lang="en-US" sz="2400" dirty="0">
                <a:solidFill>
                  <a:srgbClr val="00B050"/>
                </a:solidFill>
              </a:rPr>
              <a:t> -p 1-1000 -oN results_sS.txt &lt;</a:t>
            </a:r>
            <a:r>
              <a:rPr lang="en-US" sz="2400" dirty="0" smtClean="0">
                <a:solidFill>
                  <a:srgbClr val="00B050"/>
                </a:solidFill>
              </a:rPr>
              <a:t>target&gt;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 record</a:t>
            </a:r>
          </a:p>
          <a:p>
            <a:r>
              <a:rPr lang="en-US" sz="2400" b="1" dirty="0" smtClean="0">
                <a:solidFill>
                  <a:srgbClr val="7030A0"/>
                </a:solidFill>
              </a:rPr>
              <a:t>Open </a:t>
            </a:r>
            <a:r>
              <a:rPr lang="en-US" sz="2400" b="1" dirty="0">
                <a:solidFill>
                  <a:srgbClr val="7030A0"/>
                </a:solidFill>
              </a:rPr>
              <a:t>ports and services </a:t>
            </a:r>
            <a:r>
              <a:rPr lang="en-US" sz="2400" b="1" dirty="0" smtClean="0">
                <a:solidFill>
                  <a:srgbClr val="7030A0"/>
                </a:solidFill>
              </a:rPr>
              <a:t>reported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Scan </a:t>
            </a:r>
            <a:r>
              <a:rPr lang="en-US" sz="2400" b="1" dirty="0" smtClean="0">
                <a:solidFill>
                  <a:srgbClr val="7030A0"/>
                </a:solidFill>
              </a:rPr>
              <a:t>duration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Any ports that appear in one scan but not the </a:t>
            </a:r>
            <a:r>
              <a:rPr lang="en-US" sz="2400" b="1" dirty="0" smtClean="0">
                <a:solidFill>
                  <a:srgbClr val="7030A0"/>
                </a:solidFill>
              </a:rPr>
              <a:t>other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 smtClean="0">
                <a:solidFill>
                  <a:srgbClr val="7030A0"/>
                </a:solidFill>
              </a:rPr>
              <a:t>Interpretation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Typically -</a:t>
            </a:r>
            <a:r>
              <a:rPr lang="en-US" sz="2400" b="1" dirty="0" err="1">
                <a:solidFill>
                  <a:srgbClr val="7030A0"/>
                </a:solidFill>
              </a:rPr>
              <a:t>sS</a:t>
            </a:r>
            <a:r>
              <a:rPr lang="en-US" sz="2400" b="1" dirty="0">
                <a:solidFill>
                  <a:srgbClr val="7030A0"/>
                </a:solidFill>
              </a:rPr>
              <a:t> is faster and may show the same open ports as -</a:t>
            </a:r>
            <a:r>
              <a:rPr lang="en-US" sz="2400" b="1" dirty="0" err="1">
                <a:solidFill>
                  <a:srgbClr val="7030A0"/>
                </a:solidFill>
              </a:rPr>
              <a:t>sT.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If -sT shows additional ports, there may be inline filters/inspection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r>
              <a:rPr lang="en-US" sz="2400" b="1" dirty="0" smtClean="0">
                <a:solidFill>
                  <a:srgbClr val="7030A0"/>
                </a:solidFill>
              </a:rPr>
              <a:t>that </a:t>
            </a:r>
            <a:r>
              <a:rPr lang="en-US" sz="2400" b="1" dirty="0">
                <a:solidFill>
                  <a:srgbClr val="7030A0"/>
                </a:solidFill>
              </a:rPr>
              <a:t>treat full connects differently</a:t>
            </a:r>
            <a:r>
              <a:rPr lang="en-US" sz="2400" b="1" dirty="0" smtClean="0">
                <a:solidFill>
                  <a:srgbClr val="7030A0"/>
                </a:solidFill>
              </a:rPr>
              <a:t>.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08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0"/>
            <a:ext cx="10232572" cy="658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2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973" y="105229"/>
            <a:ext cx="11972027" cy="65749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3) UDP scan (top 100 UDP </a:t>
            </a:r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ports)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sudo nmap -sU --top-ports 100 -oN results_udp.txt &lt;</a:t>
            </a:r>
            <a:r>
              <a:rPr lang="en-US" sz="2400" b="1" dirty="0" smtClean="0">
                <a:solidFill>
                  <a:srgbClr val="7030A0"/>
                </a:solidFill>
              </a:rPr>
              <a:t>target.com&gt;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What to </a:t>
            </a:r>
            <a:r>
              <a:rPr lang="en-US" sz="2400" b="1" dirty="0" smtClean="0">
                <a:solidFill>
                  <a:srgbClr val="7030A0"/>
                </a:solidFill>
              </a:rPr>
              <a:t>record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UDP ports returned as open, closed, or </a:t>
            </a:r>
            <a:r>
              <a:rPr lang="en-US" sz="2400" b="1" dirty="0" smtClean="0">
                <a:solidFill>
                  <a:srgbClr val="7030A0"/>
                </a:solidFill>
              </a:rPr>
              <a:t>open | filtered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Scan duration (UDP scans are slower</a:t>
            </a:r>
            <a:r>
              <a:rPr lang="en-US" sz="2400" b="1" dirty="0" smtClean="0">
                <a:solidFill>
                  <a:srgbClr val="7030A0"/>
                </a:solidFill>
              </a:rPr>
              <a:t>)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Any services (DNS, SNMP, NTP) </a:t>
            </a:r>
            <a:r>
              <a:rPr lang="en-US" sz="2400" b="1" dirty="0" smtClean="0">
                <a:solidFill>
                  <a:srgbClr val="7030A0"/>
                </a:solidFill>
              </a:rPr>
              <a:t>discovered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Notes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UDP is stateless: no handshake, so absence of response often means </a:t>
            </a:r>
            <a:endParaRPr lang="en-US" sz="24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</a:rPr>
              <a:t>Open | filtered.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Be patient; UDP scans can take much longer and may require retries</a:t>
            </a:r>
            <a:r>
              <a:rPr lang="en-US" sz="2400" b="1" dirty="0" smtClean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18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981" b="5728"/>
          <a:stretch/>
        </p:blipFill>
        <p:spPr>
          <a:xfrm>
            <a:off x="496887" y="417739"/>
            <a:ext cx="10560155" cy="56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6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100"/>
            <a:ext cx="12026900" cy="6591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4) Timing templates (-T2 vs -T4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Commands (SYN example</a:t>
            </a:r>
            <a:r>
              <a:rPr lang="en-US" b="1" dirty="0" smtClean="0">
                <a:solidFill>
                  <a:schemeClr val="accent2"/>
                </a:solidFill>
              </a:rPr>
              <a:t>)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sudo nmap -</a:t>
            </a:r>
            <a:r>
              <a:rPr lang="en-US" b="1" dirty="0" err="1">
                <a:solidFill>
                  <a:srgbClr val="00B0F0"/>
                </a:solidFill>
              </a:rPr>
              <a:t>sS</a:t>
            </a:r>
            <a:r>
              <a:rPr lang="en-US" b="1" dirty="0">
                <a:solidFill>
                  <a:srgbClr val="00B0F0"/>
                </a:solidFill>
              </a:rPr>
              <a:t> -T2 -p 1-1000 -oN sS_T2.txt &lt;target&gt;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sudo nmap -</a:t>
            </a:r>
            <a:r>
              <a:rPr lang="en-US" b="1" dirty="0" err="1">
                <a:solidFill>
                  <a:srgbClr val="00B0F0"/>
                </a:solidFill>
              </a:rPr>
              <a:t>sS</a:t>
            </a:r>
            <a:r>
              <a:rPr lang="en-US" b="1" dirty="0">
                <a:solidFill>
                  <a:srgbClr val="00B0F0"/>
                </a:solidFill>
              </a:rPr>
              <a:t> -T4 -p 1-1000 -oN sS_T4.txt &lt;target</a:t>
            </a:r>
            <a:r>
              <a:rPr lang="en-US" b="1" dirty="0" smtClean="0">
                <a:solidFill>
                  <a:srgbClr val="00B0F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1"/>
                </a:solidFill>
              </a:rPr>
              <a:t>What </a:t>
            </a:r>
            <a:r>
              <a:rPr lang="en-US" b="1" dirty="0">
                <a:solidFill>
                  <a:schemeClr val="accent1"/>
                </a:solidFill>
              </a:rPr>
              <a:t>to </a:t>
            </a:r>
            <a:r>
              <a:rPr lang="en-US" b="1" dirty="0" smtClean="0">
                <a:solidFill>
                  <a:schemeClr val="accent1"/>
                </a:solidFill>
              </a:rPr>
              <a:t>record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Duration for each </a:t>
            </a:r>
            <a:r>
              <a:rPr lang="en-US" b="1" dirty="0" smtClean="0">
                <a:solidFill>
                  <a:schemeClr val="accent1"/>
                </a:solidFill>
              </a:rPr>
              <a:t>run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Any differences in ports </a:t>
            </a:r>
            <a:r>
              <a:rPr lang="en-US" b="1" dirty="0" smtClean="0">
                <a:solidFill>
                  <a:srgbClr val="00B0F0"/>
                </a:solidFill>
              </a:rPr>
              <a:t>reported</a:t>
            </a:r>
            <a:endParaRPr lang="en-US" b="1" dirty="0">
              <a:solidFill>
                <a:srgbClr val="00B0F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Whether the faster scan missed anything or produced inconsistent </a:t>
            </a:r>
            <a:r>
              <a:rPr lang="en-US" b="1" dirty="0" smtClean="0">
                <a:solidFill>
                  <a:srgbClr val="00B0F0"/>
                </a:solidFill>
              </a:rPr>
              <a:t>results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-</a:t>
            </a:r>
            <a:r>
              <a:rPr lang="en-US" b="1" dirty="0">
                <a:solidFill>
                  <a:srgbClr val="00B0F0"/>
                </a:solidFill>
              </a:rPr>
              <a:t>T2 → slower, more polite (stealthier</a:t>
            </a:r>
            <a:r>
              <a:rPr lang="en-US" b="1" dirty="0" smtClean="0">
                <a:solidFill>
                  <a:srgbClr val="00B0F0"/>
                </a:solidFill>
              </a:rPr>
              <a:t>)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-T4 → aggressive (faster but noisier, more likely to trigger alarms)</a:t>
            </a:r>
          </a:p>
        </p:txBody>
      </p:sp>
    </p:spTree>
    <p:extLst>
      <p:ext uri="{BB962C8B-B14F-4D97-AF65-F5344CB8AC3E}">
        <p14:creationId xmlns:p14="http://schemas.microsoft.com/office/powerpoint/2010/main" val="308419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0667"/>
          <a:stretch/>
        </p:blipFill>
        <p:spPr>
          <a:xfrm>
            <a:off x="-1" y="357186"/>
            <a:ext cx="5819539" cy="48148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275" y="357186"/>
            <a:ext cx="6683298" cy="477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08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641054"/>
              </p:ext>
            </p:extLst>
          </p:nvPr>
        </p:nvGraphicFramePr>
        <p:xfrm>
          <a:off x="868967" y="1159333"/>
          <a:ext cx="9080868" cy="217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217">
                  <a:extLst>
                    <a:ext uri="{9D8B030D-6E8A-4147-A177-3AD203B41FA5}">
                      <a16:colId xmlns:a16="http://schemas.microsoft.com/office/drawing/2014/main" val="1467318972"/>
                    </a:ext>
                  </a:extLst>
                </a:gridCol>
                <a:gridCol w="2270217">
                  <a:extLst>
                    <a:ext uri="{9D8B030D-6E8A-4147-A177-3AD203B41FA5}">
                      <a16:colId xmlns:a16="http://schemas.microsoft.com/office/drawing/2014/main" val="3292883740"/>
                    </a:ext>
                  </a:extLst>
                </a:gridCol>
                <a:gridCol w="2270217">
                  <a:extLst>
                    <a:ext uri="{9D8B030D-6E8A-4147-A177-3AD203B41FA5}">
                      <a16:colId xmlns:a16="http://schemas.microsoft.com/office/drawing/2014/main" val="3088485411"/>
                    </a:ext>
                  </a:extLst>
                </a:gridCol>
                <a:gridCol w="2270217">
                  <a:extLst>
                    <a:ext uri="{9D8B030D-6E8A-4147-A177-3AD203B41FA5}">
                      <a16:colId xmlns:a16="http://schemas.microsoft.com/office/drawing/2014/main" val="3399987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Time Taken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Open 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362982"/>
                  </a:ext>
                </a:extLst>
              </a:tr>
              <a:tr h="60453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Slow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-T2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450739"/>
                  </a:ext>
                </a:extLst>
              </a:tr>
              <a:tr h="60453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</a:rPr>
                        <a:t>Normal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</a:rPr>
                        <a:t>-T3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217153"/>
                  </a:ext>
                </a:extLst>
              </a:tr>
              <a:tr h="604536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FF00"/>
                          </a:solidFill>
                        </a:rPr>
                        <a:t>Fast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FF00"/>
                          </a:solidFill>
                        </a:rPr>
                        <a:t>-T4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57071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39764"/>
              </p:ext>
            </p:extLst>
          </p:nvPr>
        </p:nvGraphicFramePr>
        <p:xfrm>
          <a:off x="910040" y="3627082"/>
          <a:ext cx="923148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678">
                  <a:extLst>
                    <a:ext uri="{9D8B030D-6E8A-4147-A177-3AD203B41FA5}">
                      <a16:colId xmlns:a16="http://schemas.microsoft.com/office/drawing/2014/main" val="806547036"/>
                    </a:ext>
                  </a:extLst>
                </a:gridCol>
                <a:gridCol w="1828678">
                  <a:extLst>
                    <a:ext uri="{9D8B030D-6E8A-4147-A177-3AD203B41FA5}">
                      <a16:colId xmlns:a16="http://schemas.microsoft.com/office/drawing/2014/main" val="1828077710"/>
                    </a:ext>
                  </a:extLst>
                </a:gridCol>
                <a:gridCol w="3441560">
                  <a:extLst>
                    <a:ext uri="{9D8B030D-6E8A-4147-A177-3AD203B41FA5}">
                      <a16:colId xmlns:a16="http://schemas.microsoft.com/office/drawing/2014/main" val="232019897"/>
                    </a:ext>
                  </a:extLst>
                </a:gridCol>
                <a:gridCol w="303894">
                  <a:extLst>
                    <a:ext uri="{9D8B030D-6E8A-4147-A177-3AD203B41FA5}">
                      <a16:colId xmlns:a16="http://schemas.microsoft.com/office/drawing/2014/main" val="371803052"/>
                    </a:ext>
                  </a:extLst>
                </a:gridCol>
                <a:gridCol w="1828678">
                  <a:extLst>
                    <a:ext uri="{9D8B030D-6E8A-4147-A177-3AD203B41FA5}">
                      <a16:colId xmlns:a16="http://schemas.microsoft.com/office/drawing/2014/main" val="2510989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818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-T0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Paranoid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Extremely 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07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Sneaky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Very 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21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-T2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Slow, reduces network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6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 timing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07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-T4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scanning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5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fast but less reliable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26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89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b="1" dirty="0" smtClean="0">
                <a:solidFill>
                  <a:schemeClr val="accent2">
                    <a:lumMod val="75000"/>
                  </a:schemeClr>
                </a:solidFill>
              </a:rPr>
              <a:t>               Task </a:t>
            </a:r>
            <a:r>
              <a:rPr lang="en-US" sz="8000" b="1" dirty="0">
                <a:solidFill>
                  <a:schemeClr val="accent2">
                    <a:lumMod val="75000"/>
                  </a:schemeClr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7776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1"/>
            <a:ext cx="11582400" cy="762000"/>
          </a:xfrm>
        </p:spPr>
        <p:txBody>
          <a:bodyPr/>
          <a:lstStyle/>
          <a:p>
            <a:r>
              <a:rPr lang="en-US" dirty="0"/>
              <a:t>Task 02: Service Fingerprinting &amp; Banner Grabbing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1"/>
            <a:ext cx="12192000" cy="6007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Description: Identify the exact versions of services running on open ports to look for known vulnerabilities. </a:t>
            </a:r>
          </a:p>
          <a:p>
            <a:pPr marL="0" indent="0">
              <a:buNone/>
            </a:pPr>
            <a:r>
              <a:rPr lang="en-US" dirty="0" smtClean="0"/>
              <a:t>● </a:t>
            </a:r>
            <a:r>
              <a:rPr lang="en-US" dirty="0"/>
              <a:t>Technical Requirements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○ Use Nmap’s Version Detection (-sV) and Aggressive Scan (-A) flags to identify service details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○ Perform </a:t>
            </a:r>
            <a:r>
              <a:rPr lang="en-US" dirty="0" smtClean="0"/>
              <a:t>Manual </a:t>
            </a:r>
            <a:r>
              <a:rPr lang="en-US" dirty="0"/>
              <a:t>Banner Grabbing using </a:t>
            </a:r>
            <a:r>
              <a:rPr lang="en-US" dirty="0" err="1"/>
              <a:t>Netcat</a:t>
            </a:r>
            <a:r>
              <a:rPr lang="en-US" dirty="0"/>
              <a:t> (</a:t>
            </a:r>
            <a:r>
              <a:rPr lang="en-US" dirty="0" err="1"/>
              <a:t>nc</a:t>
            </a:r>
            <a:r>
              <a:rPr lang="en-US" dirty="0"/>
              <a:t>) or Telnet to verify service headers.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○ </a:t>
            </a:r>
            <a:r>
              <a:rPr lang="en-US" dirty="0"/>
              <a:t>Use Enum4linux or Samba tools if SMB (Port 445) is found open to list shares and users.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● </a:t>
            </a:r>
            <a:r>
              <a:rPr lang="en-US" dirty="0"/>
              <a:t>Learning Goal: Realize that a service version is the primary "key" to finding a specific exploit (CVE). </a:t>
            </a:r>
          </a:p>
        </p:txBody>
      </p:sp>
    </p:spTree>
    <p:extLst>
      <p:ext uri="{BB962C8B-B14F-4D97-AF65-F5344CB8AC3E}">
        <p14:creationId xmlns:p14="http://schemas.microsoft.com/office/powerpoint/2010/main" val="3815788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72572"/>
            <a:ext cx="12192000" cy="693057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In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Task 01</a:t>
            </a:r>
            <a:r>
              <a:rPr lang="en-US" altLang="en-US" sz="2000" dirty="0">
                <a:latin typeface="Arial Rounded MT Bold" panose="020F0704030504030204" pitchFamily="34" charset="0"/>
              </a:rPr>
              <a:t>, we enumerated the attack surface by identifying live hosts and exposed ports. However, an open port alone provides limited intelligence. Before we can assess a service for weaknesses, we must accurately identify the software running on that port and determine its exact version. This process is known as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service fingerprinting</a:t>
            </a:r>
            <a:r>
              <a:rPr lang="en-US" altLang="en-US" sz="2000" dirty="0" smtClean="0">
                <a:latin typeface="Arial Rounded MT Bold" panose="020F070403050403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 Rounded MT Bold" panose="020F070403050403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>
                <a:latin typeface="Arial Rounded MT Bold" panose="020F0704030504030204" pitchFamily="34" charset="0"/>
              </a:rPr>
              <a:t>Nmap's</a:t>
            </a:r>
            <a:r>
              <a:rPr lang="en-US" altLang="en-US" sz="2000" dirty="0">
                <a:latin typeface="Arial Rounded MT Bold" panose="020F0704030504030204" pitchFamily="34" charset="0"/>
              </a:rPr>
              <a:t>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Version Detection</a:t>
            </a:r>
            <a:r>
              <a:rPr lang="en-US" altLang="en-US" sz="2000" dirty="0">
                <a:latin typeface="Arial Rounded MT Bold" panose="020F0704030504030204" pitchFamily="34" charset="0"/>
              </a:rPr>
              <a:t> (-sV) performs active service fingerprinting by sending a series of protocol-specific probes to each open port and analyzing the responses. These responses are then compared against </a:t>
            </a:r>
            <a:r>
              <a:rPr lang="en-US" altLang="en-US" sz="2000" dirty="0" err="1">
                <a:latin typeface="Arial Rounded MT Bold" panose="020F0704030504030204" pitchFamily="34" charset="0"/>
              </a:rPr>
              <a:t>Nmap's</a:t>
            </a:r>
            <a:r>
              <a:rPr lang="en-US" altLang="en-US" sz="2000" dirty="0">
                <a:latin typeface="Arial Rounded MT Bold" panose="020F0704030504030204" pitchFamily="34" charset="0"/>
              </a:rPr>
              <a:t> service fingerprint database to identify the service, its underlying software implementation, and, where possible, its exact version</a:t>
            </a:r>
            <a:r>
              <a:rPr lang="en-US" altLang="en-US" sz="2000" dirty="0" smtClean="0">
                <a:latin typeface="Arial Rounded MT Bold" panose="020F070403050403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 Rounded MT Bold" panose="020F070403050403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The objective is not merely to determine that port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80</a:t>
            </a:r>
            <a:r>
              <a:rPr lang="en-US" altLang="en-US" sz="2000" dirty="0">
                <a:latin typeface="Arial Rounded MT Bold" panose="020F0704030504030204" pitchFamily="34" charset="0"/>
              </a:rPr>
              <a:t> is running HTTP or port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22</a:t>
            </a:r>
            <a:r>
              <a:rPr lang="en-US" altLang="en-US" sz="2000" dirty="0">
                <a:latin typeface="Arial Rounded MT Bold" panose="020F0704030504030204" pitchFamily="34" charset="0"/>
              </a:rPr>
              <a:t> is running SSH. The objective is to identify the actual software—for example</a:t>
            </a:r>
            <a:r>
              <a:rPr lang="en-US" altLang="en-US" sz="2000" dirty="0" smtClean="0">
                <a:latin typeface="Arial Rounded MT Bold" panose="020F0704030504030204" pitchFamily="34" charset="0"/>
              </a:rPr>
              <a:t>,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 Apache HTTP Server 2.2.8</a:t>
            </a:r>
            <a:r>
              <a:rPr lang="en-US" altLang="en-US" sz="2000" dirty="0">
                <a:latin typeface="Arial Rounded MT Bold" panose="020F0704030504030204" pitchFamily="34" charset="0"/>
              </a:rPr>
              <a:t> or </a:t>
            </a:r>
            <a:r>
              <a:rPr lang="en-US" altLang="en-US" sz="2000" b="1" dirty="0">
                <a:latin typeface="Arial Rounded MT Bold" panose="020F0704030504030204" pitchFamily="34" charset="0"/>
              </a:rPr>
              <a:t>OpenSSH 4.7p1</a:t>
            </a:r>
            <a:r>
              <a:rPr lang="en-US" altLang="en-US" sz="2000" dirty="0">
                <a:latin typeface="Arial Rounded MT Bold" panose="020F0704030504030204" pitchFamily="34" charset="0"/>
              </a:rPr>
              <a:t>—because vulnerability assessment is performed against specific software implementations and versions, not simply against port numbers or protocol names.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With this understanding, we will now use </a:t>
            </a:r>
            <a:r>
              <a:rPr lang="en-US" altLang="en-US" sz="2000" dirty="0" err="1">
                <a:latin typeface="Arial Rounded MT Bold" panose="020F0704030504030204" pitchFamily="34" charset="0"/>
              </a:rPr>
              <a:t>Nmap's</a:t>
            </a:r>
            <a:r>
              <a:rPr lang="en-US" altLang="en-US" sz="2000" dirty="0">
                <a:latin typeface="Arial Rounded MT Bold" panose="020F0704030504030204" pitchFamily="34" charset="0"/>
              </a:rPr>
              <a:t> Version Detection (-sV) to fingerprint the services running on our target and analyze the information it reveals.</a:t>
            </a:r>
            <a:r>
              <a:rPr lang="en-US" altLang="en-US" sz="1200" dirty="0">
                <a:latin typeface="Arial Rounded MT Bold" panose="020F0704030504030204" pitchFamily="34" charset="0"/>
              </a:rPr>
              <a:t/>
            </a:r>
            <a:br>
              <a:rPr lang="en-US" altLang="en-US" sz="1200" dirty="0">
                <a:latin typeface="Arial Rounded MT Bold" panose="020F0704030504030204" pitchFamily="34" charset="0"/>
              </a:rPr>
            </a:br>
            <a:endParaRPr lang="en-US" altLang="en-US" sz="2000" dirty="0">
              <a:latin typeface="Arial Rounded MT Bold" panose="020F07040305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Arial Rounded MT Bold" panose="020F0704030504030204" pitchFamily="34" charset="0"/>
              </a:rPr>
              <a:t> </a:t>
            </a:r>
            <a:r>
              <a:rPr lang="en-US" sz="5500" dirty="0" smtClean="0">
                <a:solidFill>
                  <a:srgbClr val="FF0000"/>
                </a:solidFill>
              </a:rPr>
              <a:t>☠</a:t>
            </a:r>
            <a:endParaRPr lang="en-US" sz="55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64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Part 1 — Service Version Detection with </a:t>
            </a:r>
            <a:r>
              <a:rPr lang="en-US" b="1" dirty="0" smtClean="0">
                <a:solidFill>
                  <a:srgbClr val="0070C0"/>
                </a:solidFill>
              </a:rPr>
              <a:t>Nmap and </a:t>
            </a:r>
            <a:r>
              <a:rPr lang="en-US" b="1" dirty="0">
                <a:solidFill>
                  <a:srgbClr val="7030A0"/>
                </a:solidFill>
              </a:rPr>
              <a:t>Aggressive Scan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E36BDA"/>
                </a:solidFill>
              </a:rPr>
              <a:t>Nmap can automatically detect the service name and version running on open ports.</a:t>
            </a:r>
          </a:p>
          <a:p>
            <a:pPr marL="0" indent="0">
              <a:buNone/>
            </a:pP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nmap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-sV &lt;target&gt;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Example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1EC432"/>
                </a:solidFill>
              </a:rPr>
              <a:t>nmap</a:t>
            </a:r>
            <a:r>
              <a:rPr lang="en-US" b="1" dirty="0">
                <a:solidFill>
                  <a:srgbClr val="1EC432"/>
                </a:solidFill>
              </a:rPr>
              <a:t> -sV 192.168.100.246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Example Output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PORT     </a:t>
            </a:r>
            <a:r>
              <a:rPr lang="en-US" b="1" dirty="0" smtClean="0">
                <a:solidFill>
                  <a:srgbClr val="7030A0"/>
                </a:solidFill>
              </a:rPr>
              <a:t>STATE   </a:t>
            </a:r>
            <a:r>
              <a:rPr lang="en-US" b="1" dirty="0">
                <a:solidFill>
                  <a:srgbClr val="7030A0"/>
                </a:solidFill>
              </a:rPr>
              <a:t>SERVICE </a:t>
            </a:r>
            <a:r>
              <a:rPr lang="en-US" b="1" dirty="0" smtClean="0">
                <a:solidFill>
                  <a:srgbClr val="7030A0"/>
                </a:solidFill>
              </a:rPr>
              <a:t>      VERSION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22/</a:t>
            </a:r>
            <a:r>
              <a:rPr lang="en-US" b="1" dirty="0" err="1">
                <a:solidFill>
                  <a:srgbClr val="7030A0"/>
                </a:solidFill>
              </a:rPr>
              <a:t>tcp</a:t>
            </a:r>
            <a:r>
              <a:rPr lang="en-US" b="1" dirty="0">
                <a:solidFill>
                  <a:srgbClr val="7030A0"/>
                </a:solidFill>
              </a:rPr>
              <a:t>   open  </a:t>
            </a:r>
            <a:r>
              <a:rPr lang="en-US" b="1" dirty="0" smtClean="0">
                <a:solidFill>
                  <a:srgbClr val="7030A0"/>
                </a:solidFill>
              </a:rPr>
              <a:t>   ssh              OpenSSH </a:t>
            </a:r>
            <a:r>
              <a:rPr lang="en-US" b="1" dirty="0">
                <a:solidFill>
                  <a:srgbClr val="7030A0"/>
                </a:solidFill>
              </a:rPr>
              <a:t>7.6p1 Ubuntu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80/</a:t>
            </a:r>
            <a:r>
              <a:rPr lang="en-US" b="1" dirty="0" err="1">
                <a:solidFill>
                  <a:srgbClr val="7030A0"/>
                </a:solidFill>
              </a:rPr>
              <a:t>tcp</a:t>
            </a:r>
            <a:r>
              <a:rPr lang="en-US" b="1" dirty="0">
                <a:solidFill>
                  <a:srgbClr val="7030A0"/>
                </a:solidFill>
              </a:rPr>
              <a:t>   open  </a:t>
            </a:r>
            <a:r>
              <a:rPr lang="en-US" b="1" dirty="0" smtClean="0">
                <a:solidFill>
                  <a:srgbClr val="7030A0"/>
                </a:solidFill>
              </a:rPr>
              <a:t>   http            Apache </a:t>
            </a:r>
            <a:r>
              <a:rPr lang="en-US" b="1" dirty="0" err="1">
                <a:solidFill>
                  <a:srgbClr val="7030A0"/>
                </a:solidFill>
              </a:rPr>
              <a:t>httpd</a:t>
            </a:r>
            <a:r>
              <a:rPr lang="en-US" b="1" dirty="0">
                <a:solidFill>
                  <a:srgbClr val="7030A0"/>
                </a:solidFill>
              </a:rPr>
              <a:t> 2.4.29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093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7203"/>
          <a:stretch/>
        </p:blipFill>
        <p:spPr>
          <a:xfrm>
            <a:off x="0" y="-188686"/>
            <a:ext cx="7168328" cy="5360293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67712" y="76817"/>
            <a:ext cx="50236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</a:rPr>
              <a:t>Host is up (0.0020s latency)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Nmap confirmed the target is reachable.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The latency is approximately </a:t>
            </a:r>
            <a:r>
              <a:rPr lang="en-US" altLang="en-US" sz="2000" b="1" dirty="0">
                <a:latin typeface="Arial" panose="020B0604020202020204" pitchFamily="34" charset="0"/>
              </a:rPr>
              <a:t>2 </a:t>
            </a:r>
            <a:r>
              <a:rPr lang="en-US" altLang="en-US" sz="2000" b="1" dirty="0" err="1">
                <a:latin typeface="Arial" panose="020B0604020202020204" pitchFamily="34" charset="0"/>
              </a:rPr>
              <a:t>ms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indicating </a:t>
            </a:r>
            <a:r>
              <a:rPr lang="en-US" altLang="en-US" sz="2000" dirty="0">
                <a:latin typeface="Arial" panose="020B0604020202020204" pitchFamily="34" charset="0"/>
              </a:rPr>
              <a:t>the target is very close on </a:t>
            </a:r>
            <a:r>
              <a:rPr lang="en-US" altLang="en-US" sz="2000" dirty="0" smtClean="0">
                <a:latin typeface="Arial" panose="020B0604020202020204" pitchFamily="34" charset="0"/>
              </a:rPr>
              <a:t>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network (which is expected in a virtual lab).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167096" y="2067050"/>
            <a:ext cx="502428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</a:rPr>
              <a:t>22/</a:t>
            </a:r>
            <a:r>
              <a:rPr lang="en-US" altLang="en-US" sz="2000" dirty="0" err="1">
                <a:latin typeface="Arial Unicode MS"/>
              </a:rPr>
              <a:t>tcp</a:t>
            </a:r>
            <a:r>
              <a:rPr lang="en-US" altLang="en-US" sz="2000" dirty="0">
                <a:latin typeface="Arial Unicode MS"/>
              </a:rPr>
              <a:t> open </a:t>
            </a:r>
            <a:r>
              <a:rPr lang="en-US" altLang="en-US" sz="2000" dirty="0" err="1">
                <a:latin typeface="Arial Unicode MS"/>
              </a:rPr>
              <a:t>ssh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OpenSSH</a:t>
            </a:r>
            <a:r>
              <a:rPr lang="en-US" altLang="en-US" sz="2000" dirty="0">
                <a:latin typeface="Arial Unicode MS"/>
              </a:rPr>
              <a:t> 4.7p1 </a:t>
            </a:r>
            <a:r>
              <a:rPr lang="en-US" altLang="en-US" sz="2000" dirty="0" err="1">
                <a:latin typeface="Arial Unicode MS"/>
              </a:rPr>
              <a:t>Debian</a:t>
            </a:r>
            <a:r>
              <a:rPr lang="en-US" altLang="en-US" sz="2000" dirty="0">
                <a:latin typeface="Arial Unicode MS"/>
              </a:rPr>
              <a:t> 8ubuntu1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Don't read it literally.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Interpret it.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Nmap has determined: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SSH service is running.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implementation is </a:t>
            </a:r>
            <a:r>
              <a:rPr lang="en-US" altLang="en-US" sz="2000" b="1" dirty="0" err="1">
                <a:latin typeface="Arial" panose="020B0604020202020204" pitchFamily="34" charset="0"/>
              </a:rPr>
              <a:t>OpenSSH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Version </a:t>
            </a:r>
            <a:r>
              <a:rPr lang="en-US" altLang="en-US" sz="2000" b="1" dirty="0">
                <a:latin typeface="Arial" panose="020B0604020202020204" pitchFamily="34" charset="0"/>
              </a:rPr>
              <a:t>4.7p1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Arial" panose="020B0604020202020204" pitchFamily="34" charset="0"/>
              </a:rPr>
              <a:t>Debian</a:t>
            </a:r>
            <a:r>
              <a:rPr lang="en-US" altLang="en-US" sz="2000" dirty="0">
                <a:latin typeface="Arial" panose="020B0604020202020204" pitchFamily="34" charset="0"/>
              </a:rPr>
              <a:t>/Ubuntu package build </a:t>
            </a:r>
            <a:r>
              <a:rPr lang="en-US" altLang="en-US" sz="2000" b="1" dirty="0">
                <a:latin typeface="Arial" panose="020B0604020202020204" pitchFamily="34" charset="0"/>
              </a:rPr>
              <a:t>8ubuntu1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server supports </a:t>
            </a:r>
            <a:r>
              <a:rPr lang="en-US" altLang="en-US" sz="2000" b="1" dirty="0">
                <a:latin typeface="Arial" panose="020B0604020202020204" pitchFamily="34" charset="0"/>
              </a:rPr>
              <a:t>SSH Protocol 2.0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Notice how much intelligence came from one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9980" y="5173473"/>
            <a:ext cx="775398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 for Anomalies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entries immediately stand 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513/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tcp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login?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question mark means Nmap couldn't confidently identify the service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6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438746" cy="6705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Record these:-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Open ports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Service name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Service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version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Aggressive Scan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Nmap provides a more detailed scan using the Aggressive mode.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What </a:t>
            </a:r>
            <a:r>
              <a:rPr lang="en-US" sz="2400" dirty="0"/>
              <a:t>information do we already have from the previous task?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Live host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Open ports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Is knowing only that port 80 is open enough?"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No.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We need to know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Which web server?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Which version?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Which operating system?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Any additional information?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That is exactly what  - </a:t>
            </a:r>
            <a:r>
              <a:rPr lang="en-US" altLang="en-US" sz="2400" dirty="0">
                <a:latin typeface="Arial Unicode MS"/>
              </a:rPr>
              <a:t>A</a:t>
            </a:r>
            <a:r>
              <a:rPr lang="en-US" altLang="en-US" sz="2400" dirty="0"/>
              <a:t> does.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/>
              <a:t>-A is not a single feature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1EC432"/>
                </a:solidFill>
              </a:rPr>
              <a:t>nmap</a:t>
            </a:r>
            <a:r>
              <a:rPr lang="en-US" sz="2400" b="1" dirty="0">
                <a:solidFill>
                  <a:srgbClr val="1EC432"/>
                </a:solidFill>
              </a:rPr>
              <a:t> -A &lt;target&gt;     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-A Does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It enables several advanced features: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533186"/>
              </p:ext>
            </p:extLst>
          </p:nvPr>
        </p:nvGraphicFramePr>
        <p:xfrm>
          <a:off x="4383315" y="4115979"/>
          <a:ext cx="63010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159">
                  <a:extLst>
                    <a:ext uri="{9D8B030D-6E8A-4147-A177-3AD203B41FA5}">
                      <a16:colId xmlns:a16="http://schemas.microsoft.com/office/drawing/2014/main" val="1702792104"/>
                    </a:ext>
                  </a:extLst>
                </a:gridCol>
                <a:gridCol w="4270855">
                  <a:extLst>
                    <a:ext uri="{9D8B030D-6E8A-4147-A177-3AD203B41FA5}">
                      <a16:colId xmlns:a16="http://schemas.microsoft.com/office/drawing/2014/main" val="1442799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Feature	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18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OS Detection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Attempts to identify the operating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35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Version Detection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Identifies service 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15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Script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Runs default Nmap scripts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44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Traceroute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Shows network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2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2352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145142"/>
            <a:ext cx="13469256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b="1" dirty="0" smtClean="0">
                <a:solidFill>
                  <a:schemeClr val="accent5">
                    <a:lumMod val="50000"/>
                  </a:schemeClr>
                </a:solidFill>
              </a:rPr>
              <a:t>Example</a:t>
            </a:r>
            <a:endParaRPr lang="en-US" sz="20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sudo </a:t>
            </a:r>
            <a:r>
              <a:rPr lang="en-US" sz="2000" b="1" dirty="0" err="1" smtClean="0">
                <a:solidFill>
                  <a:schemeClr val="accent1"/>
                </a:solidFill>
              </a:rPr>
              <a:t>nmap</a:t>
            </a:r>
            <a:r>
              <a:rPr lang="en-US" sz="2000" b="1" dirty="0" smtClean="0">
                <a:solidFill>
                  <a:schemeClr val="accent1"/>
                </a:solidFill>
              </a:rPr>
              <a:t> -A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192.168.100.24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What to look for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66E875"/>
                </a:solidFill>
              </a:rPr>
              <a:t>Operating </a:t>
            </a:r>
            <a:r>
              <a:rPr lang="en-US" sz="2000" b="1" dirty="0">
                <a:solidFill>
                  <a:srgbClr val="66E875"/>
                </a:solidFill>
              </a:rPr>
              <a:t>system guess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66E875"/>
                </a:solidFill>
              </a:rPr>
              <a:t>Additional service details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66E875"/>
                </a:solidFill>
              </a:rPr>
              <a:t>Extra script results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821628"/>
              </p:ext>
            </p:extLst>
          </p:nvPr>
        </p:nvGraphicFramePr>
        <p:xfrm>
          <a:off x="174172" y="2907664"/>
          <a:ext cx="5511801" cy="1808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137">
                  <a:extLst>
                    <a:ext uri="{9D8B030D-6E8A-4147-A177-3AD203B41FA5}">
                      <a16:colId xmlns:a16="http://schemas.microsoft.com/office/drawing/2014/main" val="3203811670"/>
                    </a:ext>
                  </a:extLst>
                </a:gridCol>
                <a:gridCol w="2026397">
                  <a:extLst>
                    <a:ext uri="{9D8B030D-6E8A-4147-A177-3AD203B41FA5}">
                      <a16:colId xmlns:a16="http://schemas.microsoft.com/office/drawing/2014/main" val="74065857"/>
                    </a:ext>
                  </a:extLst>
                </a:gridCol>
                <a:gridCol w="1837267">
                  <a:extLst>
                    <a:ext uri="{9D8B030D-6E8A-4147-A177-3AD203B41FA5}">
                      <a16:colId xmlns:a16="http://schemas.microsoft.com/office/drawing/2014/main" val="370429645"/>
                    </a:ext>
                  </a:extLst>
                </a:gridCol>
              </a:tblGrid>
              <a:tr h="4133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Port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Service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Version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22852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22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SSH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OpenSSH 7.6p1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788478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80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HTTP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Apache 2.4.29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46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5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4617"/>
          <a:stretch/>
        </p:blipFill>
        <p:spPr>
          <a:xfrm>
            <a:off x="0" y="0"/>
            <a:ext cx="5866715" cy="5191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79" t="2226" r="39774" b="-2226"/>
          <a:stretch/>
        </p:blipFill>
        <p:spPr>
          <a:xfrm>
            <a:off x="5866715" y="0"/>
            <a:ext cx="6172885" cy="52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4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21400" cy="60089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0"/>
            <a:ext cx="6287377" cy="581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0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5151"/>
              </p:ext>
            </p:extLst>
          </p:nvPr>
        </p:nvGraphicFramePr>
        <p:xfrm>
          <a:off x="135306" y="640080"/>
          <a:ext cx="11853494" cy="5974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304">
                  <a:extLst>
                    <a:ext uri="{9D8B030D-6E8A-4147-A177-3AD203B41FA5}">
                      <a16:colId xmlns:a16="http://schemas.microsoft.com/office/drawing/2014/main" val="762896631"/>
                    </a:ext>
                  </a:extLst>
                </a:gridCol>
                <a:gridCol w="1691516">
                  <a:extLst>
                    <a:ext uri="{9D8B030D-6E8A-4147-A177-3AD203B41FA5}">
                      <a16:colId xmlns:a16="http://schemas.microsoft.com/office/drawing/2014/main" val="497947525"/>
                    </a:ext>
                  </a:extLst>
                </a:gridCol>
                <a:gridCol w="3797788">
                  <a:extLst>
                    <a:ext uri="{9D8B030D-6E8A-4147-A177-3AD203B41FA5}">
                      <a16:colId xmlns:a16="http://schemas.microsoft.com/office/drawing/2014/main" val="2114546397"/>
                    </a:ext>
                  </a:extLst>
                </a:gridCol>
                <a:gridCol w="4963886">
                  <a:extLst>
                    <a:ext uri="{9D8B030D-6E8A-4147-A177-3AD203B41FA5}">
                      <a16:colId xmlns:a16="http://schemas.microsoft.com/office/drawing/2014/main" val="1077179106"/>
                    </a:ext>
                  </a:extLst>
                </a:gridCol>
              </a:tblGrid>
              <a:tr h="339688">
                <a:tc>
                  <a:txBody>
                    <a:bodyPr/>
                    <a:lstStyle/>
                    <a:p>
                      <a:r>
                        <a:rPr lang="en-US" sz="1100" dirty="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Command(s) after connecting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517225"/>
                  </a:ext>
                </a:extLst>
              </a:tr>
              <a:tr h="409186">
                <a:tc>
                  <a:txBody>
                    <a:bodyPr/>
                    <a:lstStyle/>
                    <a:p>
                      <a:r>
                        <a:rPr lang="en-US" sz="1100" b="1" dirty="0"/>
                        <a:t>FTP (21)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USER anonymous → PASS anonymous → SYST → FEAT → QUIT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View banner, test anonymous login, identify OS and supported FTP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170513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SSH (22)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SSH sends its identification banner automatically (e.g., SSH-2.0-OpenSSH_4.7p1...).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568760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Telnet (23)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 (or press Enter)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Observe the login prompt/banner.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211674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SMTP (25)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EHLO kali → HELP → QUIT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Enumerate SMTP capabilities and server banner.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860009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DNS (53)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Netcat is not suitable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 dig, host, or </a:t>
                      </a:r>
                      <a:r>
                        <a:rPr lang="en-US" sz="1100" dirty="0" err="1"/>
                        <a:t>nslookup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DNS uses a binary protocol, so banner grabbing isn't practical with Netcat.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083699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HTTP / Apache (80)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HEAD / HTTP/1.0 </a:t>
                      </a:r>
                      <a:r>
                        <a:rPr lang="en-US" sz="1100" i="1"/>
                        <a:t>(press Enter twice)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Retrieve HTTP response headers, including the Server header.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159889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RPCBind (111)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Netcat is not suitable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 </a:t>
                      </a:r>
                      <a:r>
                        <a:rPr lang="en-US" sz="1100" dirty="0" err="1"/>
                        <a:t>rpcinfo</a:t>
                      </a:r>
                      <a:r>
                        <a:rPr lang="en-US" sz="1100" dirty="0"/>
                        <a:t> -p &lt;target&gt;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RPC uses a binary protocol; </a:t>
                      </a:r>
                      <a:r>
                        <a:rPr lang="en-US" sz="1100" dirty="0" err="1"/>
                        <a:t>rpcinfo</a:t>
                      </a:r>
                      <a:r>
                        <a:rPr lang="en-US" sz="1100" dirty="0"/>
                        <a:t> is the appropriate tool.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758390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Samba (139/445)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Netcat is not suitable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 </a:t>
                      </a:r>
                      <a:r>
                        <a:rPr lang="en-US" sz="1100" dirty="0" err="1"/>
                        <a:t>smbclient</a:t>
                      </a:r>
                      <a:r>
                        <a:rPr lang="en-US" sz="1100" dirty="0"/>
                        <a:t> or enum4linux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SMB negotiation is binary and not practical with raw Netcat.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668025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Java RMI (1099)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1099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Usually no readable banner; specialized RMI tools provide better results.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53296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Bind Shell (1524)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1524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whoami, id, uname -a, exit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Interact with the shell if one is exposed (appropriate only in your authorized lab).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205730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NFS (2049)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Netcat is not suitable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showmount -e &lt;target&gt;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Enumerate exported NFS shares.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405975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ProFTPD (2121)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2121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USER anonymous → PASS anonymous → SYST → FEAT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Same FTP commands as port 21.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880568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MySQL (3306)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3306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The MySQL handshake packet is sent automatically and includes version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068221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PostgreSQL (5432)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5432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Usually produces binary startup data; psql is better for interaction.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136572"/>
                  </a:ext>
                </a:extLst>
              </a:tr>
              <a:tr h="339688">
                <a:tc>
                  <a:txBody>
                    <a:bodyPr/>
                    <a:lstStyle/>
                    <a:p>
                      <a:r>
                        <a:rPr lang="en-US" sz="1100" b="1"/>
                        <a:t>VNC (5900)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5900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The server immediately advertises its RFB protocol version.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80446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r>
                        <a:rPr lang="en-US" sz="1100" b="1"/>
                        <a:t>IRC (6667)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nc &lt;target&gt; 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NICK test → USER test 0 * :Test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Initiate the IRC protocol and receive server messages.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477347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396200"/>
              </p:ext>
            </p:extLst>
          </p:nvPr>
        </p:nvGraphicFramePr>
        <p:xfrm>
          <a:off x="135307" y="159657"/>
          <a:ext cx="8128000" cy="370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50252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What we got 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30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759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293600" cy="6959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36BDA"/>
                </a:solidFill>
              </a:rPr>
              <a:t>Part </a:t>
            </a:r>
            <a:r>
              <a:rPr lang="en-US" b="1" dirty="0" smtClean="0">
                <a:solidFill>
                  <a:srgbClr val="E36BDA"/>
                </a:solidFill>
              </a:rPr>
              <a:t>2 </a:t>
            </a:r>
            <a:r>
              <a:rPr lang="en-US" b="1" dirty="0">
                <a:solidFill>
                  <a:srgbClr val="E36BDA"/>
                </a:solidFill>
              </a:rPr>
              <a:t>— Manual Banner Grabbing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E36BDA"/>
                </a:solidFill>
              </a:rPr>
              <a:t>Manually check a service to see what information it reveals.</a:t>
            </a:r>
            <a:endParaRPr lang="en-US" b="1" dirty="0">
              <a:solidFill>
                <a:srgbClr val="1EC43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EC432"/>
                </a:solidFill>
              </a:rPr>
              <a:t>banner </a:t>
            </a:r>
            <a:r>
              <a:rPr lang="en-US" b="1" dirty="0">
                <a:solidFill>
                  <a:srgbClr val="FFFF00"/>
                </a:solidFill>
              </a:rPr>
              <a:t>is </a:t>
            </a:r>
            <a:r>
              <a:rPr lang="en-US" b="1" dirty="0">
                <a:solidFill>
                  <a:srgbClr val="FF0000"/>
                </a:solidFill>
              </a:rPr>
              <a:t>the information a server sends when a </a:t>
            </a:r>
            <a:r>
              <a:rPr lang="en-US" b="1" dirty="0">
                <a:solidFill>
                  <a:srgbClr val="FFFF00"/>
                </a:solidFill>
              </a:rPr>
              <a:t>connection is established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E36BDA"/>
                </a:solidFill>
              </a:rPr>
              <a:t>Example banner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E36BDA"/>
                </a:solidFill>
              </a:rPr>
              <a:t>220 </a:t>
            </a:r>
            <a:r>
              <a:rPr lang="en-US" b="1" dirty="0" err="1">
                <a:solidFill>
                  <a:srgbClr val="E36BDA"/>
                </a:solidFill>
              </a:rPr>
              <a:t>ProFTPD</a:t>
            </a:r>
            <a:r>
              <a:rPr lang="en-US" b="1" dirty="0">
                <a:solidFill>
                  <a:srgbClr val="E36BDA"/>
                </a:solidFill>
              </a:rPr>
              <a:t> 1.3.5 Server ready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This tells us: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Service → FTP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Software → </a:t>
            </a:r>
            <a:r>
              <a:rPr lang="en-US" b="1" dirty="0" err="1">
                <a:solidFill>
                  <a:schemeClr val="accent2"/>
                </a:solidFill>
              </a:rPr>
              <a:t>ProFTPD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Version → 1.3.5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Method 1 — Using </a:t>
            </a:r>
            <a:r>
              <a:rPr lang="en-US" b="1" dirty="0" err="1">
                <a:solidFill>
                  <a:srgbClr val="0070C0"/>
                </a:solidFill>
              </a:rPr>
              <a:t>Netcat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1EC432"/>
                </a:solidFill>
              </a:rPr>
              <a:t>nc</a:t>
            </a:r>
            <a:r>
              <a:rPr lang="en-US" b="1" dirty="0">
                <a:solidFill>
                  <a:srgbClr val="1EC432"/>
                </a:solidFill>
              </a:rPr>
              <a:t> &lt;target&gt; &lt;port&gt;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1EC432"/>
                </a:solidFill>
              </a:rPr>
              <a:t> </a:t>
            </a:r>
            <a:r>
              <a:rPr lang="en-US" b="1" dirty="0" err="1" smtClean="0">
                <a:solidFill>
                  <a:srgbClr val="1EC432"/>
                </a:solidFill>
              </a:rPr>
              <a:t>nc</a:t>
            </a:r>
            <a:r>
              <a:rPr lang="en-US" b="1" dirty="0" smtClean="0">
                <a:solidFill>
                  <a:srgbClr val="1EC432"/>
                </a:solidFill>
              </a:rPr>
              <a:t> 192.168.1.17 21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Then type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for FTP:</a:t>
            </a:r>
          </a:p>
          <a:p>
            <a:pPr marL="0" indent="0">
              <a:buNone/>
            </a:pPr>
            <a:r>
              <a:rPr lang="en-US" dirty="0"/>
              <a:t>USER anonymous </a:t>
            </a:r>
            <a:r>
              <a:rPr lang="en-US" dirty="0" smtClean="0"/>
              <a:t>                     </a:t>
            </a:r>
            <a:r>
              <a:rPr lang="en-US" sz="2300" dirty="0" smtClean="0"/>
              <a:t>Because </a:t>
            </a:r>
            <a:r>
              <a:rPr lang="en-US" sz="2300" dirty="0"/>
              <a:t>from the output of Part 1 </a:t>
            </a:r>
            <a:r>
              <a:rPr lang="en-US" sz="2300" dirty="0" smtClean="0"/>
              <a:t>of Aggressive scan we </a:t>
            </a:r>
            <a:r>
              <a:rPr lang="en-US" sz="2300" dirty="0"/>
              <a:t>have  </a:t>
            </a:r>
            <a:r>
              <a:rPr lang="en-US" sz="2300" b="1" dirty="0" err="1">
                <a:solidFill>
                  <a:schemeClr val="accent1"/>
                </a:solidFill>
              </a:rPr>
              <a:t>sudo</a:t>
            </a:r>
            <a:r>
              <a:rPr lang="en-US" sz="2300" b="1" dirty="0">
                <a:solidFill>
                  <a:schemeClr val="accent1"/>
                </a:solidFill>
              </a:rPr>
              <a:t> </a:t>
            </a:r>
            <a:r>
              <a:rPr lang="en-US" sz="2300" b="1" dirty="0" err="1">
                <a:solidFill>
                  <a:schemeClr val="accent1"/>
                </a:solidFill>
              </a:rPr>
              <a:t>nmap</a:t>
            </a:r>
            <a:r>
              <a:rPr lang="en-US" sz="2300" b="1" dirty="0">
                <a:solidFill>
                  <a:schemeClr val="accent1"/>
                </a:solidFill>
              </a:rPr>
              <a:t> -A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</a:rPr>
              <a:t>192.168.100.24</a:t>
            </a:r>
            <a:endParaRPr lang="en-US" sz="2300" dirty="0" smtClean="0"/>
          </a:p>
          <a:p>
            <a:pPr marL="0" indent="0">
              <a:buNone/>
            </a:pPr>
            <a:r>
              <a:rPr lang="en-US" dirty="0" smtClean="0"/>
              <a:t>PASS anonymous</a:t>
            </a:r>
            <a:br>
              <a:rPr lang="en-US" dirty="0" smtClean="0"/>
            </a:br>
            <a:r>
              <a:rPr lang="en-US" dirty="0" smtClean="0"/>
              <a:t>SYST </a:t>
            </a:r>
          </a:p>
          <a:p>
            <a:pPr marL="0" indent="0">
              <a:buNone/>
            </a:pPr>
            <a:r>
              <a:rPr lang="en-US" dirty="0" smtClean="0"/>
              <a:t>FEAT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QUIT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153380"/>
              </p:ext>
            </p:extLst>
          </p:nvPr>
        </p:nvGraphicFramePr>
        <p:xfrm>
          <a:off x="3234872" y="1706245"/>
          <a:ext cx="963748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328">
                  <a:extLst>
                    <a:ext uri="{9D8B030D-6E8A-4147-A177-3AD203B41FA5}">
                      <a16:colId xmlns:a16="http://schemas.microsoft.com/office/drawing/2014/main" val="453112898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263744574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4152090136"/>
                    </a:ext>
                  </a:extLst>
                </a:gridCol>
                <a:gridCol w="4134756">
                  <a:extLst>
                    <a:ext uri="{9D8B030D-6E8A-4147-A177-3AD203B41FA5}">
                      <a16:colId xmlns:a16="http://schemas.microsoft.com/office/drawing/2014/main" val="1682955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Manual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Command(s)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Expected Banner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78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FTP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nc</a:t>
                      </a:r>
                      <a:r>
                        <a:rPr lang="en-US" sz="1400" dirty="0"/>
                        <a:t> &lt;target&gt;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/>
                        <a:t>(none initially)</a:t>
                      </a:r>
                      <a:r>
                        <a:rPr lang="en-US" sz="1400"/>
                        <a:t>, USER anonymous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220 (vsFTPd 2.3.4)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34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nc</a:t>
                      </a:r>
                      <a:r>
                        <a:rPr lang="en-US" sz="1400" dirty="0"/>
                        <a:t> &lt;target&gt; 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(none)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SSH-2.0-OpenSSH_4.7p1 Debian-8ubuntu1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58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SMTP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nc &lt;target&gt; 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EHLO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 ... Postfix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31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HTTP (Apache)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nc</a:t>
                      </a:r>
                      <a:r>
                        <a:rPr lang="en-US" sz="1400" dirty="0"/>
                        <a:t> &lt;target&gt; 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 / HTTP/1.0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Server: Apache/2.2.8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05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nc</a:t>
                      </a:r>
                      <a:r>
                        <a:rPr lang="en-US" sz="1400" dirty="0"/>
                        <a:t> &lt;target&gt; 3306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(none)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MySQL handshake packet containing the 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15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nc &lt;target&gt; 5432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(none)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PostgreSQL startup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809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nc &lt;target&gt; 6667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/>
                        <a:t>(none)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UnrealIRCd banner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288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Tomcat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nc &lt;target&gt; 8180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HEAD / HTTP/1.0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Apache-Coyote server 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91627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17663"/>
              </p:ext>
            </p:extLst>
          </p:nvPr>
        </p:nvGraphicFramePr>
        <p:xfrm>
          <a:off x="3490686" y="5382825"/>
          <a:ext cx="6789057" cy="629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69">
                  <a:extLst>
                    <a:ext uri="{9D8B030D-6E8A-4147-A177-3AD203B41FA5}">
                      <a16:colId xmlns:a16="http://schemas.microsoft.com/office/drawing/2014/main" val="1191946146"/>
                    </a:ext>
                  </a:extLst>
                </a:gridCol>
                <a:gridCol w="1130219">
                  <a:extLst>
                    <a:ext uri="{9D8B030D-6E8A-4147-A177-3AD203B41FA5}">
                      <a16:colId xmlns:a16="http://schemas.microsoft.com/office/drawing/2014/main" val="2753837586"/>
                    </a:ext>
                  </a:extLst>
                </a:gridCol>
                <a:gridCol w="1602435">
                  <a:extLst>
                    <a:ext uri="{9D8B030D-6E8A-4147-A177-3AD203B41FA5}">
                      <a16:colId xmlns:a16="http://schemas.microsoft.com/office/drawing/2014/main" val="1254471554"/>
                    </a:ext>
                  </a:extLst>
                </a:gridCol>
                <a:gridCol w="3367434">
                  <a:extLst>
                    <a:ext uri="{9D8B030D-6E8A-4147-A177-3AD203B41FA5}">
                      <a16:colId xmlns:a16="http://schemas.microsoft.com/office/drawing/2014/main" val="1051700135"/>
                    </a:ext>
                  </a:extLst>
                </a:gridCol>
              </a:tblGrid>
              <a:tr h="2622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Port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Service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Version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Notes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extLst>
                  <a:ext uri="{0D108BD9-81ED-4DB2-BD59-A6C34878D82A}">
                    <a16:rowId xmlns:a16="http://schemas.microsoft.com/office/drawing/2014/main" val="2901683763"/>
                  </a:ext>
                </a:extLst>
              </a:tr>
              <a:tr h="2622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21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FTP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vsftpd</a:t>
                      </a:r>
                      <a:r>
                        <a:rPr lang="en-US" sz="1400" dirty="0">
                          <a:effectLst/>
                        </a:rPr>
                        <a:t> 2.3.4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Anonymous login enabled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233" marR="86233" marT="43116" marB="43116" anchor="ctr"/>
                </a:tc>
                <a:extLst>
                  <a:ext uri="{0D108BD9-81ED-4DB2-BD59-A6C34878D82A}">
                    <a16:rowId xmlns:a16="http://schemas.microsoft.com/office/drawing/2014/main" val="1373673812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862943" y="54687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26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38014" cy="487680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-165100"/>
            <a:ext cx="11353800" cy="63420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201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637065"/>
              </p:ext>
            </p:extLst>
          </p:nvPr>
        </p:nvGraphicFramePr>
        <p:xfrm>
          <a:off x="0" y="-60116"/>
          <a:ext cx="12192000" cy="852886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773287416"/>
                    </a:ext>
                  </a:extLst>
                </a:gridCol>
                <a:gridCol w="9715500">
                  <a:extLst>
                    <a:ext uri="{9D8B030D-6E8A-4147-A177-3AD203B41FA5}">
                      <a16:colId xmlns:a16="http://schemas.microsoft.com/office/drawing/2014/main" val="4224770709"/>
                    </a:ext>
                  </a:extLst>
                </a:gridCol>
              </a:tblGrid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Command / Response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Meaning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343142798"/>
                  </a:ext>
                </a:extLst>
              </a:tr>
              <a:tr h="631442">
                <a:tc>
                  <a:txBody>
                    <a:bodyPr/>
                    <a:lstStyle/>
                    <a:p>
                      <a:r>
                        <a:rPr lang="en-US" sz="1900"/>
                        <a:t>220 (vsFTPd 2.3.4)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Server Banner. The FTP server is ready to accept a connection. It also reveals the software (</a:t>
                      </a:r>
                      <a:r>
                        <a:rPr lang="en-US" sz="1900" dirty="0" err="1"/>
                        <a:t>vsFTPd</a:t>
                      </a:r>
                      <a:r>
                        <a:rPr lang="en-US" sz="1900" dirty="0"/>
                        <a:t>) and version (2.3.4).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963868528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/>
                        <a:t>USER anonymous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Sent by the client to specify the username for login. Here you're attempting an anonymous login.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834590693"/>
                  </a:ext>
                </a:extLst>
              </a:tr>
              <a:tr h="631442">
                <a:tc>
                  <a:txBody>
                    <a:bodyPr/>
                    <a:lstStyle/>
                    <a:p>
                      <a:r>
                        <a:rPr lang="en-US" sz="1900"/>
                        <a:t>331 Please specify the password.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The server accepted the username and is requesting a password.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3817093020"/>
                  </a:ext>
                </a:extLst>
              </a:tr>
              <a:tr h="631442">
                <a:tc>
                  <a:txBody>
                    <a:bodyPr/>
                    <a:lstStyle/>
                    <a:p>
                      <a:r>
                        <a:rPr lang="en-US" sz="1900" dirty="0"/>
                        <a:t>PASS anonymous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Sent by the client to provide the password. For anonymous FTP, this is often any value or an email address.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448707845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 dirty="0"/>
                        <a:t>230 Login successful.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Authentication succeeded. You are now logged in to the FTP server.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052179849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SYST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Requests the server's operating system information.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3459993158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/>
                        <a:t>215 UNIX Type: L8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The server reports it is a UNIX-like system using 8-bit bytes (Type L8).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744018454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/>
                        <a:t>FEAT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Requests a list of FTP features/extensions supported by the server.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592517745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211-Features: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Beginning of the supported feature list.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958913143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/>
                        <a:t>EPRT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fr-FR" sz="1900" dirty="0"/>
                        <a:t>Extended Port command (supports IPv4/IPv6 active mode).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994020245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EPSV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Extended Passive Mode (recommended for IPv4/IPv6).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328708000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MDTM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Allows querying a file's last modification time.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93577141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PASV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Passive Mode support for data transfers.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3115986197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REST STREAM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Supports resuming interrupted file transfers.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780031947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SIZE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Returns the size of a file.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9082012"/>
                  </a:ext>
                </a:extLst>
              </a:tr>
              <a:tr h="406258">
                <a:tc>
                  <a:txBody>
                    <a:bodyPr/>
                    <a:lstStyle/>
                    <a:p>
                      <a:r>
                        <a:rPr lang="en-US" sz="1900"/>
                        <a:t>TVFS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Trivial Virtual File Store support (standardized virtual </a:t>
                      </a:r>
                      <a:r>
                        <a:rPr lang="en-US" sz="1900" dirty="0" err="1"/>
                        <a:t>filesystem</a:t>
                      </a:r>
                      <a:r>
                        <a:rPr lang="en-US" sz="1900" dirty="0"/>
                        <a:t>).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344452078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UTF8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Supports UTF-8 file and directory names.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3799549582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211 End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End of the feature list.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532515557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QUIT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Client requests to terminate the FTP session.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484968030"/>
                  </a:ext>
                </a:extLst>
              </a:tr>
              <a:tr h="344740">
                <a:tc>
                  <a:txBody>
                    <a:bodyPr/>
                    <a:lstStyle/>
                    <a:p>
                      <a:r>
                        <a:rPr lang="en-US" sz="1900"/>
                        <a:t>221 Goodbye.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Server confirms the connection has been closed.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404618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54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756571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Method 2 — Using Telnet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smtClean="0">
                <a:solidFill>
                  <a:srgbClr val="00B050"/>
                </a:solidFill>
              </a:rPr>
              <a:t>telnet &lt;target&gt; &lt;port&gt;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telnet  192.168.1.17 </a:t>
            </a:r>
            <a:r>
              <a:rPr lang="en-US" sz="2000" dirty="0" smtClean="0">
                <a:solidFill>
                  <a:srgbClr val="00B050"/>
                </a:solidFill>
              </a:rPr>
              <a:t> 21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Then type:    </a:t>
            </a:r>
            <a:endParaRPr lang="en-US" sz="2000" b="1" dirty="0" smtClean="0">
              <a:solidFill>
                <a:schemeClr val="accent2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USER anonymous     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PASS anonymous</a:t>
            </a:r>
            <a:br>
              <a:rPr lang="en-US" sz="2000" dirty="0"/>
            </a:br>
            <a:r>
              <a:rPr lang="en-US" sz="2000" dirty="0"/>
              <a:t>SYST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FEAT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2000" dirty="0"/>
              <a:t> QUIT</a:t>
            </a: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Domain information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331" y="226925"/>
            <a:ext cx="4233848" cy="183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01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293600" cy="6176963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Part 3 — SMB Enumeration (If Port 445 Is Open)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>
                <a:solidFill>
                  <a:srgbClr val="00B050"/>
                </a:solidFill>
              </a:rPr>
              <a:t>If Port 445 is open, it usually indicates SMB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dirty="0">
                <a:solidFill>
                  <a:srgbClr val="00B050"/>
                </a:solidFill>
              </a:rPr>
              <a:t> (Windows File Sharing).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 can use Enum4linux to gather information.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dirty="0">
                <a:solidFill>
                  <a:srgbClr val="00B050"/>
                </a:solidFill>
              </a:rPr>
              <a:t>enum4linux -a &lt;target&gt;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</a:rPr>
              <a:t>What Enum4linux Can Discover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Shared folders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 smtClean="0">
                <a:solidFill>
                  <a:schemeClr val="accent1"/>
                </a:solidFill>
              </a:rPr>
              <a:t>Users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 smtClean="0">
                <a:solidFill>
                  <a:schemeClr val="accent1"/>
                </a:solidFill>
              </a:rPr>
              <a:t>Groups</a:t>
            </a:r>
            <a:endParaRPr lang="en-US" sz="15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771" y="0"/>
            <a:ext cx="7768181" cy="454945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35093"/>
              </p:ext>
            </p:extLst>
          </p:nvPr>
        </p:nvGraphicFramePr>
        <p:xfrm>
          <a:off x="0" y="3066099"/>
          <a:ext cx="393077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257">
                  <a:extLst>
                    <a:ext uri="{9D8B030D-6E8A-4147-A177-3AD203B41FA5}">
                      <a16:colId xmlns:a16="http://schemas.microsoft.com/office/drawing/2014/main" val="1904605454"/>
                    </a:ext>
                  </a:extLst>
                </a:gridCol>
                <a:gridCol w="1310257">
                  <a:extLst>
                    <a:ext uri="{9D8B030D-6E8A-4147-A177-3AD203B41FA5}">
                      <a16:colId xmlns:a16="http://schemas.microsoft.com/office/drawing/2014/main" val="4092532268"/>
                    </a:ext>
                  </a:extLst>
                </a:gridCol>
                <a:gridCol w="1310257">
                  <a:extLst>
                    <a:ext uri="{9D8B030D-6E8A-4147-A177-3AD203B41FA5}">
                      <a16:colId xmlns:a16="http://schemas.microsoft.com/office/drawing/2014/main" val="11606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Sharename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Type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Comment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15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ADMIN$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Disk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Remote Admin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53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Public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Disk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17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IPC$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IPC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602860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130800" y="49807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0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Task 03: Leveraging Nmap Scripting Engine (NSE) 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Description</a:t>
            </a:r>
            <a:r>
              <a:rPr lang="en-US" sz="2000" b="1" dirty="0">
                <a:solidFill>
                  <a:schemeClr val="accent1"/>
                </a:solidFill>
              </a:rPr>
              <a:t>: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Use </a:t>
            </a:r>
            <a:r>
              <a:rPr lang="en-US" sz="2000" b="1" dirty="0">
                <a:solidFill>
                  <a:srgbClr val="FF0000"/>
                </a:solidFill>
              </a:rPr>
              <a:t>automated scripts to detect vulnerabilities </a:t>
            </a:r>
            <a:r>
              <a:rPr lang="en-US" sz="2000" b="1" dirty="0" smtClean="0">
                <a:solidFill>
                  <a:srgbClr val="FF0000"/>
                </a:solidFill>
              </a:rPr>
              <a:t>and </a:t>
            </a:r>
            <a:r>
              <a:rPr lang="en-US" sz="2000" b="1" dirty="0">
                <a:solidFill>
                  <a:srgbClr val="FF0000"/>
                </a:solidFill>
              </a:rPr>
              <a:t>misconfigurations during the scan. 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Technical </a:t>
            </a:r>
            <a:r>
              <a:rPr lang="en-US" sz="2000" b="1" dirty="0">
                <a:solidFill>
                  <a:schemeClr val="accent1"/>
                </a:solidFill>
              </a:rPr>
              <a:t>Requirements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○ Run scripts from the 'Discovery' and 'Safe' categories to find additional 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 info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(e.g., http-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enum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ssl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-cert).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○ Execute the '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Vuln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' category scripts (--script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vuln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) on a target machine 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to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identify exploitable vulnerabilities.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○ Map the NSE output to specific CVE IDs.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●	</a:t>
            </a:r>
            <a:r>
              <a:rPr lang="en-US" sz="2000" b="1" dirty="0">
                <a:solidFill>
                  <a:schemeClr val="accent1"/>
                </a:solidFill>
              </a:rPr>
              <a:t>Learning Goal: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         Automate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the repetitive parts of vulnerability discovery while maintaining </a:t>
            </a:r>
            <a:endParaRPr lang="en-US" sz="20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             control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over the scan.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923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510091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The </a:t>
            </a:r>
            <a:r>
              <a:rPr lang="en-US" sz="2000" b="1" dirty="0">
                <a:solidFill>
                  <a:schemeClr val="accent6"/>
                </a:solidFill>
              </a:rPr>
              <a:t>Nmap Scripting Engine (NSE)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contains scripts that help gather additional information about services </a:t>
            </a:r>
            <a:endParaRPr lang="en-US" sz="20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running </a:t>
            </a:r>
            <a:r>
              <a:rPr lang="en-US" sz="2000" b="1" dirty="0">
                <a:solidFill>
                  <a:schemeClr val="accent1"/>
                </a:solidFill>
              </a:rPr>
              <a:t>on a </a:t>
            </a:r>
            <a:r>
              <a:rPr lang="en-US" sz="2000" b="1" dirty="0">
                <a:solidFill>
                  <a:srgbClr val="FF0000"/>
                </a:solidFill>
              </a:rPr>
              <a:t>target system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Example </a:t>
            </a:r>
            <a:r>
              <a:rPr lang="en-US" sz="2000" b="1" dirty="0">
                <a:solidFill>
                  <a:srgbClr val="00B0F0"/>
                </a:solidFill>
              </a:rPr>
              <a:t>1 — HTTP Enumeration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If </a:t>
            </a:r>
            <a:r>
              <a:rPr lang="en-US" sz="2000" b="1" dirty="0">
                <a:solidFill>
                  <a:srgbClr val="FF0000"/>
                </a:solidFill>
              </a:rPr>
              <a:t>Port 80 (HTTP) is open, we can run the http-</a:t>
            </a:r>
            <a:r>
              <a:rPr lang="en-US" sz="2000" b="1" dirty="0" err="1">
                <a:solidFill>
                  <a:srgbClr val="FF0000"/>
                </a:solidFill>
              </a:rPr>
              <a:t>enum</a:t>
            </a:r>
            <a:r>
              <a:rPr lang="en-US" sz="2000" b="1" dirty="0">
                <a:solidFill>
                  <a:srgbClr val="FF0000"/>
                </a:solidFill>
              </a:rPr>
              <a:t> script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EC432"/>
                </a:solidFill>
              </a:rPr>
              <a:t>nmap -p 80 --script http-</a:t>
            </a:r>
            <a:r>
              <a:rPr lang="en-US" sz="2000" b="1" dirty="0" err="1">
                <a:solidFill>
                  <a:srgbClr val="1EC432"/>
                </a:solidFill>
              </a:rPr>
              <a:t>enum</a:t>
            </a:r>
            <a:r>
              <a:rPr lang="en-US" sz="2000" b="1" dirty="0">
                <a:solidFill>
                  <a:srgbClr val="1EC432"/>
                </a:solidFill>
              </a:rPr>
              <a:t> &lt;target&gt;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What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the Script Does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The script searches for common web directories and pages.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Example output: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/admin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/login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/uploads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/images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These directories may reveal hidden functionality or administrative panels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995600"/>
              </p:ext>
            </p:extLst>
          </p:nvPr>
        </p:nvGraphicFramePr>
        <p:xfrm>
          <a:off x="109927" y="832605"/>
          <a:ext cx="1096671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833">
                  <a:extLst>
                    <a:ext uri="{9D8B030D-6E8A-4147-A177-3AD203B41FA5}">
                      <a16:colId xmlns:a16="http://schemas.microsoft.com/office/drawing/2014/main" val="1623088390"/>
                    </a:ext>
                  </a:extLst>
                </a:gridCol>
                <a:gridCol w="8011885">
                  <a:extLst>
                    <a:ext uri="{9D8B030D-6E8A-4147-A177-3AD203B41FA5}">
                      <a16:colId xmlns:a16="http://schemas.microsoft.com/office/drawing/2014/main" val="2710713706"/>
                    </a:ext>
                  </a:extLst>
                </a:gridCol>
              </a:tblGrid>
              <a:tr h="33886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Category 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107387"/>
                  </a:ext>
                </a:extLst>
              </a:tr>
              <a:tr h="338869">
                <a:tc>
                  <a:txBody>
                    <a:bodyPr/>
                    <a:lstStyle/>
                    <a:p>
                      <a:r>
                        <a:rPr lang="en-US" sz="2000" dirty="0"/>
                        <a:t>discovery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Collects extra information about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67053"/>
                  </a:ext>
                </a:extLst>
              </a:tr>
              <a:tr h="338869">
                <a:tc>
                  <a:txBody>
                    <a:bodyPr/>
                    <a:lstStyle/>
                    <a:p>
                      <a:r>
                        <a:rPr lang="en-US" sz="2000" dirty="0"/>
                        <a:t>safe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Performs checks that are unlikely to disrupt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58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20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14300" y="0"/>
            <a:ext cx="12187238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Nmap can also run all scripts in a category.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Discovery scripts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nmap --script discovery &lt;target&gt;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Safe scripts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C432"/>
                </a:solidFill>
              </a:rPr>
              <a:t>nmap --script safe &lt;target&gt;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These scans may collect information such as: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service details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DNS data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HTTP headers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network configuration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92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5734" cy="71056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Example 2 — SSL Certificate Information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If Port 443 (HTTPS) is open, we can retrieve SSL certificate details.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B050"/>
                </a:solidFill>
              </a:rPr>
              <a:t>nmap </a:t>
            </a:r>
            <a:r>
              <a:rPr lang="en-US" sz="2000" dirty="0">
                <a:solidFill>
                  <a:srgbClr val="00B050"/>
                </a:solidFill>
              </a:rPr>
              <a:t>-p 443 --script </a:t>
            </a:r>
            <a:r>
              <a:rPr lang="en-US" sz="2000" dirty="0" err="1">
                <a:solidFill>
                  <a:srgbClr val="00B050"/>
                </a:solidFill>
              </a:rPr>
              <a:t>ssl</a:t>
            </a:r>
            <a:r>
              <a:rPr lang="en-US" sz="2000" dirty="0">
                <a:solidFill>
                  <a:srgbClr val="00B050"/>
                </a:solidFill>
              </a:rPr>
              <a:t>-cert &lt;target&gt;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6"/>
                </a:solidFill>
              </a:rPr>
              <a:t>Example </a:t>
            </a:r>
            <a:r>
              <a:rPr lang="en-US" sz="2000" dirty="0">
                <a:solidFill>
                  <a:schemeClr val="accent6"/>
                </a:solidFill>
              </a:rPr>
              <a:t>Output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</a:rPr>
              <a:t>Subject: commonName=example.com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Issuer: Let's Encrypt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Public Key type: RSA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This information can reveal: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domain ownership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certificate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issuer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certificate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validity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/>
                </a:solidFill>
              </a:rPr>
              <a:t>Run </a:t>
            </a:r>
            <a:r>
              <a:rPr lang="en-US" sz="2000" b="1" dirty="0">
                <a:solidFill>
                  <a:schemeClr val="accent1"/>
                </a:solidFill>
              </a:rPr>
              <a:t>all </a:t>
            </a:r>
            <a:r>
              <a:rPr lang="en-US" sz="2000" b="1" dirty="0" smtClean="0">
                <a:solidFill>
                  <a:schemeClr val="accent1"/>
                </a:solidFill>
              </a:rPr>
              <a:t>scripts:-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nmap --script discovery &lt;target&gt;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Safe scripts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nmap --script safe &lt;target</a:t>
            </a:r>
            <a:r>
              <a:rPr lang="en-US" sz="2000" b="1" dirty="0" smtClean="0">
                <a:solidFill>
                  <a:srgbClr val="0070C0"/>
                </a:solidFill>
              </a:rPr>
              <a:t>&gt;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38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33350"/>
            <a:ext cx="12001500" cy="6534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Task 3 Part 2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Running </a:t>
            </a:r>
            <a:r>
              <a:rPr lang="en-US" dirty="0">
                <a:solidFill>
                  <a:schemeClr val="accent1"/>
                </a:solidFill>
              </a:rPr>
              <a:t>Vulnerability Scripts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Basic Command</a:t>
            </a:r>
          </a:p>
          <a:p>
            <a:pPr marL="0" indent="0">
              <a:buNone/>
            </a:pPr>
            <a:r>
              <a:rPr lang="en-US" dirty="0">
                <a:solidFill>
                  <a:srgbClr val="1EC432"/>
                </a:solidFill>
              </a:rPr>
              <a:t>nmap --script </a:t>
            </a:r>
            <a:r>
              <a:rPr lang="en-US" dirty="0" err="1">
                <a:solidFill>
                  <a:srgbClr val="1EC432"/>
                </a:solidFill>
              </a:rPr>
              <a:t>vuln</a:t>
            </a:r>
            <a:r>
              <a:rPr lang="en-US" dirty="0">
                <a:solidFill>
                  <a:srgbClr val="1EC432"/>
                </a:solidFill>
              </a:rPr>
              <a:t> &lt;target&gt;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This </a:t>
            </a:r>
            <a:r>
              <a:rPr lang="en-US" dirty="0">
                <a:solidFill>
                  <a:schemeClr val="accent1"/>
                </a:solidFill>
              </a:rPr>
              <a:t>command runs all scripts in the vulnerability category against the target.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It </a:t>
            </a:r>
            <a:r>
              <a:rPr lang="en-US" dirty="0">
                <a:solidFill>
                  <a:schemeClr val="accent1"/>
                </a:solidFill>
              </a:rPr>
              <a:t>is usually helpful to combine vulnerability scanning </a:t>
            </a:r>
            <a:r>
              <a:rPr lang="en-US" dirty="0" smtClean="0">
                <a:solidFill>
                  <a:schemeClr val="accent1"/>
                </a:solidFill>
              </a:rPr>
              <a:t>with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         </a:t>
            </a:r>
            <a:r>
              <a:rPr lang="en-US" dirty="0">
                <a:solidFill>
                  <a:schemeClr val="accent1"/>
                </a:solidFill>
              </a:rPr>
              <a:t>service version detection.</a:t>
            </a:r>
          </a:p>
          <a:p>
            <a:pPr marL="0" indent="0">
              <a:buNone/>
            </a:pPr>
            <a:r>
              <a:rPr lang="en-US" dirty="0">
                <a:solidFill>
                  <a:srgbClr val="1EC432"/>
                </a:solidFill>
              </a:rPr>
              <a:t>sudo nmap -sV --script </a:t>
            </a:r>
            <a:r>
              <a:rPr lang="en-US" dirty="0" err="1">
                <a:solidFill>
                  <a:srgbClr val="1EC432"/>
                </a:solidFill>
              </a:rPr>
              <a:t>vuln</a:t>
            </a:r>
            <a:r>
              <a:rPr lang="en-US" dirty="0">
                <a:solidFill>
                  <a:srgbClr val="1EC432"/>
                </a:solidFill>
              </a:rPr>
              <a:t> &lt;target&gt;</a:t>
            </a:r>
          </a:p>
        </p:txBody>
      </p:sp>
    </p:spTree>
    <p:extLst>
      <p:ext uri="{BB962C8B-B14F-4D97-AF65-F5344CB8AC3E}">
        <p14:creationId xmlns:p14="http://schemas.microsoft.com/office/powerpoint/2010/main" val="1087453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12801600" cy="7059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Task 03 – Part 3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Mapping NSE Output to CVE IDs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Description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When Nmap vulnerability scripts detect a potential weakness, they </a:t>
            </a:r>
            <a:r>
              <a:rPr lang="en-US" sz="2000" b="1" dirty="0" smtClean="0">
                <a:solidFill>
                  <a:srgbClr val="FF0000"/>
                </a:solidFill>
              </a:rPr>
              <a:t>often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include a </a:t>
            </a:r>
            <a:r>
              <a:rPr lang="en-US" sz="2000" b="1" dirty="0">
                <a:solidFill>
                  <a:srgbClr val="FF0000"/>
                </a:solidFill>
              </a:rPr>
              <a:t>CVE ID</a:t>
            </a:r>
            <a:r>
              <a:rPr lang="en-US" sz="2000" dirty="0">
                <a:solidFill>
                  <a:srgbClr val="FF0000"/>
                </a:solidFill>
              </a:rPr>
              <a:t> in the output.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 A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CVE (Common Vulnerabilities and Exposures) ID is a unique </a:t>
            </a:r>
            <a:r>
              <a:rPr lang="en-US" sz="20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identifier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assigned to a publicly known security vulnerability.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Example NSE </a:t>
            </a: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Output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After running a vulnerability scan</a:t>
            </a:r>
            <a:r>
              <a:rPr lang="en-US" sz="2000" dirty="0" smtClean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sudo nmap -sV --script </a:t>
            </a:r>
            <a:r>
              <a:rPr lang="en-US" sz="2000" dirty="0" err="1" smtClean="0">
                <a:solidFill>
                  <a:srgbClr val="00B050"/>
                </a:solidFill>
              </a:rPr>
              <a:t>vuln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B050"/>
                </a:solidFill>
              </a:rPr>
              <a:t>&lt;target</a:t>
            </a:r>
            <a:r>
              <a:rPr lang="en-US" sz="2000" dirty="0" smtClean="0">
                <a:solidFill>
                  <a:srgbClr val="00B05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Understanding the CVE </a:t>
            </a:r>
            <a:r>
              <a:rPr lang="en-US" sz="2000" dirty="0" smtClean="0">
                <a:solidFill>
                  <a:srgbClr val="00B050"/>
                </a:solidFill>
              </a:rPr>
              <a:t>ID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Example</a:t>
            </a:r>
            <a:r>
              <a:rPr lang="en-US" sz="2000" dirty="0" smtClean="0">
                <a:solidFill>
                  <a:srgbClr val="00B050"/>
                </a:solidFill>
              </a:rPr>
              <a:t>: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B050"/>
                </a:solidFill>
              </a:rPr>
              <a:t>CVE-2017-5638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Breakdown</a:t>
            </a:r>
            <a:r>
              <a:rPr lang="en-US" sz="2000" dirty="0" smtClean="0">
                <a:solidFill>
                  <a:srgbClr val="00B050"/>
                </a:solidFill>
              </a:rPr>
              <a:t>:</a:t>
            </a:r>
          </a:p>
          <a:p>
            <a:pPr marL="0" indent="0">
              <a:buNone/>
            </a:pP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B05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99886"/>
              </p:ext>
            </p:extLst>
          </p:nvPr>
        </p:nvGraphicFramePr>
        <p:xfrm>
          <a:off x="0" y="5120640"/>
          <a:ext cx="691759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09">
                  <a:extLst>
                    <a:ext uri="{9D8B030D-6E8A-4147-A177-3AD203B41FA5}">
                      <a16:colId xmlns:a16="http://schemas.microsoft.com/office/drawing/2014/main" val="1838165229"/>
                    </a:ext>
                  </a:extLst>
                </a:gridCol>
                <a:gridCol w="5176383">
                  <a:extLst>
                    <a:ext uri="{9D8B030D-6E8A-4147-A177-3AD203B41FA5}">
                      <a16:colId xmlns:a16="http://schemas.microsoft.com/office/drawing/2014/main" val="2777313310"/>
                    </a:ext>
                  </a:extLst>
                </a:gridCol>
              </a:tblGrid>
              <a:tr h="34957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Part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Meaning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07118"/>
                  </a:ext>
                </a:extLst>
              </a:tr>
              <a:tr h="38052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CVE	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Common Vulnerabilities and Exposures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69816"/>
                  </a:ext>
                </a:extLst>
              </a:tr>
              <a:tr h="34957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2017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Year the vulnerability was published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221244"/>
                  </a:ext>
                </a:extLst>
              </a:tr>
              <a:tr h="380523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5638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Unique vulnerability 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215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9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407900" cy="6991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How to Look Up a CVE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Examples: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NIST National Vulnerability Database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https</a:t>
            </a:r>
            <a:r>
              <a:rPr lang="en-US" sz="2000" b="1" dirty="0">
                <a:solidFill>
                  <a:srgbClr val="00B0F0"/>
                </a:solidFill>
              </a:rPr>
              <a:t>://nvd.nist.gov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MITRE CVE Database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https://cve.mitre.org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Example search</a:t>
            </a:r>
            <a:r>
              <a:rPr lang="en-US" sz="2000" b="1" dirty="0" smtClean="0">
                <a:solidFill>
                  <a:srgbClr val="00B0F0"/>
                </a:solidFill>
              </a:rPr>
              <a:t>:</a:t>
            </a:r>
            <a:endParaRPr lang="en-US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CVE-2017-5638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The database will provide: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vulnerability description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affected software versions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severity score (CVSS)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mitigation recommendations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51074"/>
              </p:ext>
            </p:extLst>
          </p:nvPr>
        </p:nvGraphicFramePr>
        <p:xfrm>
          <a:off x="0" y="5194299"/>
          <a:ext cx="10309225" cy="1319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528">
                  <a:extLst>
                    <a:ext uri="{9D8B030D-6E8A-4147-A177-3AD203B41FA5}">
                      <a16:colId xmlns:a16="http://schemas.microsoft.com/office/drawing/2014/main" val="3165016173"/>
                    </a:ext>
                  </a:extLst>
                </a:gridCol>
                <a:gridCol w="1726921">
                  <a:extLst>
                    <a:ext uri="{9D8B030D-6E8A-4147-A177-3AD203B41FA5}">
                      <a16:colId xmlns:a16="http://schemas.microsoft.com/office/drawing/2014/main" val="3763873417"/>
                    </a:ext>
                  </a:extLst>
                </a:gridCol>
                <a:gridCol w="1220513">
                  <a:extLst>
                    <a:ext uri="{9D8B030D-6E8A-4147-A177-3AD203B41FA5}">
                      <a16:colId xmlns:a16="http://schemas.microsoft.com/office/drawing/2014/main" val="1873223984"/>
                    </a:ext>
                  </a:extLst>
                </a:gridCol>
                <a:gridCol w="2783868">
                  <a:extLst>
                    <a:ext uri="{9D8B030D-6E8A-4147-A177-3AD203B41FA5}">
                      <a16:colId xmlns:a16="http://schemas.microsoft.com/office/drawing/2014/main" val="1919197021"/>
                    </a:ext>
                  </a:extLst>
                </a:gridCol>
                <a:gridCol w="3716395">
                  <a:extLst>
                    <a:ext uri="{9D8B030D-6E8A-4147-A177-3AD203B41FA5}">
                      <a16:colId xmlns:a16="http://schemas.microsoft.com/office/drawing/2014/main" val="648720602"/>
                    </a:ext>
                  </a:extLst>
                </a:gridCol>
              </a:tblGrid>
              <a:tr h="213849">
                <a:tc>
                  <a:txBody>
                    <a:bodyPr/>
                    <a:lstStyle/>
                    <a:p>
                      <a:r>
                        <a:rPr lang="en-US" sz="2000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CVE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582909"/>
                  </a:ext>
                </a:extLst>
              </a:tr>
              <a:tr h="527297">
                <a:tc>
                  <a:txBody>
                    <a:bodyPr/>
                    <a:lstStyle/>
                    <a:p>
                      <a:r>
                        <a:rPr lang="en-US" sz="20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Apache 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2.4.29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CVE-2019-0211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Privilege escalation vulnerability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749175"/>
                  </a:ext>
                </a:extLst>
              </a:tr>
              <a:tr h="369108">
                <a:tc>
                  <a:txBody>
                    <a:bodyPr/>
                    <a:lstStyle/>
                    <a:p>
                      <a:r>
                        <a:rPr lang="en-US" sz="2000"/>
                        <a:t>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SMBv1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CVE-2017-0144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EternalBlue</a:t>
                      </a:r>
                      <a:r>
                        <a:rPr lang="en-US" sz="2000" dirty="0"/>
                        <a:t> vulnerability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383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968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315825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Task 04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Task 04: Stealth &amp; Firewall Evasion Techniques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  <a:p>
            <a:pPr marL="0" lvl="0" indent="0" fontAlgn="base">
              <a:buNone/>
            </a:pPr>
            <a:r>
              <a:rPr lang="en-US" b="1" dirty="0">
                <a:solidFill>
                  <a:srgbClr val="FFFF00"/>
                </a:solidFill>
              </a:rPr>
              <a:t>Description:</a:t>
            </a:r>
            <a:r>
              <a:rPr lang="en-US" dirty="0">
                <a:solidFill>
                  <a:srgbClr val="FFFF00"/>
                </a:solidFill>
              </a:rPr>
              <a:t> Practice techniques to bypass basic Intrusion Detection Systems (IDS) or Firewalls. </a:t>
            </a:r>
          </a:p>
          <a:p>
            <a:pPr marL="0" lvl="0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Technical Requirements: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○ Use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Packet Fragmentation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(-f) and MTU manipulation to slip past simple packet filters.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○ Experiment with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Decoys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(-D) to hide your actual IP address among a crowd of "fake" scanning IPs.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○ Use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Source Port Spoofing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(--source-port) to bypass firewalls that only allow traffic from specific ports (like DNS/53). </a:t>
            </a:r>
          </a:p>
          <a:p>
            <a:pPr marL="0" lvl="0" indent="0" fontAlgn="base">
              <a:buNone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Learning Goal: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Learn that "Loud" scans get blocked; "Quiet" and "Creative" scans get results.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31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4300"/>
            <a:ext cx="6357938" cy="6529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1EC432"/>
                </a:solidFill>
              </a:rPr>
              <a:t>Stealth </a:t>
            </a:r>
            <a:r>
              <a:rPr lang="en-US" sz="2000" b="1" dirty="0">
                <a:solidFill>
                  <a:srgbClr val="1EC432"/>
                </a:solidFill>
              </a:rPr>
              <a:t>&amp; Firewall Evasion Techniques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00"/>
                </a:solidFill>
              </a:rPr>
              <a:t>Description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Some network defenses such as basic firewalls or intrusion detection systems (IDS) look for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patterns in packets to detect scans. Security testers sometimes adjust how packets are sent to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understand how these defenses react</a:t>
            </a:r>
            <a:r>
              <a:rPr lang="en-US" sz="2000" b="1" dirty="0" smtClean="0">
                <a:solidFill>
                  <a:srgbClr val="00B0F0"/>
                </a:solidFill>
              </a:rPr>
              <a:t>.</a:t>
            </a:r>
            <a:endParaRPr lang="en-US" sz="20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Experiment with packet fragmentation and MTU size adjustments in Nmap to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36BDA"/>
                </a:solidFill>
              </a:rPr>
              <a:t> see how scan behavior changes</a:t>
            </a:r>
            <a:r>
              <a:rPr lang="en-US" sz="2000" b="1" dirty="0" smtClean="0">
                <a:solidFill>
                  <a:srgbClr val="E36BDA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Concept: Packet Fragmentation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E36BDA"/>
                </a:solidFill>
              </a:rPr>
              <a:t>Normally, a network packet is sent </a:t>
            </a:r>
            <a:r>
              <a:rPr lang="en-US" sz="2000" b="1" dirty="0">
                <a:solidFill>
                  <a:srgbClr val="E36BDA"/>
                </a:solidFill>
              </a:rPr>
              <a:t>as one piece</a:t>
            </a:r>
            <a:r>
              <a:rPr lang="en-US" sz="2000" dirty="0">
                <a:solidFill>
                  <a:srgbClr val="E36BDA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E36BDA"/>
                </a:solidFill>
              </a:rPr>
              <a:t>With </a:t>
            </a:r>
            <a:r>
              <a:rPr lang="en-US" sz="2000" b="1" dirty="0">
                <a:solidFill>
                  <a:srgbClr val="E36BDA"/>
                </a:solidFill>
              </a:rPr>
              <a:t>fragmentation</a:t>
            </a:r>
            <a:r>
              <a:rPr lang="en-US" sz="2000" dirty="0">
                <a:solidFill>
                  <a:srgbClr val="E36BDA"/>
                </a:solidFill>
              </a:rPr>
              <a:t>, the packet is broken into </a:t>
            </a:r>
            <a:r>
              <a:rPr lang="en-US" sz="2000" b="1" dirty="0">
                <a:solidFill>
                  <a:srgbClr val="E36BDA"/>
                </a:solidFill>
              </a:rPr>
              <a:t>smaller fragments</a:t>
            </a:r>
            <a:r>
              <a:rPr lang="en-US" sz="2000" dirty="0">
                <a:solidFill>
                  <a:srgbClr val="E36BDA"/>
                </a:solidFill>
              </a:rPr>
              <a:t> before being sent.</a:t>
            </a:r>
          </a:p>
          <a:p>
            <a:pPr marL="0" indent="0">
              <a:buNone/>
            </a:pPr>
            <a:endParaRPr lang="en-US" sz="2000" b="1" dirty="0">
              <a:solidFill>
                <a:srgbClr val="E36BDA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7938" y="114300"/>
            <a:ext cx="5443536" cy="6743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E36BDA"/>
                </a:solidFill>
              </a:rPr>
              <a:t>Very </a:t>
            </a:r>
            <a:r>
              <a:rPr lang="en-US" sz="2000" dirty="0">
                <a:solidFill>
                  <a:srgbClr val="E36BDA"/>
                </a:solidFill>
              </a:rPr>
              <a:t>simple packet filters may inspect only the </a:t>
            </a:r>
            <a:r>
              <a:rPr lang="en-US" sz="2000" b="1" dirty="0">
                <a:solidFill>
                  <a:srgbClr val="E36BDA"/>
                </a:solidFill>
              </a:rPr>
              <a:t>first fragment</a:t>
            </a:r>
            <a:r>
              <a:rPr lang="en-US" sz="2000" dirty="0">
                <a:solidFill>
                  <a:srgbClr val="E36BDA"/>
                </a:solidFill>
              </a:rPr>
              <a:t>, which can sometimes make detection harder.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E36BDA"/>
                </a:solidFill>
              </a:rPr>
              <a:t>Modern security systems usually reassemble packets, so this technique mainly demonstrates </a:t>
            </a:r>
            <a:r>
              <a:rPr lang="en-US" sz="2000" b="1" dirty="0">
                <a:solidFill>
                  <a:srgbClr val="E36BDA"/>
                </a:solidFill>
              </a:rPr>
              <a:t>how packet handling works</a:t>
            </a:r>
            <a:endParaRPr lang="en-US" sz="2000" dirty="0">
              <a:solidFill>
                <a:srgbClr val="E36BDA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E36BDA"/>
                </a:solidFill>
              </a:rPr>
              <a:t>Technique 1 — Packet Fragmentation (-f)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EC432"/>
                </a:solidFill>
              </a:rPr>
              <a:t>sudo nmap -</a:t>
            </a:r>
            <a:r>
              <a:rPr lang="en-US" sz="2000" b="1" dirty="0" err="1">
                <a:solidFill>
                  <a:srgbClr val="1EC432"/>
                </a:solidFill>
              </a:rPr>
              <a:t>sS</a:t>
            </a:r>
            <a:r>
              <a:rPr lang="en-US" sz="2000" b="1" dirty="0">
                <a:solidFill>
                  <a:srgbClr val="1EC432"/>
                </a:solidFill>
              </a:rPr>
              <a:t> -f &lt;target&gt;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36BDA"/>
                </a:solidFill>
              </a:rPr>
              <a:t>What it does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36BDA"/>
                </a:solidFill>
              </a:rPr>
              <a:t>Splits the scan packets into smaller fragments.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E36BDA"/>
                </a:solidFill>
              </a:rPr>
              <a:t>Helps demonstrate how packet inspection systems handle fragmented traffic.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490746"/>
              </p:ext>
            </p:extLst>
          </p:nvPr>
        </p:nvGraphicFramePr>
        <p:xfrm>
          <a:off x="2882901" y="4967764"/>
          <a:ext cx="672782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608">
                  <a:extLst>
                    <a:ext uri="{9D8B030D-6E8A-4147-A177-3AD203B41FA5}">
                      <a16:colId xmlns:a16="http://schemas.microsoft.com/office/drawing/2014/main" val="1305593190"/>
                    </a:ext>
                  </a:extLst>
                </a:gridCol>
                <a:gridCol w="2418309">
                  <a:extLst>
                    <a:ext uri="{9D8B030D-6E8A-4147-A177-3AD203B41FA5}">
                      <a16:colId xmlns:a16="http://schemas.microsoft.com/office/drawing/2014/main" val="3945698727"/>
                    </a:ext>
                  </a:extLst>
                </a:gridCol>
                <a:gridCol w="2066907">
                  <a:extLst>
                    <a:ext uri="{9D8B030D-6E8A-4147-A177-3AD203B41FA5}">
                      <a16:colId xmlns:a16="http://schemas.microsoft.com/office/drawing/2014/main" val="2248279756"/>
                    </a:ext>
                  </a:extLst>
                </a:gridCol>
              </a:tblGrid>
              <a:tr h="191859">
                <a:tc>
                  <a:txBody>
                    <a:bodyPr/>
                    <a:lstStyle/>
                    <a:p>
                      <a:r>
                        <a:rPr lang="en-US" sz="2000" dirty="0"/>
                        <a:t>Scan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652056"/>
                  </a:ext>
                </a:extLst>
              </a:tr>
              <a:tr h="201039">
                <a:tc>
                  <a:txBody>
                    <a:bodyPr/>
                    <a:lstStyle/>
                    <a:p>
                      <a:r>
                        <a:rPr lang="en-US" sz="2000" dirty="0"/>
                        <a:t>Normal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nmap -</a:t>
                      </a:r>
                      <a:r>
                        <a:rPr lang="en-US" sz="2000" dirty="0" err="1"/>
                        <a:t>sS</a:t>
                      </a:r>
                      <a:r>
                        <a:rPr lang="en-US" sz="2000" dirty="0"/>
                        <a:t> &lt;target&gt;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Open ports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271516"/>
                  </a:ext>
                </a:extLst>
              </a:tr>
              <a:tr h="201039">
                <a:tc>
                  <a:txBody>
                    <a:bodyPr/>
                    <a:lstStyle/>
                    <a:p>
                      <a:r>
                        <a:rPr lang="en-US" sz="2000"/>
                        <a:t>Fragmented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nmap -</a:t>
                      </a:r>
                      <a:r>
                        <a:rPr lang="en-US" sz="2000" dirty="0" err="1"/>
                        <a:t>sS</a:t>
                      </a:r>
                      <a:r>
                        <a:rPr lang="en-US" sz="2000" dirty="0"/>
                        <a:t> -f &lt;target&gt;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Compare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60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924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358688" cy="712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70C0"/>
                </a:solidFill>
              </a:rPr>
              <a:t>Technique 2 — MTU Manipulation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MTU (Maximum Transmission Unit) controls the size of packets sent over a network.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Changing MTU alters how packets are divided during transmission.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Example Command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sudo nmap -</a:t>
            </a:r>
            <a:r>
              <a:rPr lang="en-US" sz="1500" b="1" dirty="0" err="1">
                <a:solidFill>
                  <a:srgbClr val="00B050"/>
                </a:solidFill>
              </a:rPr>
              <a:t>sS</a:t>
            </a:r>
            <a:r>
              <a:rPr lang="en-US" sz="1500" b="1" dirty="0">
                <a:solidFill>
                  <a:srgbClr val="00B050"/>
                </a:solidFill>
              </a:rPr>
              <a:t> --</a:t>
            </a:r>
            <a:r>
              <a:rPr lang="en-US" sz="1500" b="1" dirty="0" err="1">
                <a:solidFill>
                  <a:srgbClr val="00B050"/>
                </a:solidFill>
              </a:rPr>
              <a:t>mtu</a:t>
            </a:r>
            <a:r>
              <a:rPr lang="en-US" sz="1500" b="1" dirty="0">
                <a:solidFill>
                  <a:srgbClr val="00B050"/>
                </a:solidFill>
              </a:rPr>
              <a:t> 16 &lt;target&gt;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What this means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Forces packets to be very small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Causes the network stack to fragment packets </a:t>
            </a:r>
            <a:r>
              <a:rPr lang="en-US" sz="1500" b="1" dirty="0" smtClean="0">
                <a:solidFill>
                  <a:schemeClr val="accent3">
                    <a:lumMod val="75000"/>
                  </a:schemeClr>
                </a:solidFill>
              </a:rPr>
              <a:t>differently</a:t>
            </a:r>
            <a:endParaRPr lang="en-US" sz="15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500" b="1" dirty="0" smtClean="0">
                <a:solidFill>
                  <a:schemeClr val="accent3">
                    <a:lumMod val="75000"/>
                  </a:schemeClr>
                </a:solidFill>
              </a:rPr>
              <a:t>Perform </a:t>
            </a: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three scans against an authorized lab target.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1. Normal SYN scan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sudo nmap -</a:t>
            </a:r>
            <a:r>
              <a:rPr lang="en-US" sz="1500" b="1" dirty="0" err="1">
                <a:solidFill>
                  <a:srgbClr val="00B050"/>
                </a:solidFill>
              </a:rPr>
              <a:t>sS</a:t>
            </a:r>
            <a:r>
              <a:rPr lang="en-US" sz="1500" b="1" dirty="0">
                <a:solidFill>
                  <a:srgbClr val="00B050"/>
                </a:solidFill>
              </a:rPr>
              <a:t> &lt;target&gt;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2. Fragmented packet scan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sudo nmap -</a:t>
            </a:r>
            <a:r>
              <a:rPr lang="en-US" sz="1500" b="1" dirty="0" err="1">
                <a:solidFill>
                  <a:srgbClr val="00B050"/>
                </a:solidFill>
              </a:rPr>
              <a:t>sS</a:t>
            </a:r>
            <a:r>
              <a:rPr lang="en-US" sz="1500" b="1" dirty="0">
                <a:solidFill>
                  <a:srgbClr val="00B050"/>
                </a:solidFill>
              </a:rPr>
              <a:t> -f &lt;target&gt;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accent3">
                    <a:lumMod val="75000"/>
                  </a:schemeClr>
                </a:solidFill>
              </a:rPr>
              <a:t>3. MTU manipulation scan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sudo nmap -</a:t>
            </a:r>
            <a:r>
              <a:rPr lang="en-US" sz="1500" b="1" dirty="0" err="1">
                <a:solidFill>
                  <a:srgbClr val="00B050"/>
                </a:solidFill>
              </a:rPr>
              <a:t>sS</a:t>
            </a:r>
            <a:r>
              <a:rPr lang="en-US" sz="1500" b="1" dirty="0">
                <a:solidFill>
                  <a:srgbClr val="00B050"/>
                </a:solidFill>
              </a:rPr>
              <a:t> --</a:t>
            </a:r>
            <a:r>
              <a:rPr lang="en-US" sz="1500" b="1" dirty="0" err="1">
                <a:solidFill>
                  <a:srgbClr val="00B050"/>
                </a:solidFill>
              </a:rPr>
              <a:t>mtu</a:t>
            </a:r>
            <a:r>
              <a:rPr lang="en-US" sz="1500" b="1" dirty="0">
                <a:solidFill>
                  <a:srgbClr val="00B050"/>
                </a:solidFill>
              </a:rPr>
              <a:t> 16 &lt;target</a:t>
            </a:r>
            <a:r>
              <a:rPr lang="en-US" sz="1500" b="1" dirty="0" smtClean="0">
                <a:solidFill>
                  <a:srgbClr val="00B05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500" b="1" dirty="0" smtClean="0">
                <a:solidFill>
                  <a:srgbClr val="3360DD"/>
                </a:solidFill>
              </a:rPr>
              <a:t>Record these </a:t>
            </a:r>
          </a:p>
          <a:p>
            <a:pPr marL="0" indent="0">
              <a:buNone/>
            </a:pPr>
            <a:endParaRPr lang="en-US" sz="1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55380"/>
              </p:ext>
            </p:extLst>
          </p:nvPr>
        </p:nvGraphicFramePr>
        <p:xfrm>
          <a:off x="0" y="5236528"/>
          <a:ext cx="64318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41">
                  <a:extLst>
                    <a:ext uri="{9D8B030D-6E8A-4147-A177-3AD203B41FA5}">
                      <a16:colId xmlns:a16="http://schemas.microsoft.com/office/drawing/2014/main" val="628913293"/>
                    </a:ext>
                  </a:extLst>
                </a:gridCol>
                <a:gridCol w="1394185">
                  <a:extLst>
                    <a:ext uri="{9D8B030D-6E8A-4147-A177-3AD203B41FA5}">
                      <a16:colId xmlns:a16="http://schemas.microsoft.com/office/drawing/2014/main" val="1832407910"/>
                    </a:ext>
                  </a:extLst>
                </a:gridCol>
                <a:gridCol w="1121410">
                  <a:extLst>
                    <a:ext uri="{9D8B030D-6E8A-4147-A177-3AD203B41FA5}">
                      <a16:colId xmlns:a16="http://schemas.microsoft.com/office/drawing/2014/main" val="1235859390"/>
                    </a:ext>
                  </a:extLst>
                </a:gridCol>
                <a:gridCol w="1232540">
                  <a:extLst>
                    <a:ext uri="{9D8B030D-6E8A-4147-A177-3AD203B41FA5}">
                      <a16:colId xmlns:a16="http://schemas.microsoft.com/office/drawing/2014/main" val="1253368215"/>
                    </a:ext>
                  </a:extLst>
                </a:gridCol>
                <a:gridCol w="1070896">
                  <a:extLst>
                    <a:ext uri="{9D8B030D-6E8A-4147-A177-3AD203B41FA5}">
                      <a16:colId xmlns:a16="http://schemas.microsoft.com/office/drawing/2014/main" val="1667282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Scan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Scan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Ports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5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  <a:r>
                        <a:rPr lang="en-US" sz="1600" dirty="0" err="1"/>
                        <a:t>sS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495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Fragmented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  <a:r>
                        <a:rPr lang="en-US" sz="1600" dirty="0" err="1"/>
                        <a:t>sS</a:t>
                      </a:r>
                      <a:r>
                        <a:rPr lang="en-US" sz="1600" dirty="0"/>
                        <a:t> -f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79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MTU modified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--</a:t>
                      </a:r>
                      <a:r>
                        <a:rPr lang="en-US" sz="1600" dirty="0" err="1"/>
                        <a:t>mtu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447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667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4" y="0"/>
            <a:ext cx="12351657" cy="6858000"/>
          </a:xfrm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 smtClean="0">
                <a:solidFill>
                  <a:schemeClr val="accent2">
                    <a:lumMod val="50000"/>
                  </a:schemeClr>
                </a:solidFill>
              </a:rPr>
              <a:t>Task 04 – Part 2</a:t>
            </a:r>
          </a:p>
          <a:p>
            <a:pPr marL="0" indent="0">
              <a:buNone/>
            </a:pPr>
            <a:r>
              <a:rPr lang="en-US" sz="1700" b="1" dirty="0" smtClean="0">
                <a:solidFill>
                  <a:schemeClr val="accent2"/>
                </a:solidFill>
              </a:rPr>
              <a:t>Decoys and Source Port Manipulation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accent3">
                    <a:lumMod val="75000"/>
                  </a:schemeClr>
                </a:solidFill>
              </a:rPr>
              <a:t>Technique 1 — Decoy Scanning (-D</a:t>
            </a:r>
            <a:r>
              <a:rPr lang="en-US" sz="1700" b="1" dirty="0" smtClean="0">
                <a:solidFill>
                  <a:schemeClr val="accent3">
                    <a:lumMod val="75000"/>
                  </a:schemeClr>
                </a:solidFill>
              </a:rPr>
              <a:t>)</a:t>
            </a:r>
            <a:endParaRPr lang="en-US" sz="17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700" b="1" dirty="0">
                <a:solidFill>
                  <a:srgbClr val="FF0000"/>
                </a:solidFill>
              </a:rPr>
              <a:t>Decoy scanning makes it appear as though multiple systems are performing the scan</a:t>
            </a:r>
            <a:r>
              <a:rPr lang="en-US" sz="1700" b="1" dirty="0" smtClean="0">
                <a:solidFill>
                  <a:srgbClr val="FF0000"/>
                </a:solidFill>
              </a:rPr>
              <a:t>.</a:t>
            </a:r>
            <a:endParaRPr lang="en-US" sz="1700" b="1" dirty="0">
              <a:solidFill>
                <a:srgbClr val="FF0000"/>
              </a:solidFill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sz="1700" b="1" dirty="0">
                <a:solidFill>
                  <a:srgbClr val="FF0000"/>
                </a:solidFill>
              </a:rPr>
              <a:t>Instead of one IP sending packets, Nmap inserts decoy IP addresses along with the real scanner</a:t>
            </a:r>
            <a:r>
              <a:rPr lang="en-US" sz="1700" b="1" dirty="0" smtClean="0">
                <a:solidFill>
                  <a:srgbClr val="FF0000"/>
                </a:solidFill>
              </a:rPr>
              <a:t>.</a:t>
            </a:r>
            <a:endParaRPr lang="en-US" sz="17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-D RND:5 &lt;target</a:t>
            </a:r>
            <a:r>
              <a:rPr lang="en-US" sz="1700" dirty="0" smtClean="0">
                <a:solidFill>
                  <a:srgbClr val="00B050"/>
                </a:solidFill>
              </a:rPr>
              <a:t>&gt;</a:t>
            </a:r>
          </a:p>
          <a:p>
            <a:pPr marL="0" indent="0">
              <a:buNone/>
            </a:pPr>
            <a:endParaRPr lang="en-US" sz="17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17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17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700" dirty="0"/>
              <a:t>This causes the target to see traffic coming from </a:t>
            </a:r>
            <a:r>
              <a:rPr lang="en-US" sz="1700" b="1" dirty="0"/>
              <a:t>multiple IP addresses</a:t>
            </a:r>
            <a:r>
              <a:rPr lang="en-US" sz="1700" dirty="0" smtClean="0"/>
              <a:t>,</a:t>
            </a:r>
          </a:p>
          <a:p>
            <a:pPr marL="0" indent="0">
              <a:buNone/>
            </a:pPr>
            <a:r>
              <a:rPr lang="en-US" sz="1700" dirty="0" smtClean="0"/>
              <a:t> </a:t>
            </a:r>
            <a:r>
              <a:rPr lang="en-US" sz="1700" dirty="0"/>
              <a:t>making it harder to determine which one is the real scanner</a:t>
            </a:r>
            <a:r>
              <a:rPr lang="en-US" sz="1700" dirty="0" smtClean="0"/>
              <a:t>.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-D RND:10 &lt;target&gt;</a:t>
            </a:r>
          </a:p>
          <a:p>
            <a:pPr marL="0" indent="0">
              <a:buNone/>
            </a:pPr>
            <a:r>
              <a:rPr lang="en-US" sz="1700" dirty="0"/>
              <a:t>The target system may see scan packets appearing to come from </a:t>
            </a:r>
            <a:r>
              <a:rPr lang="en-US" sz="1700" b="1" dirty="0"/>
              <a:t>10 </a:t>
            </a:r>
            <a:r>
              <a:rPr lang="en-US" sz="1700" b="1" dirty="0" smtClean="0"/>
              <a:t>different </a:t>
            </a:r>
            <a:r>
              <a:rPr lang="en-US" sz="1700" b="1" dirty="0"/>
              <a:t>addresses</a:t>
            </a:r>
            <a:r>
              <a:rPr lang="en-US" sz="1700" dirty="0" smtClean="0"/>
              <a:t>.</a:t>
            </a:r>
            <a:endParaRPr lang="en-US" sz="17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Technique 2 — Source Port Manipulation</a:t>
            </a:r>
          </a:p>
          <a:p>
            <a:pPr marL="0" indent="0">
              <a:buNone/>
            </a:pPr>
            <a:r>
              <a:rPr lang="en-US" sz="1700" dirty="0"/>
              <a:t>Some firewalls allow traffic from </a:t>
            </a:r>
            <a:r>
              <a:rPr lang="en-US" sz="1700" b="1" dirty="0"/>
              <a:t>trusted ports</a:t>
            </a:r>
            <a:r>
              <a:rPr lang="en-US" sz="1700" dirty="0"/>
              <a:t> such as:</a:t>
            </a:r>
          </a:p>
          <a:p>
            <a:pPr marL="0" indent="0">
              <a:buNone/>
            </a:pPr>
            <a:endParaRPr lang="en-US" sz="1700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962251"/>
              </p:ext>
            </p:extLst>
          </p:nvPr>
        </p:nvGraphicFramePr>
        <p:xfrm>
          <a:off x="116114" y="1969995"/>
          <a:ext cx="6600633" cy="1158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15908">
                  <a:extLst>
                    <a:ext uri="{9D8B030D-6E8A-4147-A177-3AD203B41FA5}">
                      <a16:colId xmlns:a16="http://schemas.microsoft.com/office/drawing/2014/main" val="3055047883"/>
                    </a:ext>
                  </a:extLst>
                </a:gridCol>
                <a:gridCol w="5384725">
                  <a:extLst>
                    <a:ext uri="{9D8B030D-6E8A-4147-A177-3AD203B41FA5}">
                      <a16:colId xmlns:a16="http://schemas.microsoft.com/office/drawing/2014/main" val="3577244459"/>
                    </a:ext>
                  </a:extLst>
                </a:gridCol>
              </a:tblGrid>
              <a:tr h="247730">
                <a:tc>
                  <a:txBody>
                    <a:bodyPr/>
                    <a:lstStyle/>
                    <a:p>
                      <a:r>
                        <a:rPr lang="en-US" sz="1300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182410"/>
                  </a:ext>
                </a:extLst>
              </a:tr>
              <a:tr h="247730">
                <a:tc>
                  <a:txBody>
                    <a:bodyPr/>
                    <a:lstStyle/>
                    <a:p>
                      <a:r>
                        <a:rPr lang="en-US" sz="1300" dirty="0"/>
                        <a:t>-D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Enables decoy scanning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329430"/>
                  </a:ext>
                </a:extLst>
              </a:tr>
              <a:tr h="247730">
                <a:tc>
                  <a:txBody>
                    <a:bodyPr/>
                    <a:lstStyle/>
                    <a:p>
                      <a:r>
                        <a:rPr lang="en-US" sz="1300"/>
                        <a:t>RND:5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Generates 5 random decoy IP addresses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618074"/>
                  </a:ext>
                </a:extLst>
              </a:tr>
              <a:tr h="247730">
                <a:tc>
                  <a:txBody>
                    <a:bodyPr/>
                    <a:lstStyle/>
                    <a:p>
                      <a:r>
                        <a:rPr lang="en-US" sz="1300"/>
                        <a:t>-sS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SYN scan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9071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560368"/>
              </p:ext>
            </p:extLst>
          </p:nvPr>
        </p:nvGraphicFramePr>
        <p:xfrm>
          <a:off x="308166" y="5220150"/>
          <a:ext cx="3538118" cy="1411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59">
                  <a:extLst>
                    <a:ext uri="{9D8B030D-6E8A-4147-A177-3AD203B41FA5}">
                      <a16:colId xmlns:a16="http://schemas.microsoft.com/office/drawing/2014/main" val="646416627"/>
                    </a:ext>
                  </a:extLst>
                </a:gridCol>
                <a:gridCol w="1769059">
                  <a:extLst>
                    <a:ext uri="{9D8B030D-6E8A-4147-A177-3AD203B41FA5}">
                      <a16:colId xmlns:a16="http://schemas.microsoft.com/office/drawing/2014/main" val="497148649"/>
                    </a:ext>
                  </a:extLst>
                </a:gridCol>
              </a:tblGrid>
              <a:tr h="322157">
                <a:tc>
                  <a:txBody>
                    <a:bodyPr/>
                    <a:lstStyle/>
                    <a:p>
                      <a:r>
                        <a:rPr lang="en-US" sz="1600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076025"/>
                  </a:ext>
                </a:extLst>
              </a:tr>
              <a:tr h="322157">
                <a:tc>
                  <a:txBody>
                    <a:bodyPr/>
                    <a:lstStyle/>
                    <a:p>
                      <a:r>
                        <a:rPr lang="en-US" sz="160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875078"/>
                  </a:ext>
                </a:extLst>
              </a:tr>
              <a:tr h="405707">
                <a:tc>
                  <a:txBody>
                    <a:bodyPr/>
                    <a:lstStyle/>
                    <a:p>
                      <a:r>
                        <a:rPr lang="en-US" sz="16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HTTP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176497"/>
                  </a:ext>
                </a:extLst>
              </a:tr>
              <a:tr h="322157">
                <a:tc>
                  <a:txBody>
                    <a:bodyPr/>
                    <a:lstStyle/>
                    <a:p>
                      <a:r>
                        <a:rPr lang="en-US" sz="1600"/>
                        <a:t>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HTTPS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604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265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14628" cy="6691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</a:rPr>
              <a:t>Nmap allows the scan to appear as if it originates from a specific port</a:t>
            </a:r>
            <a:r>
              <a:rPr lang="en-US" sz="1700" b="1" dirty="0" smtClean="0">
                <a:solidFill>
                  <a:srgbClr val="FF0000"/>
                </a:solidFill>
              </a:rPr>
              <a:t>.</a:t>
            </a:r>
            <a:endParaRPr lang="en-US" sz="17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--source-port 53 &lt;target</a:t>
            </a:r>
            <a:r>
              <a:rPr lang="en-US" sz="1700" dirty="0" smtClean="0">
                <a:solidFill>
                  <a:srgbClr val="00B050"/>
                </a:solidFill>
              </a:rPr>
              <a:t>&gt;</a:t>
            </a:r>
          </a:p>
          <a:p>
            <a:endParaRPr lang="en-US" sz="1700" dirty="0">
              <a:solidFill>
                <a:schemeClr val="accent6"/>
              </a:solidFill>
            </a:endParaRPr>
          </a:p>
          <a:p>
            <a:endParaRPr lang="en-US" sz="1700" dirty="0" smtClean="0">
              <a:solidFill>
                <a:schemeClr val="accent6"/>
              </a:solidFill>
            </a:endParaRPr>
          </a:p>
          <a:p>
            <a:endParaRPr lang="en-US" sz="1700" dirty="0">
              <a:solidFill>
                <a:schemeClr val="accent6"/>
              </a:solidFill>
            </a:endParaRPr>
          </a:p>
          <a:p>
            <a:endParaRPr lang="en-US" sz="1700" dirty="0" smtClean="0">
              <a:solidFill>
                <a:schemeClr val="accent6"/>
              </a:solidFill>
            </a:endParaRPr>
          </a:p>
          <a:p>
            <a:endParaRPr lang="en-US" sz="17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This helps demonstrate how </a:t>
            </a:r>
            <a:r>
              <a:rPr lang="en-US" sz="1700" b="1" dirty="0">
                <a:solidFill>
                  <a:schemeClr val="accent6"/>
                </a:solidFill>
              </a:rPr>
              <a:t>simple firewall rules based only on ports can be bypassed in controlled tests</a:t>
            </a:r>
            <a:r>
              <a:rPr lang="en-US" sz="1700" dirty="0" smtClean="0">
                <a:solidFill>
                  <a:schemeClr val="accent6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Normal SYN Scan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&lt;target&gt;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Decoy Scan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-D RND:5 &lt;target&gt;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Source Port Scan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00B050"/>
                </a:solidFill>
              </a:rPr>
              <a:t>sudo nmap -</a:t>
            </a:r>
            <a:r>
              <a:rPr lang="en-US" sz="1700" dirty="0" err="1">
                <a:solidFill>
                  <a:srgbClr val="00B050"/>
                </a:solidFill>
              </a:rPr>
              <a:t>sS</a:t>
            </a:r>
            <a:r>
              <a:rPr lang="en-US" sz="1700" dirty="0">
                <a:solidFill>
                  <a:srgbClr val="00B050"/>
                </a:solidFill>
              </a:rPr>
              <a:t> --source-port 53 &lt;target&gt;</a:t>
            </a:r>
          </a:p>
          <a:p>
            <a:endParaRPr lang="en-US" sz="1700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997834"/>
              </p:ext>
            </p:extLst>
          </p:nvPr>
        </p:nvGraphicFramePr>
        <p:xfrm>
          <a:off x="158296" y="938621"/>
          <a:ext cx="6140904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532">
                  <a:extLst>
                    <a:ext uri="{9D8B030D-6E8A-4147-A177-3AD203B41FA5}">
                      <a16:colId xmlns:a16="http://schemas.microsoft.com/office/drawing/2014/main" val="3007511150"/>
                    </a:ext>
                  </a:extLst>
                </a:gridCol>
                <a:gridCol w="3897372">
                  <a:extLst>
                    <a:ext uri="{9D8B030D-6E8A-4147-A177-3AD203B41FA5}">
                      <a16:colId xmlns:a16="http://schemas.microsoft.com/office/drawing/2014/main" val="1542659567"/>
                    </a:ext>
                  </a:extLst>
                </a:gridCol>
              </a:tblGrid>
              <a:tr h="310363">
                <a:tc>
                  <a:txBody>
                    <a:bodyPr/>
                    <a:lstStyle/>
                    <a:p>
                      <a:r>
                        <a:rPr lang="en-US" sz="1700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737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--source-port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Sets the source port used in the scan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54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7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Makes packets appear as DNS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731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85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12192000" cy="70974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What to record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Notes </a:t>
            </a:r>
            <a:r>
              <a:rPr lang="en-US" sz="2000" dirty="0" smtClean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observations </a:t>
            </a:r>
            <a:r>
              <a:rPr lang="en-US" sz="2000" dirty="0"/>
              <a:t>or </a:t>
            </a:r>
            <a:r>
              <a:rPr lang="en-US" sz="2000" dirty="0" smtClean="0"/>
              <a:t>comments</a:t>
            </a:r>
          </a:p>
          <a:p>
            <a:pPr marL="0" indent="0">
              <a:buNone/>
            </a:pPr>
            <a:r>
              <a:rPr lang="en-US" sz="2000" b="1" dirty="0"/>
              <a:t>Weekly Deliverable: The Scanning &amp; Enumeration Report 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000" b="1" dirty="0"/>
              <a:t>Nmap Output Analysis:</a:t>
            </a:r>
            <a:r>
              <a:rPr lang="en-US" sz="2000" dirty="0"/>
              <a:t> Screenshots and explanations of the open ports found. </a:t>
            </a:r>
          </a:p>
          <a:p>
            <a:pPr marL="0" indent="0" fontAlgn="base">
              <a:buNone/>
            </a:pPr>
            <a:r>
              <a:rPr lang="en-US" sz="2000" b="1" dirty="0"/>
              <a:t>Service Table:</a:t>
            </a:r>
            <a:r>
              <a:rPr lang="en-US" sz="2000" dirty="0"/>
              <a:t> A clean table listing: Port, Service Name, Version, and Potential Vulnerabilities. </a:t>
            </a:r>
          </a:p>
          <a:p>
            <a:pPr marL="0" indent="0" fontAlgn="base">
              <a:buNone/>
            </a:pPr>
            <a:r>
              <a:rPr lang="en-US" sz="2000" b="1" dirty="0"/>
              <a:t>Evasion Results:</a:t>
            </a:r>
            <a:r>
              <a:rPr lang="en-US" sz="2000" dirty="0"/>
              <a:t> A short write-up on which stealth flags worked and which were potentially "noisy." </a:t>
            </a:r>
          </a:p>
          <a:p>
            <a:pPr marL="0" indent="0" fontAlgn="base">
              <a:buNone/>
            </a:pPr>
            <a:r>
              <a:rPr lang="en-US" sz="2000" b="1" dirty="0"/>
              <a:t>Actionable Insights:</a:t>
            </a:r>
            <a:r>
              <a:rPr lang="en-US" sz="2000" dirty="0"/>
              <a:t> Which port/service is the most likely "Initial Access" point and why?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21380"/>
              </p:ext>
            </p:extLst>
          </p:nvPr>
        </p:nvGraphicFramePr>
        <p:xfrm>
          <a:off x="0" y="518522"/>
          <a:ext cx="1083702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04">
                  <a:extLst>
                    <a:ext uri="{9D8B030D-6E8A-4147-A177-3AD203B41FA5}">
                      <a16:colId xmlns:a16="http://schemas.microsoft.com/office/drawing/2014/main" val="3821039278"/>
                    </a:ext>
                  </a:extLst>
                </a:gridCol>
                <a:gridCol w="2167404">
                  <a:extLst>
                    <a:ext uri="{9D8B030D-6E8A-4147-A177-3AD203B41FA5}">
                      <a16:colId xmlns:a16="http://schemas.microsoft.com/office/drawing/2014/main" val="2133552840"/>
                    </a:ext>
                  </a:extLst>
                </a:gridCol>
                <a:gridCol w="2167404">
                  <a:extLst>
                    <a:ext uri="{9D8B030D-6E8A-4147-A177-3AD203B41FA5}">
                      <a16:colId xmlns:a16="http://schemas.microsoft.com/office/drawing/2014/main" val="107826966"/>
                    </a:ext>
                  </a:extLst>
                </a:gridCol>
                <a:gridCol w="2167404">
                  <a:extLst>
                    <a:ext uri="{9D8B030D-6E8A-4147-A177-3AD203B41FA5}">
                      <a16:colId xmlns:a16="http://schemas.microsoft.com/office/drawing/2014/main" val="2487275018"/>
                    </a:ext>
                  </a:extLst>
                </a:gridCol>
                <a:gridCol w="2167404">
                  <a:extLst>
                    <a:ext uri="{9D8B030D-6E8A-4147-A177-3AD203B41FA5}">
                      <a16:colId xmlns:a16="http://schemas.microsoft.com/office/drawing/2014/main" val="1229460245"/>
                    </a:ext>
                  </a:extLst>
                </a:gridCol>
              </a:tblGrid>
              <a:tr h="334857">
                <a:tc>
                  <a:txBody>
                    <a:bodyPr/>
                    <a:lstStyle/>
                    <a:p>
                      <a:r>
                        <a:rPr lang="en-US" sz="2000" dirty="0"/>
                        <a:t>Scan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Ports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389912"/>
                  </a:ext>
                </a:extLst>
              </a:tr>
              <a:tr h="334857">
                <a:tc>
                  <a:txBody>
                    <a:bodyPr/>
                    <a:lstStyle/>
                    <a:p>
                      <a:r>
                        <a:rPr lang="en-US" sz="2000"/>
                        <a:t>Normal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  <a:r>
                        <a:rPr lang="en-US" sz="2000" dirty="0" err="1"/>
                        <a:t>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592433"/>
                  </a:ext>
                </a:extLst>
              </a:tr>
              <a:tr h="334857">
                <a:tc>
                  <a:txBody>
                    <a:bodyPr/>
                    <a:lstStyle/>
                    <a:p>
                      <a:r>
                        <a:rPr lang="en-US" sz="2000" dirty="0"/>
                        <a:t>Decoy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817972"/>
                  </a:ext>
                </a:extLst>
              </a:tr>
              <a:tr h="334857">
                <a:tc>
                  <a:txBody>
                    <a:bodyPr/>
                    <a:lstStyle/>
                    <a:p>
                      <a:r>
                        <a:rPr lang="en-US" sz="2000"/>
                        <a:t>Source Port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--source-port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64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738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186" y="3048757"/>
            <a:ext cx="8761413" cy="706964"/>
          </a:xfrm>
        </p:spPr>
        <p:txBody>
          <a:bodyPr/>
          <a:lstStyle/>
          <a:p>
            <a:r>
              <a:rPr lang="en-US" dirty="0" smtClean="0">
                <a:solidFill>
                  <a:srgbClr val="1EC432"/>
                </a:solidFill>
              </a:rPr>
              <a:t>Thank you</a:t>
            </a:r>
            <a:endParaRPr lang="en-US" dirty="0">
              <a:solidFill>
                <a:srgbClr val="1EC4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1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2313</TotalTime>
  <Words>3635</Words>
  <Application>Microsoft Office PowerPoint</Application>
  <PresentationFormat>Widescreen</PresentationFormat>
  <Paragraphs>652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Arial Black</vt:lpstr>
      <vt:lpstr>Arial Rounded MT Bold</vt:lpstr>
      <vt:lpstr>Arial Unicode MS</vt:lpstr>
      <vt:lpstr>Calibri</vt:lpstr>
      <vt:lpstr>Calibri Light</vt:lpstr>
      <vt:lpstr>Times New Roman</vt:lpstr>
      <vt:lpstr>Wingdings</vt:lpstr>
      <vt:lpstr>Office Theme</vt:lpstr>
      <vt:lpstr>PowerPoint Presentation</vt:lpstr>
      <vt:lpstr>WEEK 2 Prepared by Umar Niaz Red Team Trainer at Cyberster</vt:lpstr>
      <vt:lpstr>Week 02: Network Enumeration &amp; Service Vulnerability Discovery Task 01 </vt:lpstr>
      <vt:lpstr>PowerPoint Presentation</vt:lpstr>
      <vt:lpstr>Task 01: Advanced Network Scanning with Nmap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02: Service Fingerprinting &amp; Banner Grabbing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creator>Gh0stRift</dc:creator>
  <cp:lastModifiedBy>Gh0stRift</cp:lastModifiedBy>
  <cp:revision>102</cp:revision>
  <dcterms:created xsi:type="dcterms:W3CDTF">2026-03-03T11:18:03Z</dcterms:created>
  <dcterms:modified xsi:type="dcterms:W3CDTF">2026-06-28T15:57:38Z</dcterms:modified>
</cp:coreProperties>
</file>